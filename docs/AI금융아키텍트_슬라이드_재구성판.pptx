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94560"/>
            <a:ext cx="10698480" cy="2377440"/>
          </a:xfrm>
          <a:prstGeom prst="rect">
            <a:avLst/>
          </a:prstGeom>
          <a:noFill/>
        </p:spPr>
        <p:txBody>
          <a:bodyPr wrap="square">
            <a:spAutoFit/>
          </a:bodyPr>
          <a:lstStyle/>
          <a:p>
            <a:pPr algn="ctr"/>
            <a:r>
              <a:rPr sz="4000" b="1">
                <a:solidFill>
                  <a:srgbClr val="FFFFFF"/>
                </a:solidFill>
              </a:rPr>
              <a:t>AI기반 개발 아키텍처 설계 및 활용</a:t>
            </a:r>
          </a:p>
          <a:p>
            <a:pPr algn="ctr"/>
            <a:r>
              <a:rPr sz="2200">
                <a:solidFill>
                  <a:srgbClr val="DDE3F5"/>
                </a:solidFill>
              </a:rPr>
              <a:t>— 증권데이터 분석과 활용 —</a:t>
            </a:r>
          </a:p>
          <a:p>
            <a:pPr algn="ctr"/>
            <a:r>
              <a:rPr sz="1800">
                <a:solidFill>
                  <a:srgbClr val="DDE3F5"/>
                </a:solidFill>
              </a:rPr>
              <a:t>AI 아키텍트 양성 슬라이드 (재구성·슬림판)</a:t>
            </a:r>
          </a:p>
          <a:p>
            <a:pPr algn="ctr"/>
            <a:r>
              <a:rPr sz="1400">
                <a:solidFill>
                  <a:srgbClr val="DDE3F5"/>
                </a:solidFill>
              </a:rPr>
              <a:t>2일 · 16시간 / 216면   |   황 인 환 (황Q)</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73152"/>
          </a:xfrm>
          <a:prstGeom prst="rect">
            <a:avLst/>
          </a:prstGeom>
          <a:solidFill>
            <a:srgbClr val="6E8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834640"/>
            <a:ext cx="10515600" cy="1463040"/>
          </a:xfrm>
          <a:prstGeom prst="rect">
            <a:avLst/>
          </a:prstGeom>
          <a:noFill/>
        </p:spPr>
        <p:txBody>
          <a:bodyPr wrap="square">
            <a:spAutoFit/>
          </a:bodyPr>
          <a:lstStyle/>
          <a:p>
            <a:r>
              <a:rPr sz="1600">
                <a:solidFill>
                  <a:srgbClr val="9FB4F5"/>
                </a:solidFill>
              </a:rPr>
              <a:t>[1일차]</a:t>
            </a:r>
          </a:p>
          <a:p>
            <a:r>
              <a:rPr sz="2800" b="1">
                <a:solidFill>
                  <a:srgbClr val="FFFFFF"/>
                </a:solidFill>
              </a:rPr>
              <a:t>프롤로그 — 오리엔테이션 &amp; 큰 그림 (Why)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프롤로그</a:t>
            </a:r>
          </a:p>
          <a:p>
            <a:r>
              <a:rPr sz="1900" b="1">
                <a:solidFill>
                  <a:srgbClr val="FFFFFF"/>
                </a:solidFill>
              </a:rPr>
              <a:t>[001] AI기반 개발 아키텍처 설계 및 활용 (증권데이터 분석과 활용)</a:t>
            </a:r>
          </a:p>
        </p:txBody>
      </p:sp>
      <p:sp>
        <p:nvSpPr>
          <p:cNvPr id="4" name="TextBox 3"/>
          <p:cNvSpPr txBox="1"/>
          <p:nvPr/>
        </p:nvSpPr>
        <p:spPr>
          <a:xfrm>
            <a:off x="457200" y="1143000"/>
            <a:ext cx="11247120" cy="5486400"/>
          </a:xfrm>
          <a:prstGeom prst="rect">
            <a:avLst/>
          </a:prstGeom>
          <a:noFill/>
        </p:spPr>
        <p:txBody>
          <a:bodyPr wrap="square"/>
          <a:lstStyle/>
          <a:p>
            <a:r>
              <a:rPr sz="1200">
                <a:solidFill>
                  <a:srgbClr val="888888"/>
                </a:solidFill>
              </a:rPr>
              <a:t>(원본 본문 참조)</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001  ·  1/216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프롤로그</a:t>
            </a:r>
          </a:p>
          <a:p>
            <a:r>
              <a:rPr sz="1900" b="1">
                <a:solidFill>
                  <a:srgbClr val="FFFFFF"/>
                </a:solidFill>
              </a:rPr>
              <a:t>[002] 교육 로드맵: AI 아키텍트 성장을 위한 16시간의 여정</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전체 과정 구성 (2일 과정, 총 16시간)</a:t>
            </a:r>
          </a:p>
          <a:p>
            <a:r>
              <a:rPr sz="1100">
                <a:solidFill>
                  <a:srgbClr val="222222"/>
                </a:solidFill>
              </a:rPr>
              <a:t>•  본 과정은 증권 데이터의 확보부터 분석, 그리고 GPT-5.1 기반의 에이전틱 서비스 구축까지 엔드 투 엔드(End-to-End) 워크플로우를 통합하는 과정으로 구성됩니다.</a:t>
            </a:r>
          </a:p>
          <a:p>
            <a:pPr>
              <a:spcBef>
                <a:spcPts val="600"/>
              </a:spcBef>
            </a:pPr>
            <a:r>
              <a:rPr sz="1300" b="1">
                <a:solidFill>
                  <a:srgbClr val="2E5984"/>
                </a:solidFill>
              </a:rPr>
              <a:t>2. [1일차] AI 아키텍처 설계와 데이터 파이프라인 (8시간)</a:t>
            </a:r>
          </a:p>
          <a:p>
            <a:r>
              <a:rPr sz="1100">
                <a:solidFill>
                  <a:srgbClr val="222222"/>
                </a:solidFill>
              </a:rPr>
              <a:t>•  PART 1. 플랫폼 이해 및 기초: AI 아키텍트의 역할 정의 및 50대 핵심 용어 정립.</a:t>
            </a:r>
          </a:p>
          <a:p>
            <a:r>
              <a:rPr sz="1100">
                <a:solidFill>
                  <a:srgbClr val="222222"/>
                </a:solidFill>
              </a:rPr>
              <a:t>•  PART 2. GPT Action Framework: 자연어 명령을 분석하고 기능을 분기하는 Action Classifier 설계 및 프롬프트 엔지니어링 실습.</a:t>
            </a:r>
          </a:p>
          <a:p>
            <a:r>
              <a:rPr sz="1100">
                <a:solidFill>
                  <a:srgbClr val="222222"/>
                </a:solidFill>
              </a:rPr>
              <a:t>•  PART 3. 데이터 레이크(Data Layer) 구축: 코스콤(KOSCOM), 한국은행(ECOS), 금융감독원(DART) API를 연동한 실전 데이터 확보 실습.</a:t>
            </a:r>
          </a:p>
          <a:p>
            <a:pPr>
              <a:spcBef>
                <a:spcPts val="600"/>
              </a:spcBef>
            </a:pPr>
            <a:r>
              <a:rPr sz="1300" b="1">
                <a:solidFill>
                  <a:srgbClr val="2E5984"/>
                </a:solidFill>
              </a:rPr>
              <a:t>3. [2일차] 분석 MVP 구축 및 에이전틱 AI 서비스 완성 (8시간)</a:t>
            </a:r>
          </a:p>
          <a:p>
            <a:r>
              <a:rPr sz="1100">
                <a:solidFill>
                  <a:srgbClr val="222222"/>
                </a:solidFill>
              </a:rPr>
              <a:t>•  PART 4. 분석 엔진(Analysis Engine): tAnalyzer를 활용한 기술적 분석 및 FnRiskWatch(RAG) 기반의 리스크 스코어링 로직 구현.</a:t>
            </a:r>
          </a:p>
          <a:p>
            <a:r>
              <a:rPr sz="1100">
                <a:solidFill>
                  <a:srgbClr val="222222"/>
                </a:solidFill>
              </a:rPr>
              <a:t>•  PART 5. 운영 및 보안: 텔레그램 봇(Telegram Bot) 연동, Webhook 보안 처리(ALLOWED_USER_IDS) 및 24x365 운영 자동화.</a:t>
            </a:r>
          </a:p>
          <a:p>
            <a:r>
              <a:rPr sz="1100">
                <a:solidFill>
                  <a:srgbClr val="222222"/>
                </a:solidFill>
              </a:rPr>
              <a:t>•  PART 6. 최종 캡스톤: KOStockCrewAI MVP 통합 및 나만의 AI 금융 정보 단말 서비스 배포.</a:t>
            </a:r>
          </a:p>
          <a:p>
            <a:pPr>
              <a:spcBef>
                <a:spcPts val="600"/>
              </a:spcBef>
            </a:pPr>
            <a:r>
              <a:rPr sz="1300" b="1">
                <a:solidFill>
                  <a:srgbClr val="2E5984"/>
                </a:solidFill>
              </a:rPr>
              <a:t>4. 학습의 핵심 루틴 (The 5-Step Routine)</a:t>
            </a:r>
          </a:p>
          <a:p>
            <a:r>
              <a:rPr sz="1100">
                <a:solidFill>
                  <a:srgbClr val="222222"/>
                </a:solidFill>
              </a:rPr>
              <a:t>•  모든 세부 모듈은 아래의 5단계를 반복하며 실전 감각을 극대화합니다.</a:t>
            </a:r>
          </a:p>
          <a:p>
            <a:r>
              <a:rPr sz="1100">
                <a:solidFill>
                  <a:srgbClr val="222222"/>
                </a:solidFill>
              </a:rPr>
              <a:t>•  개념 (Concept): 기술의 필요성과 이론적 배경 이해</a:t>
            </a:r>
          </a:p>
          <a:p>
            <a:r>
              <a:rPr sz="1100">
                <a:solidFill>
                  <a:srgbClr val="222222"/>
                </a:solidFill>
              </a:rPr>
              <a:t>•  아키텍처 (Architecture): 데이터와 메시지의 흐름도 시각화</a:t>
            </a:r>
          </a:p>
          <a:p>
            <a:r>
              <a:rPr sz="1100">
                <a:solidFill>
                  <a:srgbClr val="222222"/>
                </a:solidFill>
              </a:rPr>
              <a:t>•  코드 (Source Code): 실제 작동하는 핵심 소스 스크립트 분석</a:t>
            </a:r>
          </a:p>
          <a:p>
            <a:r>
              <a:rPr sz="1100">
                <a:solidFill>
                  <a:srgbClr val="222222"/>
                </a:solidFill>
              </a:rPr>
              <a:t>•  실습 (Practice): 본인의 환경에서 직접 구축 및 구동</a:t>
            </a:r>
          </a:p>
          <a:p>
            <a:r>
              <a:rPr sz="1100">
                <a:solidFill>
                  <a:srgbClr val="222222"/>
                </a:solidFill>
              </a:rPr>
              <a:t>•  확장 (Expansion): 실무 현장에 적용할 수 있는 고도화 전략 수립</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002  ·  2/216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프롤로그</a:t>
            </a:r>
          </a:p>
          <a:p>
            <a:r>
              <a:rPr sz="1900" b="1">
                <a:solidFill>
                  <a:srgbClr val="FFFFFF"/>
                </a:solidFill>
              </a:rPr>
              <a:t>[003] AI 아키텍트의 정의와 핵심 역할</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오케스트레이터로서의 아키텍트</a:t>
            </a:r>
          </a:p>
          <a:p>
            <a:r>
              <a:rPr sz="1100">
                <a:solidFill>
                  <a:srgbClr val="222222"/>
                </a:solidFill>
              </a:rPr>
              <a:t>•  정의: 단순한 모델 개발이나 코딩을 넘어, 데이터 파이프라인 설계, 모델 선택, API 게이트웨이 구축, 모니터링 및 비용 최적화까지 전체 AI 생태계를 총괄 설계하는 오케스트레이터입니다.</a:t>
            </a:r>
          </a:p>
          <a:p>
            <a:r>
              <a:rPr sz="1100">
                <a:solidFill>
                  <a:srgbClr val="222222"/>
                </a:solidFill>
              </a:rPr>
              <a:t>•  차별점: 기존 개발자가 기능 구현에 집중한다면, AI 아키텍트는 모델 개발-배포-운영 사이클(MLOps)을 자동화하고 시스템의 지속 가능성을 책임집니다.</a:t>
            </a:r>
          </a:p>
          <a:p>
            <a:pPr>
              <a:spcBef>
                <a:spcPts val="600"/>
              </a:spcBef>
            </a:pPr>
            <a:r>
              <a:rPr sz="1300" b="1">
                <a:solidFill>
                  <a:srgbClr val="2E5984"/>
                </a:solidFill>
              </a:rPr>
              <a:t>2. 아키텍처 (Architecture): AI 아키텍트의 설계 영역</a:t>
            </a:r>
          </a:p>
          <a:p>
            <a:r>
              <a:rPr sz="1100">
                <a:solidFill>
                  <a:srgbClr val="222222"/>
                </a:solidFill>
              </a:rPr>
              <a:t>•  데이터 레이어 (Data Layer): 코스콤, ECOS, DART 등 멀티 소스에서 데이터를 추출(Extract)하고 가공(Transform)하여 DB에 적재(Load)하는 ETL 파이프라인 설계.</a:t>
            </a:r>
          </a:p>
          <a:p>
            <a:r>
              <a:rPr sz="1100">
                <a:solidFill>
                  <a:srgbClr val="222222"/>
                </a:solidFill>
              </a:rPr>
              <a:t>•  분석 레이어 (Analysis Layer): GPT-5.1과 같은 거대 언어 모델을 분석 엔진으로 설정하고, 기술적/기본적 분석 로직과 연동하는 구조 설계.</a:t>
            </a:r>
          </a:p>
          <a:p>
            <a:r>
              <a:rPr sz="1100">
                <a:solidFill>
                  <a:srgbClr val="222222"/>
                </a:solidFill>
              </a:rPr>
              <a:t>•  전달 레이어 (Delivery Layer): 텔레그램(Telegram) 봇이나 웹 앱(Streamlit)을 통해 사용자에게 분석 결과를 전달하는 게이트웨이 구축.</a:t>
            </a:r>
          </a:p>
          <a:p>
            <a:pPr>
              <a:spcBef>
                <a:spcPts val="600"/>
              </a:spcBef>
            </a:pPr>
            <a:r>
              <a:rPr sz="1300" b="1">
                <a:solidFill>
                  <a:srgbClr val="2E5984"/>
                </a:solidFill>
              </a:rPr>
              <a:t>3. 소스코드 (Source Code): 아키텍처의 중앙 통제 로직</a:t>
            </a:r>
          </a:p>
          <a:p>
            <a:r>
              <a:rPr sz="1100">
                <a:solidFill>
                  <a:srgbClr val="222222"/>
                </a:solidFill>
              </a:rPr>
              <a:t>•  핵심 로직: 사용자 질의를 받아 적절한 기능으로 분기(Dispatching)하는 Action Layer의 switch-case 구조는 아키텍트 설계의 핵심 결과물입니다.</a:t>
            </a:r>
          </a:p>
          <a:p>
            <a:pPr>
              <a:spcBef>
                <a:spcPts val="600"/>
              </a:spcBef>
            </a:pPr>
            <a:r>
              <a:rPr sz="1300" b="1">
                <a:solidFill>
                  <a:srgbClr val="2E5984"/>
                </a:solidFill>
              </a:rPr>
              <a:t>4. 실습 (Practice): 아키텍처 다이어그램 분석</a:t>
            </a:r>
          </a:p>
          <a:p>
            <a:r>
              <a:rPr sz="1100">
                <a:solidFill>
                  <a:srgbClr val="222222"/>
                </a:solidFill>
              </a:rPr>
              <a:t>•  실습 과제: 제공된 '텔레그램-앱스스크립트-오픈AI 개발자 다이어그램'을 보고, 데이터가 수집되어 GPT-5.1에 전달된 후 다시 텔레그램으로 회신되는 7단계의 데이터 흐름을 추적합니다.</a:t>
            </a:r>
          </a:p>
          <a:p>
            <a:r>
              <a:rPr sz="1100">
                <a:solidFill>
                  <a:srgbClr val="222222"/>
                </a:solidFill>
              </a:rPr>
              <a:t>•  체크 포인트: 각 단계에서 데이터 유실이나 보안 취약점(API Key 노출 등)이 발생할 수 있는 지점을 찾아보고 아키텍트로서의 해결책을 고민합니다.</a:t>
            </a:r>
          </a:p>
          <a:p>
            <a:pPr>
              <a:spcBef>
                <a:spcPts val="600"/>
              </a:spcBef>
            </a:pPr>
            <a:r>
              <a:rPr sz="1300" b="1">
                <a:solidFill>
                  <a:srgbClr val="2E5984"/>
                </a:solidFill>
              </a:rPr>
              <a:t>5. 확장 (Expansion): 에이전틱(Agentic) AI로의 진화</a:t>
            </a:r>
          </a:p>
          <a:p>
            <a:r>
              <a:rPr sz="1100">
                <a:solidFill>
                  <a:srgbClr val="222222"/>
                </a:solidFill>
              </a:rPr>
              <a:t>•  단순한 응답 시스템을 넘어, AI가 스스로 판단하고 도구를 호출(Tool Calling)하여 다단계 작업을 수행하는 자율형 에이전트(Autonomous Agent) 시스템으로 아키텍처를 확장합니다.</a:t>
            </a:r>
          </a:p>
          <a:p>
            <a:r>
              <a:rPr sz="1100">
                <a:solidFill>
                  <a:srgbClr val="222222"/>
                </a:solidFill>
              </a:rPr>
              <a:t>•  GPT-5.1 활용: 고도화된 추론 능력을 가진 GPT-5.1을 엔진으로 채택하여, 복잡한 증권 데이터 사이의 인과관계를 분석하는 심층 연구(Deep Research) 기능을 아키텍처에 통합합니다.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003  ·  3/216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프롤로그</a:t>
            </a:r>
          </a:p>
          <a:p>
            <a:r>
              <a:rPr sz="1900" b="1">
                <a:solidFill>
                  <a:srgbClr val="FFFFFF"/>
                </a:solidFill>
              </a:rPr>
              <a:t>[004] AI 네이티브 개발 트렌드: 바이브 코딩(Vibe Coding)과 에이전트 모드(Agent Mode)</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개발 패러다임의 전환</a:t>
            </a:r>
          </a:p>
          <a:p>
            <a:r>
              <a:rPr sz="1100">
                <a:solidFill>
                  <a:srgbClr val="222222"/>
                </a:solidFill>
              </a:rPr>
              <a:t>•  바이브 코딩 (Vibe Coding): 개발자가 프로그래밍 언어의 문법(Syntax)을 직접 입력하기보다, 구현하고자 하는 기능과 의도를 AI에게 자연어로 설명하면 AI가 소스 코드의 대부분을 작성하는 방식입니다.</a:t>
            </a:r>
          </a:p>
          <a:p>
            <a:r>
              <a:rPr sz="1100">
                <a:solidFill>
                  <a:srgbClr val="222222"/>
                </a:solidFill>
              </a:rPr>
              <a:t>•  에이전트 모드 (Agent Mode): AI가 단순한 질문 답변에 그치지 않고, "분석해줘"라는 명령 하나에 데이터 조회 → 뉴스 검색 → 재무 분석 → 기술적 분석 → 보고서 생성까지 스스로 판단하여 여러 단계를 자율적으로 수행하는 상태를 의미합니다.</a:t>
            </a:r>
          </a:p>
          <a:p>
            <a:pPr>
              <a:spcBef>
                <a:spcPts val="600"/>
              </a:spcBef>
            </a:pPr>
            <a:r>
              <a:rPr sz="1300" b="1">
                <a:solidFill>
                  <a:srgbClr val="2E5984"/>
                </a:solidFill>
              </a:rPr>
              <a:t>2. 아키텍처 (Architecture): 에이전틱(Agentic) 워크플로우</a:t>
            </a:r>
          </a:p>
          <a:p>
            <a:r>
              <a:rPr sz="1100">
                <a:solidFill>
                  <a:srgbClr val="222222"/>
                </a:solidFill>
              </a:rPr>
              <a:t>•  추론 단계 (Reasoning): GPT-5.1이 사용자의 모호한 요청(Vibe)을 구체적인 실행 계획으로 분해합니다.</a:t>
            </a:r>
          </a:p>
          <a:p>
            <a:r>
              <a:rPr sz="1100">
                <a:solidFill>
                  <a:srgbClr val="222222"/>
                </a:solidFill>
              </a:rPr>
              <a:t>•  도구 호출 (Tool Use/Action): 분해된 계획에 따라 코스콤 API, DART, ECOS 등 외부 도구를 호출하여 실데이터를 확보합니다.</a:t>
            </a:r>
          </a:p>
          <a:p>
            <a:r>
              <a:rPr sz="1100">
                <a:solidFill>
                  <a:srgbClr val="222222"/>
                </a:solidFill>
              </a:rPr>
              <a:t>•  피드백 루프 (Reflection): 실행 결과를 스스로 검토하고 오류가 있다면 수정한 뒤 최종 결과물을 생성합니다.</a:t>
            </a:r>
          </a:p>
          <a:p>
            <a:pPr>
              <a:spcBef>
                <a:spcPts val="600"/>
              </a:spcBef>
            </a:pPr>
            <a:r>
              <a:rPr sz="1300" b="1">
                <a:solidFill>
                  <a:srgbClr val="2E5984"/>
                </a:solidFill>
              </a:rPr>
              <a:t>3. 소스코드 (Source Code): 에이전트 실행의 트리거</a:t>
            </a:r>
          </a:p>
          <a:p>
            <a:r>
              <a:rPr sz="1100">
                <a:solidFill>
                  <a:srgbClr val="222222"/>
                </a:solidFill>
              </a:rPr>
              <a:t>•  핵심 로직: GPT-5.1이 단순 챗봇이 아닌 인텐트 분류기(Intent Classifier)로 작동하며 시스템을 구동합니다.</a:t>
            </a:r>
          </a:p>
          <a:p>
            <a:r>
              <a:rPr sz="1100">
                <a:solidFill>
                  <a:srgbClr val="222222"/>
                </a:solidFill>
              </a:rPr>
              <a:t>•  (출처:)</a:t>
            </a:r>
          </a:p>
          <a:p>
            <a:pPr>
              <a:spcBef>
                <a:spcPts val="600"/>
              </a:spcBef>
            </a:pPr>
            <a:r>
              <a:rPr sz="1300" b="1">
                <a:solidFill>
                  <a:srgbClr val="2E5984"/>
                </a:solidFill>
              </a:rPr>
              <a:t>4. 실습 (Practice): 일반 챗봇 vs 에이전틱 AI 체감하기</a:t>
            </a:r>
          </a:p>
          <a:p>
            <a:r>
              <a:rPr sz="1100">
                <a:solidFill>
                  <a:srgbClr val="222222"/>
                </a:solidFill>
              </a:rPr>
              <a:t>•  비교 실습:</a:t>
            </a:r>
          </a:p>
          <a:p>
            <a:r>
              <a:rPr sz="1100">
                <a:solidFill>
                  <a:srgbClr val="222222"/>
                </a:solidFill>
              </a:rPr>
              <a:t>•  (챗봇) "삼성전자 최근 주가 알려줘"라고 물어보기.</a:t>
            </a:r>
          </a:p>
          <a:p>
            <a:r>
              <a:rPr sz="1100">
                <a:solidFill>
                  <a:srgbClr val="222222"/>
                </a:solidFill>
              </a:rPr>
              <a:t>•  (에이전트) "삼성전자의 재무와 수급을 분석해서 텔레그램으로 PDF 리포트를 보내줘"라고 명령하기.</a:t>
            </a:r>
          </a:p>
          <a:p>
            <a:r>
              <a:rPr sz="1100">
                <a:solidFill>
                  <a:srgbClr val="222222"/>
                </a:solidFill>
              </a:rPr>
              <a:t>•  관찰 포인트: 에이전트가 내부적으로 어떤 툴(API)을 순차적으로 호출하는지 로그(CommandLog)를 통해 확인합니다.</a:t>
            </a:r>
          </a:p>
          <a:p>
            <a:pPr>
              <a:spcBef>
                <a:spcPts val="600"/>
              </a:spcBef>
            </a:pPr>
            <a:r>
              <a:rPr sz="1300" b="1">
                <a:solidFill>
                  <a:srgbClr val="2E5984"/>
                </a:solidFill>
              </a:rPr>
              <a:t>5. 확장 (Expansion): 딥 리서치(Deep Research)와 멀티 에이전트</a:t>
            </a:r>
          </a:p>
          <a:p>
            <a:r>
              <a:rPr sz="1100">
                <a:solidFill>
                  <a:srgbClr val="222222"/>
                </a:solidFill>
              </a:rPr>
              <a:t>•  딥 리서치: 단순 답변을 넘어 공시, 뉴스, 실적, 증권사 리포트를 스스로 종합 분석하여 인사이트를 도출하는 차세대 분석 기법으로 확장합니다.</a:t>
            </a:r>
          </a:p>
          <a:p>
            <a:r>
              <a:rPr sz="1100">
                <a:solidFill>
                  <a:srgbClr val="222222"/>
                </a:solidFill>
              </a:rPr>
              <a:t>•  CrewAI 협업: 한 명의 AI가 아닌, 재무 전문가 에이전트와 기술 분석 에이전트가 서로 협력하여 결과를 도출하는 멀티 에이전트 시스템으로 고도화합니다.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004  ·  4/216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73152"/>
          </a:xfrm>
          <a:prstGeom prst="rect">
            <a:avLst/>
          </a:prstGeom>
          <a:solidFill>
            <a:srgbClr val="6E8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834640"/>
            <a:ext cx="10515600" cy="1463040"/>
          </a:xfrm>
          <a:prstGeom prst="rect">
            <a:avLst/>
          </a:prstGeom>
          <a:noFill/>
        </p:spPr>
        <p:txBody>
          <a:bodyPr wrap="square">
            <a:spAutoFit/>
          </a:bodyPr>
          <a:lstStyle/>
          <a:p>
            <a:r>
              <a:rPr sz="1600">
                <a:solidFill>
                  <a:srgbClr val="9FB4F5"/>
                </a:solidFill>
              </a:rPr>
              <a:t>[1일차]</a:t>
            </a:r>
          </a:p>
          <a:p>
            <a:r>
              <a:rPr sz="2800" b="1">
                <a:solidFill>
                  <a:srgbClr val="FFFFFF"/>
                </a:solidFill>
              </a:rPr>
              <a:t>모듈 1 — 개념 정립: AI 아키텍트의 공통 언어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1</a:t>
            </a:r>
          </a:p>
          <a:p>
            <a:r>
              <a:rPr sz="1900" b="1">
                <a:solidFill>
                  <a:srgbClr val="FFFFFF"/>
                </a:solidFill>
              </a:rPr>
              <a:t>[005] 핵심 용어 1: API (Application Programming Interface)</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프로그램 간의 대화 창구</a:t>
            </a:r>
          </a:p>
          <a:p>
            <a:r>
              <a:rPr sz="1100">
                <a:solidFill>
                  <a:srgbClr val="222222"/>
                </a:solidFill>
              </a:rPr>
              <a:t>•  정의: 서로 다른 소프트웨어 프로그램이 데이터를 주고받기 위해 미리 약속된 규칙과 인터페이스입니다.</a:t>
            </a:r>
          </a:p>
          <a:p>
            <a:r>
              <a:rPr sz="1100">
                <a:solidFill>
                  <a:srgbClr val="222222"/>
                </a:solidFill>
              </a:rPr>
              <a:t>•  금융권 활용: 증권사가 보유한 방대한 주가 데이터를 외부 개발자가 안전하게 가져올 수 있도록 제공하는 통로입니다.</a:t>
            </a:r>
          </a:p>
          <a:p>
            <a:r>
              <a:rPr sz="1100">
                <a:solidFill>
                  <a:srgbClr val="222222"/>
                </a:solidFill>
              </a:rPr>
              <a:t>•  중요도: ★★★★★ (모든 AI 아키텍처의 데이터 입구이자 기본 동력).</a:t>
            </a:r>
          </a:p>
          <a:p>
            <a:pPr>
              <a:spcBef>
                <a:spcPts val="600"/>
              </a:spcBef>
            </a:pPr>
            <a:r>
              <a:rPr sz="1300" b="1">
                <a:solidFill>
                  <a:srgbClr val="2E5984"/>
                </a:solidFill>
              </a:rPr>
              <a:t>2. 아키텍처 (Architecture): RESTful API 통신 구조</a:t>
            </a:r>
          </a:p>
          <a:p>
            <a:r>
              <a:rPr sz="1100">
                <a:solidFill>
                  <a:srgbClr val="222222"/>
                </a:solidFill>
              </a:rPr>
              <a:t>•  통신 방식: 주로 HTTPS 프로토콜 기반의 RESTful API 방식을 사용합니다.</a:t>
            </a:r>
          </a:p>
          <a:p>
            <a:r>
              <a:rPr sz="1100">
                <a:solidFill>
                  <a:srgbClr val="222222"/>
                </a:solidFill>
              </a:rPr>
              <a:t>•  요청(Request): 클라이언트가 API 키와 파라미터를 담아 서버에 데이터를 요청합니다.</a:t>
            </a:r>
          </a:p>
          <a:p>
            <a:r>
              <a:rPr sz="1100">
                <a:solidFill>
                  <a:srgbClr val="222222"/>
                </a:solidFill>
              </a:rPr>
              <a:t>•  응답(Response): 서버는 요청을 확인한 후 JSON 또는 XML 형식으로 데이터를 반환합니다.</a:t>
            </a:r>
          </a:p>
          <a:p>
            <a:r>
              <a:rPr sz="1100">
                <a:solidFill>
                  <a:srgbClr val="222222"/>
                </a:solidFill>
              </a:rPr>
              <a:t>•  예시 경로: GET /market/closed/kospi/lists?apikey={YOUR_KEY}.</a:t>
            </a:r>
          </a:p>
          <a:p>
            <a:pPr>
              <a:spcBef>
                <a:spcPts val="600"/>
              </a:spcBef>
            </a:pPr>
            <a:r>
              <a:rPr sz="1300" b="1">
                <a:solidFill>
                  <a:srgbClr val="2E5984"/>
                </a:solidFill>
              </a:rPr>
              <a:t>3. 소스코드 (Source Code): 코스콤 API 호출 예시</a:t>
            </a:r>
          </a:p>
          <a:p>
            <a:r>
              <a:rPr sz="1100">
                <a:solidFill>
                  <a:srgbClr val="222222"/>
                </a:solidFill>
              </a:rPr>
              <a:t>•  Apps Script 환경: UrlFetchApp을 사용하여 코스콤 서버에 데이터를 요청합니다.</a:t>
            </a:r>
          </a:p>
          <a:p>
            <a:r>
              <a:rPr sz="1100">
                <a:solidFill>
                  <a:srgbClr val="222222"/>
                </a:solidFill>
              </a:rPr>
              <a:t>•  Python 환경: requests 라이브러리를 사용하여 시세 데이터를 확보합니다.</a:t>
            </a:r>
          </a:p>
          <a:p>
            <a:r>
              <a:rPr sz="1100">
                <a:solidFill>
                  <a:srgbClr val="222222"/>
                </a:solidFill>
              </a:rPr>
              <a:t>•  (출처:)</a:t>
            </a:r>
          </a:p>
          <a:p>
            <a:pPr>
              <a:spcBef>
                <a:spcPts val="600"/>
              </a:spcBef>
            </a:pPr>
            <a:r>
              <a:rPr sz="1300" b="1">
                <a:solidFill>
                  <a:srgbClr val="2E5984"/>
                </a:solidFill>
              </a:rPr>
              <a:t>4. 실습 (Practice): 실제 API 엔드포인트 확인</a:t>
            </a:r>
          </a:p>
          <a:p>
            <a:r>
              <a:rPr sz="1100">
                <a:solidFill>
                  <a:srgbClr val="222222"/>
                </a:solidFill>
              </a:rPr>
              <a:t>•  과제: 소스에 제공된 코스콤 테스트 API 주소를 브라우저 주소창에 직접 입력하여 실제 반환되는 데이터를 확인합니다.</a:t>
            </a:r>
          </a:p>
          <a:p>
            <a:r>
              <a:rPr sz="1100">
                <a:solidFill>
                  <a:srgbClr val="222222"/>
                </a:solidFill>
              </a:rPr>
              <a:t>•  확인 사항: 005930(삼성전자)의 주식 마스터 정보가 어떤 JSON 필드명(예: 종목명, 상장주식수 등)으로 오는지 대조해 봅니다.</a:t>
            </a:r>
          </a:p>
          <a:p>
            <a:pPr>
              <a:spcBef>
                <a:spcPts val="600"/>
              </a:spcBef>
            </a:pPr>
            <a:r>
              <a:rPr sz="1300" b="1">
                <a:solidFill>
                  <a:srgbClr val="2E5984"/>
                </a:solidFill>
              </a:rPr>
              <a:t>5. 확장 (Expansion): API에서 '툴 호출(Tool Calling)'로</a:t>
            </a:r>
          </a:p>
          <a:p>
            <a:r>
              <a:rPr sz="1100">
                <a:solidFill>
                  <a:srgbClr val="222222"/>
                </a:solidFill>
              </a:rPr>
              <a:t>•  AI 에이전트 연동: 단순 데이터 수집을 넘어, GPT-5.1이 스스로 상황에 맞는 API를 선택하고 실행하는 '툴 호출' 기능의 핵심 재료로 활용합니다.</a:t>
            </a:r>
          </a:p>
          <a:p>
            <a:r>
              <a:rPr sz="1100">
                <a:solidFill>
                  <a:srgbClr val="222222"/>
                </a:solidFill>
              </a:rPr>
              <a:t>•  데이터 레이크 확장: 코스콤 시세뿐만 아니라 한국은행(ECOS), 금융감독원(DART) API를 통합하여 다차원적인 금융 데이터 레이크를 구축하는 기반이 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005  ·  5/216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1</a:t>
            </a:r>
          </a:p>
          <a:p>
            <a:r>
              <a:rPr sz="1900" b="1">
                <a:solidFill>
                  <a:srgbClr val="FFFFFF"/>
                </a:solidFill>
              </a:rPr>
              <a:t>[006] 핵심 용어 2: JSON (JavaScript Object Notation)</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데이터 교환의 글로벌 표준</a:t>
            </a:r>
          </a:p>
          <a:p>
            <a:r>
              <a:rPr sz="1100">
                <a:solidFill>
                  <a:srgbClr val="222222"/>
                </a:solidFill>
              </a:rPr>
              <a:t>•  정의: 데이터를 텍스트 형태로 저장하고 전송하기 위한 가볍고 독립적인 데이터 교환 표준 형식입니다.</a:t>
            </a:r>
          </a:p>
          <a:p>
            <a:r>
              <a:rPr sz="1100">
                <a:solidFill>
                  <a:srgbClr val="222222"/>
                </a:solidFill>
              </a:rPr>
              <a:t>•  특징: 사람과 기계가 모두 읽고 쓰기 쉬우며, 특히 GPT-5.1과 같은 언어 모델이 분석 결과를 외부 시스템(텔레그램, 웹 앱)에 전달할 때 가장 선호되는 언어입니다.</a:t>
            </a:r>
          </a:p>
          <a:p>
            <a:pPr>
              <a:spcBef>
                <a:spcPts val="600"/>
              </a:spcBef>
            </a:pPr>
            <a:r>
              <a:rPr sz="1300" b="1">
                <a:solidFill>
                  <a:srgbClr val="2E5984"/>
                </a:solidFill>
              </a:rPr>
              <a:t>2. 아키텍처 (Architecture): Key-Value 구조의 데이터 전달</a:t>
            </a:r>
          </a:p>
          <a:p>
            <a:r>
              <a:rPr sz="1100">
                <a:solidFill>
                  <a:srgbClr val="222222"/>
                </a:solidFill>
              </a:rPr>
              <a:t>•  구조: 중괄호 { } 내에 '이름(Key)'과 '값(Value)'이 쌍으로 존재하며, 쉼표로 구분됩니다.</a:t>
            </a:r>
          </a:p>
          <a:p>
            <a:r>
              <a:rPr sz="1100">
                <a:solidFill>
                  <a:srgbClr val="222222"/>
                </a:solidFill>
              </a:rPr>
              <a:t>•  데이터 흐름:</a:t>
            </a:r>
          </a:p>
          <a:p>
            <a:r>
              <a:rPr sz="1100">
                <a:solidFill>
                  <a:srgbClr val="222222"/>
                </a:solidFill>
              </a:rPr>
              <a:t>•  서버(Koscom/OpenAI): 분석 결과를 JSON으로 포장(Serialize)하여 전송합니다.</a:t>
            </a:r>
          </a:p>
          <a:p>
            <a:r>
              <a:rPr sz="1100">
                <a:solidFill>
                  <a:srgbClr val="222222"/>
                </a:solidFill>
              </a:rPr>
              <a:t>•  클라이언트(Apps Script/Python): 받은 JSON을 분석(Deserialize/Parse)하여 실제 기능에 사용합니다.</a:t>
            </a:r>
          </a:p>
          <a:p>
            <a:pPr>
              <a:spcBef>
                <a:spcPts val="600"/>
              </a:spcBef>
            </a:pPr>
            <a:r>
              <a:rPr sz="1300" b="1">
                <a:solidFill>
                  <a:srgbClr val="2E5984"/>
                </a:solidFill>
              </a:rPr>
              <a:t>3. 소스코드 (Source Code): JSON 데이터 처리 예시</a:t>
            </a:r>
          </a:p>
          <a:p>
            <a:r>
              <a:rPr sz="1100">
                <a:solidFill>
                  <a:srgbClr val="222222"/>
                </a:solidFill>
              </a:rPr>
              <a:t>•  생성 및 파싱: 텍스트 형태의 데이터를 실제 프로그램에서 사용 가능한 객체로 변환하는 핵심 로직입니다.</a:t>
            </a:r>
          </a:p>
          <a:p>
            <a:pPr>
              <a:spcBef>
                <a:spcPts val="600"/>
              </a:spcBef>
            </a:pPr>
            <a:r>
              <a:rPr sz="1300" b="1">
                <a:solidFill>
                  <a:srgbClr val="2E5984"/>
                </a:solidFill>
              </a:rPr>
              <a:t>4. 실습 (Practice): 실제 API 응답 구조 분석</a:t>
            </a:r>
          </a:p>
          <a:p>
            <a:r>
              <a:rPr sz="1100">
                <a:solidFill>
                  <a:srgbClr val="222222"/>
                </a:solidFill>
              </a:rPr>
              <a:t>•  과제: 코스콤 테스트 API(.../005930/master)를 호출했을 때 반환되는 아래 JSON 샘플에서 종목명과 상장주식수 필드를 찾아보십시오.</a:t>
            </a:r>
          </a:p>
          <a:p>
            <a:r>
              <a:rPr sz="1100">
                <a:solidFill>
                  <a:srgbClr val="222222"/>
                </a:solidFill>
              </a:rPr>
              <a:t>•  체크 포인트: 숫자가 문자열(" ")로 감싸져 있는지, 아니면 숫자 타입인지를 확인하고 이에 따른 프로그래밍적 처리 방식을 고민합니다.</a:t>
            </a:r>
          </a:p>
          <a:p>
            <a:pPr>
              <a:spcBef>
                <a:spcPts val="600"/>
              </a:spcBef>
            </a:pPr>
            <a:r>
              <a:rPr sz="1300" b="1">
                <a:solidFill>
                  <a:srgbClr val="2E5984"/>
                </a:solidFill>
              </a:rPr>
              <a:t>5. 확장 (Expansion): GPT-5.1과 Structured Output</a:t>
            </a:r>
          </a:p>
          <a:p>
            <a:r>
              <a:rPr sz="1100">
                <a:solidFill>
                  <a:srgbClr val="222222"/>
                </a:solidFill>
              </a:rPr>
              <a:t>•  고도화 전략: GPT-5.1은 답변을 반드시 특정 JSON 규격(Schema)에 맞추어 내놓는 Structured Output 기능을 제공합니다.</a:t>
            </a:r>
          </a:p>
          <a:p>
            <a:r>
              <a:rPr sz="1100">
                <a:solidFill>
                  <a:srgbClr val="222222"/>
                </a:solidFill>
              </a:rPr>
              <a:t>•  활용: 이를 통해 AI가 작성한 투자 리포트가 항상 일관된 구조(의견, 리스크, 점수 등)를 갖게 되어, 추가 가공 없이 즉시 PDF 리포트로 변환되거나 DB에 저장될 수 있습니다.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006  ·  6/216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1</a:t>
            </a:r>
          </a:p>
          <a:p>
            <a:r>
              <a:rPr sz="1900" b="1">
                <a:solidFill>
                  <a:srgbClr val="FFFFFF"/>
                </a:solidFill>
              </a:rPr>
              <a:t>[007] 핵심 용어 3: ETL (Extract, Transform, Load)</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데이터의 수집, 가공, 적재 프로세스</a:t>
            </a:r>
          </a:p>
          <a:p>
            <a:r>
              <a:rPr sz="1100">
                <a:solidFill>
                  <a:srgbClr val="222222"/>
                </a:solidFill>
              </a:rPr>
              <a:t>•  정의: 원천 시스템에서 데이터를 추출(Extract)하고, 분석에 적합한 형태로 변환(Transform)한 뒤, 최종 목적지인 데이터베이스나 데이터 레이크에 적재(Load)하는 일련의 과정입니다.</a:t>
            </a:r>
          </a:p>
          <a:p>
            <a:r>
              <a:rPr sz="1100">
                <a:solidFill>
                  <a:srgbClr val="222222"/>
                </a:solidFill>
              </a:rPr>
              <a:t>•  증권 데이터에서의 중요성: 코스콤 등에서 수집되는 원천 데이터는 형식이 제각각이므로, 이를 AI가 분석할 수 있는 정형화된 시계열 데이터로 변환하는 ETL 과정이 시스템의 품질을 결정합니다.</a:t>
            </a:r>
          </a:p>
          <a:p>
            <a:pPr>
              <a:spcBef>
                <a:spcPts val="600"/>
              </a:spcBef>
            </a:pPr>
            <a:r>
              <a:rPr sz="1300" b="1">
                <a:solidFill>
                  <a:srgbClr val="2E5984"/>
                </a:solidFill>
              </a:rPr>
              <a:t>2. 아키텍처 (Architecture): 데이터 파이프라인 흐름도</a:t>
            </a:r>
          </a:p>
          <a:p>
            <a:r>
              <a:rPr sz="1100">
                <a:solidFill>
                  <a:srgbClr val="222222"/>
                </a:solidFill>
              </a:rPr>
              <a:t>•  추출(E): 코스콤(시세), ECOS(거시지표), DART(재무) API를 호출하여 raw 데이터를 확보합니다.</a:t>
            </a:r>
          </a:p>
          <a:p>
            <a:r>
              <a:rPr sz="1100">
                <a:solidFill>
                  <a:srgbClr val="222222"/>
                </a:solidFill>
              </a:rPr>
              <a:t>•  변환(T): 결측치 처리, 기술적 지표(RSI, MACD) 계산, 데이터 형식(JSON → DataFrame) 변환을 수행합니다.</a:t>
            </a:r>
          </a:p>
          <a:p>
            <a:r>
              <a:rPr sz="1100">
                <a:solidFill>
                  <a:srgbClr val="222222"/>
                </a:solidFill>
              </a:rPr>
              <a:t>•  적재(L): 가공된 데이터를 PostgreSQL DB의 stock_prices 테이블이나 구글 시트의 지정된 영역에 저장합니다.</a:t>
            </a:r>
          </a:p>
          <a:p>
            <a:pPr>
              <a:spcBef>
                <a:spcPts val="600"/>
              </a:spcBef>
            </a:pPr>
            <a:r>
              <a:rPr sz="1300" b="1">
                <a:solidFill>
                  <a:srgbClr val="2E5984"/>
                </a:solidFill>
              </a:rPr>
              <a:t>3. 소스코드 (Source Code): Python 기반 ETL 모듈 예시</a:t>
            </a:r>
          </a:p>
          <a:p>
            <a:r>
              <a:rPr sz="1100">
                <a:solidFill>
                  <a:srgbClr val="222222"/>
                </a:solidFill>
              </a:rPr>
              <a:t>•  Extract &amp; Load 로직: API 데이터를 가져와 DB에 직접 적재하는 핵심 함수 구조입니다.</a:t>
            </a:r>
          </a:p>
          <a:p>
            <a:pPr>
              <a:spcBef>
                <a:spcPts val="600"/>
              </a:spcBef>
            </a:pPr>
            <a:r>
              <a:rPr sz="1300" b="1">
                <a:solidFill>
                  <a:srgbClr val="2E5984"/>
                </a:solidFill>
              </a:rPr>
              <a:t>4. 실습 (Practice): 종목 시세 ETL 파이프라인 구축</a:t>
            </a:r>
          </a:p>
          <a:p>
            <a:r>
              <a:rPr sz="1100">
                <a:solidFill>
                  <a:srgbClr val="222222"/>
                </a:solidFill>
              </a:rPr>
              <a:t>•  과제: 코스콤 API에서 삼성전자(005930)의 최근 10일치 시세(JSON)를 추출하여, Pandas를 이용해 종가(close) 기준 수익률 컬럼을 추가한 뒤, 구글 시트(CommandLog)에 기록해 보십시오.</a:t>
            </a:r>
          </a:p>
          <a:p>
            <a:r>
              <a:rPr sz="1100">
                <a:solidFill>
                  <a:srgbClr val="222222"/>
                </a:solidFill>
              </a:rPr>
              <a:t>•  확인 사항: 데이터 적재 시 중복 데이터가 발생하는지, 날짜 형식이 데이터베이스의 DATE 타입과 일치하는지 확인합니다.</a:t>
            </a:r>
          </a:p>
          <a:p>
            <a:pPr>
              <a:spcBef>
                <a:spcPts val="600"/>
              </a:spcBef>
            </a:pPr>
            <a:r>
              <a:rPr sz="1300" b="1">
                <a:solidFill>
                  <a:srgbClr val="2E5984"/>
                </a:solidFill>
              </a:rPr>
              <a:t>5. 확장 (Expansion): 자동화된 데이터 파이프라인(Pipeline)</a:t>
            </a:r>
          </a:p>
          <a:p>
            <a:r>
              <a:rPr sz="1100">
                <a:solidFill>
                  <a:srgbClr val="222222"/>
                </a:solidFill>
              </a:rPr>
              <a:t>•  고도화 전략: ETL 과정을 수동 실행이 아닌, APScheduler를 활용하여 매일 오전 6~7시 사이에 자동으로 수행되도록 예약합니다.</a:t>
            </a:r>
          </a:p>
          <a:p>
            <a:r>
              <a:rPr sz="1100">
                <a:solidFill>
                  <a:srgbClr val="222222"/>
                </a:solidFill>
              </a:rPr>
              <a:t>•  GPT-5.1 연동: 적재된 데이터를 GPT-5.1이 주기적으로 스캔하여 특이 사항(갑작스러운 거래량 급증 등) 발생 시 즉시 리포트를 생성하는 '에이전틱 ETL' 구조로 확장 가능합니다.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007  ·  7/216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1</a:t>
            </a:r>
          </a:p>
          <a:p>
            <a:r>
              <a:rPr sz="1900" b="1">
                <a:solidFill>
                  <a:srgbClr val="FFFFFF"/>
                </a:solidFill>
              </a:rPr>
              <a:t>[008] 핵심 용어 4: RAG (Retrieval-Augmented Generation)</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검색 기반의 지식 보강 생성</a:t>
            </a:r>
          </a:p>
          <a:p>
            <a:r>
              <a:rPr sz="1100">
                <a:solidFill>
                  <a:srgbClr val="222222"/>
                </a:solidFill>
              </a:rPr>
              <a:t>•  정의: 모델이 학습하지 않은 최신 데이터나 기업 내부의 비공개 지식을 실시간으로 검색(Retrieval)하여, 그 내용을 바탕으로 답변을 생성(Generation)하는 기술입니다.</a:t>
            </a:r>
          </a:p>
          <a:p>
            <a:r>
              <a:rPr sz="1100">
                <a:solidFill>
                  <a:srgbClr val="222222"/>
                </a:solidFill>
              </a:rPr>
              <a:t>•  필요성: 금융 시장은 시시각각 변하므로, GPT의 훈련 시점 이후에 발생한 최신 공시, 뉴스, 리서치 리포트를 정확히 반영하기 위해 필수적입니다.</a:t>
            </a:r>
          </a:p>
          <a:p>
            <a:pPr>
              <a:spcBef>
                <a:spcPts val="600"/>
              </a:spcBef>
            </a:pPr>
            <a:r>
              <a:rPr sz="1300" b="1">
                <a:solidFill>
                  <a:srgbClr val="2E5984"/>
                </a:solidFill>
              </a:rPr>
              <a:t>2. 아키텍처 (Architecture): RAG의 지식 전달 파이프라인</a:t>
            </a:r>
          </a:p>
          <a:p>
            <a:r>
              <a:rPr sz="1100">
                <a:solidFill>
                  <a:srgbClr val="222222"/>
                </a:solidFill>
              </a:rPr>
              <a:t>•  지식 저장소: PDF, TXT, 구글 시트 등에 투자 분석 지식을 저장합니다.</a:t>
            </a:r>
          </a:p>
          <a:p>
            <a:r>
              <a:rPr sz="1100">
                <a:solidFill>
                  <a:srgbClr val="222222"/>
                </a:solidFill>
              </a:rPr>
              <a:t>•  검색 엔진: 사용자의 질문에서 키워드를 추출하여 관련 문서를 찾아냅니다.</a:t>
            </a:r>
          </a:p>
          <a:p>
            <a:r>
              <a:rPr sz="1100">
                <a:solidFill>
                  <a:srgbClr val="222222"/>
                </a:solidFill>
              </a:rPr>
              <a:t>•  증강 및 생성: 검색된 원문 데이터(Context)를 질문과 함께 GPT-5.1에게 전달하여, 근거가 명확한 답변을 생성하도록 유도합니다.</a:t>
            </a:r>
          </a:p>
          <a:p>
            <a:pPr>
              <a:spcBef>
                <a:spcPts val="600"/>
              </a:spcBef>
            </a:pPr>
            <a:r>
              <a:rPr sz="1300" b="1">
                <a:solidFill>
                  <a:srgbClr val="2E5984"/>
                </a:solidFill>
              </a:rPr>
              <a:t>3. 소스코드 (Source Code): 지식 검색 및 분석 엔진 연결</a:t>
            </a:r>
          </a:p>
          <a:p>
            <a:r>
              <a:rPr sz="1100">
                <a:solidFill>
                  <a:srgbClr val="222222"/>
                </a:solidFill>
              </a:rPr>
              <a:t>•  핵심 로직: FnRiskWatch MVP에서 사용하는 준RAG(Google Sheets 기반)의 검색부 예시입니다.</a:t>
            </a:r>
          </a:p>
          <a:p>
            <a:pPr>
              <a:spcBef>
                <a:spcPts val="600"/>
              </a:spcBef>
            </a:pPr>
            <a:r>
              <a:rPr sz="1300" b="1">
                <a:solidFill>
                  <a:srgbClr val="2E5984"/>
                </a:solidFill>
              </a:rPr>
              <a:t>4. 실습 (Practice): 구글 시트를 활용한 준RAG 체험</a:t>
            </a:r>
          </a:p>
          <a:p>
            <a:r>
              <a:rPr sz="1100">
                <a:solidFill>
                  <a:srgbClr val="222222"/>
                </a:solidFill>
              </a:rPr>
              <a:t>•  과제: 02_KNOWLEDGE_INDEX 시트에 '반도체 수출 규제' 관련 리스크 기준을 입력하고, 01_INPUT에 삼성전자 관련 뉴스를 넣은 뒤 runFnRiskWatchRAG 함수를 실행합니다.</a:t>
            </a:r>
          </a:p>
          <a:p>
            <a:r>
              <a:rPr sz="1100">
                <a:solidFill>
                  <a:srgbClr val="222222"/>
                </a:solidFill>
              </a:rPr>
              <a:t>•  확인 사항: GPT가 단순히 알고 있는 지식이 아니라, 시트에 입력된 리스크 등급 기준을 정확히 참조하여 분석 결과(03_RESULT)를 내놓는지 확인합니다.</a:t>
            </a:r>
          </a:p>
          <a:p>
            <a:pPr>
              <a:spcBef>
                <a:spcPts val="600"/>
              </a:spcBef>
            </a:pPr>
            <a:r>
              <a:rPr sz="1300" b="1">
                <a:solidFill>
                  <a:srgbClr val="2E5984"/>
                </a:solidFill>
              </a:rPr>
              <a:t>5. 확장 (Expansion): 벡터 DB(ChromaDB)를 이용한 고도화</a:t>
            </a:r>
          </a:p>
          <a:p>
            <a:r>
              <a:rPr sz="1100">
                <a:solidFill>
                  <a:srgbClr val="222222"/>
                </a:solidFill>
              </a:rPr>
              <a:t>•  고도화 전략: 키워드가 완벽히 일치하지 않아도 의미상 유사한 문서를 찾아내는 의미론적 검색(Semantic Search)을 도입합니다.</a:t>
            </a:r>
          </a:p>
          <a:p>
            <a:r>
              <a:rPr sz="1100">
                <a:solidFill>
                  <a:srgbClr val="222222"/>
                </a:solidFill>
              </a:rPr>
              <a:t>•  기술 적용: 수천 건의 뉴스 데이터를 ChromaDB에 임베딩하여 저장하고, 과거 유사 위기 국면을 실시간으로 검색하여 분석에 반영하는 고성능 RAG 시스템으로 확장합니다.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008  ·  8/216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1</a:t>
            </a:r>
          </a:p>
          <a:p>
            <a:r>
              <a:rPr sz="1900" b="1">
                <a:solidFill>
                  <a:srgbClr val="FFFFFF"/>
                </a:solidFill>
              </a:rPr>
              <a:t>[009] 핵심 용어 5: Webhook(웹훅) &amp; 이벤트 기반 아키텍처</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서버 간의 즉각적인 '푸시' 알림</a:t>
            </a:r>
          </a:p>
          <a:p>
            <a:r>
              <a:rPr sz="1100">
                <a:solidFill>
                  <a:srgbClr val="222222"/>
                </a:solidFill>
              </a:rPr>
              <a:t>•  정의: 특정 이벤트(예: 텔레그램 메시지 수신, 데이터 업데이트 완료)가 발생했을 때, 서버가 지정된 URL로 데이터를 즉시 보내주는 '역방향 API' 방식입니다.</a:t>
            </a:r>
          </a:p>
          <a:p>
            <a:r>
              <a:rPr sz="1100">
                <a:solidFill>
                  <a:srgbClr val="222222"/>
                </a:solidFill>
              </a:rPr>
              <a:t>•  차별점: 클라이언트가 주기적으로 데이터를 확인하는 '폴링(Polling)' 방식과 달리, 이벤트가 발생한 순간에만 통신하므로 서버 자원과 비용을 획기적으로 절감할 수 있습니다.</a:t>
            </a:r>
          </a:p>
          <a:p>
            <a:pPr>
              <a:spcBef>
                <a:spcPts val="600"/>
              </a:spcBef>
            </a:pPr>
            <a:r>
              <a:rPr sz="1300" b="1">
                <a:solidFill>
                  <a:srgbClr val="2E5984"/>
                </a:solidFill>
              </a:rPr>
              <a:t>2. 아키텍처 (Architecture): 텔레그램-GAS 웹훅 흐름도</a:t>
            </a:r>
          </a:p>
          <a:p>
            <a:r>
              <a:rPr sz="1100">
                <a:solidFill>
                  <a:srgbClr val="222222"/>
                </a:solidFill>
              </a:rPr>
              <a:t>•  이벤트 발생: 사용자가 텔레그램 봇에게 "오늘 시장 브리핑 보여줘"라고 메시지를 전송합니다.</a:t>
            </a:r>
          </a:p>
          <a:p>
            <a:r>
              <a:rPr sz="1100">
                <a:solidFill>
                  <a:srgbClr val="222222"/>
                </a:solidFill>
              </a:rPr>
              <a:t>•  웹훅 트리거: 텔레그램 서버가 메시지를 감지하고, 미리 등록된 Apps Script 웹 앱 URL로 해당 데이터를 POST 방식으로 던집니다.</a:t>
            </a:r>
          </a:p>
          <a:p>
            <a:r>
              <a:rPr sz="1100">
                <a:solidFill>
                  <a:srgbClr val="222222"/>
                </a:solidFill>
              </a:rPr>
              <a:t>•  엔드포인트 수신: Apps Script의 doPost(e) 함수가 이 데이터를 받아 분석 프로세스를 시작합니다.</a:t>
            </a:r>
          </a:p>
          <a:p>
            <a:pPr>
              <a:spcBef>
                <a:spcPts val="600"/>
              </a:spcBef>
            </a:pPr>
            <a:r>
              <a:rPr sz="1300" b="1">
                <a:solidFill>
                  <a:srgbClr val="2E5984"/>
                </a:solidFill>
              </a:rPr>
              <a:t>3. 소스코드 (Source Code): 웹훅 수신 엔드포인트 구현</a:t>
            </a:r>
          </a:p>
          <a:p>
            <a:r>
              <a:rPr sz="1100">
                <a:solidFill>
                  <a:srgbClr val="222222"/>
                </a:solidFill>
              </a:rPr>
              <a:t>•  핵심 로직: 웹훅으로 들어오는 JSON 데이터를 파싱하여 사용자 메시지와 채팅 ID를 추출하는 입구 역할을 합니다.</a:t>
            </a:r>
          </a:p>
          <a:p>
            <a:pPr>
              <a:spcBef>
                <a:spcPts val="600"/>
              </a:spcBef>
            </a:pPr>
            <a:r>
              <a:rPr sz="1300" b="1">
                <a:solidFill>
                  <a:srgbClr val="2E5984"/>
                </a:solidFill>
              </a:rPr>
              <a:t>4. 실습 (Practice): 실제 웹훅 등록 및 상태 확인</a:t>
            </a:r>
          </a:p>
          <a:p>
            <a:r>
              <a:rPr sz="1100">
                <a:solidFill>
                  <a:srgbClr val="222222"/>
                </a:solidFill>
              </a:rPr>
              <a:t>•  과제: 브라우저 주소창을 이용해 본인의 텔레그램 봇 토큰과 Apps Script URL을 연결하는 setWebhook 명령을 실행해 보십시오.</a:t>
            </a:r>
          </a:p>
          <a:p>
            <a:r>
              <a:rPr sz="1100">
                <a:solidFill>
                  <a:srgbClr val="222222"/>
                </a:solidFill>
              </a:rPr>
              <a:t>•  https://api.telegram.org/bot&lt;토큰&gt;/setWebhook?url=&lt;웹앱URL&gt;</a:t>
            </a:r>
          </a:p>
          <a:p>
            <a:r>
              <a:rPr sz="1100">
                <a:solidFill>
                  <a:srgbClr val="222222"/>
                </a:solidFill>
              </a:rPr>
              <a:t>•  확인 사항: 실행 후 {"ok":true, "result":true} 응답이 오는지 확인하고, getWebhookInfo를 통해 정상 등록 여부를 최종 점검합니다.</a:t>
            </a:r>
          </a:p>
          <a:p>
            <a:pPr>
              <a:spcBef>
                <a:spcPts val="600"/>
              </a:spcBef>
            </a:pPr>
            <a:r>
              <a:rPr sz="1300" b="1">
                <a:solidFill>
                  <a:srgbClr val="2E5984"/>
                </a:solidFill>
              </a:rPr>
              <a:t>5. 확장 (Expansion): 멀티 채널 이벤트 오케스트레이션</a:t>
            </a:r>
          </a:p>
          <a:p>
            <a:r>
              <a:rPr sz="1100">
                <a:solidFill>
                  <a:srgbClr val="222222"/>
                </a:solidFill>
              </a:rPr>
              <a:t>•  고도화 전략: 텔레그램뿐만 아니라 GitHub의 코드 커밋, 결제 시스템의 승인 알림 등을 웹훅으로 통합하여 '금융 데이터 감시 에이전트'로 확장합니다.</a:t>
            </a:r>
          </a:p>
          <a:p>
            <a:r>
              <a:rPr sz="1100">
                <a:solidFill>
                  <a:srgbClr val="222222"/>
                </a:solidFill>
              </a:rPr>
              <a:t>•  GPT-5.1 연동: 웹훅을 통해 들어온 비정형 메시지를 GPT-5.1이 실시간으로 분류(Classifier)하여, 시장 급락이나 리스크 발생 시 즉시 대응하는 '자율형 운영 시스템'을 구축합니다.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009  ·  9/216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1</a:t>
            </a:r>
          </a:p>
          <a:p>
            <a:r>
              <a:rPr sz="1900" b="1">
                <a:solidFill>
                  <a:srgbClr val="FFFFFF"/>
                </a:solidFill>
              </a:rPr>
              <a:t>[010] AI 금융 서비스의 계층화: Layered Architecture</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모듈화와 관심사의 분리</a:t>
            </a:r>
          </a:p>
          <a:p>
            <a:r>
              <a:rPr sz="1100">
                <a:solidFill>
                  <a:srgbClr val="222222"/>
                </a:solidFill>
              </a:rPr>
              <a:t>•  정의: 복잡한 AI 금융 시스템을 기능별로 독립된 층(Layer)으로 나누어 설계하는 방식입니다,.</a:t>
            </a:r>
          </a:p>
          <a:p>
            <a:r>
              <a:rPr sz="1100">
                <a:solidFill>
                  <a:srgbClr val="222222"/>
                </a:solidFill>
              </a:rPr>
              <a:t>•  필요성: 데이터 수집 로직이 바뀌어도 AI 분석 로직은 유지될 수 있도록 하여 시스템의 유지보수성과 확장성을 극대화합니다.</a:t>
            </a:r>
          </a:p>
          <a:p>
            <a:r>
              <a:rPr sz="1100">
                <a:solidFill>
                  <a:srgbClr val="222222"/>
                </a:solidFill>
              </a:rPr>
              <a:t>•  AI 아키텍트의 시각: 단순한 코드 작성이 아니라, 각 모듈이 유기적으로 협력하는 '설계도'를 그리는 것이 중요합니다.</a:t>
            </a:r>
          </a:p>
          <a:p>
            <a:pPr>
              <a:spcBef>
                <a:spcPts val="600"/>
              </a:spcBef>
            </a:pPr>
            <a:r>
              <a:rPr sz="1300" b="1">
                <a:solidFill>
                  <a:srgbClr val="2E5984"/>
                </a:solidFill>
              </a:rPr>
              <a:t>2. 아키텍처 (Architecture): 5단계 레이어 구조</a:t>
            </a:r>
          </a:p>
          <a:p>
            <a:r>
              <a:rPr sz="1100">
                <a:solidFill>
                  <a:srgbClr val="222222"/>
                </a:solidFill>
              </a:rPr>
              <a:t>•  AI 금융 플랫폼은 크게 다음과 같은 5개의 레이어로 구분됩니다,,:</a:t>
            </a:r>
          </a:p>
          <a:p>
            <a:r>
              <a:rPr sz="1100">
                <a:solidFill>
                  <a:srgbClr val="222222"/>
                </a:solidFill>
              </a:rPr>
              <a:t>•  Presentation Layer: 사용자의 접점 (Telegram, Streamlit 웹화면)</a:t>
            </a:r>
          </a:p>
          <a:p>
            <a:r>
              <a:rPr sz="1100">
                <a:solidFill>
                  <a:srgbClr val="222222"/>
                </a:solidFill>
              </a:rPr>
              <a:t>•  Action Layer: 명령 분석 및 라우팅 (GPT Classifier, Dispatcher)</a:t>
            </a:r>
          </a:p>
          <a:p>
            <a:r>
              <a:rPr sz="1100">
                <a:solidFill>
                  <a:srgbClr val="222222"/>
                </a:solidFill>
              </a:rPr>
              <a:t>•  Data Layer: 멀티 소스 데이터 확보 (KOSCOM, ECOS, DART, Sheets)</a:t>
            </a:r>
          </a:p>
          <a:p>
            <a:r>
              <a:rPr sz="1100">
                <a:solidFill>
                  <a:srgbClr val="222222"/>
                </a:solidFill>
              </a:rPr>
              <a:t>•  GPT Layer: AI 추론 및 리포트 생성 (Prompt Engineering, RAG)</a:t>
            </a:r>
          </a:p>
          <a:p>
            <a:r>
              <a:rPr sz="1100">
                <a:solidFill>
                  <a:srgbClr val="222222"/>
                </a:solidFill>
              </a:rPr>
              <a:t>•  Delivery Layer: 결과 전달 (Telegram 회신, PDF 리포트 자동 생성)</a:t>
            </a:r>
          </a:p>
          <a:p>
            <a:pPr>
              <a:spcBef>
                <a:spcPts val="600"/>
              </a:spcBef>
            </a:pPr>
            <a:r>
              <a:rPr sz="1300" b="1">
                <a:solidFill>
                  <a:srgbClr val="2E5984"/>
                </a:solidFill>
              </a:rPr>
              <a:t>3. 소스코드 (Source Code): 계층 구조를 반영한 폴더 설계</a:t>
            </a:r>
          </a:p>
          <a:p>
            <a:r>
              <a:rPr sz="1100">
                <a:solidFill>
                  <a:srgbClr val="222222"/>
                </a:solidFill>
              </a:rPr>
              <a:t>•  핵심 로직: 아키텍처의 계층 구조는 프로젝트의 폴더 구조에 그대로 반영되어야 합니다,.</a:t>
            </a:r>
          </a:p>
          <a:p>
            <a:pPr>
              <a:spcBef>
                <a:spcPts val="600"/>
              </a:spcBef>
            </a:pPr>
            <a:r>
              <a:rPr sz="1300" b="1">
                <a:solidFill>
                  <a:srgbClr val="2E5984"/>
                </a:solidFill>
              </a:rPr>
              <a:t>4. 실습 (Practice): 개발자 다이어그램 레이어 매핑</a:t>
            </a:r>
          </a:p>
          <a:p>
            <a:r>
              <a:rPr sz="1100">
                <a:solidFill>
                  <a:srgbClr val="222222"/>
                </a:solidFill>
              </a:rPr>
              <a:t>•  과제: 제공된 '텔레그램-앱스스크립트-오픈AI 개발자 다이어그램'을 보고, 다음 구성 요소가 위 5단계 중 어느 레이어에 속하는지 연결해 보십시오,.</a:t>
            </a:r>
          </a:p>
          <a:p>
            <a:r>
              <a:rPr sz="1100">
                <a:solidFill>
                  <a:srgbClr val="222222"/>
                </a:solidFill>
              </a:rPr>
              <a:t>•  doPost(e) 함수 → (정답: Presentation/Gateway)</a:t>
            </a:r>
          </a:p>
          <a:p>
            <a:r>
              <a:rPr sz="1100">
                <a:solidFill>
                  <a:srgbClr val="222222"/>
                </a:solidFill>
              </a:rPr>
              <a:t>•  switch(action) 로직 → (정답: Action Layer)</a:t>
            </a:r>
          </a:p>
          <a:p>
            <a:r>
              <a:rPr sz="1100">
                <a:solidFill>
                  <a:srgbClr val="222222"/>
                </a:solidFill>
              </a:rPr>
              <a:t>•  UrlFetchApp(KOSCOM) → (정답: Data Layer)</a:t>
            </a:r>
          </a:p>
          <a:p>
            <a:r>
              <a:rPr sz="1100">
                <a:solidFill>
                  <a:srgbClr val="222222"/>
                </a:solidFill>
              </a:rPr>
              <a:t>•  확인 사항: 레이어 간의 경계가 명확한지, 한 함수의 역할이 너무 비대하지 않은지 체크합니다.</a:t>
            </a:r>
          </a:p>
          <a:p>
            <a:pPr>
              <a:spcBef>
                <a:spcPts val="600"/>
              </a:spcBef>
            </a:pPr>
            <a:r>
              <a:rPr sz="1300" b="1">
                <a:solidFill>
                  <a:srgbClr val="2E5984"/>
                </a:solidFill>
              </a:rPr>
              <a:t>5. 확장 (Expansion): 마이크로서비스 및 클라우드 배포</a:t>
            </a:r>
          </a:p>
          <a:p>
            <a:r>
              <a:rPr sz="1100">
                <a:solidFill>
                  <a:srgbClr val="222222"/>
                </a:solidFill>
              </a:rPr>
              <a:t>•  고도화 전략: 시스템이 커지면 각 레이어를 별도의 컨테이너(Docker)로 분리하여 관리하는 마이크로서비스 아키텍처(MSA)로 확장합니다,.</a:t>
            </a:r>
          </a:p>
          <a:p>
            <a:r>
              <a:rPr sz="1100">
                <a:solidFill>
                  <a:srgbClr val="222222"/>
                </a:solidFill>
              </a:rPr>
              <a:t>•  운영 전략: AWS나 Ubuntu VPS 환경에 배포하여 24시간 365일 중단 없는 자동화 서비스를 구축합니다,.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010  ·  10/216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1</a:t>
            </a:r>
          </a:p>
          <a:p>
            <a:r>
              <a:rPr sz="1900" b="1">
                <a:solidFill>
                  <a:srgbClr val="FFFFFF"/>
                </a:solidFill>
              </a:rPr>
              <a:t>[011] 핵심 용어 6: RESTful API (Representational State Transfer)</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웹 표준을 따르는 자원 기반 인터페이스</a:t>
            </a:r>
          </a:p>
          <a:p>
            <a:r>
              <a:rPr sz="1100">
                <a:solidFill>
                  <a:srgbClr val="222222"/>
                </a:solidFill>
              </a:rPr>
              <a:t>•  정의: HTTP 프로토콜의 표준 메서드(GET, POST, PUT, DELETE)를 사용하여 서버의 자원(데이터)을 조회하고 관리하는 설계 스타일입니다.</a:t>
            </a:r>
          </a:p>
          <a:p>
            <a:r>
              <a:rPr sz="1100">
                <a:solidFill>
                  <a:srgbClr val="222222"/>
                </a:solidFill>
              </a:rPr>
              <a:t>•  특징: 주소(URL)만 보아도 무엇을 하려는지 알 수 있는 직관적인 구조를 가지며, 코스콤, 한국은행, 금융감독원 등 대부분의 금융 기관이 채택하고 있는 방식입니다.</a:t>
            </a:r>
          </a:p>
          <a:p>
            <a:pPr>
              <a:spcBef>
                <a:spcPts val="600"/>
              </a:spcBef>
            </a:pPr>
            <a:r>
              <a:rPr sz="1300" b="1">
                <a:solidFill>
                  <a:srgbClr val="2E5984"/>
                </a:solidFill>
              </a:rPr>
              <a:t>2. 아키텍처 (Architecture): HTTP 메서드와 행위의 매핑</a:t>
            </a:r>
          </a:p>
          <a:p>
            <a:r>
              <a:rPr sz="1100">
                <a:solidFill>
                  <a:srgbClr val="222222"/>
                </a:solidFill>
              </a:rPr>
              <a:t>•  GET (조회): 특정 종목의 시세 정보를 가져올 때 사용 (/stocks/005930).</a:t>
            </a:r>
          </a:p>
          <a:p>
            <a:r>
              <a:rPr sz="1100">
                <a:solidFill>
                  <a:srgbClr val="222222"/>
                </a:solidFill>
              </a:rPr>
              <a:t>•  POST (생성/실행): 새로운 분석 리포트를 생성하거나 명령을 내릴 때 사용 (/report/create).</a:t>
            </a:r>
          </a:p>
          <a:p>
            <a:r>
              <a:rPr sz="1100">
                <a:solidFill>
                  <a:srgbClr val="222222"/>
                </a:solidFill>
              </a:rPr>
              <a:t>•  구조: 클라이언트(Apps Script/Python)가 HTTP 헤더에 API 키를 담아 요청을 보내면, 서버는 약속된 JSON 데이터를 응답합니다.</a:t>
            </a:r>
          </a:p>
          <a:p>
            <a:pPr>
              <a:spcBef>
                <a:spcPts val="600"/>
              </a:spcBef>
            </a:pPr>
            <a:r>
              <a:rPr sz="1300" b="1">
                <a:solidFill>
                  <a:srgbClr val="2E5984"/>
                </a:solidFill>
              </a:rPr>
              <a:t>3. 소스코드 (Source Code): FastAPI 및 Requests 기반 구현 예시</a:t>
            </a:r>
          </a:p>
          <a:p>
            <a:r>
              <a:rPr sz="1100">
                <a:solidFill>
                  <a:srgbClr val="222222"/>
                </a:solidFill>
              </a:rPr>
              <a:t>•  서버 측(FastAPI): 특정 종목의 리포트를 조회하는 REST 엔드포인트를 정의합니다.</a:t>
            </a:r>
          </a:p>
          <a:p>
            <a:r>
              <a:rPr sz="1100">
                <a:solidFill>
                  <a:srgbClr val="222222"/>
                </a:solidFill>
              </a:rPr>
              <a:t>•  클라이언트 측(Requests): 파이썬에서 해당 API를 호출하여 데이터를 가져옵니다.</a:t>
            </a:r>
          </a:p>
          <a:p>
            <a:pPr>
              <a:spcBef>
                <a:spcPts val="600"/>
              </a:spcBef>
            </a:pPr>
            <a:r>
              <a:rPr sz="1300" b="1">
                <a:solidFill>
                  <a:srgbClr val="2E5984"/>
                </a:solidFill>
              </a:rPr>
              <a:t>4. 실습 (Practice): REST 메서드 식별 및 호출</a:t>
            </a:r>
          </a:p>
          <a:p>
            <a:r>
              <a:rPr sz="1100">
                <a:solidFill>
                  <a:srgbClr val="222222"/>
                </a:solidFill>
              </a:rPr>
              <a:t>•  과제: 소스 자료(,)에 제시된 코스콤 테스트 API 주소들이 어떤 HTTP 메서드를 사용하고 있는지 확인하고, 브라우저나 Postman을 통해 직접 호출해 보십시오.</a:t>
            </a:r>
          </a:p>
          <a:p>
            <a:r>
              <a:rPr sz="1100">
                <a:solidFill>
                  <a:srgbClr val="222222"/>
                </a:solidFill>
              </a:rPr>
              <a:t>•  확인 사항: history 조회 API 호출 시 쿼리 파라미터(?apikey=...&amp;reqCnt=2)가 어떻게 구성되는지 분석합니다.</a:t>
            </a:r>
          </a:p>
          <a:p>
            <a:pPr>
              <a:spcBef>
                <a:spcPts val="600"/>
              </a:spcBef>
            </a:pPr>
            <a:r>
              <a:rPr sz="1300" b="1">
                <a:solidFill>
                  <a:srgbClr val="2E5984"/>
                </a:solidFill>
              </a:rPr>
              <a:t>5. 확장 (Expansion): 무상태성(Stateless)과 서버 확장성</a:t>
            </a:r>
          </a:p>
          <a:p>
            <a:r>
              <a:rPr sz="1100">
                <a:solidFill>
                  <a:srgbClr val="222222"/>
                </a:solidFill>
              </a:rPr>
              <a:t>•  고도화 전략: RESTful API의 특징인 '무상태성(Stateless)'을 활용하여, 서버 부하가 늘어날 때 여러 대의 컨테이너(Docker)로 분산 처리하는 로드 밸런싱 아키텍처로 확장합니다.</a:t>
            </a:r>
          </a:p>
          <a:p>
            <a:r>
              <a:rPr sz="1100">
                <a:solidFill>
                  <a:srgbClr val="222222"/>
                </a:solidFill>
              </a:rPr>
              <a:t>•  GPT-5.1 연동: GPT-5.1이 사용자의 자연어 질문을 해석하여, 어떤 REST API 엔드포인트를 호출할지 스스로 결정하는 함수 호출(Function Calling) 기능을 아키텍처의 핵심 인터페이스로 활용합니다.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011  ·  11/216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1</a:t>
            </a:r>
          </a:p>
          <a:p>
            <a:r>
              <a:rPr sz="1900" b="1">
                <a:solidFill>
                  <a:srgbClr val="FFFFFF"/>
                </a:solidFill>
              </a:rPr>
              <a:t>[012] 핵심 용어 7: 노코드 (NoCode)</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코딩 없는 비즈니스 로직 구현</a:t>
            </a:r>
          </a:p>
          <a:p>
            <a:r>
              <a:rPr sz="1100">
                <a:solidFill>
                  <a:srgbClr val="222222"/>
                </a:solidFill>
              </a:rPr>
              <a:t>•  정의: 프로그래밍 언어의 문법을 직접 입력하지 않고, 시각적인 인터페이스나 자연어 설정을 통해 프로그램을 제작하는 방식입니다.</a:t>
            </a:r>
          </a:p>
          <a:p>
            <a:r>
              <a:rPr sz="1100">
                <a:solidFill>
                  <a:srgbClr val="222222"/>
                </a:solidFill>
              </a:rPr>
              <a:t>•  의의: 개발 지식이 부족한 현업 실무자나 기획자가 아이디어를 즉시 MVP(Minimum Viable Product)로 구현하여 시장의 반응을 확인하는 데 최적화되어 있습니다.</a:t>
            </a:r>
          </a:p>
          <a:p>
            <a:pPr>
              <a:spcBef>
                <a:spcPts val="600"/>
              </a:spcBef>
            </a:pPr>
            <a:r>
              <a:rPr sz="1300" b="1">
                <a:solidFill>
                  <a:srgbClr val="2E5984"/>
                </a:solidFill>
              </a:rPr>
              <a:t>2. 아키텍처 (Architecture): 블록 조립형 서비스 연결</a:t>
            </a:r>
          </a:p>
          <a:p>
            <a:r>
              <a:rPr sz="1100">
                <a:solidFill>
                  <a:srgbClr val="222222"/>
                </a:solidFill>
              </a:rPr>
              <a:t>•  대표 도구: ChatGPT GPTs, Zapier, Glide, Airtable 등.</a:t>
            </a:r>
          </a:p>
          <a:p>
            <a:r>
              <a:rPr sz="1100">
                <a:solidFill>
                  <a:srgbClr val="222222"/>
                </a:solidFill>
              </a:rPr>
              <a:t>•  워크플로우 구조:</a:t>
            </a:r>
          </a:p>
          <a:p>
            <a:r>
              <a:rPr sz="1100">
                <a:solidFill>
                  <a:srgbClr val="222222"/>
                </a:solidFill>
              </a:rPr>
              <a:t>•  Trigger (트리거): 특정 버튼 클릭 또는 이메일 수신.</a:t>
            </a:r>
          </a:p>
          <a:p>
            <a:r>
              <a:rPr sz="1100">
                <a:solidFill>
                  <a:srgbClr val="222222"/>
                </a:solidFill>
              </a:rPr>
              <a:t>•  Action (액션): 데이터베이스 조회 및 GPT 분석.</a:t>
            </a:r>
          </a:p>
          <a:p>
            <a:r>
              <a:rPr sz="1100">
                <a:solidFill>
                  <a:srgbClr val="222222"/>
                </a:solidFill>
              </a:rPr>
              <a:t>•  Outcome (결과): 분석 결과 전송 (이메일, 슬랙, 알림톡 등).</a:t>
            </a:r>
          </a:p>
          <a:p>
            <a:pPr>
              <a:spcBef>
                <a:spcPts val="600"/>
              </a:spcBef>
            </a:pPr>
            <a:r>
              <a:rPr sz="1300" b="1">
                <a:solidFill>
                  <a:srgbClr val="2E5984"/>
                </a:solidFill>
              </a:rPr>
              <a:t>3. 소스코드 (Source Code): 설정 기반의 명령어 (Instruction)</a:t>
            </a:r>
          </a:p>
          <a:p>
            <a:r>
              <a:rPr sz="1100">
                <a:solidFill>
                  <a:srgbClr val="222222"/>
                </a:solidFill>
              </a:rPr>
              <a:t>•  특징: 노코드는 소스 코드가 없는 대신, AI에게 내리는 '지시문(Instruction)'이나 '워크플로우 설정값'이 코드의 역할을 대신합니다.</a:t>
            </a:r>
          </a:p>
          <a:p>
            <a:pPr>
              <a:spcBef>
                <a:spcPts val="600"/>
              </a:spcBef>
            </a:pPr>
            <a:r>
              <a:rPr sz="1300" b="1">
                <a:solidFill>
                  <a:srgbClr val="2E5984"/>
                </a:solidFill>
              </a:rPr>
              <a:t>4. 실습 (Practice): ChatGPT GPTs로 나만의 분석기 만들기</a:t>
            </a:r>
          </a:p>
          <a:p>
            <a:r>
              <a:rPr sz="1100">
                <a:solidFill>
                  <a:srgbClr val="222222"/>
                </a:solidFill>
              </a:rPr>
              <a:t>•  과제: ChatGPT의 'Explore GPTs' 메뉴를 활용하여 '금융 리스크 모니터링 에이전트'를 생성해 보십시오.</a:t>
            </a:r>
          </a:p>
          <a:p>
            <a:r>
              <a:rPr sz="1100">
                <a:solidFill>
                  <a:srgbClr val="222222"/>
                </a:solidFill>
              </a:rPr>
              <a:t>•  확인 사항: 8번 슬라이드에서 배운 RAG 원리를 적용하여, 특정 PDF(기업 보고서)를 업로드하고 그 안의 내용만으로 답변하는지 테스트합니다.</a:t>
            </a:r>
          </a:p>
          <a:p>
            <a:pPr>
              <a:spcBef>
                <a:spcPts val="600"/>
              </a:spcBef>
            </a:pPr>
            <a:r>
              <a:rPr sz="1300" b="1">
                <a:solidFill>
                  <a:srgbClr val="2E5984"/>
                </a:solidFill>
              </a:rPr>
              <a:t>5. 확장 (Expansion): 노코드에서 로우코드(LowCode)로</a:t>
            </a:r>
          </a:p>
          <a:p>
            <a:r>
              <a:rPr sz="1100">
                <a:solidFill>
                  <a:srgbClr val="222222"/>
                </a:solidFill>
              </a:rPr>
              <a:t>•  한계: 노코드는 복잡한 예외 처리나 대규모 데이터 핸들링에 제약이 있을 수 있습니다.</a:t>
            </a:r>
          </a:p>
          <a:p>
            <a:r>
              <a:rPr sz="1100">
                <a:solidFill>
                  <a:srgbClr val="222222"/>
                </a:solidFill>
              </a:rPr>
              <a:t>•  고도화 전략: 노코드로 비즈니스 로직을 검증한 후, 13번 슬라이드에서 다룰 로우코드(LowCode) 방식으로 전환하여 시스템의 자유도를 높이고 세부적인 제어(API 직접 호출 등)를 수행합니다.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012  ·  12/216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1</a:t>
            </a:r>
          </a:p>
          <a:p>
            <a:r>
              <a:rPr sz="1900" b="1">
                <a:solidFill>
                  <a:srgbClr val="FFFFFF"/>
                </a:solidFill>
              </a:rPr>
              <a:t>[013] 핵심 용어 8: 로우코드 (LowCode)</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최소한의 코딩으로 구현하는 전문 로직</a:t>
            </a:r>
          </a:p>
          <a:p>
            <a:r>
              <a:rPr sz="1100">
                <a:solidFill>
                  <a:srgbClr val="222222"/>
                </a:solidFill>
              </a:rPr>
              <a:t>•  정의: 복잡한 전체 시스템을 처음부터 끝까지 코딩하는 대신, 핵심이 되는 비즈니스 로직(약 20줄 내외)만 직접 작성하고 나머지는 AI나 플랫폼의 기능을 활용하여 서비스를 완성하는 개발 방식입니다.</a:t>
            </a:r>
          </a:p>
          <a:p>
            <a:r>
              <a:rPr sz="1100">
                <a:solidFill>
                  <a:srgbClr val="222222"/>
                </a:solidFill>
              </a:rPr>
              <a:t>•  의의: 전문 개발자가 아니더라도 AI의 도움을 받아 실무에 즉시 적용 가능한 MVP(Minimum Viable Product) 앱을 빠르게 제작할 수 있게 해줍니다.</a:t>
            </a:r>
          </a:p>
          <a:p>
            <a:pPr>
              <a:spcBef>
                <a:spcPts val="600"/>
              </a:spcBef>
            </a:pPr>
            <a:r>
              <a:rPr sz="1300" b="1">
                <a:solidFill>
                  <a:srgbClr val="2E5984"/>
                </a:solidFill>
              </a:rPr>
              <a:t>2. 아키텍처 (Architecture): 인간의 로직과 AI 생성 코드의 결합</a:t>
            </a:r>
          </a:p>
          <a:p>
            <a:r>
              <a:rPr sz="1100">
                <a:solidFill>
                  <a:srgbClr val="222222"/>
                </a:solidFill>
              </a:rPr>
              <a:t>•  구조: 개발자는 함수의 목적과 핵심 알고리즘을 정의하고, GPT-5.1과 같은 모델이 API 연동 코드나 데이터 파싱 로직 등 부수적인 코드를 생성하여 결합하는 구조입니다.</a:t>
            </a:r>
          </a:p>
          <a:p>
            <a:r>
              <a:rPr sz="1100">
                <a:solidFill>
                  <a:srgbClr val="222222"/>
                </a:solidFill>
              </a:rPr>
              <a:t>•  플랫폼 환경: 본 과정에서는 Google Apps Script(GAS)를 로우코드 환경으로 채택하여 텔레그램과 금융 API를 연결합니다.</a:t>
            </a:r>
          </a:p>
          <a:p>
            <a:pPr>
              <a:spcBef>
                <a:spcPts val="600"/>
              </a:spcBef>
            </a:pPr>
            <a:r>
              <a:rPr sz="1300" b="1">
                <a:solidFill>
                  <a:srgbClr val="2E5984"/>
                </a:solidFill>
              </a:rPr>
              <a:t>3. 소스코드 (Source Code): 핵심 기능 위주의 짧은 스크립트</a:t>
            </a:r>
          </a:p>
          <a:p>
            <a:r>
              <a:rPr sz="1100">
                <a:solidFill>
                  <a:srgbClr val="222222"/>
                </a:solidFill>
              </a:rPr>
              <a:t>•  예시: 한국은행 ECOS API에서 데이터를 가져오는 10여 줄의 핵심 함수입니다.</a:t>
            </a:r>
          </a:p>
          <a:p>
            <a:pPr>
              <a:spcBef>
                <a:spcPts val="600"/>
              </a:spcBef>
            </a:pPr>
            <a:r>
              <a:rPr sz="1300" b="1">
                <a:solidFill>
                  <a:srgbClr val="2E5984"/>
                </a:solidFill>
              </a:rPr>
              <a:t>4. 실습 (Practice): Apps Script를 이용한 데이터 호출기 제작</a:t>
            </a:r>
          </a:p>
          <a:p>
            <a:r>
              <a:rPr sz="1100">
                <a:solidFill>
                  <a:srgbClr val="222222"/>
                </a:solidFill>
              </a:rPr>
              <a:t>•  과제: 제공된 소스 코드 조각을 Apps Script 편집기에 붙여넣고, 본인의 API 키를 입력하여 구글 시트에 데이터가 출력되는지 확인합니다.</a:t>
            </a:r>
          </a:p>
          <a:p>
            <a:r>
              <a:rPr sz="1100">
                <a:solidFill>
                  <a:srgbClr val="222222"/>
                </a:solidFill>
              </a:rPr>
              <a:t>•  확인 사항: AI(ChatGPT/Codex)에게 "코스콤 시세 데이터를 가져오는 GAS 코드를 작성해줘"라고 요청하여 생성된 코드를 자신의 환경에 맞게 수정(LowCode 방식)해 봅니다.</a:t>
            </a:r>
          </a:p>
          <a:p>
            <a:pPr>
              <a:spcBef>
                <a:spcPts val="600"/>
              </a:spcBef>
            </a:pPr>
            <a:r>
              <a:rPr sz="1300" b="1">
                <a:solidFill>
                  <a:srgbClr val="2E5984"/>
                </a:solidFill>
              </a:rPr>
              <a:t>5. 확장 (Expansion): 바이브 코딩(Vibe Coding)으로의 진화</a:t>
            </a:r>
          </a:p>
          <a:p>
            <a:r>
              <a:rPr sz="1100">
                <a:solidFill>
                  <a:srgbClr val="222222"/>
                </a:solidFill>
              </a:rPr>
              <a:t>•  고도화 전략: 로우코드 방식을 넘어, 개발자가 말로 설명만 하면 AI가 전체 소스 코드를 작성하는 바이브 코딩으로 확장합니다.</a:t>
            </a:r>
          </a:p>
          <a:p>
            <a:r>
              <a:rPr sz="1100">
                <a:solidFill>
                  <a:srgbClr val="222222"/>
                </a:solidFill>
              </a:rPr>
              <a:t>•  기술 적용: 생성된 로우코드 모듈들을 CrewAI와 같은 에이전트 프레임워크에 연결하여, AI가 스스로 코드를 수정하고 실행하는 자율형 금융 분석 시스템을 구축합니다.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013  ·  13/216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1</a:t>
            </a:r>
          </a:p>
          <a:p>
            <a:r>
              <a:rPr sz="1900" b="1">
                <a:solidFill>
                  <a:srgbClr val="FFFFFF"/>
                </a:solidFill>
              </a:rPr>
              <a:t>[014] 핵심 용어 9: 바이브 코딩 (Vibe Coding)</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구문(Syntax)이 아닌 의도(Intent) 중심의 개발</a:t>
            </a:r>
          </a:p>
          <a:p>
            <a:r>
              <a:rPr sz="1100">
                <a:solidFill>
                  <a:srgbClr val="222222"/>
                </a:solidFill>
              </a:rPr>
              <a:t>•  정의: 개발자가 프로그래밍 언어의 문법을 직접 입력하기보다, 구현하고자 하는 기능과 디자인의 '느낌(Vibe)'을 AI에게 자연어로 설명하면 AI가 소스 코드의 대부분을 작성하는 방식입니다.</a:t>
            </a:r>
          </a:p>
          <a:p>
            <a:r>
              <a:rPr sz="1100">
                <a:solidFill>
                  <a:srgbClr val="222222"/>
                </a:solidFill>
              </a:rPr>
              <a:t>•  변화: "어떻게(How)" 코드를 짤 것인가에서 "무엇을(What)" 만들 것인가로 개발자의 핵심 역량이 이동하고 있음을 의미합니다.</a:t>
            </a:r>
          </a:p>
          <a:p>
            <a:pPr>
              <a:spcBef>
                <a:spcPts val="600"/>
              </a:spcBef>
            </a:pPr>
            <a:r>
              <a:rPr sz="1300" b="1">
                <a:solidFill>
                  <a:srgbClr val="2E5984"/>
                </a:solidFill>
              </a:rPr>
              <a:t>2. 아키텍처 (Architecture): 자연어-코드 변환 워크플로우</a:t>
            </a:r>
          </a:p>
          <a:p>
            <a:r>
              <a:rPr sz="1100">
                <a:solidFill>
                  <a:srgbClr val="222222"/>
                </a:solidFill>
              </a:rPr>
              <a:t>•  입력(Intent): 사용자가 자연어로 요구사항을 입력합니다 (예: "삼성전자 수급 데이터를 시각화하는 대시보드 만들어줘").</a:t>
            </a:r>
          </a:p>
          <a:p>
            <a:r>
              <a:rPr sz="1100">
                <a:solidFill>
                  <a:srgbClr val="222222"/>
                </a:solidFill>
              </a:rPr>
              <a:t>•  해석 및 생성(AI Engine): GPT-5.1과 같은 모델이 요구사항을 분석하여 프론트엔드(React/Streamlit)와 백엔드(FastAPI) 코드를 생성합니다.</a:t>
            </a:r>
          </a:p>
          <a:p>
            <a:r>
              <a:rPr sz="1100">
                <a:solidFill>
                  <a:srgbClr val="222222"/>
                </a:solidFill>
              </a:rPr>
              <a:t>•  실행 및 피드백: 생성된 코드를 즉시 실행하고, 결과가 마음에 들지 않으면 다시 자연어로 수정을 요청하는 반복(Iteration) 과정을 거칩니다.</a:t>
            </a:r>
          </a:p>
          <a:p>
            <a:pPr>
              <a:spcBef>
                <a:spcPts val="600"/>
              </a:spcBef>
            </a:pPr>
            <a:r>
              <a:rPr sz="1300" b="1">
                <a:solidFill>
                  <a:srgbClr val="2E5984"/>
                </a:solidFill>
              </a:rPr>
              <a:t>3. 소스코드 (Source Code): 바이브 코딩을 위한 마스터 프롬프트 예시</a:t>
            </a:r>
          </a:p>
          <a:p>
            <a:r>
              <a:rPr sz="1100">
                <a:solidFill>
                  <a:srgbClr val="222222"/>
                </a:solidFill>
              </a:rPr>
              <a:t>•  핵심: 코드를 직접 짜는 대신, AI가 완벽한 코드를 짤 수 있도록 맥락을 제공하는 '프롬프트'가 곧 코드가 됩니다.</a:t>
            </a:r>
          </a:p>
          <a:p>
            <a:pPr>
              <a:spcBef>
                <a:spcPts val="600"/>
              </a:spcBef>
            </a:pPr>
            <a:r>
              <a:rPr sz="1300" b="1">
                <a:solidFill>
                  <a:srgbClr val="2E5984"/>
                </a:solidFill>
              </a:rPr>
              <a:t>4. 실습 (Practice): tAnalyzer 앱 로직 생성 실전</a:t>
            </a:r>
          </a:p>
          <a:p>
            <a:r>
              <a:rPr sz="1100">
                <a:solidFill>
                  <a:srgbClr val="222222"/>
                </a:solidFill>
              </a:rPr>
              <a:t>•  과제: 챗GPT(또는 Codex)에게 "구글 시트의 종가 데이터를 읽어서 RSI 지표를 계산하고 결과를 텔레그램으로 전송하는 Apps Script 코드를 작성해줘"라고 요청해 보십시오,.</a:t>
            </a:r>
          </a:p>
          <a:p>
            <a:r>
              <a:rPr sz="1100">
                <a:solidFill>
                  <a:srgbClr val="222222"/>
                </a:solidFill>
              </a:rPr>
              <a:t>•  확인 사항: AI가 생성한 코드 중 API 키 입력 부분이나 시트 탭 이름 등 '나의 환경에 맞는 변수'만 수정하여 즉시 동작시키는지 테스트합니다.</a:t>
            </a:r>
          </a:p>
          <a:p>
            <a:pPr>
              <a:spcBef>
                <a:spcPts val="600"/>
              </a:spcBef>
            </a:pPr>
            <a:r>
              <a:rPr sz="1300" b="1">
                <a:solidFill>
                  <a:srgbClr val="2E5984"/>
                </a:solidFill>
              </a:rPr>
              <a:t>5. 확장 (Expansion): 에이전틱 바이브 코딩 (Agentic Vibe Coding)</a:t>
            </a:r>
          </a:p>
          <a:p>
            <a:r>
              <a:rPr sz="1100">
                <a:solidFill>
                  <a:srgbClr val="222222"/>
                </a:solidFill>
              </a:rPr>
              <a:t>•  고도화 전략: 단순히 코드 한 줄을 얻는 것이 아니라, AI 에이전트가 스스로 코딩하고 테스트하며 버그까지 수정하는 '에이전트 모드'와 결합합니다.</a:t>
            </a:r>
          </a:p>
          <a:p>
            <a:r>
              <a:rPr sz="1100">
                <a:solidFill>
                  <a:srgbClr val="222222"/>
                </a:solidFill>
              </a:rPr>
              <a:t>•  미래 비전: CrewAI와 같은 프레임워크를 통해 코더 에이전트, 리뷰어 에이전트, 테스터 에이전트가 협업하여 복잡한 KOStockCrewAI 플랫폼 전체를 구축하는 수준으로 확장합니다,.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014  ·  14/216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1</a:t>
            </a:r>
          </a:p>
          <a:p>
            <a:r>
              <a:rPr sz="1900" b="1">
                <a:solidFill>
                  <a:srgbClr val="FFFFFF"/>
                </a:solidFill>
              </a:rPr>
              <a:t>[015] 핵심 용어 10: 서버리스 (Serverless)</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서버 관리 없는 코드 실행 환경</a:t>
            </a:r>
          </a:p>
          <a:p>
            <a:r>
              <a:rPr sz="1100">
                <a:solidFill>
                  <a:srgbClr val="222222"/>
                </a:solidFill>
              </a:rPr>
              <a:t>•  정의: 개발자가 서버를 직접 구매, 설치, 관리(OS 업데이트, 패키지 설치 등)하지 않고, 작성한 코드만 업로드하면 클라우드 제공업체가 실행 시점에 자원을 할당하여 구동하는 방식입니다.</a:t>
            </a:r>
          </a:p>
          <a:p>
            <a:r>
              <a:rPr sz="1100">
                <a:solidFill>
                  <a:srgbClr val="222222"/>
                </a:solidFill>
              </a:rPr>
              <a:t>•  특징: 사용한 시간만큼만 비용을 지불(Pay-as-you-go)하며, 트래픽이 몰리면 자동으로 확장(Scaling)됩니다.</a:t>
            </a:r>
          </a:p>
          <a:p>
            <a:pPr>
              <a:spcBef>
                <a:spcPts val="600"/>
              </a:spcBef>
            </a:pPr>
            <a:r>
              <a:rPr sz="1300" b="1">
                <a:solidFill>
                  <a:srgbClr val="2E5984"/>
                </a:solidFill>
              </a:rPr>
              <a:t>2. 아키텍처 (Architecture): 이벤트 기반의 실행 구조</a:t>
            </a:r>
          </a:p>
          <a:p>
            <a:r>
              <a:rPr sz="1100">
                <a:solidFill>
                  <a:srgbClr val="222222"/>
                </a:solidFill>
              </a:rPr>
              <a:t>•  기존 방식: 24시간 서버를 켜두고 요청을 대기함 (비용 발생).</a:t>
            </a:r>
          </a:p>
          <a:p>
            <a:r>
              <a:rPr sz="1100">
                <a:solidFill>
                  <a:srgbClr val="222222"/>
                </a:solidFill>
              </a:rPr>
              <a:t>•  서버리스 방식: 특정 이벤트(HTTP 요청, 스케줄러 등)가 발생할 때만 코드가 담긴 컨테이너가 '순간적으로' 생성되어 실행되고 종료됩니다.</a:t>
            </a:r>
          </a:p>
          <a:p>
            <a:r>
              <a:rPr sz="1100">
                <a:solidFill>
                  <a:srgbClr val="222222"/>
                </a:solidFill>
              </a:rPr>
              <a:t>•  대표 서비스: AWS Lambda, Google Cloud Functions, Cloudflare Workers, Vercel.</a:t>
            </a:r>
          </a:p>
          <a:p>
            <a:pPr>
              <a:spcBef>
                <a:spcPts val="600"/>
              </a:spcBef>
            </a:pPr>
            <a:r>
              <a:rPr sz="1300" b="1">
                <a:solidFill>
                  <a:srgbClr val="2E5984"/>
                </a:solidFill>
              </a:rPr>
              <a:t>3. 소스코드 (Source Code): 클라우드 함수(Function) 예시</a:t>
            </a:r>
          </a:p>
          <a:p>
            <a:r>
              <a:rPr sz="1100">
                <a:solidFill>
                  <a:srgbClr val="222222"/>
                </a:solidFill>
              </a:rPr>
              <a:t>•  특징: 서버 전체를 구축하는 대신, 특정 기능을 수행하는 단일 함수 형태로 작성합니다.</a:t>
            </a:r>
          </a:p>
          <a:p>
            <a:pPr>
              <a:spcBef>
                <a:spcPts val="600"/>
              </a:spcBef>
            </a:pPr>
            <a:r>
              <a:rPr sz="1300" b="1">
                <a:solidFill>
                  <a:srgbClr val="2E5984"/>
                </a:solidFill>
              </a:rPr>
              <a:t>4. 실습 (Practice): Vercel 또는 Cloudflare를 이용한 배포 경험</a:t>
            </a:r>
          </a:p>
          <a:p>
            <a:r>
              <a:rPr sz="1100">
                <a:solidFill>
                  <a:srgbClr val="222222"/>
                </a:solidFill>
              </a:rPr>
              <a:t>•  과제: 본인이 작성한 '종목 조회' 파이썬 스크립트를 Vercel이나 AWS Lambda에 업로드하여 고정된 URL 엔드포인트를 확보해 보십시오.</a:t>
            </a:r>
          </a:p>
          <a:p>
            <a:r>
              <a:rPr sz="1100">
                <a:solidFill>
                  <a:srgbClr val="222222"/>
                </a:solidFill>
              </a:rPr>
              <a:t>•  확인 사항: 서버 설정 과정 없이 '코드 업로드'만으로 외부에서 접속 가능한 API 주소가 생성되는지 확인합니다.</a:t>
            </a:r>
          </a:p>
          <a:p>
            <a:pPr>
              <a:spcBef>
                <a:spcPts val="600"/>
              </a:spcBef>
            </a:pPr>
            <a:r>
              <a:rPr sz="1300" b="1">
                <a:solidFill>
                  <a:srgbClr val="2E5984"/>
                </a:solidFill>
              </a:rPr>
              <a:t>5. 확장 (Expansion): 비용 최적화 및 엣지 컴퓨팅(Edge Computing)</a:t>
            </a:r>
          </a:p>
          <a:p>
            <a:r>
              <a:rPr sz="1100">
                <a:solidFill>
                  <a:srgbClr val="222222"/>
                </a:solidFill>
              </a:rPr>
              <a:t>•  고도화 전략: 24시간 운영되는 메인 서버(FastAPI) 대신, 단순한 알림 전달이나 데이터 수집 업무는 서버리스로 분리하여 운영 비용을 90% 이상 절감합니다.</a:t>
            </a:r>
          </a:p>
          <a:p>
            <a:r>
              <a:rPr sz="1100">
                <a:solidFill>
                  <a:srgbClr val="222222"/>
                </a:solidFill>
              </a:rPr>
              <a:t>•  AI 연동: GPT-5.1의 API 호출 결과를 정제하여 텔레그램으로 전달하는 '중계 서버'를 서버리스로 구축하여 시스템의 반응 속도를 높입니다.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015  ·  15/216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1</a:t>
            </a:r>
          </a:p>
          <a:p>
            <a:r>
              <a:rPr sz="1900" b="1">
                <a:solidFill>
                  <a:srgbClr val="FFFFFF"/>
                </a:solidFill>
              </a:rPr>
              <a:t>[016] 핵심 용어 11: 메타 프롬프트 (Meta Prompt)</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프롬프트를 만드는 프롬프트</a:t>
            </a:r>
          </a:p>
          <a:p>
            <a:r>
              <a:rPr sz="1100">
                <a:solidFill>
                  <a:srgbClr val="222222"/>
                </a:solidFill>
              </a:rPr>
              <a:t>•  정의: AI에게 특정 작업을 수행하라고 지시하는 대신, "그 작업을 수행하기 위한 최적의 프롬프트를 작성하라"고 명령하는 고도의 지시 기법입니다().</a:t>
            </a:r>
          </a:p>
          <a:p>
            <a:r>
              <a:rPr sz="1100">
                <a:solidFill>
                  <a:srgbClr val="222222"/>
                </a:solidFill>
              </a:rPr>
              <a:t>•  의의: 개발자가 모든 상황에 맞는 정교한 프롬프트를 직접 짜기 어려울 때, AI의 언어 이해력을 활용하여 가장 효과적인 시스템 프롬프트(System Prompt)나 페르소나를 생성해낼 수 있습니다.</a:t>
            </a:r>
          </a:p>
          <a:p>
            <a:pPr>
              <a:spcBef>
                <a:spcPts val="600"/>
              </a:spcBef>
            </a:pPr>
            <a:r>
              <a:rPr sz="1300" b="1">
                <a:solidFill>
                  <a:srgbClr val="2E5984"/>
                </a:solidFill>
              </a:rPr>
              <a:t>2. 아키텍처 (Architecture): 프롬프트 생성 워크플로우</a:t>
            </a:r>
          </a:p>
          <a:p>
            <a:r>
              <a:rPr sz="1100">
                <a:solidFill>
                  <a:srgbClr val="222222"/>
                </a:solidFill>
              </a:rPr>
              <a:t>•  1단계 (Meta-Input): 구현하려는 에이전트의 목표와 필수 조건(예: 증권 분석, JSON 출력 등)을 AI에게 전달합니다.</a:t>
            </a:r>
          </a:p>
          <a:p>
            <a:r>
              <a:rPr sz="1100">
                <a:solidFill>
                  <a:srgbClr val="222222"/>
                </a:solidFill>
              </a:rPr>
              <a:t>•  2단계 (Generation): GPT-5.1이 메타 프롬프트를 해석하여 구조화된 '에이전트용 시스템 지시문'을 생성합니다.</a:t>
            </a:r>
          </a:p>
          <a:p>
            <a:r>
              <a:rPr sz="1100">
                <a:solidFill>
                  <a:srgbClr val="222222"/>
                </a:solidFill>
              </a:rPr>
              <a:t>•  3단계 (Application): 생성된 지시문을 실제 서비스(예: KOStockCrewAI)의 시스템 프롬프트 레이어에 주입합니다.</a:t>
            </a:r>
          </a:p>
          <a:p>
            <a:pPr>
              <a:spcBef>
                <a:spcPts val="600"/>
              </a:spcBef>
            </a:pPr>
            <a:r>
              <a:rPr sz="1300" b="1">
                <a:solidFill>
                  <a:srgbClr val="2E5984"/>
                </a:solidFill>
              </a:rPr>
              <a:t>3. 소스코드 (Source Code): 메타 프롬프트 예시 스크립트</a:t>
            </a:r>
          </a:p>
          <a:p>
            <a:r>
              <a:rPr sz="1100">
                <a:solidFill>
                  <a:srgbClr val="222222"/>
                </a:solidFill>
              </a:rPr>
              <a:t>•  핵심: AI를 '프롬프트 엔지니어 전문가'로 설정하는 것이 포인트입니다.</a:t>
            </a:r>
          </a:p>
          <a:p>
            <a:pPr>
              <a:spcBef>
                <a:spcPts val="600"/>
              </a:spcBef>
            </a:pPr>
            <a:r>
              <a:rPr sz="1300" b="1">
                <a:solidFill>
                  <a:srgbClr val="2E5984"/>
                </a:solidFill>
              </a:rPr>
              <a:t>4. 실습 (Practice): '차트 분석 전문가' 프롬프트 생성하기</a:t>
            </a:r>
          </a:p>
          <a:p>
            <a:r>
              <a:rPr sz="1100">
                <a:solidFill>
                  <a:srgbClr val="222222"/>
                </a:solidFill>
              </a:rPr>
              <a:t>•  과제: 챗GPT에게 위 메타 프롬프트를 입력하고, AI가 생성해준 지시문이 실제 차트 데이터를 분석할 때 얼마나 정교한 결과(RSI, MACD 지표 해석 등)를 내놓는지 테스트해 보십시오.</a:t>
            </a:r>
          </a:p>
          <a:p>
            <a:r>
              <a:rPr sz="1100">
                <a:solidFill>
                  <a:srgbClr val="222222"/>
                </a:solidFill>
              </a:rPr>
              <a:t>•  확인 사항: AI가 생성한 프롬프트에 '제약 사항(Constraint)'이나 '출력 형식(Output Format)'이 명확히 포함되어 있는지 검증합니다.</a:t>
            </a:r>
          </a:p>
          <a:p>
            <a:pPr>
              <a:spcBef>
                <a:spcPts val="600"/>
              </a:spcBef>
            </a:pPr>
            <a:r>
              <a:rPr sz="1300" b="1">
                <a:solidFill>
                  <a:srgbClr val="2E5984"/>
                </a:solidFill>
              </a:rPr>
              <a:t>5. 확장 (Expansion): 자동 프롬프트 최적화 (Auto-Prompting)</a:t>
            </a:r>
          </a:p>
          <a:p>
            <a:r>
              <a:rPr sz="1100">
                <a:solidFill>
                  <a:srgbClr val="222222"/>
                </a:solidFill>
              </a:rPr>
              <a:t>•  고도화 전략: 사용자의 피드백을 받아 프롬프트를 스스로 수정하고 진화시키는 프롬프트 루프(Prompt Loop)를 아키텍처에 구현합니다.</a:t>
            </a:r>
          </a:p>
          <a:p>
            <a:r>
              <a:rPr sz="1100">
                <a:solidFill>
                  <a:srgbClr val="222222"/>
                </a:solidFill>
              </a:rPr>
              <a:t>•  GPT-5.1 연동: GPT-5.1의 고도화된 추론 능력을 이용해, 복잡한 금융 온톨로지()를 프롬프트에 자동으로 녹여내는 '동적 프롬프트 생성 엔진'으로 확장합니다.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016  ·  16/216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1</a:t>
            </a:r>
          </a:p>
          <a:p>
            <a:r>
              <a:rPr sz="1900" b="1">
                <a:solidFill>
                  <a:srgbClr val="FFFFFF"/>
                </a:solidFill>
              </a:rPr>
              <a:t>[017] 핵심 용어 12: 에이전트 모드 (Agent Mode)</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자율적인 다단계 작업 수행</a:t>
            </a:r>
          </a:p>
          <a:p>
            <a:r>
              <a:rPr sz="1100">
                <a:solidFill>
                  <a:srgbClr val="222222"/>
                </a:solidFill>
              </a:rPr>
              <a:t>•  정의: 사용자의 단일 명령을 수행하기 위해 AI가 스스로 필요한 단계를 계획하고, 적절한 도구(API, DB 등)를 호출하여 결과물을 완성하는 자율형 동작 방식입니다().</a:t>
            </a:r>
          </a:p>
          <a:p>
            <a:r>
              <a:rPr sz="1100">
                <a:solidFill>
                  <a:srgbClr val="222222"/>
                </a:solidFill>
              </a:rPr>
              <a:t>•  특징: 단순 챗봇이 "질문에 답하는 것"에 그친다면, 에이전트는 "목표를 달성하기 위해 행동(Action)"합니다. 예를 들어 "삼성전자 분석해줘"라는 명령에 데이터 조회, 뉴스 검색, 리포트 작성을 스스로 연달아 수행합니다(,).</a:t>
            </a:r>
          </a:p>
          <a:p>
            <a:pPr>
              <a:spcBef>
                <a:spcPts val="600"/>
              </a:spcBef>
            </a:pPr>
            <a:r>
              <a:rPr sz="1300" b="1">
                <a:solidFill>
                  <a:srgbClr val="2E5984"/>
                </a:solidFill>
              </a:rPr>
              <a:t>2. 아키텍처 (Architecture): 목표 기반 추론 및 실행 구조</a:t>
            </a:r>
          </a:p>
          <a:p>
            <a:r>
              <a:rPr sz="1100">
                <a:solidFill>
                  <a:srgbClr val="222222"/>
                </a:solidFill>
              </a:rPr>
              <a:t>•  사용자 입력: "삼성전자 투자 분석 리포트 써줘."</a:t>
            </a:r>
          </a:p>
          <a:p>
            <a:r>
              <a:rPr sz="1100">
                <a:solidFill>
                  <a:srgbClr val="222222"/>
                </a:solidFill>
              </a:rPr>
              <a:t>•  에이전트 추론(Reasoning):</a:t>
            </a:r>
          </a:p>
          <a:p>
            <a:r>
              <a:rPr sz="1100">
                <a:solidFill>
                  <a:srgbClr val="222222"/>
                </a:solidFill>
              </a:rPr>
              <a:t>•  종목 코드 검색(DART)</a:t>
            </a:r>
          </a:p>
          <a:p>
            <a:r>
              <a:rPr sz="1100">
                <a:solidFill>
                  <a:srgbClr val="222222"/>
                </a:solidFill>
              </a:rPr>
              <a:t>•  시세 및 수급 데이터 확보(코스콤)</a:t>
            </a:r>
          </a:p>
          <a:p>
            <a:r>
              <a:rPr sz="1100">
                <a:solidFill>
                  <a:srgbClr val="222222"/>
                </a:solidFill>
              </a:rPr>
              <a:t>•  거시 경제 지표 조회(ECOS)</a:t>
            </a:r>
          </a:p>
          <a:p>
            <a:r>
              <a:rPr sz="1100">
                <a:solidFill>
                  <a:srgbClr val="222222"/>
                </a:solidFill>
              </a:rPr>
              <a:t>•  데이터 통합 분석 및 PDF 생성(,).</a:t>
            </a:r>
          </a:p>
          <a:p>
            <a:r>
              <a:rPr sz="1100">
                <a:solidFill>
                  <a:srgbClr val="222222"/>
                </a:solidFill>
              </a:rPr>
              <a:t>•  실행(Action): 계획된 순서에 따라 각 모듈의 API를 순차적으로 호출합니다.</a:t>
            </a:r>
          </a:p>
          <a:p>
            <a:pPr>
              <a:spcBef>
                <a:spcPts val="600"/>
              </a:spcBef>
            </a:pPr>
            <a:r>
              <a:rPr sz="1300" b="1">
                <a:solidFill>
                  <a:srgbClr val="2E5984"/>
                </a:solidFill>
              </a:rPr>
              <a:t>3. 소스코드 (Source Code): 에이전틱 워크플로우 제어 로직</a:t>
            </a:r>
          </a:p>
          <a:p>
            <a:r>
              <a:rPr sz="1100">
                <a:solidFill>
                  <a:srgbClr val="222222"/>
                </a:solidFill>
              </a:rPr>
              <a:t>•  핵심: analyzeCommandWithGPT_ 함수가 명령을 분류하면, 에이전트 오케스트레이터가 관련 함수들을 연쇄적으로 실행합니다(,).</a:t>
            </a:r>
          </a:p>
          <a:p>
            <a:r>
              <a:rPr sz="1100">
                <a:solidFill>
                  <a:srgbClr val="222222"/>
                </a:solidFill>
              </a:rPr>
              <a:t>•  (출처:,)</a:t>
            </a:r>
          </a:p>
          <a:p>
            <a:pPr>
              <a:spcBef>
                <a:spcPts val="600"/>
              </a:spcBef>
            </a:pPr>
            <a:r>
              <a:rPr sz="1300" b="1">
                <a:solidFill>
                  <a:srgbClr val="2E5984"/>
                </a:solidFill>
              </a:rPr>
              <a:t>4. 실습 (Practice): 에이전트의 사고 과정 추적하기</a:t>
            </a:r>
          </a:p>
          <a:p>
            <a:r>
              <a:rPr sz="1100">
                <a:solidFill>
                  <a:srgbClr val="222222"/>
                </a:solidFill>
              </a:rPr>
              <a:t>•  과제: 제공된 KOStockCrewAI MVP 환경에서 "삼성전자 분석" 명령을 입력하고, 시스템 로그(CommandLog)에 기록되는 에이전트의 작업 순서를 확인해 보십시오(,).</a:t>
            </a:r>
          </a:p>
          <a:p>
            <a:r>
              <a:rPr sz="1100">
                <a:solidFill>
                  <a:srgbClr val="222222"/>
                </a:solidFill>
              </a:rPr>
              <a:t>•  확인 사항: 에이전트가 데이터를 먼저 가져오는지, 아니면 분석 프롬프트를 먼저 작성하는지 등 '사고의 순서'가 논리적인지 검토합니다.</a:t>
            </a:r>
          </a:p>
          <a:p>
            <a:pPr>
              <a:spcBef>
                <a:spcPts val="600"/>
              </a:spcBef>
            </a:pPr>
            <a:r>
              <a:rPr sz="1300" b="1">
                <a:solidFill>
                  <a:srgbClr val="2E5984"/>
                </a:solidFill>
              </a:rPr>
              <a:t>5. 확장 (Expansion): 자율 반복과 피드백(Plan-Act-Observe)</a:t>
            </a:r>
          </a:p>
          <a:p>
            <a:r>
              <a:rPr sz="1100">
                <a:solidFill>
                  <a:srgbClr val="222222"/>
                </a:solidFill>
              </a:rPr>
              <a:t>•  고도화 전략: 한 번의 실행으로 끝내지 않고, 결과가 미흡할 경우 스스로 다시 도구를 호출하여 보완하는 자율 반복(Reflection) 기능을 추가합니다().</a:t>
            </a:r>
          </a:p>
          <a:p>
            <a:r>
              <a:rPr sz="1100">
                <a:solidFill>
                  <a:srgbClr val="222222"/>
                </a:solidFill>
              </a:rPr>
              <a:t>•  기술 적용: CrewAI 프레임워크를 도입하여, 여러 개의 에이전트(분석가, 작가, 검토자)가 역할을 분담하고 서로의 결과물을 검토하는 'AI 워크포스(Workforce)' 체계로 확장합니다(,).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017  ·  17/216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1</a:t>
            </a:r>
          </a:p>
          <a:p>
            <a:r>
              <a:rPr sz="1900" b="1">
                <a:solidFill>
                  <a:srgbClr val="FFFFFF"/>
                </a:solidFill>
              </a:rPr>
              <a:t>[018] 핵심 용어 13: 딥 리서치 (Deep Research)</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다차원적 정보 합성 및 종합 분석</a:t>
            </a:r>
          </a:p>
          <a:p>
            <a:r>
              <a:rPr sz="1100">
                <a:solidFill>
                  <a:srgbClr val="222222"/>
                </a:solidFill>
              </a:rPr>
              <a:t>•  정의: AI가 단일 답변을 내놓는 것에 그치지 않고, 공시, 뉴스, 실적 데이터, 증권사 리포트 등 여러 소스의 방대한 자료를 스스로 탐색하고 종합하여 심층적인 투자 인사이트를 도출하는 기법입니다().</a:t>
            </a:r>
          </a:p>
          <a:p>
            <a:r>
              <a:rPr sz="1100">
                <a:solidFill>
                  <a:srgbClr val="222222"/>
                </a:solidFill>
              </a:rPr>
              <a:t>•  핵심 가치: 파편화된 정보를 하나의 맥락(Context)으로 엮어내어, 사람이 수 시간 걸릴 분석 업무를 수 분 내에 고품질 보고서로 완성합니다().</a:t>
            </a:r>
          </a:p>
          <a:p>
            <a:pPr>
              <a:spcBef>
                <a:spcPts val="600"/>
              </a:spcBef>
            </a:pPr>
            <a:r>
              <a:rPr sz="1300" b="1">
                <a:solidFill>
                  <a:srgbClr val="2E5984"/>
                </a:solidFill>
              </a:rPr>
              <a:t>2. 아키텍처 (Architecture): 정보 사일로(Silo) 통합 워크플로우</a:t>
            </a:r>
          </a:p>
          <a:p>
            <a:r>
              <a:rPr sz="1100">
                <a:solidFill>
                  <a:srgbClr val="222222"/>
                </a:solidFill>
              </a:rPr>
              <a:t>•  데이터 소스: DART(공시), News API(언론보도), KOSCOM(수급/시세), ECOS(거시경제) 등 분산된 데이터 인터페이스().</a:t>
            </a:r>
          </a:p>
          <a:p>
            <a:r>
              <a:rPr sz="1100">
                <a:solidFill>
                  <a:srgbClr val="222222"/>
                </a:solidFill>
              </a:rPr>
              <a:t>•  분석 프로세스:</a:t>
            </a:r>
          </a:p>
          <a:p>
            <a:r>
              <a:rPr sz="1100">
                <a:solidFill>
                  <a:srgbClr val="222222"/>
                </a:solidFill>
              </a:rPr>
              <a:t>•  목표 설정: 분석 대상 종목 및 핵심 질문 정의.</a:t>
            </a:r>
          </a:p>
          <a:p>
            <a:r>
              <a:rPr sz="1100">
                <a:solidFill>
                  <a:srgbClr val="222222"/>
                </a:solidFill>
              </a:rPr>
              <a:t>•  병렬 수집: 각 API를 통해 다차원 데이터를 동시에 추출.</a:t>
            </a:r>
          </a:p>
          <a:p>
            <a:r>
              <a:rPr sz="1100">
                <a:solidFill>
                  <a:srgbClr val="222222"/>
                </a:solidFill>
              </a:rPr>
              <a:t>•  지식 합성: GPT-5.1이 수집된 데이터 간의 상관관계를 추론 및 요약.</a:t>
            </a:r>
          </a:p>
          <a:p>
            <a:r>
              <a:rPr sz="1100">
                <a:solidFill>
                  <a:srgbClr val="222222"/>
                </a:solidFill>
              </a:rPr>
              <a:t>•  최종 검증: 데이터 간 모순되는 점이 있는지 스스로 검토 후 리포트 생성().</a:t>
            </a:r>
          </a:p>
          <a:p>
            <a:pPr>
              <a:spcBef>
                <a:spcPts val="600"/>
              </a:spcBef>
            </a:pPr>
            <a:r>
              <a:rPr sz="1300" b="1">
                <a:solidFill>
                  <a:srgbClr val="2E5984"/>
                </a:solidFill>
              </a:rPr>
              <a:t>3. 소스코드 (Source Code): 리서치 에이전트의 오케스트레이션 예시</a:t>
            </a:r>
          </a:p>
          <a:p>
            <a:r>
              <a:rPr sz="1100">
                <a:solidFill>
                  <a:srgbClr val="222222"/>
                </a:solidFill>
              </a:rPr>
              <a:t>•  핵심 로직: 여러 분석 모듈을 호출하여 데이터를 통합하는 generate_full_report 함수의 구조가 딥 리서치의 핵심입니다().</a:t>
            </a:r>
          </a:p>
          <a:p>
            <a:r>
              <a:rPr sz="1100">
                <a:solidFill>
                  <a:srgbClr val="222222"/>
                </a:solidFill>
              </a:rPr>
              <a:t>•  (출처:)</a:t>
            </a:r>
          </a:p>
          <a:p>
            <a:pPr>
              <a:spcBef>
                <a:spcPts val="600"/>
              </a:spcBef>
            </a:pPr>
            <a:r>
              <a:rPr sz="1300" b="1">
                <a:solidFill>
                  <a:srgbClr val="2E5984"/>
                </a:solidFill>
              </a:rPr>
              <a:t>4. 실습 (Practice): 삼성전자 투자 전망 딥 리서치 수행</a:t>
            </a:r>
          </a:p>
          <a:p>
            <a:r>
              <a:rPr sz="1100">
                <a:solidFill>
                  <a:srgbClr val="222222"/>
                </a:solidFill>
              </a:rPr>
              <a:t>•  과제: 본인이 구축할 KOStockCrewAI 플랫폼의 프로토타입을 통해 "삼성전자의 2026년 반도체 수출 규제 대응력"을 주제로 리서치를 수행해 보십시오().</a:t>
            </a:r>
          </a:p>
          <a:p>
            <a:r>
              <a:rPr sz="1100">
                <a:solidFill>
                  <a:srgbClr val="222222"/>
                </a:solidFill>
              </a:rPr>
              <a:t>•  확인 사항: AI가 단순히 현재가만 보여주는지, 아니면 DART의 공시 정보와 ECOS의 거시 지표를 연계하여 논리적인 결론을 도출하는지 결과물의 깊이를 검증합니다.</a:t>
            </a:r>
          </a:p>
          <a:p>
            <a:pPr>
              <a:spcBef>
                <a:spcPts val="600"/>
              </a:spcBef>
            </a:pPr>
            <a:r>
              <a:rPr sz="1300" b="1">
                <a:solidFill>
                  <a:srgbClr val="2E5984"/>
                </a:solidFill>
              </a:rPr>
              <a:t>5. 확장 (Expansion): CrewAI 기반 멀티 에이전트 리서치 시스템</a:t>
            </a:r>
          </a:p>
          <a:p>
            <a:r>
              <a:rPr sz="1100">
                <a:solidFill>
                  <a:srgbClr val="222222"/>
                </a:solidFill>
              </a:rPr>
              <a:t>•  고도화 전략: 한 명의 AI가 아닌, 각 분야의 전문가(거시 분석가, 재무 분석가, 리스크 관리자) 에이전트들이 서로의 초안을 비판하고 보완하는 협업형 리서치 팀으로 확장합니다().</a:t>
            </a:r>
          </a:p>
          <a:p>
            <a:r>
              <a:rPr sz="1100">
                <a:solidFill>
                  <a:srgbClr val="222222"/>
                </a:solidFill>
              </a:rPr>
              <a:t>•  기술 적용: CrewAI 프레임워크를 도입하여 자율적으로 계획을 세우고 실행하는 'AI 워크포스(Workforce)' 체계를 구축하여 분석의 객관성을 확보합니다().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018  ·  18/216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1</a:t>
            </a:r>
          </a:p>
          <a:p>
            <a:r>
              <a:rPr sz="1900" b="1">
                <a:solidFill>
                  <a:srgbClr val="FFFFFF"/>
                </a:solidFill>
              </a:rPr>
              <a:t>[019] 핵심 용어 14: NotebookLM</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구글 AI 기반의 개인화 문서 연구 도구</a:t>
            </a:r>
          </a:p>
          <a:p>
            <a:r>
              <a:rPr sz="1100">
                <a:solidFill>
                  <a:srgbClr val="222222"/>
                </a:solidFill>
              </a:rPr>
              <a:t>•  정의: 사용자가 업로드한 문서(PDF, PPT, Word, 웹페이지 등)를 바탕으로 AI 연구원을 생성하여 심층적인 질의응답과 요약을 수행하는 도구입니다.</a:t>
            </a:r>
          </a:p>
          <a:p>
            <a:r>
              <a:rPr sz="1100">
                <a:solidFill>
                  <a:srgbClr val="222222"/>
                </a:solidFill>
              </a:rPr>
              <a:t>•  특징: 일반적인 챗봇과 달리 사용자가 제공한 '소스(Source)'에 근거하여 답변을 생성하므로 정보의 정확성과 신뢰성이 매우 높습니다.</a:t>
            </a:r>
          </a:p>
          <a:p>
            <a:pPr>
              <a:spcBef>
                <a:spcPts val="600"/>
              </a:spcBef>
            </a:pPr>
            <a:r>
              <a:rPr sz="1300" b="1">
                <a:solidFill>
                  <a:srgbClr val="2E5984"/>
                </a:solidFill>
              </a:rPr>
              <a:t>2. 아키텍처 (Architecture): 문서 기반 RAG 시스템</a:t>
            </a:r>
          </a:p>
          <a:p>
            <a:r>
              <a:rPr sz="1100">
                <a:solidFill>
                  <a:srgbClr val="222222"/>
                </a:solidFill>
              </a:rPr>
              <a:t>•  지식 주입: 기업 분석 리포트, 산업 동향, 뉴스 데이터 등 방대한 외부 소스를 업로드합니다.</a:t>
            </a:r>
          </a:p>
          <a:p>
            <a:r>
              <a:rPr sz="1100">
                <a:solidFill>
                  <a:srgbClr val="222222"/>
                </a:solidFill>
              </a:rPr>
              <a:t>•  소스 매핑 (Source Grounding): 답변 생성 시 해당 정보가 어느 문서의 몇 페이지에서 왔는지 출처를 명확히 제시하는 구조입니다.</a:t>
            </a:r>
          </a:p>
          <a:p>
            <a:r>
              <a:rPr sz="1100">
                <a:solidFill>
                  <a:srgbClr val="222222"/>
                </a:solidFill>
              </a:rPr>
              <a:t>•  워크플로우: 소스 업로드 → 벡터화(Embedding) → 소스 기반 답변 생성 → 인사이트 도출.</a:t>
            </a:r>
          </a:p>
          <a:p>
            <a:pPr>
              <a:spcBef>
                <a:spcPts val="600"/>
              </a:spcBef>
            </a:pPr>
            <a:r>
              <a:rPr sz="1300" b="1">
                <a:solidFill>
                  <a:srgbClr val="2E5984"/>
                </a:solidFill>
              </a:rPr>
              <a:t>3. 소스코드 (Source Code): '소스 기반 추론' 프롬프트 설계</a:t>
            </a:r>
          </a:p>
          <a:p>
            <a:r>
              <a:rPr sz="1100">
                <a:solidFill>
                  <a:srgbClr val="222222"/>
                </a:solidFill>
              </a:rPr>
              <a:t>•  기술적 특징: NotebookLM은 별도의 코딩 없이 작동하는 '노코드' 툴에 가깝지만, 아키텍트 관점에서는 'Source-Specific Prompting' 기법이 내장된 시스템으로 이해할 수 있습니다.</a:t>
            </a:r>
          </a:p>
          <a:p>
            <a:pPr>
              <a:spcBef>
                <a:spcPts val="600"/>
              </a:spcBef>
            </a:pPr>
            <a:r>
              <a:rPr sz="1300" b="1">
                <a:solidFill>
                  <a:srgbClr val="2E5984"/>
                </a:solidFill>
              </a:rPr>
              <a:t>4. 실습 (Practice): 100개 기업 보고서 기반 RAG 구축</a:t>
            </a:r>
          </a:p>
          <a:p>
            <a:r>
              <a:rPr sz="1100">
                <a:solidFill>
                  <a:srgbClr val="222222"/>
                </a:solidFill>
              </a:rPr>
              <a:t>•  과제: 최근 1년간 발행된 삼성전자 및 SK하이닉스의 증권사 리포트 50개를 NotebookLM에 업로드하고, "공통적으로 지적하는 리스크 요인 3가지"를 추출해 보십시오.</a:t>
            </a:r>
          </a:p>
          <a:p>
            <a:r>
              <a:rPr sz="1100">
                <a:solidFill>
                  <a:srgbClr val="222222"/>
                </a:solidFill>
              </a:rPr>
              <a:t>•  확인 사항: AI가 답변을 내놓을 때 각 문장에 대한 인용구(Citation)를 정확히 생성하는지 확인합니다.</a:t>
            </a:r>
          </a:p>
          <a:p>
            <a:pPr>
              <a:spcBef>
                <a:spcPts val="600"/>
              </a:spcBef>
            </a:pPr>
            <a:r>
              <a:rPr sz="1300" b="1">
                <a:solidFill>
                  <a:srgbClr val="2E5984"/>
                </a:solidFill>
              </a:rPr>
              <a:t>5. 확장 (Expansion): KOStockCrewAI의 지식 레이어(Knowledge Layer)로 활용</a:t>
            </a:r>
          </a:p>
          <a:p>
            <a:r>
              <a:rPr sz="1100">
                <a:solidFill>
                  <a:srgbClr val="222222"/>
                </a:solidFill>
              </a:rPr>
              <a:t>•  고도화 전략: NotebookLM을 통해 정제된 전문 지식 인사이트를 추출하여, 이를 KOStockCrewAI 플랫폼의 분석 엔진에 다시 주입하는 '이중 RAG' 구조로 확장합니다.</a:t>
            </a:r>
          </a:p>
          <a:p>
            <a:r>
              <a:rPr sz="1100">
                <a:solidFill>
                  <a:srgbClr val="222222"/>
                </a:solidFill>
              </a:rPr>
              <a:t>•  기술 적용: NotebookLM이 생성한 '오디오 오버뷰' 또는 'FAQ' 자료를 텔레그램 봇의 정기 브리핑 소스로 활용하여, 텍스트를 넘어선 멀티모달 금융 정보 서비스를 제공합니다.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019  ·  19/216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1</a:t>
            </a:r>
          </a:p>
          <a:p>
            <a:r>
              <a:rPr sz="1900" b="1">
                <a:solidFill>
                  <a:srgbClr val="FFFFFF"/>
                </a:solidFill>
              </a:rPr>
              <a:t>[020] 핵심 용어 15: OCR (Optical Character Recognition)</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이미지를 읽는 AI의 눈</a:t>
            </a:r>
          </a:p>
          <a:p>
            <a:r>
              <a:rPr sz="1100">
                <a:solidFill>
                  <a:srgbClr val="222222"/>
                </a:solidFill>
              </a:rPr>
              <a:t>•  정의: 종이에 인쇄된 글자나 이미지 형태의 텍스트를 디지털 텍스트로 변환하는 기술입니다().</a:t>
            </a:r>
          </a:p>
          <a:p>
            <a:r>
              <a:rPr sz="1100">
                <a:solidFill>
                  <a:srgbClr val="222222"/>
                </a:solidFill>
              </a:rPr>
              <a:t>•  금융권 활용: 신문 기사 사진, 스캔 된 공시 서류, 팩스로 수신된 재무제표 등을 AI가 분석할 수 있는 데이터로 변환하는 데 필수적입니다().</a:t>
            </a:r>
          </a:p>
          <a:p>
            <a:pPr>
              <a:spcBef>
                <a:spcPts val="600"/>
              </a:spcBef>
            </a:pPr>
            <a:r>
              <a:rPr sz="1300" b="1">
                <a:solidFill>
                  <a:srgbClr val="2E5984"/>
                </a:solidFill>
              </a:rPr>
              <a:t>2. 아키텍처 (Architecture): 이미지에서 인사이트까지</a:t>
            </a:r>
          </a:p>
          <a:p>
            <a:r>
              <a:rPr sz="1100">
                <a:solidFill>
                  <a:srgbClr val="222222"/>
                </a:solidFill>
              </a:rPr>
              <a:t>•  입력 레이어: 스마트폰으로 촬영한 경제 신문 또는 스캔 된 투자 리포트 이미지().</a:t>
            </a:r>
          </a:p>
          <a:p>
            <a:r>
              <a:rPr sz="1100">
                <a:solidFill>
                  <a:srgbClr val="222222"/>
                </a:solidFill>
              </a:rPr>
              <a:t>•  처리 레이어 (OCR 엔진): 이미지 내 글자 위치 탐지(Detection) 및 글자 인식(Recognition).</a:t>
            </a:r>
          </a:p>
          <a:p>
            <a:r>
              <a:rPr sz="1100">
                <a:solidFill>
                  <a:srgbClr val="222222"/>
                </a:solidFill>
              </a:rPr>
              <a:t>•  변환 레이어: 추출된 텍스트를 JSON 또는 구조화된 데이터로 변환.</a:t>
            </a:r>
          </a:p>
          <a:p>
            <a:r>
              <a:rPr sz="1100">
                <a:solidFill>
                  <a:srgbClr val="222222"/>
                </a:solidFill>
              </a:rPr>
              <a:t>•  분석 레이어: 변환된 텍스트를 GPT-5.1에 전달하여 핵심 요약 및 리스크 분석 수행.</a:t>
            </a:r>
          </a:p>
          <a:p>
            <a:pPr>
              <a:spcBef>
                <a:spcPts val="600"/>
              </a:spcBef>
            </a:pPr>
            <a:r>
              <a:rPr sz="1300" b="1">
                <a:solidFill>
                  <a:srgbClr val="2E5984"/>
                </a:solidFill>
              </a:rPr>
              <a:t>3. 소스코드 (Source Code): Python 기반 OCR 호출 예시</a:t>
            </a:r>
          </a:p>
          <a:p>
            <a:r>
              <a:rPr sz="1100">
                <a:solidFill>
                  <a:srgbClr val="222222"/>
                </a:solidFill>
              </a:rPr>
              <a:t>•  기술 스택: Tesseract, Google Vision API, 또는 Azure OCR 등 활용().</a:t>
            </a:r>
          </a:p>
          <a:p>
            <a:pPr>
              <a:spcBef>
                <a:spcPts val="600"/>
              </a:spcBef>
            </a:pPr>
            <a:r>
              <a:rPr sz="1300" b="1">
                <a:solidFill>
                  <a:srgbClr val="2E5984"/>
                </a:solidFill>
              </a:rPr>
              <a:t>4. 실습 (Practice): 신문 스크랩 분석 에이전트 구현</a:t>
            </a:r>
          </a:p>
          <a:p>
            <a:r>
              <a:rPr sz="1100">
                <a:solidFill>
                  <a:srgbClr val="222222"/>
                </a:solidFill>
              </a:rPr>
              <a:t>•  과제: 오늘의 주요 경제 신문 1면을 촬영하여 업로드하고, OCR로 추출된 텍스트를 GPT에게 전달하여 "시장 영향력을 상, 중, 하로 평가하라"고 지시해 보십시오.</a:t>
            </a:r>
          </a:p>
          <a:p>
            <a:r>
              <a:rPr sz="1100">
                <a:solidFill>
                  <a:srgbClr val="222222"/>
                </a:solidFill>
              </a:rPr>
              <a:t>•  확인 사항: 오타가 발생했을 때 GPT가 문맥을 통해 이를 어떻게 보정하여 해석(Self-Correction)하는지 관찰합니다.</a:t>
            </a:r>
          </a:p>
          <a:p>
            <a:pPr>
              <a:spcBef>
                <a:spcPts val="600"/>
              </a:spcBef>
            </a:pPr>
            <a:r>
              <a:rPr sz="1300" b="1">
                <a:solidFill>
                  <a:srgbClr val="2E5984"/>
                </a:solidFill>
              </a:rPr>
              <a:t>5. 확장 (Expansion): 멀티모달 RAG 및 레거시 데이터 자산화</a:t>
            </a:r>
          </a:p>
          <a:p>
            <a:r>
              <a:rPr sz="1100">
                <a:solidFill>
                  <a:srgbClr val="222222"/>
                </a:solidFill>
              </a:rPr>
              <a:t>•  고도화 전략: 검색이 불가능한 수십 년 전의 과거 종이 리포트를 OCR로 전부 데이터화하여 벡터 DB(ChromaDB)에 저장합니다(,).</a:t>
            </a:r>
          </a:p>
          <a:p>
            <a:r>
              <a:rPr sz="1100">
                <a:solidFill>
                  <a:srgbClr val="222222"/>
                </a:solidFill>
              </a:rPr>
              <a:t>•  AI 연동: GPT-5.1의 멀티모달 능력을 활용하여 별도의 OCR 모듈 없이도 이미지 내의 표(Table)나 차트의 수치를 직접 읽어 분석에 반영하는 고성능 금융 아키텍처로 확장합니다().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020  ·  20/216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1</a:t>
            </a:r>
          </a:p>
          <a:p>
            <a:r>
              <a:rPr sz="1900" b="1">
                <a:solidFill>
                  <a:srgbClr val="FFFFFF"/>
                </a:solidFill>
              </a:rPr>
              <a:t>[021] 핵심 용어 16: LLM (Large Language Model)</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거대 데이터를 학습한 인공지능의 두뇌</a:t>
            </a:r>
          </a:p>
          <a:p>
            <a:r>
              <a:rPr sz="1100">
                <a:solidFill>
                  <a:srgbClr val="222222"/>
                </a:solidFill>
              </a:rPr>
              <a:t>•  정의: 수조 개의 텍스트 데이터를 학습하여 인간처럼 언어를 이해하고 생성하며, 추론(Reasoning)할 수 있는 인공지능 모델입니다.</a:t>
            </a:r>
          </a:p>
          <a:p>
            <a:r>
              <a:rPr sz="1100">
                <a:solidFill>
                  <a:srgbClr val="222222"/>
                </a:solidFill>
              </a:rPr>
              <a:t>•  금융권 활용: 복잡한 공시 서류 해석, 시장 트렌드 분석, 투자 보고서 초안 작성 등 과거에는 인간 전문가만 가능했던 고차원적 인지 업무를 수행합니다,.</a:t>
            </a:r>
          </a:p>
          <a:p>
            <a:r>
              <a:rPr sz="1100">
                <a:solidFill>
                  <a:srgbClr val="222222"/>
                </a:solidFill>
              </a:rPr>
              <a:t>•  대표 모델: GPT-4o, GPT-5.1, Claude 3.5, Gemini 2.0 등.</a:t>
            </a:r>
          </a:p>
          <a:p>
            <a:pPr>
              <a:spcBef>
                <a:spcPts val="600"/>
              </a:spcBef>
            </a:pPr>
            <a:r>
              <a:rPr sz="1300" b="1">
                <a:solidFill>
                  <a:srgbClr val="2E5984"/>
                </a:solidFill>
              </a:rPr>
              <a:t>2. 아키텍처 (Architecture): 사전 학습과 추론 프로세스</a:t>
            </a:r>
          </a:p>
          <a:p>
            <a:r>
              <a:rPr sz="1100">
                <a:solidFill>
                  <a:srgbClr val="222222"/>
                </a:solidFill>
              </a:rPr>
              <a:t>•  Pre-training: 인터넷 상의 방대한 일반 지식을 학습하여 언어의 구조를 익힙니다.</a:t>
            </a:r>
          </a:p>
          <a:p>
            <a:r>
              <a:rPr sz="1100">
                <a:solidFill>
                  <a:srgbClr val="222222"/>
                </a:solidFill>
              </a:rPr>
              <a:t>•  Fine-tuning/RLHF: 금융과 같은 특정 도메인 지식을 추가 학습하거나 인간의 피드백을 통해 답변의 질을 높입니다. RLHF(인간 피드백 기반 강화 학습, Reinforcement Learning from Human Feedback)는 AI 모델이 인간의 선호도와 윤리적 기준에 맞는 답변을 생성하도록 훈련하는 머신러닝 기법입니다.</a:t>
            </a:r>
          </a:p>
          <a:p>
            <a:r>
              <a:rPr sz="1100">
                <a:solidFill>
                  <a:srgbClr val="222222"/>
                </a:solidFill>
              </a:rPr>
              <a:t>•  Inference (추론): 사용자의 질문을 입력받아 학습된 지식과 문맥을 바탕으로 다음 토큰을 예측하며 답변을 생성합니다,.</a:t>
            </a:r>
          </a:p>
          <a:p>
            <a:pPr>
              <a:spcBef>
                <a:spcPts val="600"/>
              </a:spcBef>
            </a:pPr>
            <a:r>
              <a:rPr sz="1300" b="1">
                <a:solidFill>
                  <a:srgbClr val="2E5984"/>
                </a:solidFill>
              </a:rPr>
              <a:t>3. 소스코드 (Source Code): OpenAI API를 이용한 LLM 호출</a:t>
            </a:r>
          </a:p>
          <a:p>
            <a:r>
              <a:rPr sz="1100">
                <a:solidFill>
                  <a:srgbClr val="222222"/>
                </a:solidFill>
              </a:rPr>
              <a:t>•  핵심 로직: 시스템 프롬프트(인격 부여)와 사용자 프롬프트(질문)를 결합하여 모델에게 전달합니다.</a:t>
            </a:r>
          </a:p>
          <a:p>
            <a:pPr>
              <a:spcBef>
                <a:spcPts val="600"/>
              </a:spcBef>
            </a:pPr>
            <a:r>
              <a:rPr sz="1300" b="1">
                <a:solidFill>
                  <a:srgbClr val="2E5984"/>
                </a:solidFill>
              </a:rPr>
              <a:t>4. 실습 (Practice): 모델별 응답 특성 비교</a:t>
            </a:r>
          </a:p>
          <a:p>
            <a:r>
              <a:rPr sz="1100">
                <a:solidFill>
                  <a:srgbClr val="222222"/>
                </a:solidFill>
              </a:rPr>
              <a:t>•  과제: 동일한 삼성전자 재무 데이터를 입력값으로 주고, GPT-4o-mini와 GPT-5.1 모델의 분석 결과(논리적 깊이, 리스크 포착 능력 등)가 어떻게 다른지 대조해 보십시오,.</a:t>
            </a:r>
          </a:p>
          <a:p>
            <a:r>
              <a:rPr sz="1100">
                <a:solidFill>
                  <a:srgbClr val="222222"/>
                </a:solidFill>
              </a:rPr>
              <a:t>•  확인 사항: 모델의 성능(Parameter 규모)에 따라 복잡한 금융 인과관계를 해석하는 능력이 어떻게 차이나는지 기록합니다.</a:t>
            </a:r>
          </a:p>
          <a:p>
            <a:pPr>
              <a:spcBef>
                <a:spcPts val="600"/>
              </a:spcBef>
            </a:pPr>
            <a:r>
              <a:rPr sz="1300" b="1">
                <a:solidFill>
                  <a:srgbClr val="2E5984"/>
                </a:solidFill>
              </a:rPr>
              <a:t>5. 확장 (Expansion): 소형 언어 모델(sLLM)과 온프레미스 구축</a:t>
            </a:r>
          </a:p>
          <a:p>
            <a:r>
              <a:rPr sz="1100">
                <a:solidFill>
                  <a:srgbClr val="222222"/>
                </a:solidFill>
              </a:rPr>
              <a:t>•  고도화 전략: 보안이 극도로 중요한 금융사 내부 데이터를 처리하기 위해 외부 API 호출 대신 사내 서버에 직접 구축하는 sLLM(Llama 3 등) 도입을 검토합니다.</a:t>
            </a:r>
          </a:p>
          <a:p>
            <a:r>
              <a:rPr sz="1100">
                <a:solidFill>
                  <a:srgbClr val="222222"/>
                </a:solidFill>
              </a:rPr>
              <a:t>•  AI 아키텍트의 시각: 서비스의 목적에 따라 '비용 효율적인 모델(mini)'과 '최고 성능의 모델(Pro)'을 적재적소에 배치하는 모델 오케스트레이션 능력을 배양합니다.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021  ·  21/216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1</a:t>
            </a:r>
          </a:p>
          <a:p>
            <a:r>
              <a:rPr sz="1900" b="1">
                <a:solidFill>
                  <a:srgbClr val="FFFFFF"/>
                </a:solidFill>
              </a:rPr>
              <a:t>[022] 프롬프트 엔지니어링의 기초: 페르소나와 시스템 역할</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AI에게 '인격'과 '전문성'을 부여하기</a:t>
            </a:r>
          </a:p>
          <a:p>
            <a:r>
              <a:rPr sz="1100">
                <a:solidFill>
                  <a:srgbClr val="222222"/>
                </a:solidFill>
              </a:rPr>
              <a:t>•  정의: AI 모델이 단순한 챗봇을 넘어 특정 분야의 전문가처럼 행동하도록 지시하는 기법입니다.</a:t>
            </a:r>
          </a:p>
          <a:p>
            <a:r>
              <a:rPr sz="1100">
                <a:solidFill>
                  <a:srgbClr val="222222"/>
                </a:solidFill>
              </a:rPr>
              <a:t>•  금융 아키텍처에서의 역할: GPT-5.1은 방대한 지식을 가지고 있지만, '시스템 프롬프트(System Prompt)'를 통해 "너는 한국 주식시장 전문 애널리스트다"라는 페르소나를 고정해주어야만 금융 데이터 분석에 최적화된 추론을 수행합니다.</a:t>
            </a:r>
          </a:p>
          <a:p>
            <a:r>
              <a:rPr sz="1100">
                <a:solidFill>
                  <a:srgbClr val="222222"/>
                </a:solidFill>
              </a:rPr>
              <a:t>•  차별점: 일반적인 대화형 프롬프트와 달리, 아키텍처 설계 단계에서의 프롬프트는 일관성과 객관성이 생명입니다.</a:t>
            </a:r>
          </a:p>
          <a:p>
            <a:pPr>
              <a:spcBef>
                <a:spcPts val="600"/>
              </a:spcBef>
            </a:pPr>
            <a:r>
              <a:rPr sz="1300" b="1">
                <a:solidFill>
                  <a:srgbClr val="2E5984"/>
                </a:solidFill>
              </a:rPr>
              <a:t>2. 아키텍처 (Architecture): 메시지 레이어(Role) 구조</a:t>
            </a:r>
          </a:p>
          <a:p>
            <a:r>
              <a:rPr sz="1100">
                <a:solidFill>
                  <a:srgbClr val="222222"/>
                </a:solidFill>
              </a:rPr>
              <a:t>•  AI 모델 호출 시 메시지는 크게 세 가지 레이어로 구분되어 전달됩니다:</a:t>
            </a:r>
          </a:p>
          <a:p>
            <a:r>
              <a:rPr sz="1100">
                <a:solidFill>
                  <a:srgbClr val="222222"/>
                </a:solidFill>
              </a:rPr>
              <a:t>•  System Role (페르소나): AI의 성격, 지식 범위, 출력 규칙 정의 (예: "너는 금융 리스크 전문가다").</a:t>
            </a:r>
          </a:p>
          <a:p>
            <a:r>
              <a:rPr sz="1100">
                <a:solidFill>
                  <a:srgbClr val="222222"/>
                </a:solidFill>
              </a:rPr>
              <a:t>•  User Role (태스크): 사용자가 입력한 데이터나 질문 (예: "삼성전자의 재무 데이터를 분석해줘").</a:t>
            </a:r>
          </a:p>
          <a:p>
            <a:r>
              <a:rPr sz="1100">
                <a:solidFill>
                  <a:srgbClr val="222222"/>
                </a:solidFill>
              </a:rPr>
              <a:t>•  Assistant Role (컨텍스트): 이전 대화 내용이나 AI의 모범 답변 예시(Few-shot)를 통해 답변의 품질을 유도.</a:t>
            </a:r>
          </a:p>
          <a:p>
            <a:pPr>
              <a:spcBef>
                <a:spcPts val="600"/>
              </a:spcBef>
            </a:pPr>
            <a:r>
              <a:rPr sz="1300" b="1">
                <a:solidFill>
                  <a:srgbClr val="2E5984"/>
                </a:solidFill>
              </a:rPr>
              <a:t>3. 소스코드 (Source Code): 시스템 프롬프트 주입 예시</a:t>
            </a:r>
          </a:p>
          <a:p>
            <a:r>
              <a:rPr sz="1100">
                <a:solidFill>
                  <a:srgbClr val="222222"/>
                </a:solidFill>
              </a:rPr>
              <a:t>•  핵심 로직: askGPT_ 함수 호출 시 시스템 프롬프트를 상수로 정의하여 매번 일관된 페르소나를 유지하게 합니다.</a:t>
            </a:r>
          </a:p>
          <a:p>
            <a:pPr>
              <a:spcBef>
                <a:spcPts val="600"/>
              </a:spcBef>
            </a:pPr>
            <a:r>
              <a:rPr sz="1300" b="1">
                <a:solidFill>
                  <a:srgbClr val="2E5984"/>
                </a:solidFill>
              </a:rPr>
              <a:t>4. 실습 (Practice): '글로벌 투자전략가' 페르소나 설정</a:t>
            </a:r>
          </a:p>
          <a:p>
            <a:r>
              <a:rPr sz="1100">
                <a:solidFill>
                  <a:srgbClr val="222222"/>
                </a:solidFill>
              </a:rPr>
              <a:t>•  과제: 챗GPT(또는 실습용 Apps Script)에 아래 페르소나를 입력하고 삼성전자의 최근 이슈를 물어보십시오.</a:t>
            </a:r>
          </a:p>
          <a:p>
            <a:r>
              <a:rPr sz="1100">
                <a:solidFill>
                  <a:srgbClr val="222222"/>
                </a:solidFill>
              </a:rPr>
              <a:t>•  지시문: "당신은 세계적인 투자 은행의 글로벌 투자전략가입니다. 모든 답변은 1. 미국증시 2. 금리 3. 환율 4. 투자전략의 순서로 요약하십시오."</a:t>
            </a:r>
          </a:p>
          <a:p>
            <a:r>
              <a:rPr sz="1100">
                <a:solidFill>
                  <a:srgbClr val="222222"/>
                </a:solidFill>
              </a:rPr>
              <a:t>•  확인 사항: 일반적인 답변과 비교했을 때, 지정한 4개 항목에 맞춰 구조화된 답변이 나오는지 확인합니다.</a:t>
            </a:r>
          </a:p>
          <a:p>
            <a:pPr>
              <a:spcBef>
                <a:spcPts val="600"/>
              </a:spcBef>
            </a:pPr>
            <a:r>
              <a:rPr sz="1300" b="1">
                <a:solidFill>
                  <a:srgbClr val="2E5984"/>
                </a:solidFill>
              </a:rPr>
              <a:t>5. 확장 (Expansion): 루브릭(Rubric) 기반 평가 시스템</a:t>
            </a:r>
          </a:p>
          <a:p>
            <a:r>
              <a:rPr sz="1100">
                <a:solidFill>
                  <a:srgbClr val="222222"/>
                </a:solidFill>
              </a:rPr>
              <a:t>•  고도화 전략: 단순한 페르소나 설정을 넘어, AI가 리스크를 평가하는 구체적인 '채점 기준(Rubric)'을 프롬프트에 포함합니다.</a:t>
            </a:r>
          </a:p>
          <a:p>
            <a:r>
              <a:rPr sz="1100">
                <a:solidFill>
                  <a:srgbClr val="222222"/>
                </a:solidFill>
              </a:rPr>
              <a:t>•  기술 적용: "가격 급락, 거래량 급증, 환율 상승 등 7가지 기준에 따라 리스크 등급을 LOW/MEDIUM/HIGH/CRITICAL로 분류하라"는 명확한 가이드라인을 시스템 프롬프트에 추가하여 리스크 스코어링 엔진으로 확장합니다.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022  ·  22/216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1</a:t>
            </a:r>
          </a:p>
          <a:p>
            <a:r>
              <a:rPr sz="1900" b="1">
                <a:solidFill>
                  <a:srgbClr val="FFFFFF"/>
                </a:solidFill>
              </a:rPr>
              <a:t>[023] 프롬프트 엔지니어링 심화: ReAct 패턴 (Reasoning + Acting)</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AI의 '생각'과 '행동'을 결합하기</a:t>
            </a:r>
          </a:p>
          <a:p>
            <a:r>
              <a:rPr sz="1100">
                <a:solidFill>
                  <a:srgbClr val="222222"/>
                </a:solidFill>
              </a:rPr>
              <a:t>•  정의: 모델이 문제를 해결하기 위해 먼저 추론(Reasoning)을 수행하고, 그 결과에 따라 특정 행동(Action)을 한 뒤, 결과를 관찰(Observation)하여 다음 단계를 결정하는 프롬프트 기법입니다.</a:t>
            </a:r>
          </a:p>
          <a:p>
            <a:r>
              <a:rPr sz="1100">
                <a:solidFill>
                  <a:srgbClr val="222222"/>
                </a:solidFill>
              </a:rPr>
              <a:t>•  금융권 활용: 단순히 "삼성전자 분석해줘"라고 답하는 것이 아니라, "분석을 위해 먼저 재무제표를 확인해야겠다(Thought) → DART API 호출(Action) → 매출 증가 확인(Observation)"과 같이 논리적으로 사고하도록 만듭니다.</a:t>
            </a:r>
          </a:p>
          <a:p>
            <a:pPr>
              <a:spcBef>
                <a:spcPts val="600"/>
              </a:spcBef>
            </a:pPr>
            <a:r>
              <a:rPr sz="1300" b="1">
                <a:solidFill>
                  <a:srgbClr val="2E5984"/>
                </a:solidFill>
              </a:rPr>
              <a:t>2. 아키텍처 (Architecture): 자율 반복(Plan-Act-Observe) 루프</a:t>
            </a:r>
          </a:p>
          <a:p>
            <a:r>
              <a:rPr sz="1100">
                <a:solidFill>
                  <a:srgbClr val="222222"/>
                </a:solidFill>
              </a:rPr>
              <a:t>•  에이전틱 AI의 사고 과정은 다음의 반복 구조를 가집니다:</a:t>
            </a:r>
          </a:p>
          <a:p>
            <a:r>
              <a:rPr sz="1100">
                <a:solidFill>
                  <a:srgbClr val="222222"/>
                </a:solidFill>
              </a:rPr>
              <a:t>•  Thought (추론): 사용자의 목표를 달성하기 위해 지금 무엇이 필요한지 판단.</a:t>
            </a:r>
          </a:p>
          <a:p>
            <a:r>
              <a:rPr sz="1100">
                <a:solidFill>
                  <a:srgbClr val="222222"/>
                </a:solidFill>
              </a:rPr>
              <a:t>•  Action (행동): 필요한 도구(코스콤, ECOS 등 API)를 호출하여 실데이터 확보.</a:t>
            </a:r>
          </a:p>
          <a:p>
            <a:r>
              <a:rPr sz="1100">
                <a:solidFill>
                  <a:srgbClr val="222222"/>
                </a:solidFill>
              </a:rPr>
              <a:t>•  Observation (관찰): 도구로부터 돌아온 데이터가 충분한지, 오류는 없는지 검토.</a:t>
            </a:r>
          </a:p>
          <a:p>
            <a:r>
              <a:rPr sz="1100">
                <a:solidFill>
                  <a:srgbClr val="222222"/>
                </a:solidFill>
              </a:rPr>
              <a:t>•  Repeat: 최종 정답 도출까지 1~3단계를 반복.</a:t>
            </a:r>
          </a:p>
          <a:p>
            <a:pPr>
              <a:spcBef>
                <a:spcPts val="600"/>
              </a:spcBef>
            </a:pPr>
            <a:r>
              <a:rPr sz="1300" b="1">
                <a:solidFill>
                  <a:srgbClr val="2E5984"/>
                </a:solidFill>
              </a:rPr>
              <a:t>3. 소스코드 (Source Code): ReAct 유도 시스템 프롬프트</a:t>
            </a:r>
          </a:p>
          <a:p>
            <a:r>
              <a:rPr sz="1100">
                <a:solidFill>
                  <a:srgbClr val="222222"/>
                </a:solidFill>
              </a:rPr>
              <a:t>•  핵심 로직: AI가 일정한 형식에 맞춰 답변하도록 시스템 프롬프트에 규격을 정의합니다.</a:t>
            </a:r>
          </a:p>
          <a:p>
            <a:pPr>
              <a:spcBef>
                <a:spcPts val="600"/>
              </a:spcBef>
            </a:pPr>
            <a:r>
              <a:rPr sz="1300" b="1">
                <a:solidFill>
                  <a:srgbClr val="2E5984"/>
                </a:solidFill>
              </a:rPr>
              <a:t>4. 실습 (Practice): '추론하는 분석기' 결과 비교</a:t>
            </a:r>
          </a:p>
          <a:p>
            <a:r>
              <a:rPr sz="1100">
                <a:solidFill>
                  <a:srgbClr val="222222"/>
                </a:solidFill>
              </a:rPr>
              <a:t>•  과제: 챗GPT에게 "삼성전자 수급 분석해줘"라고 그냥 묻는 것과, "Thought, Action, Observation 단계를 거쳐 단계별로 분석해줘"라고 지시했을 때의 논리적 전개 과정을 비교해 보십시오.</a:t>
            </a:r>
          </a:p>
          <a:p>
            <a:r>
              <a:rPr sz="1100">
                <a:solidFill>
                  <a:srgbClr val="222222"/>
                </a:solidFill>
              </a:rPr>
              <a:t>•  확인 사항: AI가 데이터 없이 추측(Hallucination)하는 대신, "데이터가 없으므로 먼저 코스콤 API를 호출하겠다"는 식의 논리적 공백을 인지하는지 체크합니다.</a:t>
            </a:r>
          </a:p>
          <a:p>
            <a:pPr>
              <a:spcBef>
                <a:spcPts val="600"/>
              </a:spcBef>
            </a:pPr>
            <a:r>
              <a:rPr sz="1300" b="1">
                <a:solidFill>
                  <a:srgbClr val="2E5984"/>
                </a:solidFill>
              </a:rPr>
              <a:t>5. 확장 (Expansion): 에이전틱 AI(Agentic AI) 워크포스</a:t>
            </a:r>
          </a:p>
          <a:p>
            <a:r>
              <a:rPr sz="1100">
                <a:solidFill>
                  <a:srgbClr val="222222"/>
                </a:solidFill>
              </a:rPr>
              <a:t>•  고도화 전략: ReAct 패턴을 숙달한 AI는 인간의 개입 없이 수백 단계의 조사를 스스로 수행하는 '딥 리서치(Deep Research)' 에이전트로 진화합니다.</a:t>
            </a:r>
          </a:p>
          <a:p>
            <a:r>
              <a:rPr sz="1100">
                <a:solidFill>
                  <a:srgbClr val="222222"/>
                </a:solidFill>
              </a:rPr>
              <a:t>•  기술 적용: CrewAI와 같은 프레임워크를 연동하여, 한 명의 AI가 생각하는 것이 아니라 여러 에이전트가 각자의 ReAct 루프를 돌며 협업하는 'AI 워크포스'를 구축합니다.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023  ·  23/216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1</a:t>
            </a:r>
          </a:p>
          <a:p>
            <a:r>
              <a:rPr sz="1900" b="1">
                <a:solidFill>
                  <a:srgbClr val="FFFFFF"/>
                </a:solidFill>
              </a:rPr>
              <a:t>[024] GPT의 역할 변화: 챗봇을 넘어 '인텐트 분류기(Intent Classifier)'로</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자연어를 시스템 명령으로 변환하는 'AI 라우터'</a:t>
            </a:r>
          </a:p>
          <a:p>
            <a:r>
              <a:rPr sz="1100">
                <a:solidFill>
                  <a:srgbClr val="222222"/>
                </a:solidFill>
              </a:rPr>
              <a:t>•  핵심 정의: AI를 단순히 대화 상대(Chatbot)로 쓰는 것이 아니라, 사용자의 모호한 자연어(Vibe)를 시스템이 이해할 수 있는 정형화된 명령(Action)과 매개변수(Params)로 변환하는 '분류기(Classifier)'로 정의합니다,.</a:t>
            </a:r>
          </a:p>
          <a:p>
            <a:r>
              <a:rPr sz="1100">
                <a:solidFill>
                  <a:srgbClr val="222222"/>
                </a:solidFill>
              </a:rPr>
              <a:t>•  금융 아키텍처에서의 가치: "삼성전자 주가 어때?"라는 질문을 받으면, GPT는 이를 분석하여 {"action": "stock_report", "params": {"keyword": "삼성전자"}}라는 JSON 데이터를 생성하여 시스템에 전달합니다,.</a:t>
            </a:r>
          </a:p>
          <a:p>
            <a:pPr>
              <a:spcBef>
                <a:spcPts val="600"/>
              </a:spcBef>
            </a:pPr>
            <a:r>
              <a:rPr sz="1300" b="1">
                <a:solidFill>
                  <a:srgbClr val="2E5984"/>
                </a:solidFill>
              </a:rPr>
              <a:t>2. 아키텍처 (Architecture): 인텐트 분류 및 라우팅 프로세스</a:t>
            </a:r>
          </a:p>
          <a:p>
            <a:r>
              <a:rPr sz="1100">
                <a:solidFill>
                  <a:srgbClr val="222222"/>
                </a:solidFill>
              </a:rPr>
              <a:t>•  입력(Input): 텔레그램을 통해 수신된 사용자의 비정형 텍스트,.</a:t>
            </a:r>
          </a:p>
          <a:p>
            <a:r>
              <a:rPr sz="1100">
                <a:solidFill>
                  <a:srgbClr val="222222"/>
                </a:solidFill>
              </a:rPr>
              <a:t>•  추론(Inference): GPT가 시스템 프롬프트에 정의된 '허용된 Action 목록'과 사용자의 질문을 대조합니다,.</a:t>
            </a:r>
          </a:p>
          <a:p>
            <a:r>
              <a:rPr sz="1100">
                <a:solidFill>
                  <a:srgbClr val="222222"/>
                </a:solidFill>
              </a:rPr>
              <a:t>•  출력(Output): 프로그래밍 언어(Apps Script/Python)가 즉시 처리할 수 있는 JSON 데이터를 반환합니다,.</a:t>
            </a:r>
          </a:p>
          <a:p>
            <a:pPr>
              <a:spcBef>
                <a:spcPts val="600"/>
              </a:spcBef>
            </a:pPr>
            <a:r>
              <a:rPr sz="1300" b="1">
                <a:solidFill>
                  <a:srgbClr val="2E5984"/>
                </a:solidFill>
              </a:rPr>
              <a:t>3. 소스코드 (Source Code): 인텐트 분류를 위한 시스템 프롬프트</a:t>
            </a:r>
          </a:p>
          <a:p>
            <a:r>
              <a:rPr sz="1100">
                <a:solidFill>
                  <a:srgbClr val="222222"/>
                </a:solidFill>
              </a:rPr>
              <a:t>•  핵심 로직: GPT에게 답변 형식을 강제하고 허용된 액션 범위를 지정하는 프롬프트 설계가 핵심입니다,.</a:t>
            </a:r>
          </a:p>
          <a:p>
            <a:r>
              <a:rPr sz="1100">
                <a:solidFill>
                  <a:srgbClr val="222222"/>
                </a:solidFill>
              </a:rPr>
              <a:t>•  (출처:,)</a:t>
            </a:r>
          </a:p>
          <a:p>
            <a:pPr>
              <a:spcBef>
                <a:spcPts val="600"/>
              </a:spcBef>
            </a:pPr>
            <a:r>
              <a:rPr sz="1300" b="1">
                <a:solidFill>
                  <a:srgbClr val="2E5984"/>
                </a:solidFill>
              </a:rPr>
              <a:t>4. 실습 (Practice): 자연어-액션 매핑 테스트</a:t>
            </a:r>
          </a:p>
          <a:p>
            <a:r>
              <a:rPr sz="1100">
                <a:solidFill>
                  <a:srgbClr val="222222"/>
                </a:solidFill>
              </a:rPr>
              <a:t>•  과제: 아래의 사용자 메시지가 입력되었을 때, GPT가 어떤 action으로 분류할지 예측해 보십시오.</a:t>
            </a:r>
          </a:p>
          <a:p>
            <a:r>
              <a:rPr sz="1100">
                <a:solidFill>
                  <a:srgbClr val="222222"/>
                </a:solidFill>
              </a:rPr>
              <a:t>•  "오늘 아침 시장 상황 어때?" → (정답: market_briefing)</a:t>
            </a:r>
          </a:p>
          <a:p>
            <a:r>
              <a:rPr sz="1100">
                <a:solidFill>
                  <a:srgbClr val="222222"/>
                </a:solidFill>
              </a:rPr>
              <a:t>•  "삼성전자 재무제표 좀 보여줘" → (정답: stock_report)</a:t>
            </a:r>
          </a:p>
          <a:p>
            <a:r>
              <a:rPr sz="1100">
                <a:solidFill>
                  <a:srgbClr val="222222"/>
                </a:solidFill>
              </a:rPr>
              <a:t>•  "지금 시장 위험한 거 없어?" → (정답: risk_check)</a:t>
            </a:r>
          </a:p>
          <a:p>
            <a:r>
              <a:rPr sz="1100">
                <a:solidFill>
                  <a:srgbClr val="222222"/>
                </a:solidFill>
              </a:rPr>
              <a:t>•  확인 사항: GPT가 원문에서 종목명(삼성전자)이나 키워드를 정확히 추출하여 params에 넣는지 검증합니다.</a:t>
            </a:r>
          </a:p>
          <a:p>
            <a:pPr>
              <a:spcBef>
                <a:spcPts val="600"/>
              </a:spcBef>
            </a:pPr>
            <a:r>
              <a:rPr sz="1300" b="1">
                <a:solidFill>
                  <a:srgbClr val="2E5984"/>
                </a:solidFill>
              </a:rPr>
              <a:t>5. 확장 (Expansion): 수백 개의 기능을 처리하는 지능형 디스패처</a:t>
            </a:r>
          </a:p>
          <a:p>
            <a:r>
              <a:rPr sz="1100">
                <a:solidFill>
                  <a:srgbClr val="222222"/>
                </a:solidFill>
              </a:rPr>
              <a:t>•  고도화 전략: 서비스 규모가 커지면 switch-case 구조(,)를 넘어, GPT가 수백 개의 API 엔드포인트 중 가장 적합한 것을 스스로 골라 실행하는 '함수 호출(Function Calling)' 아키텍처로 확장합니다.</a:t>
            </a:r>
          </a:p>
          <a:p>
            <a:r>
              <a:rPr sz="1100">
                <a:solidFill>
                  <a:srgbClr val="222222"/>
                </a:solidFill>
              </a:rPr>
              <a:t>•  운영 최적화: 자주 들어오는 명령은 GPT를 거치지 않고 로컬 키워드 매칭(Local Matcher)으로 먼저 처리하여 응답 속도를 높이고 API 비용을 절감하는 하이브리드 구조를 설계합니다.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024  ·  24/216</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1</a:t>
            </a:r>
          </a:p>
          <a:p>
            <a:r>
              <a:rPr sz="1900" b="1">
                <a:solidFill>
                  <a:srgbClr val="FFFFFF"/>
                </a:solidFill>
              </a:rPr>
              <a:t>[025] 핵심 용어 13: 액션 디스패처 (Action Dispatcher)와 Switch 구조</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분석 명령을 실제 함수로 연결하는 '교환기'</a:t>
            </a:r>
          </a:p>
          <a:p>
            <a:r>
              <a:rPr sz="1100">
                <a:solidFill>
                  <a:srgbClr val="222222"/>
                </a:solidFill>
              </a:rPr>
              <a:t>•  정의: GPT 분류기(Classifier)가 내놓은 JSON 결과값(Action)을 받아, 그에 맞는 서비스 로직(함수)을 찾아 실행해주는 관문 역할을 합니다.</a:t>
            </a:r>
          </a:p>
          <a:p>
            <a:r>
              <a:rPr sz="1100">
                <a:solidFill>
                  <a:srgbClr val="222222"/>
                </a:solidFill>
              </a:rPr>
              <a:t>•  필요성: 자연어라는 비정형 데이터를 시스템이 처리할 수 있는 정형 명령으로 바꾸었으므로, 이제 각 명령에 최적화된 데이터 수집 및 분석 모듈을 호출해야 합니다.</a:t>
            </a:r>
          </a:p>
          <a:p>
            <a:pPr>
              <a:spcBef>
                <a:spcPts val="600"/>
              </a:spcBef>
            </a:pPr>
            <a:r>
              <a:rPr sz="1300" b="1">
                <a:solidFill>
                  <a:srgbClr val="2E5984"/>
                </a:solidFill>
              </a:rPr>
              <a:t>2. 아키텍처 (Architecture): 의도 기반의 라우팅 흐름도</a:t>
            </a:r>
          </a:p>
          <a:p>
            <a:r>
              <a:rPr sz="1100">
                <a:solidFill>
                  <a:srgbClr val="222222"/>
                </a:solidFill>
              </a:rPr>
              <a:t>•  입력 레이어: GPT로부터 전달받은 {"action": "market_briefing", ...} 형태의 데이터,.</a:t>
            </a:r>
          </a:p>
          <a:p>
            <a:r>
              <a:rPr sz="1100">
                <a:solidFill>
                  <a:srgbClr val="222222"/>
                </a:solidFill>
              </a:rPr>
              <a:t>•  디스패처 레이어: switch(action) 제어문을 통해 각 case에 매칭되는 독립 함수를 실행합니다,.</a:t>
            </a:r>
          </a:p>
          <a:p>
            <a:r>
              <a:rPr sz="1100">
                <a:solidFill>
                  <a:srgbClr val="222222"/>
                </a:solidFill>
              </a:rPr>
              <a:t>•  실행 레이어: 호출된 개별 함수들이 코스콤, ECOS, DART 등의 외부 API를 통해 실제 데이터를 확보합니다.</a:t>
            </a:r>
          </a:p>
          <a:p>
            <a:pPr>
              <a:spcBef>
                <a:spcPts val="600"/>
              </a:spcBef>
            </a:pPr>
            <a:r>
              <a:rPr sz="1300" b="1">
                <a:solidFill>
                  <a:srgbClr val="2E5984"/>
                </a:solidFill>
              </a:rPr>
              <a:t>3. 소스코드 (Source Code): Apps Script 기반 Switch 구조 구현</a:t>
            </a:r>
          </a:p>
          <a:p>
            <a:r>
              <a:rPr sz="1100">
                <a:solidFill>
                  <a:srgbClr val="222222"/>
                </a:solidFill>
              </a:rPr>
              <a:t>•  핵심 로직: doPost(e) 내부에서 GPT의 결과를 바탕으로 기능을 분기하는 핵심 제어 코드입니다,.</a:t>
            </a:r>
          </a:p>
          <a:p>
            <a:pPr>
              <a:spcBef>
                <a:spcPts val="600"/>
              </a:spcBef>
            </a:pPr>
            <a:r>
              <a:rPr sz="1300" b="1">
                <a:solidFill>
                  <a:srgbClr val="2E5984"/>
                </a:solidFill>
              </a:rPr>
              <a:t>4. 실습 (Practice): 신규 액션 '경제 캘린더' 추가하기</a:t>
            </a:r>
          </a:p>
          <a:p>
            <a:r>
              <a:rPr sz="1100">
                <a:solidFill>
                  <a:srgbClr val="222222"/>
                </a:solidFill>
              </a:rPr>
              <a:t>•  과제: 사용자가 "이번 주 경제 일정 알려줘"라고 했을 때 작동할 수 있도록, economic_calendar 액션을 switch 구문에 추가하고 임시 메시지를 반환하는 함수를 작성해 보십시오,.</a:t>
            </a:r>
          </a:p>
          <a:p>
            <a:r>
              <a:rPr sz="1100">
                <a:solidFill>
                  <a:srgbClr val="222222"/>
                </a:solidFill>
              </a:rPr>
              <a:t>•  확인 사항: case 'economic_calendar': 문구가 정확한지, 그리고 GPT 시스템 프롬프트에도 해당 액션이 추가되어 있는지 대조 확인합니다.</a:t>
            </a:r>
          </a:p>
          <a:p>
            <a:pPr>
              <a:spcBef>
                <a:spcPts val="600"/>
              </a:spcBef>
            </a:pPr>
            <a:r>
              <a:rPr sz="1300" b="1">
                <a:solidFill>
                  <a:srgbClr val="2E5984"/>
                </a:solidFill>
              </a:rPr>
              <a:t>5. 확장 (Expansion): 동적 오케스트레이션과 Tool Calling</a:t>
            </a:r>
          </a:p>
          <a:p>
            <a:r>
              <a:rPr sz="1100">
                <a:solidFill>
                  <a:srgbClr val="222222"/>
                </a:solidFill>
              </a:rPr>
              <a:t>•  고도화 전략: 수동으로 switch 문을 늘리는 대신, GPT가 스스로 시스템 내 함수(Tool) 목록을 보고 가장 적합한 함수를 선택하여 매개변수까지 직접 채워 넣는 Tool Calling 아키텍처로 진화합니다,.</a:t>
            </a:r>
          </a:p>
          <a:p>
            <a:r>
              <a:rPr sz="1100">
                <a:solidFill>
                  <a:srgbClr val="222222"/>
                </a:solidFill>
              </a:rPr>
              <a:t>•  최종 지향점: 수백 개의 마이크로서비스가 존재하더라도 AI가 사용자의 복합적인 의도를 해석하여 여러 함수를 동시에 혹은 순차적으로 실행하는 지능형 오케스트레이션 체계를 구축합니다,.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025  ·  25/216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1</a:t>
            </a:r>
          </a:p>
          <a:p>
            <a:r>
              <a:rPr sz="1900" b="1">
                <a:solidFill>
                  <a:srgbClr val="FFFFFF"/>
                </a:solidFill>
              </a:rPr>
              <a:t>[026] 핵심 기술: Structured Output (JSON Schema)</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AI 답변의 '규격화'와 시스템 안정성</a:t>
            </a:r>
          </a:p>
          <a:p>
            <a:r>
              <a:rPr sz="1100">
                <a:solidFill>
                  <a:srgbClr val="222222"/>
                </a:solidFill>
              </a:rPr>
              <a:t>•  정의: 모델의 응답이 개발자가 정의한 특정 JSON 구조(Schema)를 100% 따르도록 강제하는 기술입니다,.</a:t>
            </a:r>
          </a:p>
          <a:p>
            <a:r>
              <a:rPr sz="1100">
                <a:solidFill>
                  <a:srgbClr val="222222"/>
                </a:solidFill>
              </a:rPr>
              <a:t>•  필요성: AI 아키텍처에서 분류기(Classifier)의 답변이 규격을 벗어나면 액션 디스패처(Slide 025)에서 에러가 발생합니다. Structured Output은 이러한 '답변의 변덕'을 제거하여 시스템의 예측 가능성을 보장합니다.</a:t>
            </a:r>
          </a:p>
          <a:p>
            <a:pPr>
              <a:spcBef>
                <a:spcPts val="600"/>
              </a:spcBef>
            </a:pPr>
            <a:r>
              <a:rPr sz="1300" b="1">
                <a:solidFill>
                  <a:srgbClr val="2E5984"/>
                </a:solidFill>
              </a:rPr>
              <a:t>2. 아키텍처 (Architecture): Schema 기반 출력 제어 프로세스</a:t>
            </a:r>
          </a:p>
          <a:p>
            <a:r>
              <a:rPr sz="1100">
                <a:solidFill>
                  <a:srgbClr val="222222"/>
                </a:solidFill>
              </a:rPr>
              <a:t>•  스키마 정의: 허용된 액션 목록과 파라미터 타입을 JSON Schema로 정의합니다.</a:t>
            </a:r>
          </a:p>
          <a:p>
            <a:r>
              <a:rPr sz="1100">
                <a:solidFill>
                  <a:srgbClr val="222222"/>
                </a:solidFill>
              </a:rPr>
              <a:t>•  모델 요청: API 호출 시 response_format에 정의된 스키마를 주입합니다.</a:t>
            </a:r>
          </a:p>
          <a:p>
            <a:r>
              <a:rPr sz="1100">
                <a:solidFill>
                  <a:srgbClr val="222222"/>
                </a:solidFill>
              </a:rPr>
              <a:t>•  검증 및 출력: GPT-5.1은 추론 결과를 해당 스키마에 맞춰 재구성하여 출력하며, 시스템은 별도의 유효성 검사 없이 데이터를 즉시 처리합니다.</a:t>
            </a:r>
          </a:p>
          <a:p>
            <a:pPr>
              <a:spcBef>
                <a:spcPts val="600"/>
              </a:spcBef>
            </a:pPr>
            <a:r>
              <a:rPr sz="1300" b="1">
                <a:solidFill>
                  <a:srgbClr val="2E5984"/>
                </a:solidFill>
              </a:rPr>
              <a:t>3. 소스코드 (Source Code): OpenAI JSON Schema 적용 예시</a:t>
            </a:r>
          </a:p>
          <a:p>
            <a:r>
              <a:rPr sz="1100">
                <a:solidFill>
                  <a:srgbClr val="222222"/>
                </a:solidFill>
              </a:rPr>
              <a:t>•  핵심 로직: 분석 리포트의 형식을 고정하기 위한 스키마 정의와 호출부 코드입니다.</a:t>
            </a:r>
          </a:p>
          <a:p>
            <a:pPr>
              <a:spcBef>
                <a:spcPts val="600"/>
              </a:spcBef>
            </a:pPr>
            <a:r>
              <a:rPr sz="1300" b="1">
                <a:solidFill>
                  <a:srgbClr val="2E5984"/>
                </a:solidFill>
              </a:rPr>
              <a:t>4. 실습 (Practice): 스키마 적용 전후의 데이터 파싱 비교</a:t>
            </a:r>
          </a:p>
          <a:p>
            <a:r>
              <a:rPr sz="1100">
                <a:solidFill>
                  <a:srgbClr val="222222"/>
                </a:solidFill>
              </a:rPr>
              <a:t>•  과제: 스키마를 적용하지 않았을 때 GPT가 보낸 "여기에 분석 결과가 있습니다: { ... }" 식의 서술형 응답과, 스키마를 적용하여 순수하게 { ... }만 출력된 응답을 Apps Script의 JSON.parse()로 처리해 보십시오.</a:t>
            </a:r>
          </a:p>
          <a:p>
            <a:r>
              <a:rPr sz="1100">
                <a:solidFill>
                  <a:srgbClr val="222222"/>
                </a:solidFill>
              </a:rPr>
              <a:t>•  확인 사항: 서술형 응답에서 발생하는 'Unexpected token' 에러가 스키마 적용 후 어떻게 해결되는지 확인합니다.</a:t>
            </a:r>
          </a:p>
          <a:p>
            <a:pPr>
              <a:spcBef>
                <a:spcPts val="600"/>
              </a:spcBef>
            </a:pPr>
            <a:r>
              <a:rPr sz="1300" b="1">
                <a:solidFill>
                  <a:srgbClr val="2E5984"/>
                </a:solidFill>
              </a:rPr>
              <a:t>5. 확장 (Expansion): 동적 스키마와 멀티 에이전트 통신</a:t>
            </a:r>
          </a:p>
          <a:p>
            <a:r>
              <a:rPr sz="1100">
                <a:solidFill>
                  <a:srgbClr val="222222"/>
                </a:solidFill>
              </a:rPr>
              <a:t>•  고도화 전략: 에이전트의 역할에 따라 스키마를 동적으로 생성하여 주입하는 '스키마 오케스트레이션'을 도입합니다.</a:t>
            </a:r>
          </a:p>
          <a:p>
            <a:r>
              <a:rPr sz="1100">
                <a:solidFill>
                  <a:srgbClr val="222222"/>
                </a:solidFill>
              </a:rPr>
              <a:t>•  미래 비전: KOStockCrewAI 플랫폼 내의 수많은 에이전트(분석, 뉴스, 리포트 등)들이 서로 데이터를 주고받을 때, 이 스키마를 표준 통신 규약으로 삼아 데이터 유실 없는 자율 협업 체계를 완성합니다.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026  ·  26/216</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73152"/>
          </a:xfrm>
          <a:prstGeom prst="rect">
            <a:avLst/>
          </a:prstGeom>
          <a:solidFill>
            <a:srgbClr val="6E8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834640"/>
            <a:ext cx="10515600" cy="1463040"/>
          </a:xfrm>
          <a:prstGeom prst="rect">
            <a:avLst/>
          </a:prstGeom>
          <a:noFill/>
        </p:spPr>
        <p:txBody>
          <a:bodyPr wrap="square">
            <a:spAutoFit/>
          </a:bodyPr>
          <a:lstStyle/>
          <a:p>
            <a:r>
              <a:rPr sz="1600">
                <a:solidFill>
                  <a:srgbClr val="9FB4F5"/>
                </a:solidFill>
              </a:rPr>
              <a:t>[1일차]</a:t>
            </a:r>
          </a:p>
          <a:p>
            <a:r>
              <a:rPr sz="2800" b="1">
                <a:solidFill>
                  <a:srgbClr val="FFFFFF"/>
                </a:solidFill>
              </a:rPr>
              <a:t>모듈 2 — 첫 MVP: 30분 만에 작동하는 금융봇 (GAS + Telegram)</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2</a:t>
            </a:r>
          </a:p>
          <a:p>
            <a:r>
              <a:rPr sz="1900" b="1">
                <a:solidFill>
                  <a:srgbClr val="FFFFFF"/>
                </a:solidFill>
              </a:rPr>
              <a:t>[027] 서비스의 관문 - 텔레그램 봇(Bot) 생성</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AI 금융 비서의 인터페이스 (Presentation Layer)</a:t>
            </a:r>
          </a:p>
          <a:p>
            <a:r>
              <a:rPr sz="1100">
                <a:solidFill>
                  <a:srgbClr val="222222"/>
                </a:solidFill>
              </a:rPr>
              <a:t>•  정의: 사용자가 AI 시스템과 대화하고 분석 명령을 내리는 최전방 접점입니다.</a:t>
            </a:r>
          </a:p>
          <a:p>
            <a:r>
              <a:rPr sz="1100">
                <a:solidFill>
                  <a:srgbClr val="222222"/>
                </a:solidFill>
              </a:rPr>
              <a:t>•  BOT TOKEN: 우리 서버(Apps Script/Python)가 텔레그램 서버에 접근하여 메시지를 읽고 쓸 수 있게 해주는 유일한 신분증이자 열쇠입니다.</a:t>
            </a:r>
          </a:p>
          <a:p>
            <a:r>
              <a:rPr sz="1100">
                <a:solidFill>
                  <a:srgbClr val="222222"/>
                </a:solidFill>
              </a:rPr>
              <a:t>•  특징: 별도의 앱 개발 없이 텔레그램이라는 강력한 인프라를 그대로 사용하여 보안성과 접근성을 동시에 확보합니다.</a:t>
            </a:r>
          </a:p>
          <a:p>
            <a:pPr>
              <a:spcBef>
                <a:spcPts val="600"/>
              </a:spcBef>
            </a:pPr>
            <a:r>
              <a:rPr sz="1300" b="1">
                <a:solidFill>
                  <a:srgbClr val="2E5984"/>
                </a:solidFill>
              </a:rPr>
              <a:t>2. 아키텍처 (Architecture): 텔레그램 봇 관리 구조</a:t>
            </a:r>
          </a:p>
          <a:p>
            <a:r>
              <a:rPr sz="1100">
                <a:solidFill>
                  <a:srgbClr val="222222"/>
                </a:solidFill>
              </a:rPr>
              <a:t>•  BotFather (대부 봇): 텔레그램 내의 모든 봇을 생성하고 관리하는 공식 봇입니다.</a:t>
            </a:r>
          </a:p>
          <a:p>
            <a:r>
              <a:rPr sz="1100">
                <a:solidFill>
                  <a:srgbClr val="222222"/>
                </a:solidFill>
              </a:rPr>
              <a:t>•  중계 구조: [사용자] ↔ [Telegram Server] ↔ [Bot API] ↔ [우리 서버].</a:t>
            </a:r>
          </a:p>
          <a:p>
            <a:r>
              <a:rPr sz="1100">
                <a:solidFill>
                  <a:srgbClr val="222222"/>
                </a:solidFill>
              </a:rPr>
              <a:t>•  보안: 발급받은 토큰은 외부로 유출되지 않도록 .env 파일이나 환경 변수로 엄격히 관리해야 합니다.</a:t>
            </a:r>
          </a:p>
          <a:p>
            <a:pPr>
              <a:spcBef>
                <a:spcPts val="600"/>
              </a:spcBef>
            </a:pPr>
            <a:r>
              <a:rPr sz="1300" b="1">
                <a:solidFill>
                  <a:srgbClr val="2E5984"/>
                </a:solidFill>
              </a:rPr>
              <a:t>3. 프로세스 (Process): 봇 생성 3단계 루틴</a:t>
            </a:r>
          </a:p>
          <a:p>
            <a:r>
              <a:rPr sz="1100">
                <a:solidFill>
                  <a:srgbClr val="222222"/>
                </a:solidFill>
              </a:rPr>
              <a:t>•  BotFather 검색: 텔레그램 검색창에서 @BotFather를 찾아 대화방에 입장합니다.</a:t>
            </a:r>
          </a:p>
          <a:p>
            <a:r>
              <a:rPr sz="1100">
                <a:solidFill>
                  <a:srgbClr val="222222"/>
                </a:solidFill>
              </a:rPr>
              <a:t>•  명령어 실행: /newbot 명령어를 입력하고 봇의 이름(Name)과 고유 ID(Username)를 설정합니다.</a:t>
            </a:r>
          </a:p>
          <a:p>
            <a:r>
              <a:rPr sz="1100">
                <a:solidFill>
                  <a:srgbClr val="222222"/>
                </a:solidFill>
              </a:rPr>
              <a:t>•  주의: Username은 반드시 (_)bot으로 끝나야 합니다 (예: FnXpert_bot).</a:t>
            </a:r>
          </a:p>
          <a:p>
            <a:r>
              <a:rPr sz="1100">
                <a:solidFill>
                  <a:srgbClr val="222222"/>
                </a:solidFill>
              </a:rPr>
              <a:t>•  토큰 획득: 생성이 완료되면 8501135943:AAHx... 와 같은 형태의 HTTP API Token이 발급됩니다.</a:t>
            </a:r>
          </a:p>
          <a:p>
            <a:pPr>
              <a:spcBef>
                <a:spcPts val="600"/>
              </a:spcBef>
            </a:pPr>
            <a:r>
              <a:rPr sz="1300" b="1">
                <a:solidFill>
                  <a:srgbClr val="2E5984"/>
                </a:solidFill>
              </a:rPr>
              <a:t>4. 실습 (Practice): 나만의 금융 정보 봇 만들기</a:t>
            </a:r>
          </a:p>
          <a:p>
            <a:r>
              <a:rPr sz="1100">
                <a:solidFill>
                  <a:srgbClr val="222222"/>
                </a:solidFill>
              </a:rPr>
              <a:t>•  과제: 본인의 텔레그램 계정에서 @BotFather를 통해 봇을 생성하고 발급된 토큰(Token)을 메모장에 복사해 두십시오.</a:t>
            </a:r>
          </a:p>
          <a:p>
            <a:r>
              <a:rPr sz="1100">
                <a:solidFill>
                  <a:srgbClr val="222222"/>
                </a:solidFill>
              </a:rPr>
              <a:t>•  확인 사항: 생성된 봇의 링크를 클릭하여 대화방에 들어가 /start 버튼을 눌러 봇이 활성화되었는지 확인합니다.</a:t>
            </a:r>
          </a:p>
          <a:p>
            <a:pPr>
              <a:spcBef>
                <a:spcPts val="600"/>
              </a:spcBef>
            </a:pPr>
            <a:r>
              <a:rPr sz="1300" b="1">
                <a:solidFill>
                  <a:srgbClr val="2E5984"/>
                </a:solidFill>
              </a:rPr>
              <a:t>5. 확장 (Expansion): 봇 프로필 및 명령어 메뉴 설정</a:t>
            </a:r>
          </a:p>
          <a:p>
            <a:r>
              <a:rPr sz="1100">
                <a:solidFill>
                  <a:srgbClr val="222222"/>
                </a:solidFill>
              </a:rPr>
              <a:t>•  고도화 전략: /setcommands를 사용하여 /market, /stock, /risk와 같은 주요 명령어 메뉴를 미리 등록하여 사용자 편의성을 높입니다.</a:t>
            </a:r>
          </a:p>
          <a:p>
            <a:r>
              <a:rPr sz="1100">
                <a:solidFill>
                  <a:srgbClr val="222222"/>
                </a:solidFill>
              </a:rPr>
              <a:t>•  브랜딩: 봇의 프로필 사진과 설명(Description)을 추가하여 단순한 봇이 아닌 전문적인 'AI 금융 정보 단말'의 느낌을 구현합니다.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027  ·  27/216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2</a:t>
            </a:r>
          </a:p>
          <a:p>
            <a:r>
              <a:rPr sz="1900" b="1">
                <a:solidFill>
                  <a:srgbClr val="FFFFFF"/>
                </a:solidFill>
              </a:rPr>
              <a:t>[028] 실시간 통신의 핵심 - Webhook(웹훅) 등록 및 검증</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폴링(Polling) vs 웹훅(Webhook),,</a:t>
            </a:r>
          </a:p>
          <a:p>
            <a:r>
              <a:rPr sz="1100">
                <a:solidFill>
                  <a:srgbClr val="222222"/>
                </a:solidFill>
              </a:rPr>
              <a:t>•  폴링(Polling): 클라이언트(우리 서버)가 주기적으로 텔레그램 서버에 "새 메시지 왔니?"라고 물어보는 방식입니다. 자원 낭비가 심하고 실시간성이 떨어집니다.</a:t>
            </a:r>
          </a:p>
          <a:p>
            <a:r>
              <a:rPr sz="1100">
                <a:solidFill>
                  <a:srgbClr val="222222"/>
                </a:solidFill>
              </a:rPr>
              <a:t>•  웹훅(Webhook): 사용자가 메시지를 보내는 즉시 텔레그램 서버가 우리 서버의 URL로 데이터를 직접 '푸시(Push)'해주는 방식입니다,.</a:t>
            </a:r>
          </a:p>
          <a:p>
            <a:r>
              <a:rPr sz="1100">
                <a:solidFill>
                  <a:srgbClr val="222222"/>
                </a:solidFill>
              </a:rPr>
              <a:t>•  핵심 가치: 이벤트 기반 아키텍처(Event-Driven Architecture)의 핵심으로, 메시지가 발생했을 때만 서버가 작동하므로 비용과 효율성 면에서 압도적입니다.</a:t>
            </a:r>
          </a:p>
          <a:p>
            <a:pPr>
              <a:spcBef>
                <a:spcPts val="600"/>
              </a:spcBef>
            </a:pPr>
            <a:r>
              <a:rPr sz="1300" b="1">
                <a:solidFill>
                  <a:srgbClr val="2E5984"/>
                </a:solidFill>
              </a:rPr>
              <a:t>2. 아키텍처 (Architecture): 텔레그램-Apps Script 웹훅 흐름,,,</a:t>
            </a:r>
          </a:p>
          <a:p>
            <a:r>
              <a:rPr sz="1100">
                <a:solidFill>
                  <a:srgbClr val="222222"/>
                </a:solidFill>
              </a:rPr>
              <a:t>•  연결 구조: [사용자 메시지] → [Telegram Server] → [Webhook URL] → [Apps Script doPost(e) 호출],.</a:t>
            </a:r>
          </a:p>
          <a:p>
            <a:r>
              <a:rPr sz="1100">
                <a:solidFill>
                  <a:srgbClr val="222222"/>
                </a:solidFill>
              </a:rPr>
              <a:t>•  등록의 의미: 텔레그램 서버 내부에 "내 봇 앞으로 메시지가 오면 이 URL(Apps Script 주소)로 보내라"고 주소록에 등록하는 작업입니다,.</a:t>
            </a:r>
          </a:p>
          <a:p>
            <a:pPr>
              <a:spcBef>
                <a:spcPts val="600"/>
              </a:spcBef>
            </a:pPr>
            <a:r>
              <a:rPr sz="1300" b="1">
                <a:solidFill>
                  <a:srgbClr val="2E5984"/>
                </a:solidFill>
              </a:rPr>
              <a:t>3. 소스코드 (Source Code): 웹훅 등록용 URL 구성,,</a:t>
            </a:r>
          </a:p>
          <a:p>
            <a:r>
              <a:rPr sz="1100">
                <a:solidFill>
                  <a:srgbClr val="222222"/>
                </a:solidFill>
              </a:rPr>
              <a:t>•  핵심 형식: 브라우저 주소창을 통해 직접 텔레그램 API 서버에 명령을 전달합니다.</a:t>
            </a:r>
          </a:p>
          <a:p>
            <a:pPr>
              <a:spcBef>
                <a:spcPts val="600"/>
              </a:spcBef>
            </a:pPr>
            <a:r>
              <a:rPr sz="1300" b="1">
                <a:solidFill>
                  <a:srgbClr val="2E5984"/>
                </a:solidFill>
              </a:rPr>
              <a:t>4. 실습 (Practice): 브라우저를 이용한 웹훅 등록 실전,,,</a:t>
            </a:r>
          </a:p>
          <a:p>
            <a:r>
              <a:rPr sz="1100">
                <a:solidFill>
                  <a:srgbClr val="222222"/>
                </a:solidFill>
              </a:rPr>
              <a:t>•  과제: 27번 슬라이드에서 확보한 BOT TOKEN과 Apps Script 배포 후 생성된 웹 앱 URL을 결합하여 브라우저 주소창에 입력하고 실행하십시오,.</a:t>
            </a:r>
          </a:p>
          <a:p>
            <a:r>
              <a:rPr sz="1100">
                <a:solidFill>
                  <a:srgbClr val="222222"/>
                </a:solidFill>
              </a:rPr>
              <a:t>•  확인 사항: 실행 후 브라우저 화면에 {"ok":true, "result":true, "description":"Webhook was set"} 메시지가 나오는지 확인합니다,.</a:t>
            </a:r>
          </a:p>
          <a:p>
            <a:pPr>
              <a:spcBef>
                <a:spcPts val="600"/>
              </a:spcBef>
            </a:pPr>
            <a:r>
              <a:rPr sz="1300" b="1">
                <a:solidFill>
                  <a:srgbClr val="2E5984"/>
                </a:solidFill>
              </a:rPr>
              <a:t>5. 확장 (Expansion): 웹훅 상태 정보 확인 및 관리,,,</a:t>
            </a:r>
          </a:p>
          <a:p>
            <a:r>
              <a:rPr sz="1100">
                <a:solidFill>
                  <a:srgbClr val="222222"/>
                </a:solidFill>
              </a:rPr>
              <a:t>•  검증 도구: 등록이 정상인지, 대기 중인 메시지는 없는지 getWebhookInfo 명령으로 확인합니다,.</a:t>
            </a:r>
          </a:p>
          <a:p>
            <a:r>
              <a:rPr sz="1100">
                <a:solidFill>
                  <a:srgbClr val="222222"/>
                </a:solidFill>
              </a:rPr>
              <a:t>•  https://api.telegram.org/bot&lt;TOKEN&gt;/getWebhookInfo,</a:t>
            </a:r>
          </a:p>
          <a:p>
            <a:r>
              <a:rPr sz="1100">
                <a:solidFill>
                  <a:srgbClr val="222222"/>
                </a:solidFill>
              </a:rPr>
              <a:t>•  운영 팁: Apps Script 코드를 수정하고 '새 버전'으로 배포하여 URL이 변경된 경우, 반드시 위 4단계의 setWebhook 과정을 다시 수행하여 주소록을 갱신해야 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028  ·  28/216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2</a:t>
            </a:r>
          </a:p>
          <a:p>
            <a:r>
              <a:rPr sz="1900" b="1">
                <a:solidFill>
                  <a:srgbClr val="FFFFFF"/>
                </a:solidFill>
              </a:rPr>
              <a:t>[029] 핵심 로직 1: 웹훅의 관문, doPost(e) 함수 구현</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서버의 입구이자 모든 이벤트의 시작점</a:t>
            </a:r>
          </a:p>
          <a:p>
            <a:r>
              <a:rPr sz="1100">
                <a:solidFill>
                  <a:srgbClr val="222222"/>
                </a:solidFill>
              </a:rPr>
              <a:t>•  정의: 텔레그램 서버가 웹훅 URL(Apps Script)로 데이터를 보낼 때, 이를 수신하여 가장 먼저 실행되는 전용 함수입니다,.</a:t>
            </a:r>
          </a:p>
          <a:p>
            <a:r>
              <a:rPr sz="1100">
                <a:solidFill>
                  <a:srgbClr val="222222"/>
                </a:solidFill>
              </a:rPr>
              <a:t>•  역할: 수신된 비정형 데이터(JSON)를 파싱하여 사용자의 메시지, 채팅 ID, 발신자 정보 등을 추출하는 게이트웨이 역할을 수행합니다,.</a:t>
            </a:r>
          </a:p>
          <a:p>
            <a:pPr>
              <a:spcBef>
                <a:spcPts val="600"/>
              </a:spcBef>
            </a:pPr>
            <a:r>
              <a:rPr sz="1300" b="1">
                <a:solidFill>
                  <a:srgbClr val="2E5984"/>
                </a:solidFill>
              </a:rPr>
              <a:t>2. 아키텍처 (Architecture): 메시지 수신 및 데이터 파싱 흐름</a:t>
            </a:r>
          </a:p>
          <a:p>
            <a:r>
              <a:rPr sz="1100">
                <a:solidFill>
                  <a:srgbClr val="222222"/>
                </a:solidFill>
              </a:rPr>
              <a:t>•  데이터 수신: 텔레그램 서버로부터 e.postData.contents 형태의 JSON 덩어리를 전달받습니다.</a:t>
            </a:r>
          </a:p>
          <a:p>
            <a:r>
              <a:rPr sz="1100">
                <a:solidFill>
                  <a:srgbClr val="222222"/>
                </a:solidFill>
              </a:rPr>
              <a:t>•  구조 분해: JSON 내부의 message 객체에서 실제 텍스트(text)와 대화방 번호(chat.id)를 찾아냅니다,.</a:t>
            </a:r>
          </a:p>
          <a:p>
            <a:r>
              <a:rPr sz="1100">
                <a:solidFill>
                  <a:srgbClr val="222222"/>
                </a:solidFill>
              </a:rPr>
              <a:t>•  흐름 제어: 추출된 텍스트를 이후 단계인 GPT 분류기(Slide 024)로 넘겨 다음 동작을 결정하게 합니다.</a:t>
            </a:r>
          </a:p>
          <a:p>
            <a:pPr>
              <a:spcBef>
                <a:spcPts val="600"/>
              </a:spcBef>
            </a:pPr>
            <a:r>
              <a:rPr sz="1300" b="1">
                <a:solidFill>
                  <a:srgbClr val="2E5984"/>
                </a:solidFill>
              </a:rPr>
              <a:t>3. 소스코드 (Source Code): doPost(e) 기본 구조 및 메시지 추출</a:t>
            </a:r>
          </a:p>
          <a:p>
            <a:r>
              <a:rPr sz="1100">
                <a:solidFill>
                  <a:srgbClr val="222222"/>
                </a:solidFill>
              </a:rPr>
              <a:t>•  핵심 로직: 에러가 발생해도 봇이 멈추지 않도록 try-catch로 감싸고, 반드시 OK 응답을 반환해야 합니다,.</a:t>
            </a:r>
          </a:p>
          <a:p>
            <a:pPr>
              <a:spcBef>
                <a:spcPts val="600"/>
              </a:spcBef>
            </a:pPr>
            <a:r>
              <a:rPr sz="1300" b="1">
                <a:solidFill>
                  <a:srgbClr val="2E5984"/>
                </a:solidFill>
              </a:rPr>
              <a:t>4. 실습 (Practice): Apps Script 웹 앱 배포 및 로그 확인</a:t>
            </a:r>
          </a:p>
          <a:p>
            <a:r>
              <a:rPr sz="1100">
                <a:solidFill>
                  <a:srgbClr val="222222"/>
                </a:solidFill>
              </a:rPr>
              <a:t>•  과제: 작성된 코드를 Apps Script 편집기에 저장한 후, [배포] -&gt; [새 배포] -&gt; [웹 앱] 순으로 실행하여 최종 URL을 획득하십시오,.</a:t>
            </a:r>
          </a:p>
          <a:p>
            <a:r>
              <a:rPr sz="1100">
                <a:solidFill>
                  <a:srgbClr val="222222"/>
                </a:solidFill>
              </a:rPr>
              <a:t>•  확인 사항: 텔레그램 봇에 "안녕"이라고 입력한 후, 구글 시트의 CommandLog 탭에 실시간으로 로그가 기록되는지 확인합니다,.</a:t>
            </a:r>
          </a:p>
          <a:p>
            <a:pPr>
              <a:spcBef>
                <a:spcPts val="600"/>
              </a:spcBef>
            </a:pPr>
            <a:r>
              <a:rPr sz="1300" b="1">
                <a:solidFill>
                  <a:srgbClr val="2E5984"/>
                </a:solidFill>
              </a:rPr>
              <a:t>5. 확장 (Expansion): 채널(Channel) 메시지 대응 로직</a:t>
            </a:r>
          </a:p>
          <a:p>
            <a:r>
              <a:rPr sz="1100">
                <a:solidFill>
                  <a:srgbClr val="222222"/>
                </a:solidFill>
              </a:rPr>
              <a:t>•  고도화 전략: 개별 채팅뿐만 아니라 텔레그램 채널(Channel)에 올라오는 정보도 처리할 수 있도록 update.channel_post 경로를 추가로 검사합니다,.</a:t>
            </a:r>
          </a:p>
          <a:p>
            <a:r>
              <a:rPr sz="1100">
                <a:solidFill>
                  <a:srgbClr val="222222"/>
                </a:solidFill>
              </a:rPr>
              <a:t>•  기술 적용: let userText = update.message ? update.message.text : update.channel_post.text; 와 같은 조건문을 사용하여 일대일 대화와 그룹 공지를 동시에 수집하는 '금융 정보 통합 모니터링 게이트웨이'로 확장합니다.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029  ·  29/216</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2</a:t>
            </a:r>
          </a:p>
          <a:p>
            <a:r>
              <a:rPr sz="1900" b="1">
                <a:solidFill>
                  <a:srgbClr val="FFFFFF"/>
                </a:solidFill>
              </a:rPr>
              <a:t>[030] 핵심 로직 2: GPT 인텐트 분류기 (Intent Classifier)</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GPT는 챗봇이 아니라 'AI Router'이다,,</a:t>
            </a:r>
          </a:p>
          <a:p>
            <a:r>
              <a:rPr sz="1100">
                <a:solidFill>
                  <a:srgbClr val="222222"/>
                </a:solidFill>
              </a:rPr>
              <a:t>•  정의: 사용자의 비정형 자연어(Vibe)를 시스템이 즉시 실행 가능한 정형 명령(JSON Action)으로 변환하는 지능형 분기 장치입니다,.</a:t>
            </a:r>
          </a:p>
          <a:p>
            <a:r>
              <a:rPr sz="1100">
                <a:solidFill>
                  <a:srgbClr val="222222"/>
                </a:solidFill>
              </a:rPr>
              <a:t>•  철학의 전환: AI를 단순히 대화 상대(Chatbot)로 보는 것이 아니라, 수많은 금융 함수 중 하나를 선택해 주는 '의도 분류기(Intent Classifier)'이자 'AI 라우터'로 정의합니다,.</a:t>
            </a:r>
          </a:p>
          <a:p>
            <a:pPr>
              <a:spcBef>
                <a:spcPts val="600"/>
              </a:spcBef>
            </a:pPr>
            <a:r>
              <a:rPr sz="1300" b="1">
                <a:solidFill>
                  <a:srgbClr val="2E5984"/>
                </a:solidFill>
              </a:rPr>
              <a:t>2. 아키텍처 (Architecture): 자연어-Action 매핑 프로세스,,</a:t>
            </a:r>
          </a:p>
          <a:p>
            <a:r>
              <a:rPr sz="1100">
                <a:solidFill>
                  <a:srgbClr val="222222"/>
                </a:solidFill>
              </a:rPr>
              <a:t>•  입력(Input): "오늘 삼성전자 차트랑 수급 좀 분석해줘"와 같은 모호한 요청,.</a:t>
            </a:r>
          </a:p>
          <a:p>
            <a:r>
              <a:rPr sz="1100">
                <a:solidFill>
                  <a:srgbClr val="222222"/>
                </a:solidFill>
              </a:rPr>
              <a:t>•  추론(Inference): GPT가 시스템 프롬프트에 정의된 도구 목록(Market, Stock, Risk 등)을 검토합니다,.</a:t>
            </a:r>
          </a:p>
          <a:p>
            <a:r>
              <a:rPr sz="1100">
                <a:solidFill>
                  <a:srgbClr val="222222"/>
                </a:solidFill>
              </a:rPr>
              <a:t>•  출력(Output): {"action": "stock_report", "params": {"keyword": "삼성전자"}}와 같은 JSON 데이터 생성,.</a:t>
            </a:r>
          </a:p>
          <a:p>
            <a:pPr>
              <a:spcBef>
                <a:spcPts val="600"/>
              </a:spcBef>
            </a:pPr>
            <a:r>
              <a:rPr sz="1300" b="1">
                <a:solidFill>
                  <a:srgbClr val="2E5984"/>
                </a:solidFill>
              </a:rPr>
              <a:t>3. 소스코드 (Source Code): 인텐트 추출을 위한 analyzeCommandWithGPT_,,</a:t>
            </a:r>
          </a:p>
          <a:p>
            <a:r>
              <a:rPr sz="1100">
                <a:solidFill>
                  <a:srgbClr val="222222"/>
                </a:solidFill>
              </a:rPr>
              <a:t>•  핵심 로직: 사용자의 텍스트를 OpenAI API에 전달하여 JSON 형식의 응답을 받아내는 함수입니다,.</a:t>
            </a:r>
          </a:p>
          <a:p>
            <a:pPr>
              <a:spcBef>
                <a:spcPts val="600"/>
              </a:spcBef>
            </a:pPr>
            <a:r>
              <a:rPr sz="1300" b="1">
                <a:solidFill>
                  <a:srgbClr val="2E5984"/>
                </a:solidFill>
              </a:rPr>
              <a:t>4. 실습 (Practice): 명령 분류 정밀도 테스트,,</a:t>
            </a:r>
          </a:p>
          <a:p>
            <a:r>
              <a:rPr sz="1100">
                <a:solidFill>
                  <a:srgbClr val="222222"/>
                </a:solidFill>
              </a:rPr>
              <a:t>•  과제: 아래의 각기 다른 문장이 입력되었을 때, GPT가 동일한 action으로 분류하는지 확인해 보십시오,.</a:t>
            </a:r>
          </a:p>
          <a:p>
            <a:r>
              <a:rPr sz="1100">
                <a:solidFill>
                  <a:srgbClr val="222222"/>
                </a:solidFill>
              </a:rPr>
              <a:t>•  "삼전 분석" → stock_report</a:t>
            </a:r>
          </a:p>
          <a:p>
            <a:r>
              <a:rPr sz="1100">
                <a:solidFill>
                  <a:srgbClr val="222222"/>
                </a:solidFill>
              </a:rPr>
              <a:t>•  "삼성전자 요즘 어때?" → stock_report</a:t>
            </a:r>
          </a:p>
          <a:p>
            <a:r>
              <a:rPr sz="1100">
                <a:solidFill>
                  <a:srgbClr val="222222"/>
                </a:solidFill>
              </a:rPr>
              <a:t>•  "005930 리포트 써줘" → stock_report</a:t>
            </a:r>
          </a:p>
          <a:p>
            <a:r>
              <a:rPr sz="1100">
                <a:solidFill>
                  <a:srgbClr val="222222"/>
                </a:solidFill>
              </a:rPr>
              <a:t>•  확인 사항: params에 종목명이나 코드가 누락 없이 정확하게 추출되는지 검증합니다,.</a:t>
            </a:r>
          </a:p>
          <a:p>
            <a:pPr>
              <a:spcBef>
                <a:spcPts val="600"/>
              </a:spcBef>
            </a:pPr>
            <a:r>
              <a:rPr sz="1300" b="1">
                <a:solidFill>
                  <a:srgbClr val="2E5984"/>
                </a:solidFill>
              </a:rPr>
              <a:t>5. 확장 (Expansion): 동적 파라미터와 멀티 액션 처리,,</a:t>
            </a:r>
          </a:p>
          <a:p>
            <a:r>
              <a:rPr sz="1100">
                <a:solidFill>
                  <a:srgbClr val="222222"/>
                </a:solidFill>
              </a:rPr>
              <a:t>•  고도화 전략: 한 문장에 담긴 여러 의도(예: "삼성전자 분석하고 환율도 알려줘")를 감지하여 배열 형태의 명령(actions: [...])을 생성하도록 확장합니다,.</a:t>
            </a:r>
          </a:p>
          <a:p>
            <a:r>
              <a:rPr sz="1100">
                <a:solidFill>
                  <a:srgbClr val="222222"/>
                </a:solidFill>
              </a:rPr>
              <a:t>•  기술 적용: GPT-5.1의 Structured Output 기능을 적용하여, 존재하지 않는 액션을 생성하는 할루시네이션(Hallucination)을 원천 차단하고 시스템의 안정성을 극대화합니다,.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030  ·  30/216</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2</a:t>
            </a:r>
          </a:p>
          <a:p>
            <a:r>
              <a:rPr sz="1900" b="1">
                <a:solidFill>
                  <a:srgbClr val="FFFFFF"/>
                </a:solidFill>
              </a:rPr>
              <a:t>[031] 핵심로직 3: 액션 디스패처 (Action Dispatcher)와 Switch 구조</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의도를 행동으로 전환하는 '시스템 스위치',</a:t>
            </a:r>
          </a:p>
          <a:p>
            <a:r>
              <a:rPr sz="1100">
                <a:solidFill>
                  <a:srgbClr val="222222"/>
                </a:solidFill>
              </a:rPr>
              <a:t>•  정의: GPT 분류기(Classifier)가 내놓은 JSON 결과값(Action)을 해석하여, 그에 상응하는 실제 분석 함수를 호출하는 제어부입니다.</a:t>
            </a:r>
          </a:p>
          <a:p>
            <a:r>
              <a:rPr sz="1100">
                <a:solidFill>
                  <a:srgbClr val="222222"/>
                </a:solidFill>
              </a:rPr>
              <a:t>•  핵심 역할: 자연어(Vibe)가 데이터(JSON)로 바뀌었으므로, 이제 이 데이터를 시스템의 '팔다리'에 해당하는 개별 분석 모듈(코스콤 시세, ECOS 지표 등)에 명령을 하달하는 역할을 합니다.</a:t>
            </a:r>
          </a:p>
          <a:p>
            <a:pPr>
              <a:spcBef>
                <a:spcPts val="600"/>
              </a:spcBef>
            </a:pPr>
            <a:r>
              <a:rPr sz="1300" b="1">
                <a:solidFill>
                  <a:srgbClr val="2E5984"/>
                </a:solidFill>
              </a:rPr>
              <a:t>2. 아키텍처 (Architecture): 의도 기반의 함수 라우팅 흐름,</a:t>
            </a:r>
          </a:p>
          <a:p>
            <a:r>
              <a:rPr sz="1100">
                <a:solidFill>
                  <a:srgbClr val="222222"/>
                </a:solidFill>
              </a:rPr>
              <a:t>•  입력 레이어: GPT로부터 수신된 { "action": "market_briefing", ... } 형태의 데이터입니다.</a:t>
            </a:r>
          </a:p>
          <a:p>
            <a:r>
              <a:rPr sz="1100">
                <a:solidFill>
                  <a:srgbClr val="222222"/>
                </a:solidFill>
              </a:rPr>
              <a:t>•  디스패처 레이어: switch(action) 구조를 통해 각 케이스(Case)에 매칭되는 독립적인 함수를 실행합니다,.</a:t>
            </a:r>
          </a:p>
          <a:p>
            <a:r>
              <a:rPr sz="1100">
                <a:solidFill>
                  <a:srgbClr val="222222"/>
                </a:solidFill>
              </a:rPr>
              <a:t>•  실행 레이어: 호출된 함수가 외부 금융 API(코스콤, DART 등)와 통신하여 실제 데이터를 처리합니다.</a:t>
            </a:r>
          </a:p>
          <a:p>
            <a:pPr>
              <a:spcBef>
                <a:spcPts val="600"/>
              </a:spcBef>
            </a:pPr>
            <a:r>
              <a:rPr sz="1300" b="1">
                <a:solidFill>
                  <a:srgbClr val="2E5984"/>
                </a:solidFill>
              </a:rPr>
              <a:t>3. 소스코드 (Source Code): Apps Script 기반 Switch 구조 구현,,</a:t>
            </a:r>
          </a:p>
          <a:p>
            <a:r>
              <a:rPr sz="1100">
                <a:solidFill>
                  <a:srgbClr val="222222"/>
                </a:solidFill>
              </a:rPr>
              <a:t>•  핵심 로직: GPT가 결정한 action 값에 따라 앱스 스크립트 내부의 전문 함수를 분기 처리합니다.</a:t>
            </a:r>
          </a:p>
          <a:p>
            <a:pPr>
              <a:spcBef>
                <a:spcPts val="600"/>
              </a:spcBef>
            </a:pPr>
            <a:r>
              <a:rPr sz="1300" b="1">
                <a:solidFill>
                  <a:srgbClr val="2E5984"/>
                </a:solidFill>
              </a:rPr>
              <a:t>4. 실습 (Practice): 신규 액션 '경제 캘린더' 추가하기,</a:t>
            </a:r>
          </a:p>
          <a:p>
            <a:r>
              <a:rPr sz="1100">
                <a:solidFill>
                  <a:srgbClr val="222222"/>
                </a:solidFill>
              </a:rPr>
              <a:t>•  과제: 사용자가 "이번 주 주요 일정 알려줘"라고 했을 때 동작할 수 있도록, economic_calendar 액션을 switch 구문에 추가하고 임시 메시지를 반환하는 함수를 작성해 보십시오.</a:t>
            </a:r>
          </a:p>
          <a:p>
            <a:r>
              <a:rPr sz="1100">
                <a:solidFill>
                  <a:srgbClr val="222222"/>
                </a:solidFill>
              </a:rPr>
              <a:t>•  확인 사항: 새로운 case를 추가한 후, 30번 슬라이드에서 배운 GPT 시스템 프롬프트에도 해당 액션이 추가되어 있는지 대조 확인합니다.</a:t>
            </a:r>
          </a:p>
          <a:p>
            <a:pPr>
              <a:spcBef>
                <a:spcPts val="600"/>
              </a:spcBef>
            </a:pPr>
            <a:r>
              <a:rPr sz="1300" b="1">
                <a:solidFill>
                  <a:srgbClr val="2E5984"/>
                </a:solidFill>
              </a:rPr>
              <a:t>5. 확장 (Expansion): 동적 오케스트레이션과 Tool Calling,,</a:t>
            </a:r>
          </a:p>
          <a:p>
            <a:r>
              <a:rPr sz="1100">
                <a:solidFill>
                  <a:srgbClr val="222222"/>
                </a:solidFill>
              </a:rPr>
              <a:t>•  고도화 전략: 수동으로 switch 문을 작성하는 방식을 넘어, GPT가 스스로 시스템의 도구(Tool) 목록을 보고 최적의 함수를 선택해 실행하는 함수 호출(Function Calling) 아키텍처로 진화합니다,.</a:t>
            </a:r>
          </a:p>
          <a:p>
            <a:r>
              <a:rPr sz="1100">
                <a:solidFill>
                  <a:srgbClr val="222222"/>
                </a:solidFill>
              </a:rPr>
              <a:t>•  미래 비전: 수백 개의 금융 데이터 모듈이 존재하더라도 AI가 사용자의 복합적인 의도를 해석하여 여러 함수를 동시에 혹은 순차적으로 실행하는 지능형 오케스트레이션 체계를 구축합니다,.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031  ·  31/216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73152"/>
          </a:xfrm>
          <a:prstGeom prst="rect">
            <a:avLst/>
          </a:prstGeom>
          <a:solidFill>
            <a:srgbClr val="6E8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834640"/>
            <a:ext cx="10515600" cy="1463040"/>
          </a:xfrm>
          <a:prstGeom prst="rect">
            <a:avLst/>
          </a:prstGeom>
          <a:noFill/>
        </p:spPr>
        <p:txBody>
          <a:bodyPr wrap="square">
            <a:spAutoFit/>
          </a:bodyPr>
          <a:lstStyle/>
          <a:p>
            <a:r>
              <a:rPr sz="1600">
                <a:solidFill>
                  <a:srgbClr val="9FB4F5"/>
                </a:solidFill>
              </a:rPr>
              <a:t>[1일차]</a:t>
            </a:r>
          </a:p>
          <a:p>
            <a:r>
              <a:rPr sz="2800" b="1">
                <a:solidFill>
                  <a:srgbClr val="FFFFFF"/>
                </a:solidFill>
              </a:rPr>
              <a:t>모듈 3 — 데이터 레이어: 시장 데이터를 손에 넣다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3</a:t>
            </a:r>
          </a:p>
          <a:p>
            <a:r>
              <a:rPr sz="1900" b="1">
                <a:solidFill>
                  <a:srgbClr val="FFFFFF"/>
                </a:solidFill>
              </a:rPr>
              <a:t>[032] 데이터 레이어(Data Layer) 설계 및 외부 API 연동</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AI의 뇌에 실시간 '금융 데이터' 공급하기</a:t>
            </a:r>
          </a:p>
          <a:p>
            <a:r>
              <a:rPr sz="1100">
                <a:solidFill>
                  <a:srgbClr val="222222"/>
                </a:solidFill>
              </a:rPr>
              <a:t>•  정의: GPT 분류기가 결정한 액션에 필요한 실제 수치와 텍스트 데이터를 외부 기관(한국은행, 금감원, 코스콤 등)으로부터 확보하여 전달하는 계층입니다.</a:t>
            </a:r>
          </a:p>
          <a:p>
            <a:r>
              <a:rPr sz="1100">
                <a:solidFill>
                  <a:srgbClr val="222222"/>
                </a:solidFill>
              </a:rPr>
              <a:t>•  역할: AI가 할루시네이션(환각) 없이 최신 데이터(Grounding)에 기반하여 분석 리포트를 작성할 수 있도록 돕는 '정보 공급원' 역할을 수행합니다.</a:t>
            </a:r>
          </a:p>
          <a:p>
            <a:pPr>
              <a:spcBef>
                <a:spcPts val="600"/>
              </a:spcBef>
            </a:pPr>
            <a:r>
              <a:rPr sz="1300" b="1">
                <a:solidFill>
                  <a:srgbClr val="2E5984"/>
                </a:solidFill>
              </a:rPr>
              <a:t>2. 아키텍처 (Architecture): 액션과 데이터 소스의 매핑(Mapping)</a:t>
            </a:r>
          </a:p>
          <a:p>
            <a:r>
              <a:rPr sz="1100">
                <a:solidFill>
                  <a:srgbClr val="222222"/>
                </a:solidFill>
              </a:rPr>
              <a:t>•  액션별로 호출해야 할 데이터 소스와 API 함수를 다음과 같이 매핑합니다:</a:t>
            </a:r>
          </a:p>
          <a:p>
            <a:r>
              <a:rPr sz="1100">
                <a:solidFill>
                  <a:srgbClr val="222222"/>
                </a:solidFill>
              </a:rPr>
              <a:t>•  market_briefing → getKoscomMarketData_ (시장 지수/수급)</a:t>
            </a:r>
          </a:p>
          <a:p>
            <a:r>
              <a:rPr sz="1100">
                <a:solidFill>
                  <a:srgbClr val="222222"/>
                </a:solidFill>
              </a:rPr>
              <a:t>•  macro_report → getEcosData_ (한국은행 경제 통계)</a:t>
            </a:r>
          </a:p>
          <a:p>
            <a:r>
              <a:rPr sz="1100">
                <a:solidFill>
                  <a:srgbClr val="222222"/>
                </a:solidFill>
              </a:rPr>
              <a:t>•  dart_analysis → getDartData_ (금감원 기업 공시)</a:t>
            </a:r>
          </a:p>
          <a:p>
            <a:r>
              <a:rPr sz="1100">
                <a:solidFill>
                  <a:srgbClr val="222222"/>
                </a:solidFill>
              </a:rPr>
              <a:t>•  news_summary → getNewsData_ (실시간 뉴스)</a:t>
            </a:r>
          </a:p>
          <a:p>
            <a:r>
              <a:rPr sz="1100">
                <a:solidFill>
                  <a:srgbClr val="222222"/>
                </a:solidFill>
              </a:rPr>
              <a:t>•  portfolio_review → Google Sheets Portfolio (사용자 보유 종목)</a:t>
            </a:r>
          </a:p>
          <a:p>
            <a:pPr>
              <a:spcBef>
                <a:spcPts val="600"/>
              </a:spcBef>
            </a:pPr>
            <a:r>
              <a:rPr sz="1300" b="1">
                <a:solidFill>
                  <a:srgbClr val="2E5984"/>
                </a:solidFill>
              </a:rPr>
              <a:t>3. 소스코드 (Source Code): 데이터 수집 함수(Collector)의 공통 구조</a:t>
            </a:r>
          </a:p>
          <a:p>
            <a:r>
              <a:rPr sz="1100">
                <a:solidFill>
                  <a:srgbClr val="222222"/>
                </a:solidFill>
              </a:rPr>
              <a:t>•  핵심 로직: HTTP GET 요청을 통해 JSON 데이터를 가져오는 표준 형식을 유지합니다.</a:t>
            </a:r>
          </a:p>
          <a:p>
            <a:pPr>
              <a:spcBef>
                <a:spcPts val="600"/>
              </a:spcBef>
            </a:pPr>
            <a:r>
              <a:rPr sz="1300" b="1">
                <a:solidFill>
                  <a:srgbClr val="2E5984"/>
                </a:solidFill>
              </a:rPr>
              <a:t>4. 실습 (Practice): 데이터 소스별 엔드포인트(Endpoint) 확인</a:t>
            </a:r>
          </a:p>
          <a:p>
            <a:r>
              <a:rPr sz="1100">
                <a:solidFill>
                  <a:srgbClr val="222222"/>
                </a:solidFill>
              </a:rPr>
              <a:t>•  과제: 각 기관에서 발급받은 API 키를 활용하여 아래 엔드포인트가 정상적으로 데이터를 반환하는지 브라우저 또는 Apps Script에서 테스트해 보십시오.</a:t>
            </a:r>
          </a:p>
          <a:p>
            <a:r>
              <a:rPr sz="1100">
                <a:solidFill>
                  <a:srgbClr val="222222"/>
                </a:solidFill>
              </a:rPr>
              <a:t>•  ECOS: 기준금리 데이터 호출 테스트</a:t>
            </a:r>
          </a:p>
          <a:p>
            <a:r>
              <a:rPr sz="1100">
                <a:solidFill>
                  <a:srgbClr val="222222"/>
                </a:solidFill>
              </a:rPr>
              <a:t>•  DART: 삼성전자(005930) 공시 목록 호출 테스트</a:t>
            </a:r>
          </a:p>
          <a:p>
            <a:r>
              <a:rPr sz="1100">
                <a:solidFill>
                  <a:srgbClr val="222222"/>
                </a:solidFill>
              </a:rPr>
              <a:t>•  코스콤: KOSPI 지수 데이터 호출 테스트</a:t>
            </a:r>
          </a:p>
          <a:p>
            <a:r>
              <a:rPr sz="1100">
                <a:solidFill>
                  <a:srgbClr val="222222"/>
                </a:solidFill>
              </a:rPr>
              <a:t>•  확인 사항: 데이터가 XML로 오는지 JSON으로 오는지 확인하고, JSON으로 강제 설정하는 파라미터(type=json)를 체크합니다.</a:t>
            </a:r>
          </a:p>
          <a:p>
            <a:pPr>
              <a:spcBef>
                <a:spcPts val="600"/>
              </a:spcBef>
            </a:pPr>
            <a:r>
              <a:rPr sz="1300" b="1">
                <a:solidFill>
                  <a:srgbClr val="2E5984"/>
                </a:solidFill>
              </a:rPr>
              <a:t>5. 확장 (Expansion): 데이터 파이프라인 자동화 및 캐싱(Caching)</a:t>
            </a:r>
          </a:p>
          <a:p>
            <a:r>
              <a:rPr sz="1100">
                <a:solidFill>
                  <a:srgbClr val="222222"/>
                </a:solidFill>
              </a:rPr>
              <a:t>•  고도화 전략: 매 요청마다 외부 API를 호출하는 대신, APScheduler를 활용하여 새벽 시간에 데이터를 미리 긁어와 구글 시트나 DB에 저장(ETL)하는 파이프라인을 구축합니다.</a:t>
            </a:r>
          </a:p>
          <a:p>
            <a:r>
              <a:rPr sz="1100">
                <a:solidFill>
                  <a:srgbClr val="222222"/>
                </a:solidFill>
              </a:rPr>
              <a:t>•  효율성: 빈번한 API 호출로 인한 비용 발생과 속도 저하를 막기 위해, 수집된 데이터를 'AI 데이터맵' 형태로 자산화하여 AI가 즉시 접근할 수 있도록 설계합니다.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032  ·  32/216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3</a:t>
            </a:r>
          </a:p>
          <a:p>
            <a:r>
              <a:rPr sz="1900" b="1">
                <a:solidFill>
                  <a:srgbClr val="FFFFFF"/>
                </a:solidFill>
              </a:rPr>
              <a:t>[033] 거시경제의 지표 - 한국은행 ECOS API 연동</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대한민국 경제의 표준 통계 데이터 확보</a:t>
            </a:r>
          </a:p>
          <a:p>
            <a:r>
              <a:rPr sz="1100">
                <a:solidFill>
                  <a:srgbClr val="222222"/>
                </a:solidFill>
              </a:rPr>
              <a:t>•  정의: 한국은행 경제통계시스템(ECOS)에서 제공하는 Open API를 통해 기준금리, 소비자물가지수(CPI), 통화량 등 국가 공인 통계 데이터를 확보하는 과정입니다.</a:t>
            </a:r>
          </a:p>
          <a:p>
            <a:r>
              <a:rPr sz="1100">
                <a:solidFill>
                  <a:srgbClr val="222222"/>
                </a:solidFill>
              </a:rPr>
              <a:t>•  핵심 가치: 개별 종목 분석을 넘어, 금리나 환율 등 매크로 환경이 시장에 미치는 영향을 AI가 데이터 기반으로 판단하게 하는 토대가 됩니다.</a:t>
            </a:r>
          </a:p>
          <a:p>
            <a:pPr>
              <a:spcBef>
                <a:spcPts val="600"/>
              </a:spcBef>
            </a:pPr>
            <a:r>
              <a:rPr sz="1300" b="1">
                <a:solidFill>
                  <a:srgbClr val="2E5984"/>
                </a:solidFill>
              </a:rPr>
              <a:t>2. 아키텍처 (Architecture): 통계표와 항목코드 기반의 데이터 추출</a:t>
            </a:r>
          </a:p>
          <a:p>
            <a:r>
              <a:rPr sz="1100">
                <a:solidFill>
                  <a:srgbClr val="222222"/>
                </a:solidFill>
              </a:rPr>
              <a:t>•  요청 구조: [우리 서버] → [API Key + 통계표 코드 + 항목코드] → [ECOS 서버].</a:t>
            </a:r>
          </a:p>
          <a:p>
            <a:r>
              <a:rPr sz="1100">
                <a:solidFill>
                  <a:srgbClr val="222222"/>
                </a:solidFill>
              </a:rPr>
              <a:t>•  데이터 흐름: ECOS 서버는 요청된 주기(일/월/년)에 맞춰 JSON 또는 XML 데이터를 반환하며, 우리 시스템은 이를 거시 분석 엔진(Macro Agent)으로 전달합니다.</a:t>
            </a:r>
          </a:p>
          <a:p>
            <a:r>
              <a:rPr sz="1100">
                <a:solidFill>
                  <a:srgbClr val="222222"/>
                </a:solidFill>
              </a:rPr>
              <a:t>•  인증 방식: HTTPS 요청 시 URL 경로에 API 키를 포함하는 RESTful 방식을 사용합니다.</a:t>
            </a:r>
          </a:p>
          <a:p>
            <a:pPr>
              <a:spcBef>
                <a:spcPts val="600"/>
              </a:spcBef>
            </a:pPr>
            <a:r>
              <a:rPr sz="1300" b="1">
                <a:solidFill>
                  <a:srgbClr val="2E5984"/>
                </a:solidFill>
              </a:rPr>
              <a:t>3. 소스코드 (Source Code): Apps Script 기반 ECOS 데이터 수집</a:t>
            </a:r>
          </a:p>
          <a:p>
            <a:r>
              <a:rPr sz="1100">
                <a:solidFill>
                  <a:srgbClr val="222222"/>
                </a:solidFill>
              </a:rPr>
              <a:t>•  핵심 로직: 특정 통계표(예: 기준금리)의 JSON 데이터를 가져오는 표준 함수입니다.</a:t>
            </a:r>
          </a:p>
          <a:p>
            <a:pPr>
              <a:spcBef>
                <a:spcPts val="600"/>
              </a:spcBef>
            </a:pPr>
            <a:r>
              <a:rPr sz="1300" b="1">
                <a:solidFill>
                  <a:srgbClr val="2E5984"/>
                </a:solidFill>
              </a:rPr>
              <a:t>4. 실습 (Practice): '기준금리' 데이터 호출 및 파싱</a:t>
            </a:r>
          </a:p>
          <a:p>
            <a:r>
              <a:rPr sz="1100">
                <a:solidFill>
                  <a:srgbClr val="222222"/>
                </a:solidFill>
              </a:rPr>
              <a:t>•  과제: ECOS API 관리 페이지에서 발급받은 키를 코드에 넣고, 통계표 코드 '722Y001' (기준금리)와 항목코드 '0101000'을 사용하여 최신 금리 데이터를 호출해 보십시오.</a:t>
            </a:r>
          </a:p>
          <a:p>
            <a:r>
              <a:rPr sz="1100">
                <a:solidFill>
                  <a:srgbClr val="222222"/>
                </a:solidFill>
              </a:rPr>
              <a:t>•  확인 사항: 반환된 JSON에서 DATA_VALUE 필드에 현재 금리(예: 3.5)가 정확히 들어오는지 로그를 통해 확인합니다.</a:t>
            </a:r>
          </a:p>
          <a:p>
            <a:pPr>
              <a:spcBef>
                <a:spcPts val="600"/>
              </a:spcBef>
            </a:pPr>
            <a:r>
              <a:rPr sz="1300" b="1">
                <a:solidFill>
                  <a:srgbClr val="2E5984"/>
                </a:solidFill>
              </a:rPr>
              <a:t>5. 확장 (Expansion): 매크로 이코노미스트 에이전트 구축</a:t>
            </a:r>
          </a:p>
          <a:p>
            <a:r>
              <a:rPr sz="1100">
                <a:solidFill>
                  <a:srgbClr val="222222"/>
                </a:solidFill>
              </a:rPr>
              <a:t>•  고도화 전략: 단순히 수치를 가져오는 것을 넘어, GPT에게 "당신은 매크로 이코노미스트입니다"라는 페르소나를 부여하고 수집된 ECOS 데이터를 전달합니다.</a:t>
            </a:r>
          </a:p>
          <a:p>
            <a:r>
              <a:rPr sz="1100">
                <a:solidFill>
                  <a:srgbClr val="222222"/>
                </a:solidFill>
              </a:rPr>
              <a:t>•  AI 연동: "최근 금리 동결 기조가 기술주 섹터에 미칠 영향"을 ECOS 실데이터를 바탕으로 분석하는 'Macro Report' 기능을 완성합니다.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033  ·  33/216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3</a:t>
            </a:r>
          </a:p>
          <a:p>
            <a:r>
              <a:rPr sz="1900" b="1">
                <a:solidFill>
                  <a:srgbClr val="FFFFFF"/>
                </a:solidFill>
              </a:rPr>
              <a:t>[034] 기업의 성적표 - 금감원 DART API 연동</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기업 공시 데이터의 디지털 자산화</a:t>
            </a:r>
          </a:p>
          <a:p>
            <a:r>
              <a:rPr sz="1100">
                <a:solidFill>
                  <a:srgbClr val="222222"/>
                </a:solidFill>
              </a:rPr>
              <a:t>•  정의: 금융감독원 전자공시시스템(DART)에서 제공하는 Open API를 통해 상장기업의 재무제표, 주요 사항 보고서, 공시 목록 등을 수집하는 과정입니다.</a:t>
            </a:r>
          </a:p>
          <a:p>
            <a:r>
              <a:rPr sz="1100">
                <a:solidFill>
                  <a:srgbClr val="222222"/>
                </a:solidFill>
              </a:rPr>
              <a:t>•  핵심 가치: 뉴스나 소문이 아닌 '공인된 재무 수치'를 바탕으로 AI가 기업의 수익성, 안정성, 성장성을 객관적으로 평가하게 합니다.</a:t>
            </a:r>
          </a:p>
          <a:p>
            <a:pPr>
              <a:spcBef>
                <a:spcPts val="600"/>
              </a:spcBef>
            </a:pPr>
            <a:r>
              <a:rPr sz="1300" b="1">
                <a:solidFill>
                  <a:srgbClr val="2E5984"/>
                </a:solidFill>
              </a:rPr>
              <a:t>2. 아키텍처 (Architecture): 고유번호(corp_code) 기반의 데이터 추출</a:t>
            </a:r>
          </a:p>
          <a:p>
            <a:r>
              <a:rPr sz="1100">
                <a:solidFill>
                  <a:srgbClr val="222222"/>
                </a:solidFill>
              </a:rPr>
              <a:t>•  고유번호 매핑: DART는 종목코드(005930) 대신 8자리의 고유번호(corp_code)를 사용하므로, 먼저 corpCode.xml을 내려받아 매핑 테이블을 생성해야 합니다.</a:t>
            </a:r>
          </a:p>
          <a:p>
            <a:r>
              <a:rPr sz="1100">
                <a:solidFill>
                  <a:srgbClr val="222222"/>
                </a:solidFill>
              </a:rPr>
              <a:t>•  데이터 흐름: [우리 서버] → [고유번호 + 보고서 코드(예: 11011 사업보고서)] → [DART 서버] → [JSON 재무 데이터 반환] → [기본적 분석 엔진 전달].</a:t>
            </a:r>
          </a:p>
          <a:p>
            <a:pPr>
              <a:spcBef>
                <a:spcPts val="600"/>
              </a:spcBef>
            </a:pPr>
            <a:r>
              <a:rPr sz="1300" b="1">
                <a:solidFill>
                  <a:srgbClr val="2E5984"/>
                </a:solidFill>
              </a:rPr>
              <a:t>3. 소스코드 (Source Code): Apps Script/Python 기반 DART 호출</a:t>
            </a:r>
          </a:p>
          <a:p>
            <a:r>
              <a:rPr sz="1100">
                <a:solidFill>
                  <a:srgbClr val="222222"/>
                </a:solidFill>
              </a:rPr>
              <a:t>•  핵심 로직: 기업의 주요 계정(매출액, 영업이익 등)을 JSON으로 가져오는 표준 함수입니다.</a:t>
            </a:r>
          </a:p>
          <a:p>
            <a:pPr>
              <a:spcBef>
                <a:spcPts val="600"/>
              </a:spcBef>
            </a:pPr>
            <a:r>
              <a:rPr sz="1300" b="1">
                <a:solidFill>
                  <a:srgbClr val="2E5984"/>
                </a:solidFill>
              </a:rPr>
              <a:t>4. 실습 (Practice): '삼성전자' 매출액 및 영업이익 추출</a:t>
            </a:r>
          </a:p>
          <a:p>
            <a:r>
              <a:rPr sz="1100">
                <a:solidFill>
                  <a:srgbClr val="222222"/>
                </a:solidFill>
              </a:rPr>
              <a:t>•  과제: 본인의 DART API 키를 활용하여 삼성전자(고유번호: 00126380)의 최신 사업보고서 데이터를 호출하고, 매출액(account_nm: 매출액)과 영업이익 수치를 로그에 출력해 보십시오.</a:t>
            </a:r>
          </a:p>
          <a:p>
            <a:r>
              <a:rPr sz="1100">
                <a:solidFill>
                  <a:srgbClr val="222222"/>
                </a:solidFill>
              </a:rPr>
              <a:t>•  확인 사항: thstrm_amount 필드에 담긴 수치가 실제 공시 자료와 일치하는지 대조합니다.</a:t>
            </a:r>
          </a:p>
          <a:p>
            <a:pPr>
              <a:spcBef>
                <a:spcPts val="600"/>
              </a:spcBef>
            </a:pPr>
            <a:r>
              <a:rPr sz="1300" b="1">
                <a:solidFill>
                  <a:srgbClr val="2E5984"/>
                </a:solidFill>
              </a:rPr>
              <a:t>5. 확장 (Expansion): 기본적 분석 엔진(Fundamental Agent) 구축</a:t>
            </a:r>
          </a:p>
          <a:p>
            <a:r>
              <a:rPr sz="1100">
                <a:solidFill>
                  <a:srgbClr val="222222"/>
                </a:solidFill>
              </a:rPr>
              <a:t>•  고도화 전략: 수집된 재무 데이터를 기반으로 영업이익률, 부채비율, ROE를 자동 계산하는 로직을 프롬프트에 결합합니다.</a:t>
            </a:r>
          </a:p>
          <a:p>
            <a:r>
              <a:rPr sz="1100">
                <a:solidFill>
                  <a:srgbClr val="222222"/>
                </a:solidFill>
              </a:rPr>
              <a:t>•  AI 연동: "최근 3개년 영업이익률 추이를 볼 때 이 기업의 해자(Moat)는 유지되고 있는가?"와 같은 고차원적 질문에 답하는 '재무 분석 에이전트'로 확장합니다.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034  ·  34/216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3</a:t>
            </a:r>
          </a:p>
          <a:p>
            <a:r>
              <a:rPr sz="1900" b="1">
                <a:solidFill>
                  <a:srgbClr val="FFFFFF"/>
                </a:solidFill>
              </a:rPr>
              <a:t>[035] 시장의 맥박 - 코스콤(KOSCOM) API 연동</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실시간 시세 및 투자자 수급 데이터 확보</a:t>
            </a:r>
          </a:p>
          <a:p>
            <a:r>
              <a:rPr sz="1100">
                <a:solidFill>
                  <a:srgbClr val="222222"/>
                </a:solidFill>
              </a:rPr>
              <a:t>•  정의: 코스콤에서 제공하는 금융 클라우드 API를 통해 주식 종목의 OHLCV(시가, 고가, 저가, 종가, 거래량) 및 외국인·기관의 순매수 데이터를 수집하는 과정입니다.</a:t>
            </a:r>
          </a:p>
          <a:p>
            <a:r>
              <a:rPr sz="1100">
                <a:solidFill>
                  <a:srgbClr val="222222"/>
                </a:solidFill>
              </a:rPr>
              <a:t>•  핵심 가치: 기업의 가치(DART)와 경제 환경(ECOS)이 실제 가격과 수급에 어떻게 반영되고 있는지 AI가 실시간으로 분석하게 하는 '시장의 목소리'입니다.</a:t>
            </a:r>
          </a:p>
          <a:p>
            <a:pPr>
              <a:spcBef>
                <a:spcPts val="600"/>
              </a:spcBef>
            </a:pPr>
            <a:r>
              <a:rPr sz="1300" b="1">
                <a:solidFill>
                  <a:srgbClr val="2E5984"/>
                </a:solidFill>
              </a:rPr>
              <a:t>2. 아키텍처 (Architecture): 어댑터(Adapter) 패턴 기반 설계</a:t>
            </a:r>
          </a:p>
          <a:p>
            <a:r>
              <a:rPr sz="1100">
                <a:solidFill>
                  <a:srgbClr val="222222"/>
                </a:solidFill>
              </a:rPr>
              <a:t>•  유연한 연동: 코스콤 API는 계약 범위나 권한에 따라 URL과 인증 방식(Bearer 또는 API Key)이 다를 수 있으므로, 시스템은 '어댑터 구조'로 작성하여 변화에 대응합니다.</a:t>
            </a:r>
          </a:p>
          <a:p>
            <a:r>
              <a:rPr sz="1100">
                <a:solidFill>
                  <a:srgbClr val="222222"/>
                </a:solidFill>
              </a:rPr>
              <a:t>•  데이터 흐름: [우리 서버] → [종목코드 + 인증 헤더] → [코스콤 API 서버] → [JSON 데이터 반환] → [기술적/수급 분석 엔진 전달].</a:t>
            </a:r>
          </a:p>
          <a:p>
            <a:pPr>
              <a:spcBef>
                <a:spcPts val="600"/>
              </a:spcBef>
            </a:pPr>
            <a:r>
              <a:rPr sz="1300" b="1">
                <a:solidFill>
                  <a:srgbClr val="2E5984"/>
                </a:solidFill>
              </a:rPr>
              <a:t>3. 소스코드 (Source Code): 코스콤 데이터 수집 및 정규화</a:t>
            </a:r>
          </a:p>
          <a:p>
            <a:r>
              <a:rPr sz="1100">
                <a:solidFill>
                  <a:srgbClr val="222222"/>
                </a:solidFill>
              </a:rPr>
              <a:t>•  핵심 로직: API 응답 필드명을 우리 시스템 표준 포맷으로 변환(Normalize)하여 저장합니다.</a:t>
            </a:r>
          </a:p>
          <a:p>
            <a:pPr>
              <a:spcBef>
                <a:spcPts val="600"/>
              </a:spcBef>
            </a:pPr>
            <a:r>
              <a:rPr sz="1300" b="1">
                <a:solidFill>
                  <a:srgbClr val="2E5984"/>
                </a:solidFill>
              </a:rPr>
              <a:t>4. 실습 (Practice): '삼성전자' 최근 10일 시세 호출</a:t>
            </a:r>
          </a:p>
          <a:p>
            <a:r>
              <a:rPr sz="1100">
                <a:solidFill>
                  <a:srgbClr val="222222"/>
                </a:solidFill>
              </a:rPr>
              <a:t>•  과제: 발급받은 코스콤 테스트 API 키를 활용하여 삼성전자(005930)의 최근 10거래일 종가(Close)와 거래량(Volume) 데이터를 호출해 보십시오.</a:t>
            </a:r>
          </a:p>
          <a:p>
            <a:r>
              <a:rPr sz="1100">
                <a:solidFill>
                  <a:srgbClr val="222222"/>
                </a:solidFill>
              </a:rPr>
              <a:t>•  확인 사항: 반환된 JSON 배열에서 날짜(trnsmDate)와 가격 데이터가 누락 없이 출력되는지 로그를 통해 확인합니다.</a:t>
            </a:r>
          </a:p>
          <a:p>
            <a:pPr>
              <a:spcBef>
                <a:spcPts val="600"/>
              </a:spcBef>
            </a:pPr>
            <a:r>
              <a:rPr sz="1300" b="1">
                <a:solidFill>
                  <a:srgbClr val="2E5984"/>
                </a:solidFill>
              </a:rPr>
              <a:t>5. 확장 (Expansion): 기술적 분석 엔진(Technical Agent) 연동</a:t>
            </a:r>
          </a:p>
          <a:p>
            <a:r>
              <a:rPr sz="1100">
                <a:solidFill>
                  <a:srgbClr val="222222"/>
                </a:solidFill>
              </a:rPr>
              <a:t>•  고도화 전략: 수집된 시세 데이터를 바탕으로 AI가 이동평균선(MA), RSI, MACD 등의 지표를 자동으로 계산하게 합니다.</a:t>
            </a:r>
          </a:p>
          <a:p>
            <a:r>
              <a:rPr sz="1100">
                <a:solidFill>
                  <a:srgbClr val="222222"/>
                </a:solidFill>
              </a:rPr>
              <a:t>•  AI 연동: "최근 외국인 순매수가 유입되면서 RSI가 30 이하에서 반등하고 있는가?"와 같은 질문에 답하며 차트 패턴을 해석하는 '기술적 분석 에이전트'를 완성합니다.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035  ·  35/216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3</a:t>
            </a:r>
          </a:p>
          <a:p>
            <a:r>
              <a:rPr sz="1900" b="1">
                <a:solidFill>
                  <a:srgbClr val="FFFFFF"/>
                </a:solidFill>
              </a:rPr>
              <a:t>[036] AI의 눈과 귀 - 실시간 News API 연동</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비정형 뉴스 데이터의 실시간 수집</a:t>
            </a:r>
          </a:p>
          <a:p>
            <a:r>
              <a:rPr sz="1100">
                <a:solidFill>
                  <a:srgbClr val="222222"/>
                </a:solidFill>
              </a:rPr>
              <a:t>•  정의: 전 세계 또는 국내 주요 언론사의 실시간 기사를 키워드 기반으로 수집하여 AI 분석의 기초 자료로 활용하는 과정입니다,.</a:t>
            </a:r>
          </a:p>
          <a:p>
            <a:r>
              <a:rPr sz="1100">
                <a:solidFill>
                  <a:srgbClr val="222222"/>
                </a:solidFill>
              </a:rPr>
              <a:t>•  핵심 가치: 정형 데이터(수치)가 담지 못하는 '시장의 심리'와 '돌발 변수'를 AI가 인지하게 하여, 보다 입체적인 투자 리포트를 작성할 수 있게 합니다,.</a:t>
            </a:r>
          </a:p>
          <a:p>
            <a:pPr>
              <a:spcBef>
                <a:spcPts val="600"/>
              </a:spcBef>
            </a:pPr>
            <a:r>
              <a:rPr sz="1300" b="1">
                <a:solidFill>
                  <a:srgbClr val="2E5984"/>
                </a:solidFill>
              </a:rPr>
              <a:t>2. 아키텍처 (Architecture): 키워드 필터링 및 데이터 정제</a:t>
            </a:r>
          </a:p>
          <a:p>
            <a:r>
              <a:rPr sz="1100">
                <a:solidFill>
                  <a:srgbClr val="222222"/>
                </a:solidFill>
              </a:rPr>
              <a:t>•  요청 파라미터: apiKey, 검색어(q), 언어(language), 페이지 크기(pageSize) 등을 조합하여 요청을 보냅니다,.</a:t>
            </a:r>
          </a:p>
          <a:p>
            <a:r>
              <a:rPr sz="1100">
                <a:solidFill>
                  <a:srgbClr val="222222"/>
                </a:solidFill>
              </a:rPr>
              <a:t>•  데이터 흐름: [우리 서버] → [News API 서버] → [JSON 기사 목록 반환] → [기사 제목/내용 추출] → [GPT 뉴스 요약 에이전트 전달],.</a:t>
            </a:r>
          </a:p>
          <a:p>
            <a:pPr>
              <a:spcBef>
                <a:spcPts val="600"/>
              </a:spcBef>
            </a:pPr>
            <a:r>
              <a:rPr sz="1300" b="1">
                <a:solidFill>
                  <a:srgbClr val="2E5984"/>
                </a:solidFill>
              </a:rPr>
              <a:t>3. 소스코드 (Source Code): Apps Script 기반 뉴스 수집 함수</a:t>
            </a:r>
          </a:p>
          <a:p>
            <a:r>
              <a:rPr sz="1100">
                <a:solidFill>
                  <a:srgbClr val="222222"/>
                </a:solidFill>
              </a:rPr>
              <a:t>•  핵심 로직: 검색어를 매개변수로 받아 최신 뉴스 10건의 제목과 출처를 JSON으로 반환합니다.</a:t>
            </a:r>
          </a:p>
          <a:p>
            <a:pPr>
              <a:spcBef>
                <a:spcPts val="600"/>
              </a:spcBef>
            </a:pPr>
            <a:r>
              <a:rPr sz="1300" b="1">
                <a:solidFill>
                  <a:srgbClr val="2E5984"/>
                </a:solidFill>
              </a:rPr>
              <a:t>4. 실습 (Practice): '반도체' 키워드 뉴스 추출 및 요약</a:t>
            </a:r>
          </a:p>
          <a:p>
            <a:r>
              <a:rPr sz="1100">
                <a:solidFill>
                  <a:srgbClr val="222222"/>
                </a:solidFill>
              </a:rPr>
              <a:t>•  과제: 본인의 News API 키를 활용하여 "반도체" 또는 "금리" 키워드로 뉴스를 호출하고, 추출된 제목들을 GPT 뉴스 편집장 페르소나에게 전달하여 "3줄 요약"을 생성해 보십시오.</a:t>
            </a:r>
          </a:p>
          <a:p>
            <a:r>
              <a:rPr sz="1100">
                <a:solidFill>
                  <a:srgbClr val="222222"/>
                </a:solidFill>
              </a:rPr>
              <a:t>•  확인 사항: 반환된 뉴스 목록이 현재 시장의 가장 뜨거운 이슈를 반영하고 있는지 확인합니다.</a:t>
            </a:r>
          </a:p>
          <a:p>
            <a:pPr>
              <a:spcBef>
                <a:spcPts val="600"/>
              </a:spcBef>
            </a:pPr>
            <a:r>
              <a:rPr sz="1300" b="1">
                <a:solidFill>
                  <a:srgbClr val="2E5984"/>
                </a:solidFill>
              </a:rPr>
              <a:t>5. 확장 (Expansion): 뉴스 텍스트 마이닝 및 감성 분석(Sentiment Analysis)</a:t>
            </a:r>
          </a:p>
          <a:p>
            <a:r>
              <a:rPr sz="1100">
                <a:solidFill>
                  <a:srgbClr val="222222"/>
                </a:solidFill>
              </a:rPr>
              <a:t>•  고도화 전략: 수집된 기사 본문을 ChromaDB(벡터 DB)에 저장하여 과거 유사 이슈와 현재를 비교하는 뉴스 RAG 시스템으로 확장합니다,.</a:t>
            </a:r>
          </a:p>
          <a:p>
            <a:r>
              <a:rPr sz="1100">
                <a:solidFill>
                  <a:srgbClr val="222222"/>
                </a:solidFill>
              </a:rPr>
              <a:t>•  AI 연동: GPT에게 각 뉴스의 본문을 읽히고, 해당 뉴스가 종목 주가에 미칠 영향을 -1(부정)에서 +1(긍정) 사이의 점수로 수치화하여 '리스크 스코어링' 엔진에 반영합니다,.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036  ·  36/216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3</a:t>
            </a:r>
          </a:p>
          <a:p>
            <a:r>
              <a:rPr sz="1900" b="1">
                <a:solidFill>
                  <a:srgbClr val="FFFFFF"/>
                </a:solidFill>
              </a:rPr>
              <a:t>[037] 개인화 분석의 시작 - Google Sheets Portfolio 연동</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AI에게 '내 자산 현황' 알려주기</a:t>
            </a:r>
          </a:p>
          <a:p>
            <a:r>
              <a:rPr sz="1100">
                <a:solidFill>
                  <a:srgbClr val="222222"/>
                </a:solidFill>
              </a:rPr>
              <a:t>•  정의: 외부 시장 데이터뿐만 아니라, 사용자가 구글 시트에 기록해 둔 보유 종목, 평단가, 비중 등 개인화된 데이터를 AI가 읽어오도록 연결하는 과정입니다(,).</a:t>
            </a:r>
          </a:p>
          <a:p>
            <a:r>
              <a:rPr sz="1100">
                <a:solidFill>
                  <a:srgbClr val="222222"/>
                </a:solidFill>
              </a:rPr>
              <a:t>•  핵심 가치: "내 포트폴리오 어때?"라는 질문에 대해 AI가 단순한 시장 분석을 넘어, 사용자의 실제 수익률과 리스크 비중을 고려한 맞춤형 투자 조언을 제공하게 합니다().</a:t>
            </a:r>
          </a:p>
          <a:p>
            <a:pPr>
              <a:spcBef>
                <a:spcPts val="600"/>
              </a:spcBef>
            </a:pPr>
            <a:r>
              <a:rPr sz="1300" b="1">
                <a:solidFill>
                  <a:srgbClr val="2E5984"/>
                </a:solidFill>
              </a:rPr>
              <a:t>2. 아키텍처 (Architecture): 구글 시트를 경량 DB로 활용</a:t>
            </a:r>
          </a:p>
          <a:p>
            <a:r>
              <a:rPr sz="1100">
                <a:solidFill>
                  <a:srgbClr val="222222"/>
                </a:solidFill>
              </a:rPr>
              <a:t>•  데이터 레이어: 구글 시트의 'Portfolio' 탭을 데이터베이스(DB)로 활용합니다().</a:t>
            </a:r>
          </a:p>
          <a:p>
            <a:r>
              <a:rPr sz="1100">
                <a:solidFill>
                  <a:srgbClr val="222222"/>
                </a:solidFill>
              </a:rPr>
              <a:t>•  통신 구조: [Apps Script] → SpreadsheetApp 호출 → [Portfolio 시트 데이터 추출] → [JSON 변환] → [GPT 분석 엔진 전달].</a:t>
            </a:r>
          </a:p>
          <a:p>
            <a:r>
              <a:rPr sz="1100">
                <a:solidFill>
                  <a:srgbClr val="222222"/>
                </a:solidFill>
              </a:rPr>
              <a:t>•  보안: 시트 ID(SPREADSHEET_ID)를 통해 인증된 스크립트만 접근하도록 설계합니다().</a:t>
            </a:r>
          </a:p>
          <a:p>
            <a:pPr>
              <a:spcBef>
                <a:spcPts val="600"/>
              </a:spcBef>
            </a:pPr>
            <a:r>
              <a:rPr sz="1300" b="1">
                <a:solidFill>
                  <a:srgbClr val="2E5984"/>
                </a:solidFill>
              </a:rPr>
              <a:t>3. 소스코드 (Source Code): getPortfolioData_ 구현</a:t>
            </a:r>
          </a:p>
          <a:p>
            <a:r>
              <a:rPr sz="1100">
                <a:solidFill>
                  <a:srgbClr val="222222"/>
                </a:solidFill>
              </a:rPr>
              <a:t>•  핵심 로직: 시트의 전체 범위를 읽어와 JSON 문자열로 변환하여 GPT가 이해하기 쉬운 형태로 전달합니다.</a:t>
            </a:r>
          </a:p>
          <a:p>
            <a:pPr>
              <a:spcBef>
                <a:spcPts val="600"/>
              </a:spcBef>
            </a:pPr>
            <a:r>
              <a:rPr sz="1300" b="1">
                <a:solidFill>
                  <a:srgbClr val="2E5984"/>
                </a:solidFill>
              </a:rPr>
              <a:t>4. 실습 (Practice): 'Portfolio' 탭 생성 및 데이터 매핑</a:t>
            </a:r>
          </a:p>
          <a:p>
            <a:r>
              <a:rPr sz="1100">
                <a:solidFill>
                  <a:srgbClr val="222222"/>
                </a:solidFill>
              </a:rPr>
              <a:t>•  과제: 본인의 구글 시트에 Portfolio라는 이름의 탭을 만들고, [종목명, 비중, 평단가] 헤더와 함께 3개 이상의 종목 데이터를 입력하십시오().</a:t>
            </a:r>
          </a:p>
          <a:p>
            <a:r>
              <a:rPr sz="1100">
                <a:solidFill>
                  <a:srgbClr val="222222"/>
                </a:solidFill>
              </a:rPr>
              <a:t>•  확인 사항: getPortfolioData_() 함수를 실행했을 때 로그창에 본인이 입력한 데이터가 JSON 배열 형태로 정확히 출력되는지 확인합니다.</a:t>
            </a:r>
          </a:p>
          <a:p>
            <a:pPr>
              <a:spcBef>
                <a:spcPts val="600"/>
              </a:spcBef>
            </a:pPr>
            <a:r>
              <a:rPr sz="1300" b="1">
                <a:solidFill>
                  <a:srgbClr val="2E5984"/>
                </a:solidFill>
              </a:rPr>
              <a:t>5. 확장 (Expansion): 리스크 평가 및 리밸런싱 에이전트</a:t>
            </a:r>
          </a:p>
          <a:p>
            <a:r>
              <a:rPr sz="1100">
                <a:solidFill>
                  <a:srgbClr val="222222"/>
                </a:solidFill>
              </a:rPr>
              <a:t>•  고도화 전략: 수집된 포트폴리오 데이터와 코스콤의 실시간 시세를 결합하여 현재 수익률을 자동 계산합니다().</a:t>
            </a:r>
          </a:p>
          <a:p>
            <a:r>
              <a:rPr sz="1100">
                <a:solidFill>
                  <a:srgbClr val="222222"/>
                </a:solidFill>
              </a:rPr>
              <a:t>•  AI 연동: "내 포트폴리오에서 반도체 비중이 너무 높은데, 리스크를 줄이기 위한 리밸런싱 전략을 제안해줘"와 같은 고차원적 자산 관리 기능을 수행하는 'AI 포트폴리오 매니저'로 확장합니다().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037  ·  37/216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73152"/>
          </a:xfrm>
          <a:prstGeom prst="rect">
            <a:avLst/>
          </a:prstGeom>
          <a:solidFill>
            <a:srgbClr val="6E8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834640"/>
            <a:ext cx="10515600" cy="1463040"/>
          </a:xfrm>
          <a:prstGeom prst="rect">
            <a:avLst/>
          </a:prstGeom>
          <a:noFill/>
        </p:spPr>
        <p:txBody>
          <a:bodyPr wrap="square">
            <a:spAutoFit/>
          </a:bodyPr>
          <a:lstStyle/>
          <a:p>
            <a:r>
              <a:rPr sz="1600">
                <a:solidFill>
                  <a:srgbClr val="9FB4F5"/>
                </a:solidFill>
              </a:rPr>
              <a:t>[2일차]</a:t>
            </a:r>
          </a:p>
          <a:p>
            <a:r>
              <a:rPr sz="2800" b="1">
                <a:solidFill>
                  <a:srgbClr val="FFFFFF"/>
                </a:solidFill>
              </a:rPr>
              <a:t>모듈 4 — AI 리포트 엔진: 데이터를 투자 통찰로</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4</a:t>
            </a:r>
          </a:p>
          <a:p>
            <a:r>
              <a:rPr sz="1900" b="1">
                <a:solidFill>
                  <a:srgbClr val="FFFFFF"/>
                </a:solidFill>
              </a:rPr>
              <a:t>[038] AI 리포트 엔진 1 - 시장 브리핑(Market Briefing)</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흩어진 데이터를 하나의 '투자 전략'으로 통합</a:t>
            </a:r>
          </a:p>
          <a:p>
            <a:r>
              <a:rPr sz="1100">
                <a:solidFill>
                  <a:srgbClr val="222222"/>
                </a:solidFill>
              </a:rPr>
              <a:t>•  정의: 코스콤(시세), ECOS(거시지표), News API(이슈) 등 각기 다른 채널에서 수집된 원천 데이터(Raw Data)를 GPT-5.1을 통해 전문적인 금융 리포트로 변환하는 과정입니다(,).</a:t>
            </a:r>
          </a:p>
          <a:p>
            <a:r>
              <a:rPr sz="1100">
                <a:solidFill>
                  <a:srgbClr val="222222"/>
                </a:solidFill>
              </a:rPr>
              <a:t>•  핵심 가치: 단순한 수치 나열을 넘어, 데이터 간의 인과관계를 해석하고 투자자가 즉시 실행할 수 있는 '투자 인사이트'를 도출하는 데 목적이 있습니다(,).</a:t>
            </a:r>
          </a:p>
          <a:p>
            <a:pPr>
              <a:spcBef>
                <a:spcPts val="600"/>
              </a:spcBef>
            </a:pPr>
            <a:r>
              <a:rPr sz="1300" b="1">
                <a:solidFill>
                  <a:srgbClr val="2E5984"/>
                </a:solidFill>
              </a:rPr>
              <a:t>2. 아키텍처 (Architecture): 멀티 소스 데이터 합성 프로세스</a:t>
            </a:r>
          </a:p>
          <a:p>
            <a:r>
              <a:rPr sz="1100">
                <a:solidFill>
                  <a:srgbClr val="222222"/>
                </a:solidFill>
              </a:rPr>
              <a:t>•  데이터 취합 (Data Synthesis): getKoscomMarketData_, getEcosData_, getNewsData_ 함수를 동시 호출하여 컨텍스트를 구성합니다(,).</a:t>
            </a:r>
          </a:p>
          <a:p>
            <a:r>
              <a:rPr sz="1100">
                <a:solidFill>
                  <a:srgbClr val="222222"/>
                </a:solidFill>
              </a:rPr>
              <a:t>•  프롬프트 주입: 수집된 데이터를 "글로벌 투자전략가" 페르소나가 담긴 시스템 프롬프트에 결합합니다(,).</a:t>
            </a:r>
          </a:p>
          <a:p>
            <a:r>
              <a:rPr sz="1100">
                <a:solidFill>
                  <a:srgbClr val="222222"/>
                </a:solidFill>
              </a:rPr>
              <a:t>•  출력 레이어: 생성된 텍스트 리포트를 텔레그램 메시지 규격에 맞춰 사용자에게 전송합니다(,).</a:t>
            </a:r>
          </a:p>
          <a:p>
            <a:pPr>
              <a:spcBef>
                <a:spcPts val="600"/>
              </a:spcBef>
            </a:pPr>
            <a:r>
              <a:rPr sz="1300" b="1">
                <a:solidFill>
                  <a:srgbClr val="2E5984"/>
                </a:solidFill>
              </a:rPr>
              <a:t>3. 소스코드 (Source Code): runMarketBriefing_ 함수 구현</a:t>
            </a:r>
          </a:p>
          <a:p>
            <a:r>
              <a:rPr sz="1100">
                <a:solidFill>
                  <a:srgbClr val="222222"/>
                </a:solidFill>
              </a:rPr>
              <a:t>•  핵심 로직: 여러 데이터 수집 함수를 호출하여 하나의 프롬프트로 엮어 GPT에게 전달합니다.</a:t>
            </a:r>
          </a:p>
          <a:p>
            <a:pPr>
              <a:spcBef>
                <a:spcPts val="600"/>
              </a:spcBef>
            </a:pPr>
            <a:r>
              <a:rPr sz="1300" b="1">
                <a:solidFill>
                  <a:srgbClr val="2E5984"/>
                </a:solidFill>
              </a:rPr>
              <a:t>4. 실습 (Practice): '오늘 시장 브리핑 보여줘' 실행 및 분석</a:t>
            </a:r>
          </a:p>
          <a:p>
            <a:r>
              <a:rPr sz="1100">
                <a:solidFill>
                  <a:srgbClr val="222222"/>
                </a:solidFill>
              </a:rPr>
              <a:t>•  과제: 텔레그램 봇에 "오늘 시장 브리핑 보여줘"라고 입력하고, 봇이 1)미국증시 2)금리 3)환율 등 지정한 5개 항목에 맞춰 일관성 있게 답변하는지 확인하십시오(,).</a:t>
            </a:r>
          </a:p>
          <a:p>
            <a:r>
              <a:rPr sz="1100">
                <a:solidFill>
                  <a:srgbClr val="222222"/>
                </a:solidFill>
              </a:rPr>
              <a:t>•  확인 사항: 리포트 내용 중 ECOS에서 가져온 '기준금리'나 코스콤에서 가져온 '지수' 데이터가 실제 수치와 일치하는지 대조합니다.</a:t>
            </a:r>
          </a:p>
          <a:p>
            <a:pPr>
              <a:spcBef>
                <a:spcPts val="600"/>
              </a:spcBef>
            </a:pPr>
            <a:r>
              <a:rPr sz="1300" b="1">
                <a:solidFill>
                  <a:srgbClr val="2E5984"/>
                </a:solidFill>
              </a:rPr>
              <a:t>5. 확장 (Expansion): 멀티모달 보고서와 오디오 오버뷰</a:t>
            </a:r>
          </a:p>
          <a:p>
            <a:r>
              <a:rPr sz="1100">
                <a:solidFill>
                  <a:srgbClr val="222222"/>
                </a:solidFill>
              </a:rPr>
              <a:t>•  고도화 전략: 텍스트 리포트 생성과 동시에 NotebookLM API를 연동하여 해당 내용을 2분 내외의 '데일리 오디오 브리핑(Podcast)'으로 자동 변환합니다().</a:t>
            </a:r>
          </a:p>
          <a:p>
            <a:r>
              <a:rPr sz="1100">
                <a:solidFill>
                  <a:srgbClr val="222222"/>
                </a:solidFill>
              </a:rPr>
              <a:t>•  사용자 경험: 출근길 투자자가 텍스트를 읽는 대신 텔레그램에서 바로 음성 파일을 재생하여 시장 상황을 파악할 수 있는 멀티모달 금융 서비스로 확장합니다.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038  ·  38/216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4</a:t>
            </a:r>
          </a:p>
          <a:p>
            <a:r>
              <a:rPr sz="1900" b="1">
                <a:solidFill>
                  <a:srgbClr val="FFFFFF"/>
                </a:solidFill>
              </a:rPr>
              <a:t>[039] AI 리포트 엔진 2 - 뉴스 요약 (News Summary)</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비정형 뉴스를 정제된 인사이트로 변환</a:t>
            </a:r>
          </a:p>
          <a:p>
            <a:r>
              <a:rPr sz="1100">
                <a:solidFill>
                  <a:srgbClr val="222222"/>
                </a:solidFill>
              </a:rPr>
              <a:t>•  정의: 실시간 News API를 통해 수집된 여러 건의 기사 원문을 GPT-5.1이 읽고, 핵심 내용을 요약하여 투자 영향력을 분석하는 모듈입니다.</a:t>
            </a:r>
          </a:p>
          <a:p>
            <a:r>
              <a:rPr sz="1100">
                <a:solidFill>
                  <a:srgbClr val="222222"/>
                </a:solidFill>
              </a:rPr>
              <a:t>•  핵심 가치: 정보 과잉 시대에 투자자가 수많은 기사를 일일이 읽지 않아도 3줄 요약과 핵심 이슈만으로 시장의 흐름을 즉시 파악할 수 있게 합니다.</a:t>
            </a:r>
          </a:p>
          <a:p>
            <a:pPr>
              <a:spcBef>
                <a:spcPts val="600"/>
              </a:spcBef>
            </a:pPr>
            <a:r>
              <a:rPr sz="1300" b="1">
                <a:solidFill>
                  <a:srgbClr val="2E5984"/>
                </a:solidFill>
              </a:rPr>
              <a:t>2. 아키텍처 (Architecture): 수집-요약-브랜딩 프로세스</a:t>
            </a:r>
          </a:p>
          <a:p>
            <a:r>
              <a:rPr sz="1100">
                <a:solidFill>
                  <a:srgbClr val="222222"/>
                </a:solidFill>
              </a:rPr>
              <a:t>•  입력 레이어: 사용자가 입력한 키워드(예: "반도체", "엔비디아") 또는 시스템이 자동 추출한 키워드.</a:t>
            </a:r>
          </a:p>
          <a:p>
            <a:r>
              <a:rPr sz="1100">
                <a:solidFill>
                  <a:srgbClr val="222222"/>
                </a:solidFill>
              </a:rPr>
              <a:t>•  데이터 소스: getNewsData_ 함수를 통해 최신 뉴스 10건의 제목과 출처 정보를 확보합니다.</a:t>
            </a:r>
          </a:p>
          <a:p>
            <a:r>
              <a:rPr sz="1100">
                <a:solidFill>
                  <a:srgbClr val="222222"/>
                </a:solidFill>
              </a:rPr>
              <a:t>•  처리 레이어: GPT-5.1에게 "경제뉴스 편집장" 페르소나를 부여하여 뉴스의 경중을 판단하고 요약합니다.</a:t>
            </a:r>
          </a:p>
          <a:p>
            <a:pPr>
              <a:spcBef>
                <a:spcPts val="600"/>
              </a:spcBef>
            </a:pPr>
            <a:r>
              <a:rPr sz="1300" b="1">
                <a:solidFill>
                  <a:srgbClr val="2E5984"/>
                </a:solidFill>
              </a:rPr>
              <a:t>3. 소스코드 (Source Code): runNewsSummary_ 및 프롬프트 구조</a:t>
            </a:r>
          </a:p>
          <a:p>
            <a:r>
              <a:rPr sz="1100">
                <a:solidFill>
                  <a:srgbClr val="222222"/>
                </a:solidFill>
              </a:rPr>
              <a:t>•  핵심 로직: 뉴스 데이터를 프롬프트에 주입하여 구조화된 리포트를 생성합니다.</a:t>
            </a:r>
          </a:p>
          <a:p>
            <a:pPr>
              <a:spcBef>
                <a:spcPts val="600"/>
              </a:spcBef>
            </a:pPr>
            <a:r>
              <a:rPr sz="1300" b="1">
                <a:solidFill>
                  <a:srgbClr val="2E5984"/>
                </a:solidFill>
              </a:rPr>
              <a:t>4. 실습 (Practice): '특정 종목 뉴스 요약' 실행 및 검증</a:t>
            </a:r>
          </a:p>
          <a:p>
            <a:r>
              <a:rPr sz="1100">
                <a:solidFill>
                  <a:srgbClr val="222222"/>
                </a:solidFill>
              </a:rPr>
              <a:t>•  과제: 텔레그램 봇에 "삼성전자 뉴스 요약해줘"라고 입력하고, 봇이 출력하는 '투자 영향' 섹션이 실제 주가 흐름과 논리적으로 일치하는지 분석해 보십시오.</a:t>
            </a:r>
          </a:p>
          <a:p>
            <a:r>
              <a:rPr sz="1100">
                <a:solidFill>
                  <a:srgbClr val="222222"/>
                </a:solidFill>
              </a:rPr>
              <a:t>•  확인 사항: GPT가 단순히 제목을 나열하는 것이 아니라, 여러 기사를 종합하여 하나의 일관된 시각을 제시하는지 체크합니다.</a:t>
            </a:r>
          </a:p>
          <a:p>
            <a:pPr>
              <a:spcBef>
                <a:spcPts val="600"/>
              </a:spcBef>
            </a:pPr>
            <a:r>
              <a:rPr sz="1300" b="1">
                <a:solidFill>
                  <a:srgbClr val="2E5984"/>
                </a:solidFill>
              </a:rPr>
              <a:t>5. 확장 (Expansion): 뉴스 감성 분석(Sentiment) 및 스코어링</a:t>
            </a:r>
          </a:p>
          <a:p>
            <a:r>
              <a:rPr sz="1100">
                <a:solidFill>
                  <a:srgbClr val="222222"/>
                </a:solidFill>
              </a:rPr>
              <a:t>•  고도화 전략: 뉴스 요약에서 더 나아가, 각 기사의 톤을 분석하여 긍정(+1) / 중립(0) / 부정(-1) 점수를 부여합니다.</a:t>
            </a:r>
          </a:p>
          <a:p>
            <a:r>
              <a:rPr sz="1100">
                <a:solidFill>
                  <a:srgbClr val="222222"/>
                </a:solidFill>
              </a:rPr>
              <a:t>•  기술 적용: 계산된 감성 점수를 FnRiskWatch 리스크 점수에 합산하여, 뉴스가 주가에 미치는 심리적 요인을 수치화된 지표로 관리하는 'AI 감성 지수' 모듈로 확장합니다.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039  ·  39/216</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4</a:t>
            </a:r>
          </a:p>
          <a:p>
            <a:r>
              <a:rPr sz="1900" b="1">
                <a:solidFill>
                  <a:srgbClr val="FFFFFF"/>
                </a:solidFill>
              </a:rPr>
              <a:t>[040] AI 리포트 엔진 3 - 리스크 점검 (Risk Check)</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데이터 기반의 시장 조기 경보 시스템</a:t>
            </a:r>
          </a:p>
          <a:p>
            <a:r>
              <a:rPr sz="1100">
                <a:solidFill>
                  <a:srgbClr val="222222"/>
                </a:solidFill>
              </a:rPr>
              <a:t>•  정의: 지수, 환율, 변동성 지표(VIX) 등 주요 리스크 요인을 실시간 모니터링하여 임계치를 벗어난 이상 징후를 포착하고 분석하는 모듈입니다.</a:t>
            </a:r>
          </a:p>
          <a:p>
            <a:r>
              <a:rPr sz="1100">
                <a:solidFill>
                  <a:srgbClr val="222222"/>
                </a:solidFill>
              </a:rPr>
              <a:t>•  핵심 가치: 투자자가 감정에 휘둘리지 않고 객관적인 데이터 지표에 근거하여 현재 시장의 위험 수위를 '상/중/하' 단계로 즉시 파악하게 합니다.</a:t>
            </a:r>
          </a:p>
          <a:p>
            <a:pPr>
              <a:spcBef>
                <a:spcPts val="600"/>
              </a:spcBef>
            </a:pPr>
            <a:r>
              <a:rPr sz="1300" b="1">
                <a:solidFill>
                  <a:srgbClr val="2E5984"/>
                </a:solidFill>
              </a:rPr>
              <a:t>2. 아키텍처 (Architecture): 리스크 시그널 추출 및 평가 흐름</a:t>
            </a:r>
          </a:p>
          <a:p>
            <a:r>
              <a:rPr sz="1100">
                <a:solidFill>
                  <a:srgbClr val="222222"/>
                </a:solidFill>
              </a:rPr>
              <a:t>•  시그널 엔진 (Risk Signal Engine): 코스콤 및 외부 API를 통해 KOSPI 등락률, 원/달러 환율, VIX 지수 등을 수집합니다.</a:t>
            </a:r>
          </a:p>
          <a:p>
            <a:r>
              <a:rPr sz="1100">
                <a:solidFill>
                  <a:srgbClr val="222222"/>
                </a:solidFill>
              </a:rPr>
              <a:t>•  판단 로직: 사전에 정의된 리스크 임계치(예: 코스피 -3% 이하, 환율 1,450원 이상)를 기준으로 시그널을 생성합니다.</a:t>
            </a:r>
          </a:p>
          <a:p>
            <a:r>
              <a:rPr sz="1100">
                <a:solidFill>
                  <a:srgbClr val="222222"/>
                </a:solidFill>
              </a:rPr>
              <a:t>•  GPT 분석: 추출된 리스크 시그널 배열(Array)을 GPT에게 전달하여 종합적인 위험도와 원인을 분석합니다.</a:t>
            </a:r>
          </a:p>
          <a:p>
            <a:pPr>
              <a:spcBef>
                <a:spcPts val="600"/>
              </a:spcBef>
            </a:pPr>
            <a:r>
              <a:rPr sz="1300" b="1">
                <a:solidFill>
                  <a:srgbClr val="2E5984"/>
                </a:solidFill>
              </a:rPr>
              <a:t>3. 소스코드 (Source Code): getRiskSignals_ 및 리스크 평가 로직</a:t>
            </a:r>
          </a:p>
          <a:p>
            <a:r>
              <a:rPr sz="1100">
                <a:solidFill>
                  <a:srgbClr val="222222"/>
                </a:solidFill>
              </a:rPr>
              <a:t>•  핵심 로직: 시장 지표를 검사하여 위험 요소를 텍스트 배열로 반환하고 이를 GPT 프롬프트에 주입합니다.</a:t>
            </a:r>
          </a:p>
          <a:p>
            <a:pPr>
              <a:spcBef>
                <a:spcPts val="600"/>
              </a:spcBef>
            </a:pPr>
            <a:r>
              <a:rPr sz="1300" b="1">
                <a:solidFill>
                  <a:srgbClr val="2E5984"/>
                </a:solidFill>
              </a:rPr>
              <a:t>4. 실습 (Practice): '복합 리스크' 시뮬레이션 테스트</a:t>
            </a:r>
          </a:p>
          <a:p>
            <a:r>
              <a:rPr sz="1100">
                <a:solidFill>
                  <a:srgbClr val="222222"/>
                </a:solidFill>
              </a:rPr>
              <a:t>•  과제: 임의로 환율을 1,460원, 코스피를 -4%로 설정한 가상 데이터를 입력했을 때, GPT가 이를 '위험도: 상'으로 분류하고 논리적인 원인 분석(자금 이탈 등)을 내놓는지 확인하십시오.</a:t>
            </a:r>
          </a:p>
          <a:p>
            <a:r>
              <a:rPr sz="1100">
                <a:solidFill>
                  <a:srgbClr val="222222"/>
                </a:solidFill>
              </a:rPr>
              <a:t>•  확인 사항: 단순 수치 나열이 아니라 "환율 급등과 지수 급락이 동반되어 시장 전이 위험이 높다"는 식의 인과관계 설명이 포함되는지 체크합니다.</a:t>
            </a:r>
          </a:p>
          <a:p>
            <a:pPr>
              <a:spcBef>
                <a:spcPts val="600"/>
              </a:spcBef>
            </a:pPr>
            <a:r>
              <a:rPr sz="1300" b="1">
                <a:solidFill>
                  <a:srgbClr val="2E5984"/>
                </a:solidFill>
              </a:rPr>
              <a:t>5. 확장 (Expansion): FnRiskWatch RAG 및 실시간 푸시 알림</a:t>
            </a:r>
          </a:p>
          <a:p>
            <a:r>
              <a:rPr sz="1100">
                <a:solidFill>
                  <a:srgbClr val="222222"/>
                </a:solidFill>
              </a:rPr>
              <a:t>•  고도화 전략: 현재의 수치 기반 점검을 넘어, 과거 금융위기 사례와 유사한지 비교하는 FnRiskWatch RAG(검색 증강 생성) 시스템으로 확장합니다.</a:t>
            </a:r>
          </a:p>
          <a:p>
            <a:r>
              <a:rPr sz="1100">
                <a:solidFill>
                  <a:srgbClr val="222222"/>
                </a:solidFill>
              </a:rPr>
              <a:t>•  기술 적용: 리스크 등급이 'HIGH' 또는 'CRITICAL'로 판정될 경우, 사용자의 요청이 없어도 텔레그램 채널로 즉시 경고 메시지를 푸시(Push)하는 자동 배포 아키텍처를 완성합니다.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040  ·  40/216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4</a:t>
            </a:r>
          </a:p>
          <a:p>
            <a:r>
              <a:rPr sz="1900" b="1">
                <a:solidFill>
                  <a:srgbClr val="FFFFFF"/>
                </a:solidFill>
              </a:rPr>
              <a:t>[041] AI 리포트 엔진 4 - 종목 분석 (Stock Report)</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데이터 기반의 가상 애널리스트 리포트 생성</a:t>
            </a:r>
          </a:p>
          <a:p>
            <a:r>
              <a:rPr sz="1100">
                <a:solidFill>
                  <a:srgbClr val="222222"/>
                </a:solidFill>
              </a:rPr>
              <a:t>•  정의: 특정 상장 기업의 종목코드(또는 종목명)를 입력받아 DART(재무), 코스콤(시세/수급), 뉴스 등 멀티 소스 데이터를 종합하여 전문적인 분석 리포트를 작성하는 모듈입니다.</a:t>
            </a:r>
          </a:p>
          <a:p>
            <a:r>
              <a:rPr sz="1100">
                <a:solidFill>
                  <a:srgbClr val="222222"/>
                </a:solidFill>
              </a:rPr>
              <a:t>•  핵심 가치: 투자자가 직접 데이터를 취합하고 해석하는 번거로움 없이, GPT-5.1이 수초 내에 사업개요부터 투자포인트까지 구조화된 리포트를 제공하여 의사결정 속도를 극대화합니다.</a:t>
            </a:r>
          </a:p>
          <a:p>
            <a:pPr>
              <a:spcBef>
                <a:spcPts val="600"/>
              </a:spcBef>
            </a:pPr>
            <a:r>
              <a:rPr sz="1300" b="1">
                <a:solidFill>
                  <a:srgbClr val="2E5984"/>
                </a:solidFill>
              </a:rPr>
              <a:t>2. 아키텍처 (Architecture): 종합 분석 엔진의 데이터 합성 흐름</a:t>
            </a:r>
          </a:p>
          <a:p>
            <a:r>
              <a:rPr sz="1100">
                <a:solidFill>
                  <a:srgbClr val="222222"/>
                </a:solidFill>
              </a:rPr>
              <a:t>•  데이터 레이어: getDartData_(재무)와 getKoscomMarketData_(시세)를 통해 기업의 내재 가치와 시장 가격 데이터를 동시에 확보합니다.</a:t>
            </a:r>
          </a:p>
          <a:p>
            <a:r>
              <a:rPr sz="1100">
                <a:solidFill>
                  <a:srgbClr val="222222"/>
                </a:solidFill>
              </a:rPr>
              <a:t>•  분석 레이어: GPT에게 "전문 주식 애널리스트" 페르소나를 부여하고, 수집된 정형 데이터(수치)와 비정형 데이터(공시/뉴스)를 컨텍스트로 전달합니다.</a:t>
            </a:r>
          </a:p>
          <a:p>
            <a:r>
              <a:rPr sz="1100">
                <a:solidFill>
                  <a:srgbClr val="222222"/>
                </a:solidFill>
              </a:rPr>
              <a:t>•  출력 레이어: 텔레그램 메시지 규격에 최적화된 텍스트 리포트 또는 PDF 요약본을 생성합니다.</a:t>
            </a:r>
          </a:p>
          <a:p>
            <a:pPr>
              <a:spcBef>
                <a:spcPts val="600"/>
              </a:spcBef>
            </a:pPr>
            <a:r>
              <a:rPr sz="1300" b="1">
                <a:solidFill>
                  <a:srgbClr val="2E5984"/>
                </a:solidFill>
              </a:rPr>
              <a:t>3. 소스코드 (Source Code): runStockReport_ 및 분석 프롬프트</a:t>
            </a:r>
          </a:p>
          <a:p>
            <a:r>
              <a:rPr sz="1100">
                <a:solidFill>
                  <a:srgbClr val="222222"/>
                </a:solidFill>
              </a:rPr>
              <a:t>•  핵심 로직: 종목별 5대 핵심 분석 항목(사업, 실적, 밸류에이션, 투자포인트, 리스크)을 강제하는 프롬프트 구조입니다.</a:t>
            </a:r>
          </a:p>
          <a:p>
            <a:pPr>
              <a:spcBef>
                <a:spcPts val="600"/>
              </a:spcBef>
            </a:pPr>
            <a:r>
              <a:rPr sz="1300" b="1">
                <a:solidFill>
                  <a:srgbClr val="2E5984"/>
                </a:solidFill>
              </a:rPr>
              <a:t>4. 실습 (Practice): '삼성전자' 종합 분석 및 5대 항목 검증</a:t>
            </a:r>
          </a:p>
          <a:p>
            <a:r>
              <a:rPr sz="1100">
                <a:solidFill>
                  <a:srgbClr val="222222"/>
                </a:solidFill>
              </a:rPr>
              <a:t>•  과제: 텔레그램 봇에 "삼성전자 분석해줘"라고 입력하고, GPT가 1)사업개요 2)실적 3)밸류에이션 4)투자포인트 5)리스크 순서로 답변을 내놓는지 확인하십시오.</a:t>
            </a:r>
          </a:p>
          <a:p>
            <a:r>
              <a:rPr sz="1100">
                <a:solidFill>
                  <a:srgbClr val="222222"/>
                </a:solidFill>
              </a:rPr>
              <a:t>•  확인 사항: 리포트 내용 중 DART에서 가져온 '최근 분기 실적'이나 코스콤에서 가져온 '현재가'가 정확하게 반영되었는지 대조합니다.</a:t>
            </a:r>
          </a:p>
          <a:p>
            <a:pPr>
              <a:spcBef>
                <a:spcPts val="600"/>
              </a:spcBef>
            </a:pPr>
            <a:r>
              <a:rPr sz="1300" b="1">
                <a:solidFill>
                  <a:srgbClr val="2E5984"/>
                </a:solidFill>
              </a:rPr>
              <a:t>5. 확장 (Expansion): 멀티 에이전트(Multi-Agent) 리서치 시스템</a:t>
            </a:r>
          </a:p>
          <a:p>
            <a:r>
              <a:rPr sz="1100">
                <a:solidFill>
                  <a:srgbClr val="222222"/>
                </a:solidFill>
              </a:rPr>
              <a:t>•  고도화 전략: 한 명의 AI가 전체를 요약하는 대신, 기본적 분석/기술적 분석/수급 분석을 담당하는 개별 에이전트들이 각자의 의견을 내고 이를 통합하는 CrewAI 구조로 확장합니다.</a:t>
            </a:r>
          </a:p>
          <a:p>
            <a:r>
              <a:rPr sz="1100">
                <a:solidFill>
                  <a:srgbClr val="222222"/>
                </a:solidFill>
              </a:rPr>
              <a:t>•  최종 결과물: 텍스트 메시지를 넘어, 분석 결과를 시각화된 차트와 함께 담아내는 1페이지 PDF 투자 브리프 자동 생성 기능을 연동하여 리포트의 완성도를 높입니다.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041  ·  41/216</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4</a:t>
            </a:r>
          </a:p>
          <a:p>
            <a:r>
              <a:rPr sz="1900" b="1">
                <a:solidFill>
                  <a:srgbClr val="FFFFFF"/>
                </a:solidFill>
              </a:rPr>
              <a:t>[042] AI 리포트 엔진 5 - 매크로 리포트 (Macro Report)</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'숲'을 보는 탑다운(Top-down) 경제 분석</a:t>
            </a:r>
          </a:p>
          <a:p>
            <a:r>
              <a:rPr sz="1100">
                <a:solidFill>
                  <a:srgbClr val="222222"/>
                </a:solidFill>
              </a:rPr>
              <a:t>•  정의: 한국은행 ECOS(거시지표) 데이터를 주축으로 금리, 환율, 물가, 경기 변동 등 국가 경제의 핵심 지표를 GPT-5.1이 종합 분석하는 모듈입니다.</a:t>
            </a:r>
          </a:p>
          <a:p>
            <a:r>
              <a:rPr sz="1100">
                <a:solidFill>
                  <a:srgbClr val="222222"/>
                </a:solidFill>
              </a:rPr>
              <a:t>•  핵심 가치: 개별 기업의 이슈를 넘어, 금리 인상이나 환율 급등과 같은 거시적 환경 변화가 전체 금융 시장과 투자 심리에 미치는 영향력을 전문가 수준으로 해석합니다.</a:t>
            </a:r>
          </a:p>
          <a:p>
            <a:pPr>
              <a:spcBef>
                <a:spcPts val="600"/>
              </a:spcBef>
            </a:pPr>
            <a:r>
              <a:rPr sz="1300" b="1">
                <a:solidFill>
                  <a:srgbClr val="2E5984"/>
                </a:solidFill>
              </a:rPr>
              <a:t>2. 아키텍처 (Architecture): ECOS 데이터 기반의 거시지표 추론 흐름</a:t>
            </a:r>
          </a:p>
          <a:p>
            <a:r>
              <a:rPr sz="1100">
                <a:solidFill>
                  <a:srgbClr val="222222"/>
                </a:solidFill>
              </a:rPr>
              <a:t>•  데이터 소스: getEcosData_ 함수를 호출하여 기준금리, CPI, 경제성장률 등 최신 수치 데이터를 확보합니다.</a:t>
            </a:r>
          </a:p>
          <a:p>
            <a:r>
              <a:rPr sz="1100">
                <a:solidFill>
                  <a:srgbClr val="222222"/>
                </a:solidFill>
              </a:rPr>
              <a:t>•  분석 레이어: GPT에게 "매크로 이코노미스트(Macro Economist)" 페르소나를 부여하여 수집된 데이터 간의 상관관계를 추론하게 합니다.</a:t>
            </a:r>
          </a:p>
          <a:p>
            <a:r>
              <a:rPr sz="1100">
                <a:solidFill>
                  <a:srgbClr val="222222"/>
                </a:solidFill>
              </a:rPr>
              <a:t>•  전달 레이어: 분석된 5대 항목(금리, 환율, 물가, 경기, 시사점)을 구조화하여 텔레그램으로 전송합니다.</a:t>
            </a:r>
          </a:p>
          <a:p>
            <a:pPr>
              <a:spcBef>
                <a:spcPts val="600"/>
              </a:spcBef>
            </a:pPr>
            <a:r>
              <a:rPr sz="1300" b="1">
                <a:solidFill>
                  <a:srgbClr val="2E5984"/>
                </a:solidFill>
              </a:rPr>
              <a:t>3. 소스코드 (Source Code): runMacroReport_ 및 분석 프롬프트</a:t>
            </a:r>
          </a:p>
          <a:p>
            <a:r>
              <a:rPr sz="1100">
                <a:solidFill>
                  <a:srgbClr val="222222"/>
                </a:solidFill>
              </a:rPr>
              <a:t>•  핵심 로직: 수집된 거시 경제 데이터를 기반으로 전문적인 분석 리포트를 생성하는 구조입니다.</a:t>
            </a:r>
          </a:p>
          <a:p>
            <a:pPr>
              <a:spcBef>
                <a:spcPts val="600"/>
              </a:spcBef>
            </a:pPr>
            <a:r>
              <a:rPr sz="1300" b="1">
                <a:solidFill>
                  <a:srgbClr val="2E5984"/>
                </a:solidFill>
              </a:rPr>
              <a:t>4. 실습 (Practice): '금리와 환율 상황 알려줘' 실행 및 분석</a:t>
            </a:r>
          </a:p>
          <a:p>
            <a:r>
              <a:rPr sz="1100">
                <a:solidFill>
                  <a:srgbClr val="222222"/>
                </a:solidFill>
              </a:rPr>
              <a:t>•  과제: 텔레그램 봇에 "금리와 환율 상황 알려줘" 또는 "매크로 분석해줘"라고 입력하고, 봇이 1)금리 2)환율 3)물가 4)경기 5)시사점 순서로 답변하는지 확인하십시오.</a:t>
            </a:r>
          </a:p>
          <a:p>
            <a:r>
              <a:rPr sz="1100">
                <a:solidFill>
                  <a:srgbClr val="222222"/>
                </a:solidFill>
              </a:rPr>
              <a:t>•  확인 사항: GPT가 단순히 현재 수치만 말하는 것이 아니라, "금리 동결 기조가 환율에 미치는 영향"과 같은 전문적인 연결 해석을 제공하는지 체크합니다.</a:t>
            </a:r>
          </a:p>
          <a:p>
            <a:pPr>
              <a:spcBef>
                <a:spcPts val="600"/>
              </a:spcBef>
            </a:pPr>
            <a:r>
              <a:rPr sz="1300" b="1">
                <a:solidFill>
                  <a:srgbClr val="2E5984"/>
                </a:solidFill>
              </a:rPr>
              <a:t>5. 확장 (Expansion): ECOS 전문 분석 에이전트 및 자산 배분 전략</a:t>
            </a:r>
          </a:p>
          <a:p>
            <a:r>
              <a:rPr sz="1100">
                <a:solidFill>
                  <a:srgbClr val="222222"/>
                </a:solidFill>
              </a:rPr>
              <a:t>•  고도화 전략: 단순히 현황을 보고하는 수준을 넘어, 수집된 ECOS 데이터를 기반으로 현재의 경제 국면(회복기/호황기/후퇴기/침체기)을 판단하는 runEcosAnalysis_ 에이전트로 확장합니다.</a:t>
            </a:r>
          </a:p>
          <a:p>
            <a:r>
              <a:rPr sz="1100">
                <a:solidFill>
                  <a:srgbClr val="222222"/>
                </a:solidFill>
              </a:rPr>
              <a:t>•  AI 연동: 매크로 분석 결과를 바탕으로 "현재는 주식 비중을 줄이고 채권이나 달러 비중을 높여야 할 시점"인지 제안하는 '자산 배분(Asset Allocation)' 로직을 연계하여 플랫폼의 가치를 높입니다.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042  ·  42/216</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4</a:t>
            </a:r>
          </a:p>
          <a:p>
            <a:r>
              <a:rPr sz="1900" b="1">
                <a:solidFill>
                  <a:srgbClr val="FFFFFF"/>
                </a:solidFill>
              </a:rPr>
              <a:t>[043] AI 리포트 엔진 6 - 산업 분석 (Sector Report)</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산업의 '판'을 읽는 섹터 분석 인사이트</a:t>
            </a:r>
          </a:p>
          <a:p>
            <a:r>
              <a:rPr sz="1100">
                <a:solidFill>
                  <a:srgbClr val="222222"/>
                </a:solidFill>
              </a:rPr>
              <a:t>•  정의: 반도체, 이차전지, 바이오 등 특정 산업 섹터의 전반적인 업황, 공급망(Supply Chain), 수요/공급 현황을 GPT-5.1이 분석하여 해당 섹터의 투자 매력도를 평가하는 모듈입니다,.</a:t>
            </a:r>
          </a:p>
          <a:p>
            <a:r>
              <a:rPr sz="1100">
                <a:solidFill>
                  <a:srgbClr val="222222"/>
                </a:solidFill>
              </a:rPr>
              <a:t>•  핵심 가치: 개별 종목의 호재를 넘어, 산업 전체의 사이클 변화와 정부 정책 영향을 분석함으로써 주도 섹터를 선점하고 투자 포트폴리오의 방향성을 결정하는 데 도움을 줍니다,.</a:t>
            </a:r>
          </a:p>
          <a:p>
            <a:pPr>
              <a:spcBef>
                <a:spcPts val="600"/>
              </a:spcBef>
            </a:pPr>
            <a:r>
              <a:rPr sz="1300" b="1">
                <a:solidFill>
                  <a:srgbClr val="2E5984"/>
                </a:solidFill>
              </a:rPr>
              <a:t>2. 아키텍처 (Architecture): 섹터 키워드 기반의 데이터 합성 흐름</a:t>
            </a:r>
          </a:p>
          <a:p>
            <a:r>
              <a:rPr sz="1100">
                <a:solidFill>
                  <a:srgbClr val="222222"/>
                </a:solidFill>
              </a:rPr>
              <a:t>•  데이터 레이어: getNewsData_(섹터 뉴스)와 getEcosData_(관련 산업 지표)를 통해 섹터별 핵심 지표를 확보합니다.</a:t>
            </a:r>
          </a:p>
          <a:p>
            <a:r>
              <a:rPr sz="1100">
                <a:solidFill>
                  <a:srgbClr val="222222"/>
                </a:solidFill>
              </a:rPr>
              <a:t>•  분석 레이어: GPT에게 "산업 전문 애널리스트(Sector Analyst)" 페르소나를 부여하고, 수집된 비정형 데이터(업황 뉴스)와 정형 데이터(수출입 통계 등)를 분석 컨텍스트로 전달합니다,.</a:t>
            </a:r>
          </a:p>
          <a:p>
            <a:r>
              <a:rPr sz="1100">
                <a:solidFill>
                  <a:srgbClr val="222222"/>
                </a:solidFill>
              </a:rPr>
              <a:t>•  출력 레이어: 섹터 분석 5대 항목(업황, 수요, 공급, 수혜기업, 전략)을 구조화하여 텔레그램으로 전송합니다.</a:t>
            </a:r>
          </a:p>
          <a:p>
            <a:pPr>
              <a:spcBef>
                <a:spcPts val="600"/>
              </a:spcBef>
            </a:pPr>
            <a:r>
              <a:rPr sz="1300" b="1">
                <a:solidFill>
                  <a:srgbClr val="2E5984"/>
                </a:solidFill>
              </a:rPr>
              <a:t>3. 소스코드 (Source Code): runSectorReport_ 및 분석 프롬프트</a:t>
            </a:r>
          </a:p>
          <a:p>
            <a:r>
              <a:rPr sz="1100">
                <a:solidFill>
                  <a:srgbClr val="222222"/>
                </a:solidFill>
              </a:rPr>
              <a:t>•  핵심 로직: 섹터별 산업 특성을 반영한 5대 분석 항목을 강제하는 프롬프트 구조입니다,.</a:t>
            </a:r>
          </a:p>
          <a:p>
            <a:pPr>
              <a:spcBef>
                <a:spcPts val="600"/>
              </a:spcBef>
            </a:pPr>
            <a:r>
              <a:rPr sz="1300" b="1">
                <a:solidFill>
                  <a:srgbClr val="2E5984"/>
                </a:solidFill>
              </a:rPr>
              <a:t>4. 실습 (Practice): '이차전지 업황 분석해줘' 실행 및 분석</a:t>
            </a:r>
          </a:p>
          <a:p>
            <a:r>
              <a:rPr sz="1100">
                <a:solidFill>
                  <a:srgbClr val="222222"/>
                </a:solidFill>
              </a:rPr>
              <a:t>•  과제: 텔레그램 봇에 "이차전지 업황 분석해줘" 또는 "반도체 섹터 리포트 써줘"라고 입력하고, GPT가 1)업황 2)수요 3)공급 4)수혜기업 5)투자전략 순서로 논리적인 답변을 내놓는지 확인하십시오,.</a:t>
            </a:r>
          </a:p>
          <a:p>
            <a:r>
              <a:rPr sz="1100">
                <a:solidFill>
                  <a:srgbClr val="222222"/>
                </a:solidFill>
              </a:rPr>
              <a:t>•  확인 사항: 단순히 뉴스 제목을 요약하는 수준을 넘어, "공급 과잉에 따른 가격 하락 리스크"나 "특정 섹터의 반등 시점"에 대한 통찰력 있는 의견이 포함되는지 체크합니다.</a:t>
            </a:r>
          </a:p>
          <a:p>
            <a:pPr>
              <a:spcBef>
                <a:spcPts val="600"/>
              </a:spcBef>
            </a:pPr>
            <a:r>
              <a:rPr sz="1300" b="1">
                <a:solidFill>
                  <a:srgbClr val="2E5984"/>
                </a:solidFill>
              </a:rPr>
              <a:t>5. 확장 (Expansion): 섹터 내 종목 랭킹 및 밸류에이션 비교</a:t>
            </a:r>
          </a:p>
          <a:p>
            <a:r>
              <a:rPr sz="1100">
                <a:solidFill>
                  <a:srgbClr val="222222"/>
                </a:solidFill>
              </a:rPr>
              <a:t>•  고도화 전략: 특정 산업 내에서 시가총액 상위 종목들의 밸류에이션(PER/PBR)을 비교 분석하는 runSectorComparison_ 에이전트로 확장합니다,.</a:t>
            </a:r>
          </a:p>
          <a:p>
            <a:r>
              <a:rPr sz="1100">
                <a:solidFill>
                  <a:srgbClr val="222222"/>
                </a:solidFill>
              </a:rPr>
              <a:t>•  AI 연동: 분석된 업황을 바탕으로 해당 섹터 내에서 가장 저평가된 '탑픽(Top-pick) 종목'을 데이터 기반으로 자동 추천하는 로직을 연계하여 분석의 완결성을 높입니다.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043  ·  43/216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4</a:t>
            </a:r>
          </a:p>
          <a:p>
            <a:r>
              <a:rPr sz="1900" b="1">
                <a:solidFill>
                  <a:srgbClr val="FFFFFF"/>
                </a:solidFill>
              </a:rPr>
              <a:t>[044] AI 리포트 엔진 7 - 기술적 분석 (Technical Analysis)</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차트의 패턴과 에너지를 읽는 데이터 분석</a:t>
            </a:r>
          </a:p>
          <a:p>
            <a:r>
              <a:rPr sz="1100">
                <a:solidFill>
                  <a:srgbClr val="222222"/>
                </a:solidFill>
              </a:rPr>
              <a:t>•  정의: 코스콤 API로 수집한 OHLCV(시가, 고가, 저가, 종가, 거래량) 데이터를 기반으로 이동평균선, RSI, MACD 등의 보조 지표를 계산하고, GPT-5.1이 이를 해석하여 단기 매매 전략을 도출하는 모듈입니다.</a:t>
            </a:r>
          </a:p>
          <a:p>
            <a:r>
              <a:rPr sz="1100">
                <a:solidFill>
                  <a:srgbClr val="222222"/>
                </a:solidFill>
              </a:rPr>
              <a:t>•  핵심 가치: 투자자의 주관적 편향을 배제하고, 수치화된 지표를 통해 현재의 추세(Trend)와 과열 상태(Overbought/Oversold)를 객관적으로 진단합니다.</a:t>
            </a:r>
          </a:p>
          <a:p>
            <a:pPr>
              <a:spcBef>
                <a:spcPts val="600"/>
              </a:spcBef>
            </a:pPr>
            <a:r>
              <a:rPr sz="1300" b="1">
                <a:solidFill>
                  <a:srgbClr val="2E5984"/>
                </a:solidFill>
              </a:rPr>
              <a:t>2. 아키텍처 (Architecture): 지표 계산 엔진과 AI 해석의 결합</a:t>
            </a:r>
          </a:p>
          <a:p>
            <a:r>
              <a:rPr sz="1100">
                <a:solidFill>
                  <a:srgbClr val="222222"/>
                </a:solidFill>
              </a:rPr>
              <a:t>•  데이터 레이어: getKoscomMarketData_를 통해 과거 60~120거래일 치의 가격 데이터를 확보합니다.</a:t>
            </a:r>
          </a:p>
          <a:p>
            <a:r>
              <a:rPr sz="1100">
                <a:solidFill>
                  <a:srgbClr val="222222"/>
                </a:solidFill>
              </a:rPr>
              <a:t>•  연산 레이어 (Technical Engine): pandas-ta 라이브러리 또는 사용자 정의 함수를 통해 MA(이동평균), RSI, MACD, 볼린저 밴드 등을 자동 계산합니다.</a:t>
            </a:r>
          </a:p>
          <a:p>
            <a:r>
              <a:rPr sz="1100">
                <a:solidFill>
                  <a:srgbClr val="222222"/>
                </a:solidFill>
              </a:rPr>
              <a:t>•  분석 레이어: 계산된 지표값들을 GPT에게 전달하여 5대 분석 항목(추세, 지지, 저항, 거래량, 전략)에 맞춰 리포트를 생성합니다.</a:t>
            </a:r>
          </a:p>
          <a:p>
            <a:pPr>
              <a:spcBef>
                <a:spcPts val="600"/>
              </a:spcBef>
            </a:pPr>
            <a:r>
              <a:rPr sz="1300" b="1">
                <a:solidFill>
                  <a:srgbClr val="2E5984"/>
                </a:solidFill>
              </a:rPr>
              <a:t>3. 소스코드 (Source Code): runTechnicalAnalysis_ 및 분석 프롬프트</a:t>
            </a:r>
          </a:p>
          <a:p>
            <a:r>
              <a:rPr sz="1100">
                <a:solidFill>
                  <a:srgbClr val="222222"/>
                </a:solidFill>
              </a:rPr>
              <a:t>•  핵심 로직: 계산된 기술적 지표들을 텍스트로 변환하여 GPT 분석 컨텍스트로 주입합니다.</a:t>
            </a:r>
          </a:p>
          <a:p>
            <a:pPr>
              <a:spcBef>
                <a:spcPts val="600"/>
              </a:spcBef>
            </a:pPr>
            <a:r>
              <a:rPr sz="1300" b="1">
                <a:solidFill>
                  <a:srgbClr val="2E5984"/>
                </a:solidFill>
              </a:rPr>
              <a:t>4. 실습 (Practice): '삼성전자 차트 분석해줘' 실행 및 검증</a:t>
            </a:r>
          </a:p>
          <a:p>
            <a:r>
              <a:rPr sz="1100">
                <a:solidFill>
                  <a:srgbClr val="222222"/>
                </a:solidFill>
              </a:rPr>
              <a:t>•  과제: 텔레그램 봇에 "삼성전자 차트 분석해줘" 또는 "기술적 분석 리포트 써줘"라고 입력하고, GPT가 1)추세 2)지지선 3)저항선 4)거래량 5)전략 순서로 답변을 내놓는지 확인하십시오.</a:t>
            </a:r>
          </a:p>
          <a:p>
            <a:r>
              <a:rPr sz="1100">
                <a:solidFill>
                  <a:srgbClr val="222222"/>
                </a:solidFill>
              </a:rPr>
              <a:t>•  확인 사항: 분석 내용 중 "RSI가 30 이하이므로 과매도 국면이다" 혹은 "골든크로스가 발생했다"와 같은 지표 기반의 구체적 근거가 포함되는지 체크합니다.</a:t>
            </a:r>
          </a:p>
          <a:p>
            <a:pPr>
              <a:spcBef>
                <a:spcPts val="600"/>
              </a:spcBef>
            </a:pPr>
            <a:r>
              <a:rPr sz="1300" b="1">
                <a:solidFill>
                  <a:srgbClr val="2E5984"/>
                </a:solidFill>
              </a:rPr>
              <a:t>5. 확장 (Expansion): 시각화 차트 삽입 및 리스크 스코어링 연동</a:t>
            </a:r>
          </a:p>
          <a:p>
            <a:r>
              <a:rPr sz="1100">
                <a:solidFill>
                  <a:srgbClr val="222222"/>
                </a:solidFill>
              </a:rPr>
              <a:t>•  고도화 전략: 텍스트 분석 결과와 함께 mplfinance 라이브러리를 활용해 생성된 캔들 차트 이미지를 텔레그램으로 동시 전송합니다.</a:t>
            </a:r>
          </a:p>
          <a:p>
            <a:r>
              <a:rPr sz="1100">
                <a:solidFill>
                  <a:srgbClr val="222222"/>
                </a:solidFill>
              </a:rPr>
              <a:t>•  시스템 통합: 기술적 분석에서 도출된 추세 점수(Trend Score)와 변동성 점수(Volatility Score)를 전체 FnRiskWatch 리스크 스코어링 로직에 반영하여 통합 리스크 등급을 산출합니다.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044  ·  44/216</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4</a:t>
            </a:r>
          </a:p>
          <a:p>
            <a:r>
              <a:rPr sz="1900" b="1">
                <a:solidFill>
                  <a:srgbClr val="FFFFFF"/>
                </a:solidFill>
              </a:rPr>
              <a:t>[045] AI 리포트 엔진 8 - 기본적 분석 (Fundamental Analysis)</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숫자로 증명하는 기업의 내재 가치</a:t>
            </a:r>
          </a:p>
          <a:p>
            <a:r>
              <a:rPr sz="1100">
                <a:solidFill>
                  <a:srgbClr val="222222"/>
                </a:solidFill>
              </a:rPr>
              <a:t>•  정의: DART(전자공시) API를 통해 수집한 재무제표 데이터를 바탕으로 수익성(ROE), 안정성(부채비율), 성장성(EPS), 가치평가(PER/PBR) 등을 분석하여 기업의 본질적 가치를 판단하는 모듈입니다.</a:t>
            </a:r>
          </a:p>
          <a:p>
            <a:r>
              <a:rPr sz="1100">
                <a:solidFill>
                  <a:srgbClr val="222222"/>
                </a:solidFill>
              </a:rPr>
              <a:t>•  핵심 가치: 차트의 움직임이 아닌 '기업이 실제로 돈을 얼마나 잘 벌고 있는가'에 집중하여, 중장기 투자 관점에서의 적정 주가와 투자 매력도를 산출합니다.</a:t>
            </a:r>
          </a:p>
          <a:p>
            <a:pPr>
              <a:spcBef>
                <a:spcPts val="600"/>
              </a:spcBef>
            </a:pPr>
            <a:r>
              <a:rPr sz="1300" b="1">
                <a:solidFill>
                  <a:srgbClr val="2E5984"/>
                </a:solidFill>
              </a:rPr>
              <a:t>2. 아키텍처 (Architecture): 재무 데이터 추출 및 스코어링 흐름</a:t>
            </a:r>
          </a:p>
          <a:p>
            <a:r>
              <a:rPr sz="1100">
                <a:solidFill>
                  <a:srgbClr val="222222"/>
                </a:solidFill>
              </a:rPr>
              <a:t>•  데이터 레이어: getDartData_를 통해 사업보고서 내 주요 계정(매출액, 영업이익, 당기순이익, 자본총계 등)을 수집합니다.</a:t>
            </a:r>
          </a:p>
          <a:p>
            <a:r>
              <a:rPr sz="1100">
                <a:solidFill>
                  <a:srgbClr val="222222"/>
                </a:solidFill>
              </a:rPr>
              <a:t>•  연산 레이어 (Fundamental Engine): 수집된 계정값을 이용해 주요 재무 비율을 계산하고, 사전에 정의된 루브릭(Rubric)에 따라 점수를 부여합니다.</a:t>
            </a:r>
          </a:p>
          <a:p>
            <a:r>
              <a:rPr sz="1100">
                <a:solidFill>
                  <a:srgbClr val="222222"/>
                </a:solidFill>
              </a:rPr>
              <a:t>•  분석 레이어: 계산된 지표와 점수를 GPT에게 전달하여 5대 분석 항목(PER, PBR, ROE, 성장성, 투자판단)에 맞춰 리포트를 생성합니다.</a:t>
            </a:r>
          </a:p>
          <a:p>
            <a:pPr>
              <a:spcBef>
                <a:spcPts val="600"/>
              </a:spcBef>
            </a:pPr>
            <a:r>
              <a:rPr sz="1300" b="1">
                <a:solidFill>
                  <a:srgbClr val="2E5984"/>
                </a:solidFill>
              </a:rPr>
              <a:t>3. 소스코드 (Source Code): runFundamentalAnalysis_ 및 분석 프롬프트</a:t>
            </a:r>
          </a:p>
          <a:p>
            <a:r>
              <a:rPr sz="1100">
                <a:solidFill>
                  <a:srgbClr val="222222"/>
                </a:solidFill>
              </a:rPr>
              <a:t>•  핵심 로직: 기업의 재무 건전성과 수익성을 종합 평가하는 프롬프트 구조입니다.</a:t>
            </a:r>
          </a:p>
          <a:p>
            <a:pPr>
              <a:spcBef>
                <a:spcPts val="600"/>
              </a:spcBef>
            </a:pPr>
            <a:r>
              <a:rPr sz="1300" b="1">
                <a:solidFill>
                  <a:srgbClr val="2E5984"/>
                </a:solidFill>
              </a:rPr>
              <a:t>4. 실습 (Practice): '삼성전자 가치 분석해줘' 실행 및 분석</a:t>
            </a:r>
          </a:p>
          <a:p>
            <a:r>
              <a:rPr sz="1100">
                <a:solidFill>
                  <a:srgbClr val="222222"/>
                </a:solidFill>
              </a:rPr>
              <a:t>•  과제: 텔레그램 봇에 "삼성전자 가치 분석해줘" 또는 "기본적 분석 리포트 써줘"라고 입력하고, GPT가 1)ROE 2)부채비율 3)PER/PBR 4)성장성 5)투자판단 순서로 답변을 내놓는지 확인하십시오.</a:t>
            </a:r>
          </a:p>
          <a:p>
            <a:r>
              <a:rPr sz="1100">
                <a:solidFill>
                  <a:srgbClr val="222222"/>
                </a:solidFill>
              </a:rPr>
              <a:t>•  확인 사항: 분석 내용 중 "ROE가 15% 이상으로 수익성이 우수하다"거나 "PBR이 1배 미만이므로 저평가 국면이다"와 같은 정량적 데이터에 기반한 의견이 포함되는지 체크합니다.</a:t>
            </a:r>
          </a:p>
          <a:p>
            <a:pPr>
              <a:spcBef>
                <a:spcPts val="600"/>
              </a:spcBef>
            </a:pPr>
            <a:r>
              <a:rPr sz="1300" b="1">
                <a:solidFill>
                  <a:srgbClr val="2E5984"/>
                </a:solidFill>
              </a:rPr>
              <a:t>5. 확장 (Expansion): 밸류에이션 모델(RIM, DCF) 및 업종 평균 비교</a:t>
            </a:r>
          </a:p>
          <a:p>
            <a:r>
              <a:rPr sz="1100">
                <a:solidFill>
                  <a:srgbClr val="222222"/>
                </a:solidFill>
              </a:rPr>
              <a:t>•  고도화 전략: 단순히 현재 지표를 보여주는 것을 넘어, 잔여이익모델(RIM)이나 현금흐름할인법(DCF)을 적용하여 'AI 추정 적정 주가'를 산출하는 기능을 추가합니다.</a:t>
            </a:r>
          </a:p>
          <a:p>
            <a:r>
              <a:rPr sz="1100">
                <a:solidFill>
                  <a:srgbClr val="222222"/>
                </a:solidFill>
              </a:rPr>
              <a:t>•  데이터 융합: 해당 기업의 지표를 동일 업종 평균과 비교 분석하여, 섹터 내에서 상대적으로 얼마나 저평가/고평가 되어 있는지를 판단하는 '피어 그룹(Peer Group) 비교' 에이전트로 확장합니다.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045  ·  45/216</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4</a:t>
            </a:r>
          </a:p>
          <a:p>
            <a:r>
              <a:rPr sz="1900" b="1">
                <a:solidFill>
                  <a:srgbClr val="FFFFFF"/>
                </a:solidFill>
              </a:rPr>
              <a:t>[046] AI 리포트 엔진 9 - 포트폴리오 점검 (Portfolio Review)</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개인 맞춤형 자산 진단 및 피드백,,</a:t>
            </a:r>
          </a:p>
          <a:p>
            <a:r>
              <a:rPr sz="1100">
                <a:solidFill>
                  <a:srgbClr val="222222"/>
                </a:solidFill>
              </a:rPr>
              <a:t>•  정의: 구글 시트에 기록된 사용자의 실제 보유 종목, 평단가, 비중 데이터를 GPT-5.1이 분석하여, 현재 포트폴리오의 위험도와 자산 배분 효율성을 진단하는 모듈입니다,.</a:t>
            </a:r>
          </a:p>
          <a:p>
            <a:r>
              <a:rPr sz="1100">
                <a:solidFill>
                  <a:srgbClr val="222222"/>
                </a:solidFill>
              </a:rPr>
              <a:t>•  핵심 가치: 범용적인 시장 분석을 넘어, "내 돈이 어디에 있고 얼마나 위험한가"에 대한 지극히 개인화된 투자 비서 역할을 수행하여 실질적인 자산 관리를 돕습니다,.</a:t>
            </a:r>
          </a:p>
          <a:p>
            <a:pPr>
              <a:spcBef>
                <a:spcPts val="600"/>
              </a:spcBef>
            </a:pPr>
            <a:r>
              <a:rPr sz="1300" b="1">
                <a:solidFill>
                  <a:srgbClr val="2E5984"/>
                </a:solidFill>
              </a:rPr>
              <a:t>2. 아키텍처 (Architecture): 내부 자산 데이터와 GPT의 결합 흐름,,</a:t>
            </a:r>
          </a:p>
          <a:p>
            <a:r>
              <a:rPr sz="1100">
                <a:solidFill>
                  <a:srgbClr val="222222"/>
                </a:solidFill>
              </a:rPr>
              <a:t>•  데이터 소스: 37번 슬라이드에서 구축한 getPortfolioData_ 함수를 통해 구글 시트의 'Portfolio' 탭 데이터를 JSON으로 가져옵니다,.</a:t>
            </a:r>
          </a:p>
          <a:p>
            <a:r>
              <a:rPr sz="1100">
                <a:solidFill>
                  <a:srgbClr val="222222"/>
                </a:solidFill>
              </a:rPr>
              <a:t>•  분석 레이어: GPT에게 "전문 포트폴리오 매니저(Portfolio Manager)" 페르소나를 부여하고, 전체 비중 합계 및 섹터별 쏠림 현상을 분석 컨텍스트로 전달합니다,.</a:t>
            </a:r>
          </a:p>
          <a:p>
            <a:r>
              <a:rPr sz="1100">
                <a:solidFill>
                  <a:srgbClr val="222222"/>
                </a:solidFill>
              </a:rPr>
              <a:t>•  전달 레이어: 평가 결과와 포트폴리오 개선 제안을 포함한 리포트를 텔레그램으로 전송합니다.</a:t>
            </a:r>
          </a:p>
          <a:p>
            <a:pPr>
              <a:spcBef>
                <a:spcPts val="600"/>
              </a:spcBef>
            </a:pPr>
            <a:r>
              <a:rPr sz="1300" b="1">
                <a:solidFill>
                  <a:srgbClr val="2E5984"/>
                </a:solidFill>
              </a:rPr>
              <a:t>3. 소스코드 (Source Code): runPortfolioReview_ 및 분석 프롬프트,,</a:t>
            </a:r>
          </a:p>
          <a:p>
            <a:r>
              <a:rPr sz="1100">
                <a:solidFill>
                  <a:srgbClr val="222222"/>
                </a:solidFill>
              </a:rPr>
              <a:t>•  핵심 로직: 보유 종목 데이터(${portfolio})를 바탕으로 자산 배분의 적절성을 평가하는 프롬프트 구조입니다.</a:t>
            </a:r>
          </a:p>
          <a:p>
            <a:pPr>
              <a:spcBef>
                <a:spcPts val="600"/>
              </a:spcBef>
            </a:pPr>
            <a:r>
              <a:rPr sz="1300" b="1">
                <a:solidFill>
                  <a:srgbClr val="2E5984"/>
                </a:solidFill>
              </a:rPr>
              <a:t>4. 실습 (Practice): '내 포트폴리오 점검해줘' 실행 및 분석,,</a:t>
            </a:r>
          </a:p>
          <a:p>
            <a:r>
              <a:rPr sz="1100">
                <a:solidFill>
                  <a:srgbClr val="222222"/>
                </a:solidFill>
              </a:rPr>
              <a:t>•  과제: 텔레그램 봇에 "내 포트폴리오 점검해줘"라고 입력하고, 봇이 1)자산 배분 2)쏠림 위험 3)리스크 평가 4)개선 제안 등 지정한 항목에 맞춰 답변하는지 확인하십시오,.</a:t>
            </a:r>
          </a:p>
          <a:p>
            <a:r>
              <a:rPr sz="1100">
                <a:solidFill>
                  <a:srgbClr val="222222"/>
                </a:solidFill>
              </a:rPr>
              <a:t>•  확인 사항: 리포트 내용이 본인의 구글 시트에 입력된 종목명과 비중을 정확히 인식하여 분석하고 있는지 체크합니다,.</a:t>
            </a:r>
          </a:p>
          <a:p>
            <a:pPr>
              <a:spcBef>
                <a:spcPts val="600"/>
              </a:spcBef>
            </a:pPr>
            <a:r>
              <a:rPr sz="1300" b="1">
                <a:solidFill>
                  <a:srgbClr val="2E5984"/>
                </a:solidFill>
              </a:rPr>
              <a:t>5. 확장 (Expansion): 리스크 엔진(RiskWatch)과 연동한 자동 리밸런싱,,</a:t>
            </a:r>
          </a:p>
          <a:p>
            <a:r>
              <a:rPr sz="1100">
                <a:solidFill>
                  <a:srgbClr val="222222"/>
                </a:solidFill>
              </a:rPr>
              <a:t>•  고도화 전략: 시장 리스크 엔진(40번 슬라이드)과 연동하여, 전체 시장 위험도가 'HIGH'로 상승할 경우 자동으로 포트폴리오를 점검하고 현금 비중 확대를 제안하는 기능을 구현합니다,.</a:t>
            </a:r>
          </a:p>
          <a:p>
            <a:r>
              <a:rPr sz="1100">
                <a:solidFill>
                  <a:srgbClr val="222222"/>
                </a:solidFill>
              </a:rPr>
              <a:t>•  AI 연동: 단순 진단을 넘어 "현재 거시 경제 상황(ECOS)을 고려할 때 반도체 비중을 10% 줄이고 방어주 비중을 높이라"는 식의 구체적인 리밸런싱 시나리오를 생성하는 '지능형 자산 관리 에이전트'로 진화합니다,.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046  ·  46/216</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73152"/>
          </a:xfrm>
          <a:prstGeom prst="rect">
            <a:avLst/>
          </a:prstGeom>
          <a:solidFill>
            <a:srgbClr val="6E8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834640"/>
            <a:ext cx="10515600" cy="1463040"/>
          </a:xfrm>
          <a:prstGeom prst="rect">
            <a:avLst/>
          </a:prstGeom>
          <a:noFill/>
        </p:spPr>
        <p:txBody>
          <a:bodyPr wrap="square">
            <a:spAutoFit/>
          </a:bodyPr>
          <a:lstStyle/>
          <a:p>
            <a:r>
              <a:rPr sz="1600">
                <a:solidFill>
                  <a:srgbClr val="9FB4F5"/>
                </a:solidFill>
              </a:rPr>
              <a:t>[2일차]</a:t>
            </a:r>
          </a:p>
          <a:p>
            <a:r>
              <a:rPr sz="2800" b="1">
                <a:solidFill>
                  <a:srgbClr val="FFFFFF"/>
                </a:solidFill>
              </a:rPr>
              <a:t>모듈 5 — 운영·보안: 신뢰할 수 있는 서비스로</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5</a:t>
            </a:r>
          </a:p>
          <a:p>
            <a:r>
              <a:rPr sz="1900" b="1">
                <a:solidFill>
                  <a:srgbClr val="FFFFFF"/>
                </a:solidFill>
              </a:rPr>
              <a:t>[047] 텔레그램 봇의 피드백 - 메시지 전송(Reply) 및 성공 응답</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분석 결과를 사용자에게 되돌려주는 '마지막 연결'</a:t>
            </a:r>
          </a:p>
          <a:p>
            <a:r>
              <a:rPr sz="1100">
                <a:solidFill>
                  <a:srgbClr val="222222"/>
                </a:solidFill>
              </a:rPr>
              <a:t>•  정의: Apps Script 내부에서 생성된 텍스트 리포트나 분석 결과물을 텔레그램 서버의 sendMessage API를 호출하여 사용자에게 물리적으로 전달하는 과정입니다(,).</a:t>
            </a:r>
          </a:p>
          <a:p>
            <a:r>
              <a:rPr sz="1100">
                <a:solidFill>
                  <a:srgbClr val="222222"/>
                </a:solidFill>
              </a:rPr>
              <a:t>•  핵심 가치: 아무리 훌륭한 AI 분석 결과가 나왔더라도, 사용자가 있는 인터페이스(채팅창)로 정확히 배달되지 않으면 서비스로서의 가치가 완성되지 않습니다(,).</a:t>
            </a:r>
          </a:p>
          <a:p>
            <a:pPr>
              <a:spcBef>
                <a:spcPts val="600"/>
              </a:spcBef>
            </a:pPr>
            <a:r>
              <a:rPr sz="1300" b="1">
                <a:solidFill>
                  <a:srgbClr val="2E5984"/>
                </a:solidFill>
              </a:rPr>
              <a:t>2. 아키텍처 (Architecture): 텔레그램 API 호출 및 응답 루프</a:t>
            </a:r>
          </a:p>
          <a:p>
            <a:r>
              <a:rPr sz="1100">
                <a:solidFill>
                  <a:srgbClr val="222222"/>
                </a:solidFill>
              </a:rPr>
              <a:t>•  전송 경로: [Apps Script sendTelegramMessage_] → [HTTPS POST] → [Telegram API Server] → [사용자 디바이스](,).</a:t>
            </a:r>
          </a:p>
          <a:p>
            <a:r>
              <a:rPr sz="1100">
                <a:solidFill>
                  <a:srgbClr val="222222"/>
                </a:solidFill>
              </a:rPr>
              <a:t>•  성공 처리: 텔레그램 서버로부터 메시지를 받았음을 확인하는 ok_() 응답(HTTP 200)을 반드시 반환하여 메시지 중복 수신이나 전송 재시도를 방지해야 합니다(,).</a:t>
            </a:r>
          </a:p>
          <a:p>
            <a:pPr>
              <a:spcBef>
                <a:spcPts val="600"/>
              </a:spcBef>
            </a:pPr>
            <a:r>
              <a:rPr sz="1300" b="1">
                <a:solidFill>
                  <a:srgbClr val="2E5984"/>
                </a:solidFill>
              </a:rPr>
              <a:t>3. 소스코드 (Source Code): sendTelegramMessage_ 및 ok_ 구현</a:t>
            </a:r>
          </a:p>
          <a:p>
            <a:r>
              <a:rPr sz="1100">
                <a:solidFill>
                  <a:srgbClr val="222222"/>
                </a:solidFill>
              </a:rPr>
              <a:t>•  핵심 로직: UrlFetchApp을 사용하여 텔레그램 서버에 JSON 페이로드를 전송합니다(,).</a:t>
            </a:r>
          </a:p>
          <a:p>
            <a:pPr>
              <a:spcBef>
                <a:spcPts val="600"/>
              </a:spcBef>
            </a:pPr>
            <a:r>
              <a:rPr sz="1300" b="1">
                <a:solidFill>
                  <a:srgbClr val="2E5984"/>
                </a:solidFill>
              </a:rPr>
              <a:t>4. 실습 (Practice): 채팅 ID 매핑 및 전송 테스트</a:t>
            </a:r>
          </a:p>
          <a:p>
            <a:r>
              <a:rPr sz="1100">
                <a:solidFill>
                  <a:srgbClr val="222222"/>
                </a:solidFill>
              </a:rPr>
              <a:t>•  과제: doPost(e)에서 추출된 update.message.chat.id 값이 sendTelegramMessage_ 함수의 첫 번째 인자로 정확히 전달되는지 디버깅 로그(logCommand_)를 통해 확인하십시오(,).</a:t>
            </a:r>
          </a:p>
          <a:p>
            <a:r>
              <a:rPr sz="1100">
                <a:solidFill>
                  <a:srgbClr val="222222"/>
                </a:solidFill>
              </a:rPr>
              <a:t>•  확인 사항: 봇에 명령을 보냈을 때 봇이 "시장 브리핑을 실행했습니다"라는 메시지와 함께 생성된 리포트를 지연 없이 회신하는지 테스트합니다(,).</a:t>
            </a:r>
          </a:p>
          <a:p>
            <a:pPr>
              <a:spcBef>
                <a:spcPts val="600"/>
              </a:spcBef>
            </a:pPr>
            <a:r>
              <a:rPr sz="1300" b="1">
                <a:solidFill>
                  <a:srgbClr val="2E5984"/>
                </a:solidFill>
              </a:rPr>
              <a:t>5. 확장 (Expansion): 서식 적용(HTML/Markdown) 및 대량 전송 최적화</a:t>
            </a:r>
          </a:p>
          <a:p>
            <a:r>
              <a:rPr sz="1100">
                <a:solidFill>
                  <a:srgbClr val="222222"/>
                </a:solidFill>
              </a:rPr>
              <a:t>•  고도화 전략: 단순히 텍스트만 보내는 것이 아니라, parse_mode를 활용하여 주요 수치에 굵게(Bold) 처리하거나 가독성을 높이는 HTML 태그를 적용합니다(,).</a:t>
            </a:r>
          </a:p>
          <a:p>
            <a:r>
              <a:rPr sz="1100">
                <a:solidFill>
                  <a:srgbClr val="222222"/>
                </a:solidFill>
              </a:rPr>
              <a:t>•  기술 적용: 수천 명의 구독자가 있는 텔레그램 채널(Channel)에 동시에 리포트를 발행할 때, 봇을 채널 관리자로 등록하고 채널의 고유 ID(@channel_username)로 메시지를 송출하도록 시스템을 확장합니다(,).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047  ·  47/216</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5</a:t>
            </a:r>
          </a:p>
          <a:p>
            <a:r>
              <a:rPr sz="1900" b="1">
                <a:solidFill>
                  <a:srgbClr val="FFFFFF"/>
                </a:solidFill>
              </a:rPr>
              <a:t>[048] 권한 관리 및 시스템 보안 - 관리자 화이트리스트 구현</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무분별한 API 호출과 비용 발생 방지,</a:t>
            </a:r>
          </a:p>
          <a:p>
            <a:r>
              <a:rPr sz="1100">
                <a:solidFill>
                  <a:srgbClr val="222222"/>
                </a:solidFill>
              </a:rPr>
              <a:t>•  필요성: 텔레그램 봇은 누구나 검색하여 메시지를 보낼 수 있습니다. 권한 제어가 없다면 제3자의 무분별한 호출로 인해 OpenAI API 비용이 급증하거나 Google Sheets에 스팸 로그가 기록되는 보안 사고가 발생할 수 있습니다,.</a:t>
            </a:r>
          </a:p>
          <a:p>
            <a:r>
              <a:rPr sz="1100">
                <a:solidFill>
                  <a:srgbClr val="222222"/>
                </a:solidFill>
              </a:rPr>
              <a:t>•  핵심 가치: 허가된 사용자(관리자)만 봇의 분석 기능을 실행할 수 있도록 제한하여 시스템의 안정성과 경제성을 확보합니다.</a:t>
            </a:r>
          </a:p>
          <a:p>
            <a:pPr>
              <a:spcBef>
                <a:spcPts val="600"/>
              </a:spcBef>
            </a:pPr>
            <a:r>
              <a:rPr sz="1300" b="1">
                <a:solidFill>
                  <a:srgbClr val="2E5984"/>
                </a:solidFill>
              </a:rPr>
              <a:t>2. 아키텍처 (Architecture): 진입점에서의 권한 검증 게이트웨이,</a:t>
            </a:r>
          </a:p>
          <a:p>
            <a:r>
              <a:rPr sz="1100">
                <a:solidFill>
                  <a:srgbClr val="222222"/>
                </a:solidFill>
              </a:rPr>
              <a:t>•  검증 시점: 텔레그램 서버로부터 웹훅(Webhook)이 수신되는 즉시, doPost(e) 함수의 최상단에서 발신자 ID를 확인합니다.</a:t>
            </a:r>
          </a:p>
          <a:p>
            <a:r>
              <a:rPr sz="1100">
                <a:solidFill>
                  <a:srgbClr val="222222"/>
                </a:solidFill>
              </a:rPr>
              <a:t>•  필터링 흐름: [메시지 수신] → [발신자 ID 추출] → [화이트리스트 대조] → (불일치 시) "권한 없음" 메시지 전송 후 즉시 종료.</a:t>
            </a:r>
          </a:p>
          <a:p>
            <a:pPr>
              <a:spcBef>
                <a:spcPts val="600"/>
              </a:spcBef>
            </a:pPr>
            <a:r>
              <a:rPr sz="1300" b="1">
                <a:solidFill>
                  <a:srgbClr val="2E5984"/>
                </a:solidFill>
              </a:rPr>
              <a:t>3. 소스코드 (Source Code): ALLOWED_USER_IDS를 활용한 필터링,,</a:t>
            </a:r>
          </a:p>
          <a:p>
            <a:r>
              <a:rPr sz="1100">
                <a:solidFill>
                  <a:srgbClr val="222222"/>
                </a:solidFill>
              </a:rPr>
              <a:t>•  핵심 로직: 특정 숫자 ID 배열에 포함되지 않은 사용자의 요청은 무시하거나 경고를 보냅니다.</a:t>
            </a:r>
          </a:p>
          <a:p>
            <a:pPr>
              <a:spcBef>
                <a:spcPts val="600"/>
              </a:spcBef>
            </a:pPr>
            <a:r>
              <a:rPr sz="1300" b="1">
                <a:solidFill>
                  <a:srgbClr val="2E5984"/>
                </a:solidFill>
              </a:rPr>
              <a:t>4. 실습 (Practice): 본인의 텔레그램 ID 확인 및 코드 적용</a:t>
            </a:r>
          </a:p>
          <a:p>
            <a:r>
              <a:rPr sz="1100">
                <a:solidFill>
                  <a:srgbClr val="222222"/>
                </a:solidFill>
              </a:rPr>
              <a:t>•  과제: 텔레그램에서 @userinfobot을 검색하여 실행한 뒤, 본인의 고유 숫자 ID를 확인하십시오.</a:t>
            </a:r>
          </a:p>
          <a:p>
            <a:r>
              <a:rPr sz="1100">
                <a:solidFill>
                  <a:srgbClr val="222222"/>
                </a:solidFill>
              </a:rPr>
              <a:t>•  적용: 확인된 ID를 Apps Script 상단의 ALLOWED_USER_IDS 배열에 추가하고, 다른 계정으로 메시지를 보냈을 때 봇이 차단 메시지를 보내는지 테스트합니다.</a:t>
            </a:r>
          </a:p>
          <a:p>
            <a:pPr>
              <a:spcBef>
                <a:spcPts val="600"/>
              </a:spcBef>
            </a:pPr>
            <a:r>
              <a:rPr sz="1300" b="1">
                <a:solidFill>
                  <a:srgbClr val="2E5984"/>
                </a:solidFill>
              </a:rPr>
              <a:t>5. 확장 (Expansion): 그룹/채널별 운영 전략 및 역할 기반 제어(RBAC),</a:t>
            </a:r>
          </a:p>
          <a:p>
            <a:r>
              <a:rPr sz="1100">
                <a:solidFill>
                  <a:srgbClr val="222222"/>
                </a:solidFill>
              </a:rPr>
              <a:t>•  고도화 전략: "명령 입력은 소수의 관리자가 있는 운영 그룹에서, 결과 배포는 다수의 구독자가 있는 공지 채널로" 분리하여 운영하는 것을 권장합니다.</a:t>
            </a:r>
          </a:p>
          <a:p>
            <a:r>
              <a:rPr sz="1100">
                <a:solidFill>
                  <a:srgbClr val="222222"/>
                </a:solidFill>
              </a:rPr>
              <a:t>•  기술 적용: 사용자의 등급(VIP, 일반, 관리자)에 따라 호출 가능한 액션(Action)의 범위를 다르게 설정하는 역할 기반 권한 제어 시스템으로 확장하여 수익화 모델의 기초를 마련합니다.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048  ·  48/216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5</a:t>
            </a:r>
          </a:p>
          <a:p>
            <a:r>
              <a:rPr sz="1900" b="1">
                <a:solidFill>
                  <a:srgbClr val="FFFFFF"/>
                </a:solidFill>
              </a:rPr>
              <a:t>[049] 운영 환경 설계 - 통합 워크플로우 및 로그 관리 (Log Management)</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AI 서비스의 '지속 가능성'을 위한 블랙박스 구축,</a:t>
            </a:r>
          </a:p>
          <a:p>
            <a:r>
              <a:rPr sz="1100">
                <a:solidFill>
                  <a:srgbClr val="222222"/>
                </a:solidFill>
              </a:rPr>
              <a:t>•  정의: 사용자의 모든 명령과 AI의 응답, 시스템의 처리 결과를 구글 시트(또는 DB)에 기록하여 실시간 모니터링 및 사후 분석이 가능하게 하는 과정입니다.</a:t>
            </a:r>
          </a:p>
          <a:p>
            <a:r>
              <a:rPr sz="1100">
                <a:solidFill>
                  <a:srgbClr val="222222"/>
                </a:solidFill>
              </a:rPr>
              <a:t>•  핵심 가치: "AI가 왜 이렇게 답변했지?"라는 의문에 답할 수 있는 '추적성(Traceability)'을 확보하고, 서비스 장애 시 빠르게 원인을 파악하여 복구할 수 있는 기반을 마련합니다.</a:t>
            </a:r>
          </a:p>
          <a:p>
            <a:pPr>
              <a:spcBef>
                <a:spcPts val="600"/>
              </a:spcBef>
            </a:pPr>
            <a:r>
              <a:rPr sz="1300" b="1">
                <a:solidFill>
                  <a:srgbClr val="2E5984"/>
                </a:solidFill>
              </a:rPr>
              <a:t>2. 아키텍처 (Architecture): 실무 운용을 위한 전방위 데이터 흐름,</a:t>
            </a:r>
          </a:p>
          <a:p>
            <a:r>
              <a:rPr sz="1100">
                <a:solidFill>
                  <a:srgbClr val="222222"/>
                </a:solidFill>
              </a:rPr>
              <a:t>•  통합 흐름: [Telegram] → [GAS Gateway] → [GPT Action] → [Data Layer] → [GPT Report] → [Google Sheets Log] → [Telegram Reply].</a:t>
            </a:r>
          </a:p>
          <a:p>
            <a:r>
              <a:rPr sz="1100">
                <a:solidFill>
                  <a:srgbClr val="222222"/>
                </a:solidFill>
              </a:rPr>
              <a:t>•  데이터 자산화: CommandLog 시트는 단순한 기록을 넘어, 향후 AI 모델을 재학습시키거나 사용자의 투자 성향을 분석하는 'AI 데이터맵'의 핵심 기초 데이터가 됩니다,.</a:t>
            </a:r>
          </a:p>
          <a:p>
            <a:pPr>
              <a:spcBef>
                <a:spcPts val="600"/>
              </a:spcBef>
            </a:pPr>
            <a:r>
              <a:rPr sz="1300" b="1">
                <a:solidFill>
                  <a:srgbClr val="2E5984"/>
                </a:solidFill>
              </a:rPr>
              <a:t>3. 소스코드 (Source Code): 실행 이력을 기록하는 logCommand_,,</a:t>
            </a:r>
          </a:p>
          <a:p>
            <a:r>
              <a:rPr sz="1100">
                <a:solidFill>
                  <a:srgbClr val="222222"/>
                </a:solidFill>
              </a:rPr>
              <a:t>•  핵심 로직: appendRow를 통해 시간, 메시지, 액션명, 처리 결과를 시트에 실시간으로 기록합니다.</a:t>
            </a:r>
          </a:p>
          <a:p>
            <a:pPr>
              <a:spcBef>
                <a:spcPts val="600"/>
              </a:spcBef>
            </a:pPr>
            <a:r>
              <a:rPr sz="1300" b="1">
                <a:solidFill>
                  <a:srgbClr val="2E5984"/>
                </a:solidFill>
              </a:rPr>
              <a:t>4. 실습 (Practice): 'CommandLog' 시트 분석 및 모니터링,,</a:t>
            </a:r>
          </a:p>
          <a:p>
            <a:r>
              <a:rPr sz="1100">
                <a:solidFill>
                  <a:srgbClr val="222222"/>
                </a:solidFill>
              </a:rPr>
              <a:t>•  과제: 텔레그램 봇에 여러 명령을 보낸 뒤, 구글 시트의 CommandLog 탭에 데이터가 행 단위로 정확히 쌓이는지 확인하십시오,.</a:t>
            </a:r>
          </a:p>
          <a:p>
            <a:r>
              <a:rPr sz="1100">
                <a:solidFill>
                  <a:srgbClr val="222222"/>
                </a:solidFill>
              </a:rPr>
              <a:t>•  확인 사항: GPT가 명령을 오분류(action: unknown)했을 때, userText와 비교하여 프롬프트를 어떻게 수정해야 할지 인사이트를 도출해 봅니다.</a:t>
            </a:r>
          </a:p>
          <a:p>
            <a:pPr>
              <a:spcBef>
                <a:spcPts val="600"/>
              </a:spcBef>
            </a:pPr>
            <a:r>
              <a:rPr sz="1300" b="1">
                <a:solidFill>
                  <a:srgbClr val="2E5984"/>
                </a:solidFill>
              </a:rPr>
              <a:t>5. 확장 (Expansion): 장애 대응(Retry) 및 24x365 자동 감시,</a:t>
            </a:r>
          </a:p>
          <a:p>
            <a:r>
              <a:rPr sz="1100">
                <a:solidFill>
                  <a:srgbClr val="222222"/>
                </a:solidFill>
              </a:rPr>
              <a:t>•  고도화 전략: API 호출 실패(Error) 시 로그에 'ERROR' 키워드를 남기고, 특정 횟수 이상 반복될 경우 관리자에게 긴급 알림을 보내는 '장애 탐지 로직'을 추가합니다.</a:t>
            </a:r>
          </a:p>
          <a:p>
            <a:r>
              <a:rPr sz="1100">
                <a:solidFill>
                  <a:srgbClr val="222222"/>
                </a:solidFill>
              </a:rPr>
              <a:t>•  최종 목표: Uptime Kuma와 같은 도구를 연동하여 서버 상태를 감시하거나, APScheduler를 통해 정해진 시간에 로그 데이터를 자동 백업 및 요약 보고하는 무중단 운영 체계를 구축합니다.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049  ·  49/216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5</a:t>
            </a:r>
          </a:p>
          <a:p>
            <a:r>
              <a:rPr sz="1900" b="1">
                <a:solidFill>
                  <a:srgbClr val="FFFFFF"/>
                </a:solidFill>
              </a:rPr>
              <a:t>[050] 운영 환경 설계 - 장애 대응(Error Handling) 및 시스템 안정화</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멈추지 않는 서비스를 위한 '방어적 설계'</a:t>
            </a:r>
          </a:p>
          <a:p>
            <a:r>
              <a:rPr sz="1100">
                <a:solidFill>
                  <a:srgbClr val="222222"/>
                </a:solidFill>
              </a:rPr>
              <a:t>•  정의: 외부 API(OpenAI, 코스콤 등)의 일시적 장애나 코드 오류 발생 시, 전체 시스템이 마비되지 않도록 예외 상황을 처리하고 관리자에게 즉시 알리는 프로세스입니다.</a:t>
            </a:r>
          </a:p>
          <a:p>
            <a:r>
              <a:rPr sz="1100">
                <a:solidFill>
                  <a:srgbClr val="222222"/>
                </a:solidFill>
              </a:rPr>
              <a:t>•  핵심 가치: 예기치 못한 에러 상황에서도 사용자에게 친절한 안내를 제공하고, 시스템의 무한 루프(Retry Loop)를 방지하여 불필요한 리소스 낭비를 막는 데 목적이 있습니다,.</a:t>
            </a:r>
          </a:p>
          <a:p>
            <a:pPr>
              <a:spcBef>
                <a:spcPts val="600"/>
              </a:spcBef>
            </a:pPr>
            <a:r>
              <a:rPr sz="1300" b="1">
                <a:solidFill>
                  <a:srgbClr val="2E5984"/>
                </a:solidFill>
              </a:rPr>
              <a:t>2. 아키텍처 (Architecture): Try-Catch 기반의 에러 포착 및 전파 흐름</a:t>
            </a:r>
          </a:p>
          <a:p>
            <a:r>
              <a:rPr sz="1100">
                <a:solidFill>
                  <a:srgbClr val="222222"/>
                </a:solidFill>
              </a:rPr>
              <a:t>•  에러 감지 레이어: 모든 실행 로직을 try-catch 문으로 감싸 발생 가능한 모든 에러를 포착합니다,.</a:t>
            </a:r>
          </a:p>
          <a:p>
            <a:r>
              <a:rPr sz="1100">
                <a:solidFill>
                  <a:srgbClr val="222222"/>
                </a:solidFill>
              </a:rPr>
              <a:t>•  로그 기록 레이어: 에러의 내용(Error Message)을 즉시 CommandLog 시트에 기록하여 원인을 추적합니다,.</a:t>
            </a:r>
          </a:p>
          <a:p>
            <a:r>
              <a:rPr sz="1100">
                <a:solidFill>
                  <a:srgbClr val="222222"/>
                </a:solidFill>
              </a:rPr>
              <a:t>•  응답 레이어: 사용자에게는 "잠시 후 다시 시도해 주세요"라는 메시지를 보내고, 텔레그램 서버에는 ok_() 응답을 반환하여 메시지 재전송을 중단시킵니다,.</a:t>
            </a:r>
          </a:p>
          <a:p>
            <a:pPr>
              <a:spcBef>
                <a:spcPts val="600"/>
              </a:spcBef>
            </a:pPr>
            <a:r>
              <a:rPr sz="1300" b="1">
                <a:solidFill>
                  <a:srgbClr val="2E5984"/>
                </a:solidFill>
              </a:rPr>
              <a:t>3. 소스코드 (Source Code): Apps Script의 예외 처리 표준 구조</a:t>
            </a:r>
          </a:p>
          <a:p>
            <a:r>
              <a:rPr sz="1100">
                <a:solidFill>
                  <a:srgbClr val="222222"/>
                </a:solidFill>
              </a:rPr>
              <a:t>•  핵심 로직: 에러 발생 시에도 시스템을 안전하게 종료하고 로그를 남기는 구조입니다.</a:t>
            </a:r>
          </a:p>
          <a:p>
            <a:pPr>
              <a:spcBef>
                <a:spcPts val="600"/>
              </a:spcBef>
            </a:pPr>
            <a:r>
              <a:rPr sz="1300" b="1">
                <a:solidFill>
                  <a:srgbClr val="2E5984"/>
                </a:solidFill>
              </a:rPr>
              <a:t>4. 실습 (Practice): 인위적 에러 발생 및 로그 추적 테스트</a:t>
            </a:r>
          </a:p>
          <a:p>
            <a:r>
              <a:rPr sz="1100">
                <a:solidFill>
                  <a:srgbClr val="222222"/>
                </a:solidFill>
              </a:rPr>
              <a:t>•  과제: API Key를 고의로 틀리게 입력하거나 존재하지 않는 함수를 호출하도록 코드를 수정한 뒤, 텔레그램 봇에 명령을 내려보십시오.</a:t>
            </a:r>
          </a:p>
          <a:p>
            <a:r>
              <a:rPr sz="1100">
                <a:solidFill>
                  <a:srgbClr val="222222"/>
                </a:solidFill>
              </a:rPr>
              <a:t>•  확인 사항: 1) 봇이 에러 안내 메시지를 보내는지, 2) CommandLog 시트에 구체적인 에러 메시지가 기록되는지, 3) 텔레그램 서버가 메시지를 반복해서 보내지 않는지 확인합니다.</a:t>
            </a:r>
          </a:p>
          <a:p>
            <a:pPr>
              <a:spcBef>
                <a:spcPts val="600"/>
              </a:spcBef>
            </a:pPr>
            <a:r>
              <a:rPr sz="1300" b="1">
                <a:solidFill>
                  <a:srgbClr val="2E5984"/>
                </a:solidFill>
              </a:rPr>
              <a:t>5. 확장 (Expansion): 자동 복구(Auto-healing) 및 외부 모니터링 연동</a:t>
            </a:r>
          </a:p>
          <a:p>
            <a:r>
              <a:rPr sz="1100">
                <a:solidFill>
                  <a:srgbClr val="222222"/>
                </a:solidFill>
              </a:rPr>
              <a:t>•  고도화 전략: 일시적인 네트워크 오류의 경우 지수 백오프(Exponential Backoff) 알고리즘을 적용하여 3회까지 자동 재시도하는 로직을 추가합니다.</a:t>
            </a:r>
          </a:p>
          <a:p>
            <a:r>
              <a:rPr sz="1100">
                <a:solidFill>
                  <a:srgbClr val="222222"/>
                </a:solidFill>
              </a:rPr>
              <a:t>•  운영 도구: Uptime Kuma나 Sentry와 같은 전문 모니터링 도구를 연동하여, 치명적 에러 발생 시 관리자의 워치(Watch)로 즉시 푸시 알림이 오도록 설계하여 장애 대응 속도를 극대화합니다,.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050  ·  50/216</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5</a:t>
            </a:r>
          </a:p>
          <a:p>
            <a:r>
              <a:rPr sz="1900" b="1">
                <a:solidFill>
                  <a:srgbClr val="FFFFFF"/>
                </a:solidFill>
              </a:rPr>
              <a:t>[051] 신규 Action 추가 - ETF 및 전문 자산 분석 확장</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플랫폼의 무한한 확장성 실현</a:t>
            </a:r>
          </a:p>
          <a:p>
            <a:r>
              <a:rPr sz="1100">
                <a:solidFill>
                  <a:srgbClr val="222222"/>
                </a:solidFill>
              </a:rPr>
              <a:t>•  정의: 기존의 시장/종목 분석 프레임워크를 활용하여 ETF(상장지수펀드), 채권, 환율, 원자재 등 새로운 금융 자산 분석 기능을 추가하는 과정입니다(,).</a:t>
            </a:r>
          </a:p>
          <a:p>
            <a:r>
              <a:rPr sz="1100">
                <a:solidFill>
                  <a:srgbClr val="222222"/>
                </a:solidFill>
              </a:rPr>
              <a:t>•  핵심 가치: 사용자의 다양한 투자 니즈에 맞춰 텔레그램 한 줄의 명령으로 특수 자산의 전문 리포트를 즉시 생성할 수 있는 '올인원 금융 플랫폼'으로 진화합니다(,).</a:t>
            </a:r>
          </a:p>
          <a:p>
            <a:pPr>
              <a:spcBef>
                <a:spcPts val="600"/>
              </a:spcBef>
            </a:pPr>
            <a:r>
              <a:rPr sz="1300" b="1">
                <a:solidFill>
                  <a:srgbClr val="2E5984"/>
                </a:solidFill>
              </a:rPr>
              <a:t>2. 아키텍처 (Architecture): 3단계 확장 워크플로우</a:t>
            </a:r>
          </a:p>
          <a:p>
            <a:r>
              <a:rPr sz="1100">
                <a:solidFill>
                  <a:srgbClr val="222222"/>
                </a:solidFill>
              </a:rPr>
              <a:t>•  Step 1 (분류기 업데이트): GPT Action Classifier의 시스템 프롬프트에 신규 액션(예: etf_analysis)과 설명, 예시 문장을 추가합니다(,,).</a:t>
            </a:r>
          </a:p>
          <a:p>
            <a:r>
              <a:rPr sz="1100">
                <a:solidFill>
                  <a:srgbClr val="222222"/>
                </a:solidFill>
              </a:rPr>
              <a:t>•  Step 2 (디스패처 연결): Apps Script의 switch(action) 블록에 새로운 case를 생성하고 대응하는 처리 함수를 매핑합니다(,,).</a:t>
            </a:r>
          </a:p>
          <a:p>
            <a:r>
              <a:rPr sz="1100">
                <a:solidFill>
                  <a:srgbClr val="222222"/>
                </a:solidFill>
              </a:rPr>
              <a:t>•  Step 3 (데이터 레이어 결합): 해당 자산 분석에 필요한 전용 데이터 API(예: 코스콤 ETF 시세 등)를 호출하는 함수를 연결합니다(,).</a:t>
            </a:r>
          </a:p>
          <a:p>
            <a:pPr>
              <a:spcBef>
                <a:spcPts val="600"/>
              </a:spcBef>
            </a:pPr>
            <a:r>
              <a:rPr sz="1300" b="1">
                <a:solidFill>
                  <a:srgbClr val="2E5984"/>
                </a:solidFill>
              </a:rPr>
              <a:t>3. 소스코드 (Source Code): runEtfAnalysis_ 신규 액션 구현</a:t>
            </a:r>
          </a:p>
          <a:p>
            <a:r>
              <a:rPr sz="1100">
                <a:solidFill>
                  <a:srgbClr val="222222"/>
                </a:solidFill>
              </a:rPr>
              <a:t>•  핵심 로직: ETF 전용 분석 페르소나를 활용하여 구조화된 리포트를 생성합니다.</a:t>
            </a:r>
          </a:p>
          <a:p>
            <a:pPr>
              <a:spcBef>
                <a:spcPts val="600"/>
              </a:spcBef>
            </a:pPr>
            <a:r>
              <a:rPr sz="1300" b="1">
                <a:solidFill>
                  <a:srgbClr val="2E5984"/>
                </a:solidFill>
              </a:rPr>
              <a:t>4. 실습 (Practice): '반도체 ETF 분석해줘' 실행 및 결과 확인</a:t>
            </a:r>
          </a:p>
          <a:p>
            <a:r>
              <a:rPr sz="1100">
                <a:solidFill>
                  <a:srgbClr val="222222"/>
                </a:solidFill>
              </a:rPr>
              <a:t>•  과제: 1) GPT 분류기 프롬프트에 etf_analysis를 추가하고, 2) 텔레그램 봇에 "반도체 ETF 분석해줘"라고 입력하여 신규 액션이 정확히 트리거되는지 확인하십시오(,).</a:t>
            </a:r>
          </a:p>
          <a:p>
            <a:r>
              <a:rPr sz="1100">
                <a:solidFill>
                  <a:srgbClr val="222222"/>
                </a:solidFill>
              </a:rPr>
              <a:t>•  확인 사항: 봇이 ETF 전용 분석 항목(괴리율, 운용보수 등)을 포함하여 답변을 생성하는지 검증합니다.</a:t>
            </a:r>
          </a:p>
          <a:p>
            <a:pPr>
              <a:spcBef>
                <a:spcPts val="600"/>
              </a:spcBef>
            </a:pPr>
            <a:r>
              <a:rPr sz="1300" b="1">
                <a:solidFill>
                  <a:srgbClr val="2E5984"/>
                </a:solidFill>
              </a:rPr>
              <a:t>5. 확장 (Expansion): 자산별 전문 에이전트 그룹(Multi-Agent) 고도화</a:t>
            </a:r>
          </a:p>
          <a:p>
            <a:r>
              <a:rPr sz="1100">
                <a:solidFill>
                  <a:srgbClr val="222222"/>
                </a:solidFill>
              </a:rPr>
              <a:t>•  고도화 전략: 단순히 텍스트 요약을 넘어, 각 자산 클래스별로 특화된 채권 에이전트, 환율 에이전트를 개별적으로 구축합니다(,).</a:t>
            </a:r>
          </a:p>
          <a:p>
            <a:r>
              <a:rPr sz="1100">
                <a:solidFill>
                  <a:srgbClr val="222222"/>
                </a:solidFill>
              </a:rPr>
              <a:t>•  최종 완성: 사용자가 "환율과 ETF 수익률의 상관관계를 분석해줘"와 같은 복합 명령을 내렸을 때, 여러 액션이 협업하여 고차원적 통찰을 제공하는 '에이전틱 AI 금융 비서'로 도달합니다(,).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051  ·  51/216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73152"/>
          </a:xfrm>
          <a:prstGeom prst="rect">
            <a:avLst/>
          </a:prstGeom>
          <a:solidFill>
            <a:srgbClr val="6E8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834640"/>
            <a:ext cx="10515600" cy="1463040"/>
          </a:xfrm>
          <a:prstGeom prst="rect">
            <a:avLst/>
          </a:prstGeom>
          <a:noFill/>
        </p:spPr>
        <p:txBody>
          <a:bodyPr wrap="square">
            <a:spAutoFit/>
          </a:bodyPr>
          <a:lstStyle/>
          <a:p>
            <a:r>
              <a:rPr sz="1600">
                <a:solidFill>
                  <a:srgbClr val="9FB4F5"/>
                </a:solidFill>
              </a:rPr>
              <a:t>[2일차]</a:t>
            </a:r>
          </a:p>
          <a:p>
            <a:r>
              <a:rPr sz="2800" b="1">
                <a:solidFill>
                  <a:srgbClr val="FFFFFF"/>
                </a:solidFill>
              </a:rPr>
              <a:t>모듈 6 — 캡스톤 &amp; 에이전틱 진화</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6</a:t>
            </a:r>
          </a:p>
          <a:p>
            <a:r>
              <a:rPr sz="1900" b="1">
                <a:solidFill>
                  <a:srgbClr val="FFFFFF"/>
                </a:solidFill>
              </a:rPr>
              <a:t>[052] 최종 프로젝트 - 에이전틱 AI 금융비서 통합 구축</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10개 이상의 액션이 결합된 '지능형 금융 단말'</a:t>
            </a:r>
          </a:p>
          <a:p>
            <a:r>
              <a:rPr sz="1100">
                <a:solidFill>
                  <a:srgbClr val="222222"/>
                </a:solidFill>
              </a:rPr>
              <a:t>•  정의: 지금까지 학습한 모든 모듈(시장, 뉴스, 리스크, 종목, 산업, 기술, 기본분석, 포트폴리오 등)을 하나의 Action Framework로 통합하여 사용자 질의에 즉각 대응하는 에이전틱 AI 시스템을 완성하는 과정입니다.</a:t>
            </a:r>
          </a:p>
          <a:p>
            <a:r>
              <a:rPr sz="1100">
                <a:solidFill>
                  <a:srgbClr val="222222"/>
                </a:solidFill>
              </a:rPr>
              <a:t>•  핵심 가치: 텔레그램 한 줄의 명령으로 데이터 수집부터 분석, 리포트 생성, PDF 발행까지 전 과정을 자동화하여 나만의 AI 금융 비서를 실무에 즉시 배치합니다.</a:t>
            </a:r>
          </a:p>
          <a:p>
            <a:pPr>
              <a:spcBef>
                <a:spcPts val="600"/>
              </a:spcBef>
            </a:pPr>
            <a:r>
              <a:rPr sz="1300" b="1">
                <a:solidFill>
                  <a:srgbClr val="2E5984"/>
                </a:solidFill>
              </a:rPr>
              <a:t>2. 아키텍처 (Architecture): 엔드 투 엔드(E2E) 오케스트레이션 구조</a:t>
            </a:r>
          </a:p>
          <a:p>
            <a:r>
              <a:rPr sz="1100">
                <a:solidFill>
                  <a:srgbClr val="222222"/>
                </a:solidFill>
              </a:rPr>
              <a:t>•  통합 워크플로우: [사용자 질의] → [GPT 분류기] → [중앙 Dispatcher] → [멀티 데이터 레이어(DART/ECOS/코스콤)] → [GPT 분석 엔진] → [PDF 생성] → [텔레그램 배포].</a:t>
            </a:r>
          </a:p>
          <a:p>
            <a:r>
              <a:rPr sz="1100">
                <a:solidFill>
                  <a:srgbClr val="222222"/>
                </a:solidFill>
              </a:rPr>
              <a:t>•  구조적 특징: 각 기능을 독립적인 모듈형 액션(Action)으로 설계하여, 향후 신규 자산군이나 분석 로직을 추가하더라도 전체 시스템의 안정성을 유지하는 '확장형 아키텍처'를 채택합니다.</a:t>
            </a:r>
          </a:p>
          <a:p>
            <a:pPr>
              <a:spcBef>
                <a:spcPts val="600"/>
              </a:spcBef>
            </a:pPr>
            <a:r>
              <a:rPr sz="1300" b="1">
                <a:solidFill>
                  <a:srgbClr val="2E5984"/>
                </a:solidFill>
              </a:rPr>
              <a:t>3. 소스코드 (Source Code): 10개 이상의 액션이 포함된 통합 Dispatcher</a:t>
            </a:r>
          </a:p>
          <a:p>
            <a:r>
              <a:rPr sz="1100">
                <a:solidFill>
                  <a:srgbClr val="222222"/>
                </a:solidFill>
              </a:rPr>
              <a:t>•  핵심 로직: 모든 분석 엔진을 중앙에서 제어하는 switch(action) 블록의 완성본입니다.</a:t>
            </a:r>
          </a:p>
          <a:p>
            <a:pPr>
              <a:spcBef>
                <a:spcPts val="600"/>
              </a:spcBef>
            </a:pPr>
            <a:r>
              <a:rPr sz="1300" b="1">
                <a:solidFill>
                  <a:srgbClr val="2E5984"/>
                </a:solidFill>
              </a:rPr>
              <a:t>4. 실습 (Practice): '삼성전자 분석하고 내 리스크 점검해줘' 복합 실행</a:t>
            </a:r>
          </a:p>
          <a:p>
            <a:r>
              <a:rPr sz="1100">
                <a:solidFill>
                  <a:srgbClr val="222222"/>
                </a:solidFill>
              </a:rPr>
              <a:t>•  과제: 통합된 봇에게 "삼성전자 분석하고 현재 시장 리스크와 내 포트폴리오 상태를 알려줘"와 같은 복합적인 투자 요구를 던지고, 시스템이 각 액션을 정확히 트리거하여 답변하는지 확인하십시오.</a:t>
            </a:r>
          </a:p>
          <a:p>
            <a:r>
              <a:rPr sz="1100">
                <a:solidFill>
                  <a:srgbClr val="222222"/>
                </a:solidFill>
              </a:rPr>
              <a:t>•  확인 사항: 텔레그램 응답과 동시에 PDF 리포트가 자동 생성되어 전송되는지, 구글 시트 CommandLog에 모든 실행 이력이 누락 없이 기록되는지 검증합니다.</a:t>
            </a:r>
          </a:p>
          <a:p>
            <a:pPr>
              <a:spcBef>
                <a:spcPts val="600"/>
              </a:spcBef>
            </a:pPr>
            <a:r>
              <a:rPr sz="1300" b="1">
                <a:solidFill>
                  <a:srgbClr val="2E5984"/>
                </a:solidFill>
              </a:rPr>
              <a:t>5. 확장 (Expansion): 24x365 운영 자동화 및 AI 데이터맵 연계</a:t>
            </a:r>
          </a:p>
          <a:p>
            <a:r>
              <a:rPr sz="1100">
                <a:solidFill>
                  <a:srgbClr val="222222"/>
                </a:solidFill>
              </a:rPr>
              <a:t>•  고도화 전략: 사용자의 명령이 없어도 매일 오전 7시에 데일리 리포트를 자동 발행하는 자동 스케줄링(APScheduler) 기능을 연동합니다.</a:t>
            </a:r>
          </a:p>
          <a:p>
            <a:r>
              <a:rPr sz="1100">
                <a:solidFill>
                  <a:srgbClr val="222222"/>
                </a:solidFill>
              </a:rPr>
              <a:t>•  최종 목표: 구축된 시스템을 AI 데이터맵 및 FnRiskWatch RAG와 연계하여, 과거 유사 국면 검색 기능까지 탑재한 상용 수준의 '초개인화 AI 자산관리 플랫폼'으로 고도화합니다.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052  ·  52/216</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6</a:t>
            </a:r>
          </a:p>
          <a:p>
            <a:r>
              <a:rPr sz="1900" b="1">
                <a:solidFill>
                  <a:srgbClr val="FFFFFF"/>
                </a:solidFill>
              </a:rPr>
              <a:t>[053] 지식의 연결 - FnRiskWatch RAG (검색 증강 생성) MVP</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단순 데이터를 넘어 '금융 지식'을 읽는 AI</a:t>
            </a:r>
          </a:p>
          <a:p>
            <a:r>
              <a:rPr sz="1100">
                <a:solidFill>
                  <a:srgbClr val="222222"/>
                </a:solidFill>
              </a:rPr>
              <a:t>•  정의: 실시간 데이터뿐만 아니라, 구글 드라이브에 저장된 과거 위기 사례, 산업 리포트, 리스크 매뉴얼 등 사내외 지식 파일을 AI가 스스로 검색하여 답변에 활용하는 기술(RAG)입니다.</a:t>
            </a:r>
          </a:p>
          <a:p>
            <a:r>
              <a:rPr sz="1100">
                <a:solidFill>
                  <a:srgbClr val="222222"/>
                </a:solidFill>
              </a:rPr>
              <a:t>•  핵심 가치: "현재 금리 상승이 위험한가?"라는 질문에 대해, AI가 과거 2008년 금융위기나 특정 시점의 금리 리스크 지식 파일을 찾아내어 데이터와 지식을 결합한 고차원적 통찰을 제공합니다.</a:t>
            </a:r>
          </a:p>
          <a:p>
            <a:pPr>
              <a:spcBef>
                <a:spcPts val="600"/>
              </a:spcBef>
            </a:pPr>
            <a:r>
              <a:rPr sz="1300" b="1">
                <a:solidFill>
                  <a:srgbClr val="2E5984"/>
                </a:solidFill>
              </a:rPr>
              <a:t>2. 아키텍처 (Architecture): 지식 저장소와 색인(Index) 구조</a:t>
            </a:r>
          </a:p>
          <a:p>
            <a:r>
              <a:rPr sz="1100">
                <a:solidFill>
                  <a:srgbClr val="222222"/>
                </a:solidFill>
              </a:rPr>
              <a:t>•  지식 레이어: Google Drive 폴더에 분야별 리스크 지식 파일(환율, 금리, 반도체 등)을 TXT 또는 PDF로 저장합니다.</a:t>
            </a:r>
          </a:p>
          <a:p>
            <a:r>
              <a:rPr sz="1100">
                <a:solidFill>
                  <a:srgbClr val="222222"/>
                </a:solidFill>
              </a:rPr>
              <a:t>•  인덱스 레이어: Google Sheets의 KNOWLEDGE_INDEX 탭에서 각 파일의 키워드와 요약을 관리합니다.</a:t>
            </a:r>
          </a:p>
          <a:p>
            <a:r>
              <a:rPr sz="1100">
                <a:solidFill>
                  <a:srgbClr val="222222"/>
                </a:solidFill>
              </a:rPr>
              <a:t>•  검색 흐름: [질의 발생] → [키워드 기반 지식 시트 검색] → [관련 본문 추출] → [GPT 분석 컨텍스트 주입].</a:t>
            </a:r>
          </a:p>
          <a:p>
            <a:pPr>
              <a:spcBef>
                <a:spcPts val="600"/>
              </a:spcBef>
            </a:pPr>
            <a:r>
              <a:rPr sz="1300" b="1">
                <a:solidFill>
                  <a:srgbClr val="2E5984"/>
                </a:solidFill>
              </a:rPr>
              <a:t>3. 소스코드 (Source Code): runFnRiskWatchRAG_ 핵심 로직</a:t>
            </a:r>
          </a:p>
          <a:p>
            <a:r>
              <a:rPr sz="1100">
                <a:solidFill>
                  <a:srgbClr val="222222"/>
                </a:solidFill>
              </a:rPr>
              <a:t>•  핵심 로직: 수집된 뉴스 데이터와 연관된 지식 파일을 인덱스 시트에서 찾아 GPT에게 함께 전달합니다.</a:t>
            </a:r>
          </a:p>
          <a:p>
            <a:pPr>
              <a:spcBef>
                <a:spcPts val="600"/>
              </a:spcBef>
            </a:pPr>
            <a:r>
              <a:rPr sz="1300" b="1">
                <a:solidFill>
                  <a:srgbClr val="2E5984"/>
                </a:solidFill>
              </a:rPr>
              <a:t>4. 실습 (Practice): '미국 반도체 규제' 뉴스에 대한 RAG 작동 테스트</a:t>
            </a:r>
          </a:p>
          <a:p>
            <a:r>
              <a:rPr sz="1100">
                <a:solidFill>
                  <a:srgbClr val="222222"/>
                </a:solidFill>
              </a:rPr>
              <a:t>•  과제: 01_INPUT 시트에 "미국 반도체 수출 규제 강화" 뉴스를 입력하고 시스템을 실행해 보십시오.</a:t>
            </a:r>
          </a:p>
          <a:p>
            <a:r>
              <a:rPr sz="1100">
                <a:solidFill>
                  <a:srgbClr val="222222"/>
                </a:solidFill>
              </a:rPr>
              <a:t>•  확인 사항: GPT가 분석 결과(03_RESULT)에 03_반도체리스크.txt 파일을 참조했다고 표시하며, 과거 규제 사례를 언급하는지 확인합니다.</a:t>
            </a:r>
          </a:p>
          <a:p>
            <a:pPr>
              <a:spcBef>
                <a:spcPts val="600"/>
              </a:spcBef>
            </a:pPr>
            <a:r>
              <a:rPr sz="1300" b="1">
                <a:solidFill>
                  <a:srgbClr val="2E5984"/>
                </a:solidFill>
              </a:rPr>
              <a:t>5. 확장 (Expansion): 키워드 검색에서 벡터 DB(ChromaDB)로의 진화</a:t>
            </a:r>
          </a:p>
          <a:p>
            <a:r>
              <a:rPr sz="1100">
                <a:solidFill>
                  <a:srgbClr val="222222"/>
                </a:solidFill>
              </a:rPr>
              <a:t>•  고도화 전략: 지식 문서가 100개 이상으로 늘어나 단순 키워드 매칭으로 한계가 올 경우, 문장의 의미를 숫자로 변환하는 임베딩(Embedding) 기술을 도입합니다.</a:t>
            </a:r>
          </a:p>
          <a:p>
            <a:r>
              <a:rPr sz="1100">
                <a:solidFill>
                  <a:srgbClr val="222222"/>
                </a:solidFill>
              </a:rPr>
              <a:t>•  기술 적용: ChromaDB(벡터 DB)를 연동하여 "단어"가 아닌 "맥락"이 유사한 지식을 찾아내는 시맨틱 검색(Semantic Search) 기반의 엔터프라이즈 RAG 시스템으로 확장합니다.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053  ·  53/216</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6</a:t>
            </a:r>
          </a:p>
          <a:p>
            <a:r>
              <a:rPr sz="1900" b="1">
                <a:solidFill>
                  <a:srgbClr val="FFFFFF"/>
                </a:solidFill>
              </a:rPr>
              <a:t>[054] 자율형 에이전트의 협업 - CrewAI 멀티 에이전트 시스템</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개별 AI를 넘어선 'AI 워크포스(Workforce)' 구축</a:t>
            </a:r>
          </a:p>
          <a:p>
            <a:r>
              <a:rPr sz="1100">
                <a:solidFill>
                  <a:srgbClr val="222222"/>
                </a:solidFill>
              </a:rPr>
              <a:t>•  정의: 복잡한 금융 분석 업무를 수행하기 위해 서로 다른 역할(Role)을 가진 여러 AI 에이전트가 협력하고 작업을 분담하는 자율형 프레임워크입니다.</a:t>
            </a:r>
          </a:p>
          <a:p>
            <a:r>
              <a:rPr sz="1100">
                <a:solidFill>
                  <a:srgbClr val="222222"/>
                </a:solidFill>
              </a:rPr>
              <a:t>•  핵심 가치: 한 명의 AI가 모든 답을 내리는 것이 아니라, 매크로 분석가, 차트 전문가, 재무 전문가가 각자의 시각에서 분석하고 조율하여 최적의 결론을 도출하는 '에이전틱(Agentic)' 의사결정을 실현합니다.</a:t>
            </a:r>
          </a:p>
          <a:p>
            <a:pPr>
              <a:spcBef>
                <a:spcPts val="600"/>
              </a:spcBef>
            </a:pPr>
            <a:r>
              <a:rPr sz="1300" b="1">
                <a:solidFill>
                  <a:srgbClr val="2E5984"/>
                </a:solidFill>
              </a:rPr>
              <a:t>2. 아키텍처 (Architecture): 역할 기반 협업(Collaborative) 프로세스</a:t>
            </a:r>
          </a:p>
          <a:p>
            <a:r>
              <a:rPr sz="1100">
                <a:solidFill>
                  <a:srgbClr val="222222"/>
                </a:solidFill>
              </a:rPr>
              <a:t>•  5대 구성 요소: ①역할(Role) 정의 → ②작업(Task) 정의 → ③에이전트 생성 → ④협업 구조 설계 → ⑤결과 통합.</a:t>
            </a:r>
          </a:p>
          <a:p>
            <a:r>
              <a:rPr sz="1100">
                <a:solidFill>
                  <a:srgbClr val="222222"/>
                </a:solidFill>
              </a:rPr>
              <a:t>•  워크플로우: [사용자 요청] → [데이터 수집 에이전트] → [전문 분야 분석 에이전트들(병렬)] → [최종 리포트 에이전트] → [종합 리포트 발행].</a:t>
            </a:r>
          </a:p>
          <a:p>
            <a:pPr>
              <a:spcBef>
                <a:spcPts val="600"/>
              </a:spcBef>
            </a:pPr>
            <a:r>
              <a:rPr sz="1300" b="1">
                <a:solidFill>
                  <a:srgbClr val="2E5984"/>
                </a:solidFill>
              </a:rPr>
              <a:t>3. 소스코드 (Source Code): CrewAI 기반 멀티 에이전트 정의</a:t>
            </a:r>
          </a:p>
          <a:p>
            <a:r>
              <a:rPr sz="1100">
                <a:solidFill>
                  <a:srgbClr val="222222"/>
                </a:solidFill>
              </a:rPr>
              <a:t>•  핵심 로직: 에이전트별 페르소나와 담당 업무를 명확히 분리하여 설계합니다.</a:t>
            </a:r>
          </a:p>
          <a:p>
            <a:pPr>
              <a:spcBef>
                <a:spcPts val="600"/>
              </a:spcBef>
            </a:pPr>
            <a:r>
              <a:rPr sz="1300" b="1">
                <a:solidFill>
                  <a:srgbClr val="2E5984"/>
                </a:solidFill>
              </a:rPr>
              <a:t>4. 실습 (Practice): '종합 투자 위원회' 시뮬레이션</a:t>
            </a:r>
          </a:p>
          <a:p>
            <a:r>
              <a:rPr sz="1100">
                <a:solidFill>
                  <a:srgbClr val="222222"/>
                </a:solidFill>
              </a:rPr>
              <a:t>•  과제: 본인이 구축한 시스템에 FundamentalAnalyst와 TechnicalAnalyst 에이전트를 추가하고, 하나의 종목에 대해 두 에이전트가 서로 다른 의견(예: 재무는 양호하나 차트는 과매수)을 낼 때 이를 통합하는 과정을 관찰하십시오.</a:t>
            </a:r>
          </a:p>
          <a:p>
            <a:r>
              <a:rPr sz="1100">
                <a:solidFill>
                  <a:srgbClr val="222222"/>
                </a:solidFill>
              </a:rPr>
              <a:t>•  확인 사항: 각 에이전트가 본인의 역할(Role)에 맞는 전문 용어와 분석 논리를 사용하는지 체크합니다.</a:t>
            </a:r>
          </a:p>
          <a:p>
            <a:pPr>
              <a:spcBef>
                <a:spcPts val="600"/>
              </a:spcBef>
            </a:pPr>
            <a:r>
              <a:rPr sz="1300" b="1">
                <a:solidFill>
                  <a:srgbClr val="2E5984"/>
                </a:solidFill>
              </a:rPr>
              <a:t>5. 확장 (Expansion): 자율 반복(Plan-Act-Observe) 및 실시간 대응</a:t>
            </a:r>
          </a:p>
          <a:p>
            <a:r>
              <a:rPr sz="1100">
                <a:solidFill>
                  <a:srgbClr val="222222"/>
                </a:solidFill>
              </a:rPr>
              <a:t>•  고도화 전략: 에이전트가 스스로 분석 계획을 세우고, 결과를 관찰한 뒤 스스로 수정한 보고서를 내놓는 자율 반복(Reflection) 루프를 강화합니다.</a:t>
            </a:r>
          </a:p>
          <a:p>
            <a:r>
              <a:rPr sz="1100">
                <a:solidFill>
                  <a:srgbClr val="222222"/>
                </a:solidFill>
              </a:rPr>
              <a:t>•  기술 적용: 특정 시장 리스크가 감지될 경우 에이전트들이 긴급 회의를 소집하여 대응 전략을 업데이트하고, 이를 텔레그램으로 즉시 보고하는 '24/7 자율 운영 투자 팀'으로 확장합니다.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054  ·  54/216</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6</a:t>
            </a:r>
          </a:p>
          <a:p>
            <a:r>
              <a:rPr sz="1900" b="1">
                <a:solidFill>
                  <a:srgbClr val="FFFFFF"/>
                </a:solidFill>
              </a:rPr>
              <a:t>[055] 서비스의 완성 - PDF 리포트 자동 생성 및 시각화 엔진</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AI 인사이트의 물리적 자산화</a:t>
            </a:r>
          </a:p>
          <a:p>
            <a:r>
              <a:rPr sz="1100">
                <a:solidFill>
                  <a:srgbClr val="222222"/>
                </a:solidFill>
              </a:rPr>
              <a:t>•  정의: GPT-5.1이 생성한 구조화된 분석 데이터를 ReportLab 라이브러리를 통해 전문 애널리스트 양식의 1페이지 PDF 보고서로 자동 변환하는 과정입니다.</a:t>
            </a:r>
          </a:p>
          <a:p>
            <a:r>
              <a:rPr sz="1100">
                <a:solidFill>
                  <a:srgbClr val="222222"/>
                </a:solidFill>
              </a:rPr>
              <a:t>•  핵심 가치: 채팅창의 휘발성 메시지를 넘어, 투자자가 보관하거나 공유할 수 있는 '실제 문서'를 실시간으로 발행함으로써 서비스의 신뢰도와 상용 수준의 완성도를 확보합니다.</a:t>
            </a:r>
          </a:p>
          <a:p>
            <a:pPr>
              <a:spcBef>
                <a:spcPts val="600"/>
              </a:spcBef>
            </a:pPr>
            <a:r>
              <a:rPr sz="1300" b="1">
                <a:solidFill>
                  <a:srgbClr val="2E5984"/>
                </a:solidFill>
              </a:rPr>
              <a:t>2. 아키텍처 (Architecture): 데이터-GPT-PDF 엔진의 결합</a:t>
            </a:r>
          </a:p>
          <a:p>
            <a:r>
              <a:rPr sz="1100">
                <a:solidFill>
                  <a:srgbClr val="222222"/>
                </a:solidFill>
              </a:rPr>
              <a:t>•  데이터 흐름: [GPT Structured Output] → [JSON 데이터 정규화] → [PDF 템플릿 매핑] → [ReportLab 렌더링] → [PDF 파일 생성].</a:t>
            </a:r>
          </a:p>
          <a:p>
            <a:r>
              <a:rPr sz="1100">
                <a:solidFill>
                  <a:srgbClr val="222222"/>
                </a:solidFill>
              </a:rPr>
              <a:t>•  구조적 특징: OpenAI의 Structured Output 기능을 활용하여 AI가 보낸 답변이 PDF 엔진의 특정 칸(요약, 리스크, 전략 등)에 오차 없이 박히도록 설계합니다.</a:t>
            </a:r>
          </a:p>
          <a:p>
            <a:pPr>
              <a:spcBef>
                <a:spcPts val="600"/>
              </a:spcBef>
            </a:pPr>
            <a:r>
              <a:rPr sz="1300" b="1">
                <a:solidFill>
                  <a:srgbClr val="2E5984"/>
                </a:solidFill>
              </a:rPr>
              <a:t>3. 소스코드 (Source Code): create_pdf_report 핵심 로직</a:t>
            </a:r>
          </a:p>
          <a:p>
            <a:r>
              <a:rPr sz="1100">
                <a:solidFill>
                  <a:srgbClr val="222222"/>
                </a:solidFill>
              </a:rPr>
              <a:t>•  핵심 로직: SimpleDocTemplate을 사용하여 텍스트와 표를 배치하고 PDF로 빌드합니다.</a:t>
            </a:r>
          </a:p>
          <a:p>
            <a:pPr>
              <a:spcBef>
                <a:spcPts val="600"/>
              </a:spcBef>
            </a:pPr>
            <a:r>
              <a:rPr sz="1300" b="1">
                <a:solidFill>
                  <a:srgbClr val="2E5984"/>
                </a:solidFill>
              </a:rPr>
              <a:t>4. 실습 (Practice): '삼성전자 1페이지 PDF' 발행 테스트</a:t>
            </a:r>
          </a:p>
          <a:p>
            <a:r>
              <a:rPr sz="1100">
                <a:solidFill>
                  <a:srgbClr val="222222"/>
                </a:solidFill>
              </a:rPr>
              <a:t>•  과제: 텔레그램 봇이나 웹 단말에서 삼성전자(005930) 분석을 실행하고, 생성된 PDF 파일이 reports/ 폴더에 저장되는지 확인하십시오.</a:t>
            </a:r>
          </a:p>
          <a:p>
            <a:r>
              <a:rPr sz="1100">
                <a:solidFill>
                  <a:srgbClr val="222222"/>
                </a:solidFill>
              </a:rPr>
              <a:t>•  확인 사항: 1) 한글 폰트가 깨지지 않고 정상 출력되는지, 2) GPT가 생성한 '핵심 포인트'와 '대응 전략'이 표(Table) 안에 정렬되어 나타나는지 체크합니다.</a:t>
            </a:r>
          </a:p>
          <a:p>
            <a:pPr>
              <a:spcBef>
                <a:spcPts val="600"/>
              </a:spcBef>
            </a:pPr>
            <a:r>
              <a:rPr sz="1300" b="1">
                <a:solidFill>
                  <a:srgbClr val="2E5984"/>
                </a:solidFill>
              </a:rPr>
              <a:t>5. 확장 (Expansion): 시각화 차트 삽입 및 이메일/채널 자동 배포</a:t>
            </a:r>
          </a:p>
          <a:p>
            <a:r>
              <a:rPr sz="1100">
                <a:solidFill>
                  <a:srgbClr val="222222"/>
                </a:solidFill>
              </a:rPr>
              <a:t>•  고도화 전략: mplfinance 라이브러리로 생성한 캔들 차트 이미지를 PDF 내부에 자동으로 삽입하여 분석의 가독성을 높입니다.</a:t>
            </a:r>
          </a:p>
          <a:p>
            <a:r>
              <a:rPr sz="1100">
                <a:solidFill>
                  <a:srgbClr val="222222"/>
                </a:solidFill>
              </a:rPr>
              <a:t>•  최종 완성: 생성된 PDF를 사용자에게 직접 전송할 뿐만 아니라, VIP 전용 텔레그램 채널이나 이메일 리스트로 자동 배포하는 '지능형 콘텐츠 유통 파이프라인'으로 확장합니다.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055  ·  55/216</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6</a:t>
            </a:r>
          </a:p>
          <a:p>
            <a:r>
              <a:rPr sz="1900" b="1">
                <a:solidFill>
                  <a:srgbClr val="FFFFFF"/>
                </a:solidFill>
              </a:rPr>
              <a:t>[056] 교육의 마무리 - 최종 체크리스트 및 미래 확장 로드맵</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실전 배치 가능한 'AI 금융 아키텍처'의 완성</a:t>
            </a:r>
          </a:p>
          <a:p>
            <a:r>
              <a:rPr sz="1100">
                <a:solidFill>
                  <a:srgbClr val="222222"/>
                </a:solidFill>
              </a:rPr>
              <a:t>•  정의: 단순한 코딩 실습을 넘어, 데이터 수집-분석-생성-배포가 자동화된 에이전틱 AI 플랫폼이 실무 현장에 즉시 투입될 수 있는 상태인지 최종 검증하는 단계입니다.</a:t>
            </a:r>
          </a:p>
          <a:p>
            <a:r>
              <a:rPr sz="1100">
                <a:solidFill>
                  <a:srgbClr val="222222"/>
                </a:solidFill>
              </a:rPr>
              <a:t>•  핵심 가치: 16시간 동안 구축한 개별 MVP들을 통합하여, 데이터 기반 의사결정을 지원하는 '나만의 AI 금융 비서'로서의 실질적 가치를 확인합니다.</a:t>
            </a:r>
          </a:p>
          <a:p>
            <a:pPr>
              <a:spcBef>
                <a:spcPts val="600"/>
              </a:spcBef>
            </a:pPr>
            <a:r>
              <a:rPr sz="1300" b="1">
                <a:solidFill>
                  <a:srgbClr val="2E5984"/>
                </a:solidFill>
              </a:rPr>
              <a:t>2. 아키텍처 (Architecture): 통합 서비스 맵 (End-to-End Map)</a:t>
            </a:r>
          </a:p>
          <a:p>
            <a:r>
              <a:rPr sz="1100">
                <a:solidFill>
                  <a:srgbClr val="222222"/>
                </a:solidFill>
              </a:rPr>
              <a:t>•  데이터 흐름: [데이터 레이어: DART/ECOS/코스콤] → [분석 레이어: 기술/기본/수급/거시] → [생성 레이어: GPT/PDF] → [배포 레이어: Telegram/Streamlit].</a:t>
            </a:r>
          </a:p>
          <a:p>
            <a:r>
              <a:rPr sz="1100">
                <a:solidFill>
                  <a:srgbClr val="222222"/>
                </a:solidFill>
              </a:rPr>
              <a:t>•  구조적 특징: 각 모듈은 독립적으로 작동하면서도 중앙 오케스트레이터에 의해 통제되어 시스템의 안정성과 확장성을 동시에 확보한 모듈형 구조입니다.</a:t>
            </a:r>
          </a:p>
          <a:p>
            <a:pPr>
              <a:spcBef>
                <a:spcPts val="600"/>
              </a:spcBef>
            </a:pPr>
            <a:r>
              <a:rPr sz="1300" b="1">
                <a:solidFill>
                  <a:srgbClr val="2E5984"/>
                </a:solidFill>
              </a:rPr>
              <a:t>3. 소스코드 (Source Code): 최종 운영 안정화 코드 (systemd/Docker)</a:t>
            </a:r>
          </a:p>
          <a:p>
            <a:r>
              <a:rPr sz="1100">
                <a:solidFill>
                  <a:srgbClr val="222222"/>
                </a:solidFill>
              </a:rPr>
              <a:t>•  핵심 로직: 서비스 무중단 운영을 위한 systemd 서비스 등록 및 Docker Compose 최종 환경 설정입니다.</a:t>
            </a:r>
          </a:p>
          <a:p>
            <a:pPr>
              <a:spcBef>
                <a:spcPts val="600"/>
              </a:spcBef>
            </a:pPr>
            <a:r>
              <a:rPr sz="1300" b="1">
                <a:solidFill>
                  <a:srgbClr val="2E5984"/>
                </a:solidFill>
              </a:rPr>
              <a:t>4. 실습 (Practice): 10대 핵심 완성 기준 최종 점검 (Self-Audit)</a:t>
            </a:r>
          </a:p>
          <a:p>
            <a:r>
              <a:rPr sz="1100">
                <a:solidFill>
                  <a:srgbClr val="222222"/>
                </a:solidFill>
              </a:rPr>
              <a:t>•  과제: 아래의 10개 항목이 모두 정상 작동하는지 본인의 시스템을 최종 테스트하십시오.</a:t>
            </a:r>
          </a:p>
          <a:p>
            <a:r>
              <a:rPr sz="1100">
                <a:solidFill>
                  <a:srgbClr val="222222"/>
                </a:solidFill>
              </a:rPr>
              <a:t>•  □ PostgreSQL 테이블 생성 및 데이터 적재 완료</a:t>
            </a:r>
          </a:p>
          <a:p>
            <a:r>
              <a:rPr sz="1100">
                <a:solidFill>
                  <a:srgbClr val="222222"/>
                </a:solidFill>
              </a:rPr>
              <a:t>•  □ DART/ECOS/코스콤 API 연동 및 분석 점수 생성</a:t>
            </a:r>
          </a:p>
          <a:p>
            <a:r>
              <a:rPr sz="1100">
                <a:solidFill>
                  <a:srgbClr val="222222"/>
                </a:solidFill>
              </a:rPr>
              <a:t>•  □ GPT 투자 브리프 및 PDF 리포트 자동 생성</a:t>
            </a:r>
          </a:p>
          <a:p>
            <a:r>
              <a:rPr sz="1100">
                <a:solidFill>
                  <a:srgbClr val="222222"/>
                </a:solidFill>
              </a:rPr>
              <a:t>•  □ 텔레그램 및 웹 단말(Streamlit)을 통한 실시간 조회 서비스</a:t>
            </a:r>
          </a:p>
          <a:p>
            <a:pPr>
              <a:spcBef>
                <a:spcPts val="600"/>
              </a:spcBef>
            </a:pPr>
            <a:r>
              <a:rPr sz="1300" b="1">
                <a:solidFill>
                  <a:srgbClr val="2E5984"/>
                </a:solidFill>
              </a:rPr>
              <a:t>5. 확장 (Expansion): 초개인화 AI 자산관리 플랫폼으로의 진화</a:t>
            </a:r>
          </a:p>
          <a:p>
            <a:r>
              <a:rPr sz="1100">
                <a:solidFill>
                  <a:srgbClr val="222222"/>
                </a:solidFill>
              </a:rPr>
              <a:t>•  고도화 로드맵: 뉴스 RAG 기반의 과거 유사 국면 검색 기능을 강화하고, 특정 리스크 발생 시 즉시 대응하는 멀티 에이전트 리서치 시스템으로 확장합니다.</a:t>
            </a:r>
          </a:p>
          <a:p>
            <a:r>
              <a:rPr sz="1100">
                <a:solidFill>
                  <a:srgbClr val="222222"/>
                </a:solidFill>
              </a:rPr>
              <a:t>•  미래 가치: 본 플랫폼을 기반으로 ETF, 채권, 대체투자 분석 등 자산군을 확장하여 상용 수준의 초개인화 AI 자산관리 서비스로 도약할 수 있습니다.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056  ·  56/216</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모듈 6</a:t>
            </a:r>
          </a:p>
          <a:p>
            <a:r>
              <a:rPr sz="1900" b="1">
                <a:solidFill>
                  <a:srgbClr val="FFFFFF"/>
                </a:solidFill>
              </a:rPr>
              <a:t>[057] Q&amp;A 및 교육 마무리 - 질의응답 및 네트워킹</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소통을 통한 아키텍처의 완성</a:t>
            </a:r>
          </a:p>
          <a:p>
            <a:r>
              <a:rPr sz="1100">
                <a:solidFill>
                  <a:srgbClr val="222222"/>
                </a:solidFill>
              </a:rPr>
              <a:t>•  정의: 16시간 동안 학습한 이론과 실습 내용 중 해결되지 않은 궁금증을 해소하고, 교육생 간의 경험을 공유하여 실무 적용 가능성을 높이는 시간입니다.</a:t>
            </a:r>
          </a:p>
          <a:p>
            <a:r>
              <a:rPr sz="1100">
                <a:solidFill>
                  <a:srgbClr val="222222"/>
                </a:solidFill>
              </a:rPr>
              <a:t>•  핵심 가치: 개별적인 기술 오류 해결을 넘어, 각자의 비즈니스 현장에 AI 아키텍처를 어떻게 이식할 것인가에 대한 실질적인 해답을 찾는 데 목적이 있습니다.</a:t>
            </a:r>
          </a:p>
          <a:p>
            <a:pPr>
              <a:spcBef>
                <a:spcPts val="600"/>
              </a:spcBef>
            </a:pPr>
            <a:r>
              <a:rPr sz="1300" b="1">
                <a:solidFill>
                  <a:srgbClr val="2E5984"/>
                </a:solidFill>
              </a:rPr>
              <a:t>2. 아키텍처 (Architecture): 피드백 루프 및 사후 지원 체계</a:t>
            </a:r>
          </a:p>
          <a:p>
            <a:r>
              <a:rPr sz="1100">
                <a:solidFill>
                  <a:srgbClr val="222222"/>
                </a:solidFill>
              </a:rPr>
              <a:t>•  커뮤니티 연결: 교육 종료 후에도 지속적인 기술 업데이트를 받을 수 있는 AI실전스쿨/황Q랩 커뮤니티 및 오픈 카톡방 채널을 공유합니다.</a:t>
            </a:r>
          </a:p>
          <a:p>
            <a:r>
              <a:rPr sz="1100">
                <a:solidFill>
                  <a:srgbClr val="222222"/>
                </a:solidFill>
              </a:rPr>
              <a:t>•  사후 지원: 구축한 KOStockCrewAI MVP의 운영 중 발생하는 장애나 API 명세 변경에 대응하기 위한 기술 지원 가이드를 제공합니다.</a:t>
            </a:r>
          </a:p>
          <a:p>
            <a:pPr>
              <a:spcBef>
                <a:spcPts val="600"/>
              </a:spcBef>
            </a:pPr>
            <a:r>
              <a:rPr sz="1300" b="1">
                <a:solidFill>
                  <a:srgbClr val="2E5984"/>
                </a:solidFill>
              </a:rPr>
              <a:t>3. 소스코드 (Source Code): 최종 프로젝트 결과물 관리 (Git &amp; Cloud)</a:t>
            </a:r>
          </a:p>
          <a:p>
            <a:r>
              <a:rPr sz="1100">
                <a:solidFill>
                  <a:srgbClr val="222222"/>
                </a:solidFill>
              </a:rPr>
              <a:t>•  핵심 로직: 프로젝트 코드를 안전하게 보관하고 향후 협업에 활용하기 위한 최종 정리 명령입니다.</a:t>
            </a:r>
          </a:p>
          <a:p>
            <a:pPr>
              <a:spcBef>
                <a:spcPts val="600"/>
              </a:spcBef>
            </a:pPr>
            <a:r>
              <a:rPr sz="1300" b="1">
                <a:solidFill>
                  <a:srgbClr val="2E5984"/>
                </a:solidFill>
              </a:rPr>
              <a:t>4. 실습 (Practice): 수료 전 최종 구동 테스트 및 설문</a:t>
            </a:r>
          </a:p>
          <a:p>
            <a:r>
              <a:rPr sz="1100">
                <a:solidFill>
                  <a:srgbClr val="222222"/>
                </a:solidFill>
              </a:rPr>
              <a:t>•  과제: 본인의 텔레그램 봇에 마지막으로 "수고했어, 오늘 시장 상황 요약해줘"라고 입력하여, 봇이 정상적으로 전체 프로세스를 수행하고 응답하는지 확인하며 교육을 마무리합니다.</a:t>
            </a:r>
          </a:p>
          <a:p>
            <a:r>
              <a:rPr sz="1100">
                <a:solidFill>
                  <a:srgbClr val="222222"/>
                </a:solidFill>
              </a:rPr>
              <a:t>•  확인 사항: 구글 시트 CommandLog에 마지막 실행 이력까지 누락 없이 기록되었는지 체크하며 데이터 파이프라인의 완결성을 확인합니다.</a:t>
            </a:r>
          </a:p>
          <a:p>
            <a:pPr>
              <a:spcBef>
                <a:spcPts val="600"/>
              </a:spcBef>
            </a:pPr>
            <a:r>
              <a:rPr sz="1300" b="1">
                <a:solidFill>
                  <a:srgbClr val="2E5984"/>
                </a:solidFill>
              </a:rPr>
              <a:t>5. 확장 (Expansion): AI 아키텍트로서의 다음 단계(Next Step)</a:t>
            </a:r>
          </a:p>
          <a:p>
            <a:r>
              <a:rPr sz="1100">
                <a:solidFill>
                  <a:srgbClr val="222222"/>
                </a:solidFill>
              </a:rPr>
              <a:t>•  고도화 전략: 이번 과정에서 다룬 '준RAG' 방식을 넘어, ChromaDB(벡터 DB)와 CrewAI(멀티 에이전트)를 전면 도입한 상용 수준의 엔터프라이즈 솔루션으로의 확장을 권장합니다.</a:t>
            </a:r>
          </a:p>
          <a:p>
            <a:r>
              <a:rPr sz="1100">
                <a:solidFill>
                  <a:srgbClr val="222222"/>
                </a:solidFill>
              </a:rPr>
              <a:t>•  최종 메시지: "이제 여러분은 단순한 개발자가 아니라, 금융 데이터를 지배하고 AI의 지능을 설계하는 AI 아키텍트(AI Architect)입니다.".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057  ·  57/216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73152"/>
          </a:xfrm>
          <a:prstGeom prst="rect">
            <a:avLst/>
          </a:prstGeom>
          <a:solidFill>
            <a:srgbClr val="6E8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834640"/>
            <a:ext cx="10515600" cy="1463040"/>
          </a:xfrm>
          <a:prstGeom prst="rect">
            <a:avLst/>
          </a:prstGeom>
          <a:noFill/>
        </p:spPr>
        <p:txBody>
          <a:bodyPr wrap="square">
            <a:spAutoFit/>
          </a:bodyPr>
          <a:lstStyle/>
          <a:p>
            <a:r>
              <a:rPr sz="1600">
                <a:solidFill>
                  <a:srgbClr val="9FB4F5"/>
                </a:solidFill>
              </a:rPr>
              <a:t>[수료후·심화]</a:t>
            </a:r>
          </a:p>
          <a:p>
            <a:r>
              <a:rPr sz="2800" b="1">
                <a:solidFill>
                  <a:srgbClr val="FFFFFF"/>
                </a:solidFill>
              </a:rPr>
              <a:t>트랙 A — 프로코드 실전: Python·FastAPI·Streamlit 24x365 금융정보단말</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[058] 캡스톤 프로젝트 - 교육 목표 및 환경 체크리스트</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에이전틱 AI(Agentic AI) 구조의 완전한 이해</a:t>
            </a:r>
          </a:p>
          <a:p>
            <a:r>
              <a:rPr sz="1100">
                <a:solidFill>
                  <a:srgbClr val="222222"/>
                </a:solidFill>
              </a:rPr>
              <a:t>•  교육 목표: 단순한 챗봇 생성을 넘어, 스스로 목표를 설정하고 도구를 호출(Tool Calling)하여 업무를 완수하는 자율형 AI 에이전트의 설계 원리를 습득하는 데 있습니다.</a:t>
            </a:r>
          </a:p>
          <a:p>
            <a:r>
              <a:rPr sz="1100">
                <a:solidFill>
                  <a:srgbClr val="222222"/>
                </a:solidFill>
              </a:rPr>
              <a:t>•  핵심 가치: LLM 기반 에이전트 설계, 외부 API 연계, 간단한 RAG 구현, 그리고 업무 자동화 에이전트 제작을 통해 실전 캡스톤 프로젝트를 완성하는 것을 최종 목표로 합니다.</a:t>
            </a:r>
          </a:p>
          <a:p>
            <a:pPr>
              <a:spcBef>
                <a:spcPts val="600"/>
              </a:spcBef>
            </a:pPr>
            <a:r>
              <a:rPr sz="1300" b="1">
                <a:solidFill>
                  <a:srgbClr val="2E5984"/>
                </a:solidFill>
              </a:rPr>
              <a:t>2. 아키텍처 (Architecture): 필수 이해 개념 및 기술 요소</a:t>
            </a:r>
          </a:p>
          <a:p>
            <a:r>
              <a:rPr sz="1100">
                <a:solidFill>
                  <a:srgbClr val="222222"/>
                </a:solidFill>
              </a:rPr>
              <a:t>•  기술 스택 검증: 프로젝트 시작 전, 다음의 5대 핵심 개념에 대한 기술적 이해를 반드시 확인해야 합니다:</a:t>
            </a:r>
          </a:p>
          <a:p>
            <a:r>
              <a:rPr sz="1100">
                <a:solidFill>
                  <a:srgbClr val="222222"/>
                </a:solidFill>
              </a:rPr>
              <a:t>•  RAG: 외부 지식 자료를 검색하여 AI의 답변 품질을 높이는 기술.</a:t>
            </a:r>
          </a:p>
          <a:p>
            <a:r>
              <a:rPr sz="1100">
                <a:solidFill>
                  <a:srgbClr val="222222"/>
                </a:solidFill>
              </a:rPr>
              <a:t>•  Vector DB: 임베딩된 데이터를 저장하고 유사도 검색을 수행하는 저장소.</a:t>
            </a:r>
          </a:p>
          <a:p>
            <a:r>
              <a:rPr sz="1100">
                <a:solidFill>
                  <a:srgbClr val="222222"/>
                </a:solidFill>
              </a:rPr>
              <a:t>•  FastAPI: 고성능 비동기 API 서버를 선택한 이유와 장점.</a:t>
            </a:r>
          </a:p>
          <a:p>
            <a:r>
              <a:rPr sz="1100">
                <a:solidFill>
                  <a:srgbClr val="222222"/>
                </a:solidFill>
              </a:rPr>
              <a:t>•  PostgreSQL: 관계형 데이터를 안정적으로 관리하기 위한 표준 DB.</a:t>
            </a:r>
          </a:p>
          <a:p>
            <a:r>
              <a:rPr sz="1100">
                <a:solidFill>
                  <a:srgbClr val="222222"/>
                </a:solidFill>
              </a:rPr>
              <a:t>•  Structured Output: AI의 답변을 프로그램이 처리 가능한 JSON 형식으로 강제하는 기법.</a:t>
            </a:r>
          </a:p>
          <a:p>
            <a:pPr>
              <a:spcBef>
                <a:spcPts val="600"/>
              </a:spcBef>
            </a:pPr>
            <a:r>
              <a:rPr sz="1300" b="1">
                <a:solidFill>
                  <a:srgbClr val="2E5984"/>
                </a:solidFill>
              </a:rPr>
              <a:t>3. 소스코드 (Source Code): 개발 환경 구축 및 가상환경 설정</a:t>
            </a:r>
          </a:p>
          <a:p>
            <a:r>
              <a:rPr sz="1100">
                <a:solidFill>
                  <a:srgbClr val="222222"/>
                </a:solidFill>
              </a:rPr>
              <a:t>•  핵심 로직: 원활한 프로젝트 수행을 위해 로컬 환경에 필요한 필수 도구들을 설치하고 격리된 환경을 구축합니다.</a:t>
            </a:r>
          </a:p>
          <a:p>
            <a:pPr>
              <a:spcBef>
                <a:spcPts val="600"/>
              </a:spcBef>
            </a:pPr>
            <a:r>
              <a:rPr sz="1300" b="1">
                <a:solidFill>
                  <a:srgbClr val="2E5984"/>
                </a:solidFill>
              </a:rPr>
              <a:t>4. 실습 (Practice): 최종 체크리스트 및 준비물 점검</a:t>
            </a:r>
          </a:p>
          <a:p>
            <a:r>
              <a:rPr sz="1100">
                <a:solidFill>
                  <a:srgbClr val="222222"/>
                </a:solidFill>
              </a:rPr>
              <a:t>•  과제: 프로젝트 시작 전 아래의 필수 준비물이 모두 갖춰졌는지 최종 점검하십시오:</a:t>
            </a:r>
          </a:p>
          <a:p>
            <a:r>
              <a:rPr sz="1100">
                <a:solidFill>
                  <a:srgbClr val="222222"/>
                </a:solidFill>
              </a:rPr>
              <a:t>•  도구: 개인 노트북, Chrome 브라우저, VS Code, Git, Docker Desktop.</a:t>
            </a:r>
          </a:p>
          <a:p>
            <a:r>
              <a:rPr sz="1100">
                <a:solidFill>
                  <a:srgbClr val="222222"/>
                </a:solidFill>
              </a:rPr>
              <a:t>•  계정 및 키: OpenAI API Key, DART API Key, ECOS API Key, Telegram Bot Token 및 Chat ID.</a:t>
            </a:r>
          </a:p>
          <a:p>
            <a:r>
              <a:rPr sz="1100">
                <a:solidFill>
                  <a:srgbClr val="222222"/>
                </a:solidFill>
              </a:rPr>
              <a:t>•  데이터: PostgreSQL 테이블 생성 완료 및 코스콤 시세/수급 데이터 적재 상태 확인.</a:t>
            </a:r>
          </a:p>
          <a:p>
            <a:pPr>
              <a:spcBef>
                <a:spcPts val="600"/>
              </a:spcBef>
            </a:pPr>
            <a:r>
              <a:rPr sz="1300" b="1">
                <a:solidFill>
                  <a:srgbClr val="2E5984"/>
                </a:solidFill>
              </a:rPr>
              <a:t>5. 확장 (Expansion): 멀티 에이전트 협업 및 AI 워크포스(Workforce)로의 진화</a:t>
            </a:r>
          </a:p>
          <a:p>
            <a:r>
              <a:rPr sz="1100">
                <a:solidFill>
                  <a:srgbClr val="222222"/>
                </a:solidFill>
              </a:rPr>
              <a:t>•  고도화 전략: 단일 에이전트의 한계를 넘어, 여러 개의 AI 에이전트가 각각의 역할(Role)을 맡아 협업하는 CrewAI 기반의 멀티 에이전트 시스템으로 확장합니다.</a:t>
            </a:r>
          </a:p>
          <a:p>
            <a:r>
              <a:rPr sz="1100">
                <a:solidFill>
                  <a:srgbClr val="222222"/>
                </a:solidFill>
              </a:rPr>
              <a:t>•  기술적 지향점: 생성형 AI에서 시작하여 RAG와 Tool Calling을 거쳐, 종국에는 복잡한 금융 업무를 자율적으로 분담하고 수행하는 디지털 AI 인력(AI Workforce) 플랫폼을 구축하는 단계로 나아갑니다.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078  ·  58/216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[059] 캡스톤 프로젝트 - 최종 전체 구현 및 기술 명세 (Full Specs)</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한 'AI 금융 정보 플랫폼'</a:t>
            </a:r>
          </a:p>
          <a:p>
            <a:r>
              <a:rPr sz="1100">
                <a:solidFill>
                  <a:srgbClr val="222222"/>
                </a:solidFill>
              </a:rPr>
              <a:t>•  정의: 개별적으로 실습한 데이터 수집, 저장, 분석, 생성, 배포 모듈이 하나로 통합되어 실제 서비스 수준으로 작동하는 완성형 시스템 명세입니다,.</a:t>
            </a:r>
          </a:p>
          <a:p>
            <a:r>
              <a:rPr sz="1100">
                <a:solidFill>
                  <a:srgbClr val="222222"/>
                </a:solidFill>
              </a:rPr>
              <a:t>•  핵심 가치: 단순히 코드를 합치는 것이 아니라, 각 기술 스택이 금융 데이터의 흐름(Pipeline)을 따라 유기적으로 상호작용하여 자율형 투자 의사결정을 지원하는 데 가치가 있습니다,.</a:t>
            </a:r>
          </a:p>
          <a:p>
            <a:pPr>
              <a:spcBef>
                <a:spcPts val="600"/>
              </a:spcBef>
            </a:pPr>
            <a:r>
              <a:rPr sz="1300" b="1">
                <a:solidFill>
                  <a:srgbClr val="2E5984"/>
                </a:solidFill>
              </a:rPr>
              <a:t>2. 아키텍처 (Architecture): 10대 핵심 기술 스택 통합 구조</a:t>
            </a:r>
          </a:p>
          <a:p>
            <a:r>
              <a:rPr sz="1100">
                <a:solidFill>
                  <a:srgbClr val="222222"/>
                </a:solidFill>
              </a:rPr>
              <a:t>•  데이터 레이어: PostgreSQL(RDBMS) 및 ChromaDB(Vector DB) 기반의 정형/비정형 통합 저장소,.</a:t>
            </a:r>
          </a:p>
          <a:p>
            <a:r>
              <a:rPr sz="1100">
                <a:solidFill>
                  <a:srgbClr val="222222"/>
                </a:solidFill>
              </a:rPr>
              <a:t>•  서비스 레이어: FastAPI 서버를 중심으로 한 분석 엔진과 GPT 에이전트 오케스트레이션,.</a:t>
            </a:r>
          </a:p>
          <a:p>
            <a:r>
              <a:rPr sz="1100">
                <a:solidFill>
                  <a:srgbClr val="222222"/>
                </a:solidFill>
              </a:rPr>
              <a:t>•  딜리버리 레이어: Streamlit 웹 인터페이스와 Telegram Bot을 통한 실시간 멀티 채널 서비스,,.</a:t>
            </a:r>
          </a:p>
          <a:p>
            <a:pPr>
              <a:spcBef>
                <a:spcPts val="600"/>
              </a:spcBef>
            </a:pPr>
            <a:r>
              <a:rPr sz="1300" b="1">
                <a:solidFill>
                  <a:srgbClr val="2E5984"/>
                </a:solidFill>
              </a:rPr>
              <a:t>3. 소스코드 (Source Code): 프로젝트 완성을 위한 10대 기술 명세서</a:t>
            </a:r>
          </a:p>
          <a:p>
            <a:r>
              <a:rPr sz="1100">
                <a:solidFill>
                  <a:srgbClr val="222222"/>
                </a:solidFill>
              </a:rPr>
              <a:t>•  핵심 구현 항목: 교육생은 다음의 10대 소스 코드를 최종 확인해야 합니다.</a:t>
            </a:r>
          </a:p>
          <a:p>
            <a:r>
              <a:rPr sz="1100">
                <a:solidFill>
                  <a:srgbClr val="222222"/>
                </a:solidFill>
              </a:rPr>
              <a:t>•  PostgreSQL: 전체 CREATE TABLE 및 인덱스 설계 SQL.</a:t>
            </a:r>
          </a:p>
          <a:p>
            <a:r>
              <a:rPr sz="1100">
                <a:solidFill>
                  <a:srgbClr val="222222"/>
                </a:solidFill>
              </a:rPr>
              <a:t>•  FastAPI: 리포트 생성 및 데이터 조회 전체 서버 코드.</a:t>
            </a:r>
          </a:p>
          <a:p>
            <a:r>
              <a:rPr sz="1100">
                <a:solidFill>
                  <a:srgbClr val="222222"/>
                </a:solidFill>
              </a:rPr>
              <a:t>•  PDF Template: ReportLab 기반의 투자 브리프 레이아웃 코드.</a:t>
            </a:r>
          </a:p>
          <a:p>
            <a:r>
              <a:rPr sz="1100">
                <a:solidFill>
                  <a:srgbClr val="222222"/>
                </a:solidFill>
              </a:rPr>
              <a:t>•  Analysis Module: pandas-ta 기반 기술적 분석 자동 계산 로직.</a:t>
            </a:r>
          </a:p>
          <a:p>
            <a:r>
              <a:rPr sz="1100">
                <a:solidFill>
                  <a:srgbClr val="222222"/>
                </a:solidFill>
              </a:rPr>
              <a:t>•  GPT Schema: OpenAI Structured Output을 위한 JSON 스키마.</a:t>
            </a:r>
          </a:p>
          <a:p>
            <a:r>
              <a:rPr sz="1100">
                <a:solidFill>
                  <a:srgbClr val="222222"/>
                </a:solidFill>
              </a:rPr>
              <a:t>•  News RAG: ChromaDB 기반 뉴스 메모리 및 유사 사례 검색 모듈.</a:t>
            </a:r>
          </a:p>
          <a:p>
            <a:r>
              <a:rPr sz="1100">
                <a:solidFill>
                  <a:srgbClr val="222222"/>
                </a:solidFill>
              </a:rPr>
              <a:t>•  systemd: Ubuntu 서버용 무중단 서비스 등록 스크립트.</a:t>
            </a:r>
          </a:p>
          <a:p>
            <a:r>
              <a:rPr sz="1100">
                <a:solidFill>
                  <a:srgbClr val="222222"/>
                </a:solidFill>
              </a:rPr>
              <a:t>•  Docker: 컨테이너 기반 일괄 배포 및 운영 구조.</a:t>
            </a:r>
          </a:p>
          <a:p>
            <a:r>
              <a:rPr sz="1100">
                <a:solidFill>
                  <a:srgbClr val="222222"/>
                </a:solidFill>
              </a:rPr>
              <a:t>•  Streamlit UI: 사용자용 투자단말 대시보드 인터페이스 코드.</a:t>
            </a:r>
          </a:p>
          <a:p>
            <a:r>
              <a:rPr sz="1100">
                <a:solidFill>
                  <a:srgbClr val="222222"/>
                </a:solidFill>
              </a:rPr>
              <a:t>•  Telegram Bot: 종목 자동 브리핑 및 실시간 알림 로직,.</a:t>
            </a:r>
          </a:p>
          <a:p>
            <a:pPr>
              <a:spcBef>
                <a:spcPts val="600"/>
              </a:spcBef>
            </a:pPr>
            <a:r>
              <a:rPr sz="1300" b="1">
                <a:solidFill>
                  <a:srgbClr val="2E5984"/>
                </a:solidFill>
              </a:rPr>
              <a:t>4. 실습 (Practice): 엔드-투-엔드(E2E) 가동 테스트 및 배포 검증</a:t>
            </a:r>
          </a:p>
          <a:p>
            <a:r>
              <a:rPr sz="1100">
                <a:solidFill>
                  <a:srgbClr val="222222"/>
                </a:solidFill>
              </a:rPr>
              <a:t>•  과제: docker-compose up -d 명령으로 전체 서비스를 기동하고, 웹과 텔레그램에서 동시에 동일한 분석 결과가 도출되는지 최종 검증하십시오.</a:t>
            </a:r>
          </a:p>
          <a:p>
            <a:r>
              <a:rPr sz="1100">
                <a:solidFill>
                  <a:srgbClr val="222222"/>
                </a:solidFill>
              </a:rPr>
              <a:t>•  확인 사항: 스케줄러(main_scheduler.py)가 정해진 시간에 작동하여 다음 날 아침 7시에 정상적으로 데일리 브리핑을 발송하는지 로그를 통해 체크합니다.</a:t>
            </a:r>
          </a:p>
          <a:p>
            <a:pPr>
              <a:spcBef>
                <a:spcPts val="600"/>
              </a:spcBef>
            </a:pPr>
            <a:r>
              <a:rPr sz="1300" b="1">
                <a:solidFill>
                  <a:srgbClr val="2E5984"/>
                </a:solidFill>
              </a:rPr>
              <a:t>5. 확장 (Expansion): 기업형 에이전트 플랫폼 및 AI 워크포스 진화</a:t>
            </a:r>
          </a:p>
          <a:p>
            <a:r>
              <a:rPr sz="1100">
                <a:solidFill>
                  <a:srgbClr val="222222"/>
                </a:solidFill>
              </a:rPr>
              <a:t>•  고도화 전략: 이번 MVP를 기반으로 여러 에이전트가 협업하는 CrewAI 멀티 에이전트 시스템을 도입하여, 분석의 전문성을 더욱 세분화합니다,.</a:t>
            </a:r>
          </a:p>
          <a:p>
            <a:r>
              <a:rPr sz="1100">
                <a:solidFill>
                  <a:srgbClr val="222222"/>
                </a:solidFill>
              </a:rPr>
              <a:t>•  기술 적용: 사내 문서와 API가 수십 개로 늘어나는 시점에는 Google Agent Platform이나 Enterprise RAG 구조로 확장하여, 실제 증권사나 핀테크 기업의 핵심 리서치 자산으로 진화시킵니다,.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093  ·  59/216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[060] AI 금융정보단말 구축 실무 - 최종 목표 및 전체 아키텍처</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'One-Stop' 지능형 금융 리서치 자동화</a:t>
            </a:r>
          </a:p>
          <a:p>
            <a:r>
              <a:rPr sz="1100">
                <a:solidFill>
                  <a:srgbClr val="222222"/>
                </a:solidFill>
              </a:rPr>
              <a:t>•  정의: 사용자가 웹 화면이나 텔레그램에서 종목명(예: "삼성전자 분석") 한 줄만 입력하면, 시스템이 데이터 수집부터 분석, PDF 리포트 생성까지 전 과정을 에이전틱(Agentic)하게 처리하는 통합 솔루션입니다.</a:t>
            </a:r>
          </a:p>
          <a:p>
            <a:r>
              <a:rPr sz="1100">
                <a:solidFill>
                  <a:srgbClr val="222222"/>
                </a:solidFill>
              </a:rPr>
              <a:t>•  핵심 가치: 개별적으로 작동하던 데이터 파이프라인(ECOS, DART, 코스콤)을 하나로 통합하여, 24시간 365일 중단 없는 자율형 금융 비서를 구축하는 것을 최종 목표로 합니다.</a:t>
            </a:r>
          </a:p>
          <a:p>
            <a:pPr>
              <a:spcBef>
                <a:spcPts val="600"/>
              </a:spcBef>
            </a:pPr>
            <a:r>
              <a:rPr sz="1300" b="1">
                <a:solidFill>
                  <a:srgbClr val="2E5984"/>
                </a:solidFill>
              </a:rPr>
              <a:t>2. 아키텍처 (Architecture): 에이전틱 오케스트레이션(Agent Orchestration) 구조</a:t>
            </a:r>
          </a:p>
          <a:p>
            <a:r>
              <a:rPr sz="1100">
                <a:solidFill>
                  <a:srgbClr val="222222"/>
                </a:solidFill>
              </a:rPr>
              <a:t>•  계층별 설계:</a:t>
            </a:r>
          </a:p>
          <a:p>
            <a:r>
              <a:rPr sz="1100">
                <a:solidFill>
                  <a:srgbClr val="222222"/>
                </a:solidFill>
              </a:rPr>
              <a:t>•  Presentation: Streamlit 웹단말 또는 Telegram Bot</a:t>
            </a:r>
          </a:p>
          <a:p>
            <a:r>
              <a:rPr sz="1100">
                <a:solidFill>
                  <a:srgbClr val="222222"/>
                </a:solidFill>
              </a:rPr>
              <a:t>•  Logic: FastAPI 서버 및 분석 오케스트레이터 (Agent Orchestrator)</a:t>
            </a:r>
          </a:p>
          <a:p>
            <a:r>
              <a:rPr sz="1100">
                <a:solidFill>
                  <a:srgbClr val="222222"/>
                </a:solidFill>
              </a:rPr>
              <a:t>•  Data Source: DART(재무), ECOS(거시지표), 코스콤(시세·수급) API</a:t>
            </a:r>
          </a:p>
          <a:p>
            <a:r>
              <a:rPr sz="1100">
                <a:solidFill>
                  <a:srgbClr val="222222"/>
                </a:solidFill>
              </a:rPr>
              <a:t>•  Storage: PostgreSQL (정형 데이터) 및 ChromaDB (비정형 과거 사례)</a:t>
            </a:r>
          </a:p>
          <a:p>
            <a:r>
              <a:rPr sz="1100">
                <a:solidFill>
                  <a:srgbClr val="222222"/>
                </a:solidFill>
              </a:rPr>
              <a:t>•  Output: OpenAI GPT 분석 브리프 및 ReportLab 기반 1페이지 PDF 리포트</a:t>
            </a:r>
          </a:p>
          <a:p>
            <a:pPr>
              <a:spcBef>
                <a:spcPts val="600"/>
              </a:spcBef>
            </a:pPr>
            <a:r>
              <a:rPr sz="1300" b="1">
                <a:solidFill>
                  <a:srgbClr val="2E5984"/>
                </a:solidFill>
              </a:rPr>
              <a:t>3. 프로세스 (Process): 13단계 자동화 워크플로우</a:t>
            </a:r>
          </a:p>
          <a:p>
            <a:r>
              <a:rPr sz="1100">
                <a:solidFill>
                  <a:srgbClr val="222222"/>
                </a:solidFill>
              </a:rPr>
              <a:t>•  지능형 실행 순서:</a:t>
            </a:r>
          </a:p>
          <a:p>
            <a:r>
              <a:rPr sz="1100">
                <a:solidFill>
                  <a:srgbClr val="222222"/>
                </a:solidFill>
              </a:rPr>
              <a:t>•  종목코드 확인 → 2) DART 재무 조회 → 3) ECOS 지표 조회 → 4) 코스콤 OHLCV·수급 조회 → 5) DB 저장 → 6) 기술적 분석 → 7) 기본적 분석 → 8) 수급 분석 → 9) 리스크 스코어링 → 10) GPT 투자 브리프 생성 → 11) 과거 유사국면 검색 → 12) PDF 생성 → 13) 최종 결과 제공.</a:t>
            </a:r>
          </a:p>
          <a:p>
            <a:pPr>
              <a:spcBef>
                <a:spcPts val="600"/>
              </a:spcBef>
            </a:pPr>
            <a:r>
              <a:rPr sz="1300" b="1">
                <a:solidFill>
                  <a:srgbClr val="2E5984"/>
                </a:solidFill>
              </a:rPr>
              <a:t>4. 실습 (Practice): 단일 종목 입력 기반의 통합 분석 가동</a:t>
            </a:r>
          </a:p>
          <a:p>
            <a:r>
              <a:rPr sz="1100">
                <a:solidFill>
                  <a:srgbClr val="222222"/>
                </a:solidFill>
              </a:rPr>
              <a:t>•  입력 예시: 텔레그램이나 웹 화면에 "삼성전자 분석" 또는 "005930 분석"을 입력합니다.</a:t>
            </a:r>
          </a:p>
          <a:p>
            <a:r>
              <a:rPr sz="1100">
                <a:solidFill>
                  <a:srgbClr val="222222"/>
                </a:solidFill>
              </a:rPr>
              <a:t>•  확인 사항: 위 13단계 과정이 사용자 개입 없이 순차적으로 진행되어, 최종적으로 기술적/기본적/수급 분석이 결합된 전문 PDF 리포트가 사용자에게 배달되는지 검증합니다.</a:t>
            </a:r>
          </a:p>
          <a:p>
            <a:pPr>
              <a:spcBef>
                <a:spcPts val="600"/>
              </a:spcBef>
            </a:pPr>
            <a:r>
              <a:rPr sz="1300" b="1">
                <a:solidFill>
                  <a:srgbClr val="2E5984"/>
                </a:solidFill>
              </a:rPr>
              <a:t>5. 확장 (Expansion): 자율 운영 및 멀티 에이전트 체계로의 진화</a:t>
            </a:r>
          </a:p>
          <a:p>
            <a:r>
              <a:rPr sz="1100">
                <a:solidFill>
                  <a:srgbClr val="222222"/>
                </a:solidFill>
              </a:rPr>
              <a:t>•  고도화 전략: 단순 파이프라인을 넘어, 향후 CrewAI와 같은 멀티 에이전트 프레임워크를 적용하여 각 분석 영역(거시, 재무, 차트)을 담당하는 전문 AI들이 협업하는 구조로 확장합니다.</a:t>
            </a:r>
          </a:p>
          <a:p>
            <a:r>
              <a:rPr sz="1100">
                <a:solidFill>
                  <a:srgbClr val="222222"/>
                </a:solidFill>
              </a:rPr>
              <a:t>•  기술적 지향점: Docker 및 systemd 환경에서 시스템을 구동하여 서버 장애 시에도 자동 복구되는 엔터프라이즈급 금융 정보 인프라를 완성하는 것입니다.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136  ·  60/216</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[061] AI 금융정보단말 구축 실무 - 기술 스택 및 환경 구축</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유료 플랫폼 의존성 탈피와 독자적 인프라 확보</a:t>
            </a:r>
          </a:p>
          <a:p>
            <a:r>
              <a:rPr sz="1100">
                <a:solidFill>
                  <a:srgbClr val="222222"/>
                </a:solidFill>
              </a:rPr>
              <a:t>•  무료·오픈소스 중심: Make, Zapier, n8n Cloud 등 유료 통합 플랫폼 대신 Python 코드 중심의 오픈소스를 활용하여 비용 부담을 없애고 시스템 통제권을 완전히 확보합니다.</a:t>
            </a:r>
          </a:p>
          <a:p>
            <a:r>
              <a:rPr sz="1100">
                <a:solidFill>
                  <a:srgbClr val="222222"/>
                </a:solidFill>
              </a:rPr>
              <a:t>•  핵심 가치: 핀테크 창업자와 개발자가 교육 종료 후에도 즉시 실무에 적용할 수 있도록 재사용 가능하고 확장성 있는 표준 기술 스택을 제안합니다.</a:t>
            </a:r>
          </a:p>
          <a:p>
            <a:pPr>
              <a:spcBef>
                <a:spcPts val="600"/>
              </a:spcBef>
            </a:pPr>
            <a:r>
              <a:rPr sz="1300" b="1">
                <a:solidFill>
                  <a:srgbClr val="2E5984"/>
                </a:solidFill>
              </a:rPr>
              <a:t>2. 아키텍처 (Architecture): 모듈별 최적 오픈소스 도구 매핑</a:t>
            </a:r>
          </a:p>
          <a:p>
            <a:r>
              <a:rPr sz="1100">
                <a:solidFill>
                  <a:srgbClr val="222222"/>
                </a:solidFill>
              </a:rPr>
              <a:t>•  영역별 기술 스택 [출처: 137, 139]:</a:t>
            </a:r>
          </a:p>
          <a:p>
            <a:r>
              <a:rPr sz="1100">
                <a:solidFill>
                  <a:srgbClr val="222222"/>
                </a:solidFill>
              </a:rPr>
              <a:t>•  서버/언어: Python 3.11 &amp; FastAPI (고성능 REST API)</a:t>
            </a:r>
          </a:p>
          <a:p>
            <a:r>
              <a:rPr sz="1100">
                <a:solidFill>
                  <a:srgbClr val="222222"/>
                </a:solidFill>
              </a:rPr>
              <a:t>•  사용자 인터페이스: Streamlit (초보자 친화적 웹 UI)</a:t>
            </a:r>
          </a:p>
          <a:p>
            <a:r>
              <a:rPr sz="1100">
                <a:solidFill>
                  <a:srgbClr val="222222"/>
                </a:solidFill>
              </a:rPr>
              <a:t>•  데이터 저장: PostgreSQL (RDBMS) &amp; ChromaDB (벡터 DB/RAG)</a:t>
            </a:r>
          </a:p>
          <a:p>
            <a:r>
              <a:rPr sz="1100">
                <a:solidFill>
                  <a:srgbClr val="222222"/>
                </a:solidFill>
              </a:rPr>
              <a:t>•  자동화/분석: APScheduler (스케줄러) &amp; OpenAI API (GPT-4o)</a:t>
            </a:r>
          </a:p>
          <a:p>
            <a:r>
              <a:rPr sz="1100">
                <a:solidFill>
                  <a:srgbClr val="222222"/>
                </a:solidFill>
              </a:rPr>
              <a:t>•  보고서/시각화: ReportLab (PDF) &amp; Matplotlib (차트)</a:t>
            </a:r>
          </a:p>
          <a:p>
            <a:pPr>
              <a:spcBef>
                <a:spcPts val="600"/>
              </a:spcBef>
            </a:pPr>
            <a:r>
              <a:rPr sz="1300" b="1">
                <a:solidFill>
                  <a:srgbClr val="2E5984"/>
                </a:solidFill>
              </a:rPr>
              <a:t>3. 소스코드 (Source Code): 필수 패키지 관리 (requirements.txt)</a:t>
            </a:r>
          </a:p>
          <a:p>
            <a:r>
              <a:rPr sz="1100">
                <a:solidFill>
                  <a:srgbClr val="222222"/>
                </a:solidFill>
              </a:rPr>
              <a:t>•  핵심 구현: 프로젝트 구동에 필요한 라이브러리를 일괄 관리합니다.</a:t>
            </a:r>
          </a:p>
          <a:p>
            <a:pPr>
              <a:spcBef>
                <a:spcPts val="600"/>
              </a:spcBef>
            </a:pPr>
            <a:r>
              <a:rPr sz="1300" b="1">
                <a:solidFill>
                  <a:srgbClr val="2E5984"/>
                </a:solidFill>
              </a:rPr>
              <a:t>4. 실습 (Practice): 11가지 필수 준비물 설치 및 API 키 확보</a:t>
            </a:r>
          </a:p>
          <a:p>
            <a:r>
              <a:rPr sz="1100">
                <a:solidFill>
                  <a:srgbClr val="222222"/>
                </a:solidFill>
              </a:rPr>
              <a:t>•  과제: 실습을 위해 아래 도구를 설치하고 계정을 준비하십시오.</a:t>
            </a:r>
          </a:p>
          <a:p>
            <a:r>
              <a:rPr sz="1100">
                <a:solidFill>
                  <a:srgbClr val="222222"/>
                </a:solidFill>
              </a:rPr>
              <a:t>•  설치: Python 3.11, VS Code, Git, Docker Desktop, PostgreSQL, pgAdmin.</a:t>
            </a:r>
          </a:p>
          <a:p>
            <a:r>
              <a:rPr sz="1100">
                <a:solidFill>
                  <a:srgbClr val="222222"/>
                </a:solidFill>
              </a:rPr>
              <a:t>•  API Key: OpenAI, DART, ECOS, 코스콤 API 키 발급.</a:t>
            </a:r>
          </a:p>
          <a:p>
            <a:r>
              <a:rPr sz="1100">
                <a:solidFill>
                  <a:srgbClr val="222222"/>
                </a:solidFill>
              </a:rPr>
              <a:t>•  통신: 텔레그램 봇 생성 및 토큰 확보.</a:t>
            </a:r>
          </a:p>
          <a:p>
            <a:pPr>
              <a:spcBef>
                <a:spcPts val="600"/>
              </a:spcBef>
            </a:pPr>
            <a:r>
              <a:rPr sz="1300" b="1">
                <a:solidFill>
                  <a:srgbClr val="2E5984"/>
                </a:solidFill>
              </a:rPr>
              <a:t>5. 확장 (Expansion): 실서비스 운영을 위한 서버 인프라 고도화</a:t>
            </a:r>
          </a:p>
          <a:p>
            <a:r>
              <a:rPr sz="1100">
                <a:solidFill>
                  <a:srgbClr val="222222"/>
                </a:solidFill>
              </a:rPr>
              <a:t>•  고도화 전략: 로컬 개발 환경을 넘어 상용 수준의 서비스를 위해 Ubuntu Server 환경에 Docker Compose로 배포합니다.</a:t>
            </a:r>
          </a:p>
          <a:p>
            <a:r>
              <a:rPr sz="1100">
                <a:solidFill>
                  <a:srgbClr val="222222"/>
                </a:solidFill>
              </a:rPr>
              <a:t>•  기술 적용: 향후 Nginx(리버스 프록시), Redis(캐시), GitHub Actions(CI/CD)를 추가 도입하여 성능과 보안, 배포 편의성을 극대화한 엔터프라이즈급 금융 정보 플랫폼으로 진화시킵니다.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137  ·  61/216</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[062] AI 금융정보단말 구축 실무 - 시스템 역할도 및 인프라</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유기적 협업과 실전 운영 안정성 확보</a:t>
            </a:r>
          </a:p>
          <a:p>
            <a:r>
              <a:rPr sz="1100">
                <a:solidFill>
                  <a:srgbClr val="222222"/>
                </a:solidFill>
              </a:rPr>
              <a:t>•  정의: 개별적으로 구축된 데이터 수집, 분석 엔진, AI 모델, 인터페이스 레이어들이 하나의 목표(종목 분석 리포트 생성)를 위해 상호작용하는 전체 시스템의 지능형 지도(Map)입니다.</a:t>
            </a:r>
          </a:p>
          <a:p>
            <a:r>
              <a:rPr sz="1100">
                <a:solidFill>
                  <a:srgbClr val="222222"/>
                </a:solidFill>
              </a:rPr>
              <a:t>•  핵심 가치: 단순히 코드를 실행하는 수준을 넘어, 실제 서비스 환경에서 발생할 수 있는 부하를 분산하고 24시간 장애 없이 가동되는 엔터프라이즈급 금융 정보 인프라를 지향합니다.</a:t>
            </a:r>
          </a:p>
          <a:p>
            <a:pPr>
              <a:spcBef>
                <a:spcPts val="600"/>
              </a:spcBef>
            </a:pPr>
            <a:r>
              <a:rPr sz="1300" b="1">
                <a:solidFill>
                  <a:srgbClr val="2E5984"/>
                </a:solidFill>
              </a:rPr>
              <a:t>2. 아키텍처 (Architecture): 최종 완성 후 시스템 역할도 (Flow Map)</a:t>
            </a:r>
          </a:p>
          <a:p>
            <a:r>
              <a:rPr sz="1100">
                <a:solidFill>
                  <a:srgbClr val="222222"/>
                </a:solidFill>
              </a:rPr>
              <a:t>•  지능형 데이터 흐름:</a:t>
            </a:r>
          </a:p>
          <a:p>
            <a:r>
              <a:rPr sz="1100">
                <a:solidFill>
                  <a:srgbClr val="222222"/>
                </a:solidFill>
              </a:rPr>
              <a:t>•  사용자 접점: [Streamlit 웹 화면] 또는 [Telegram Bot]</a:t>
            </a:r>
          </a:p>
          <a:p>
            <a:r>
              <a:rPr sz="1100">
                <a:solidFill>
                  <a:srgbClr val="222222"/>
                </a:solidFill>
              </a:rPr>
              <a:t>•  제어 센터: [FastAPI 서버] → [Agent Orchestrator]</a:t>
            </a:r>
          </a:p>
          <a:p>
            <a:r>
              <a:rPr sz="1100">
                <a:solidFill>
                  <a:srgbClr val="222222"/>
                </a:solidFill>
              </a:rPr>
              <a:t>•  데이터 소스: [PostgreSQL DB] ↔ [DART / ECOS / 코스콤 API]</a:t>
            </a:r>
          </a:p>
          <a:p>
            <a:r>
              <a:rPr sz="1100">
                <a:solidFill>
                  <a:srgbClr val="222222"/>
                </a:solidFill>
              </a:rPr>
              <a:t>•  분석 가공: [기술적 / 기본적 / 수급 분석 엔진]</a:t>
            </a:r>
          </a:p>
          <a:p>
            <a:r>
              <a:rPr sz="1100">
                <a:solidFill>
                  <a:srgbClr val="222222"/>
                </a:solidFill>
              </a:rPr>
              <a:t>•  지능 생성: [OpenAI GPT] → [PDF 리포트 생성]</a:t>
            </a:r>
          </a:p>
          <a:p>
            <a:r>
              <a:rPr sz="1100">
                <a:solidFill>
                  <a:srgbClr val="222222"/>
                </a:solidFill>
              </a:rPr>
              <a:t>•  결과 배달: [Telegram 알림] 및 [웹 다운로드]</a:t>
            </a:r>
          </a:p>
          <a:p>
            <a:pPr>
              <a:spcBef>
                <a:spcPts val="600"/>
              </a:spcBef>
            </a:pPr>
            <a:r>
              <a:rPr sz="1300" b="1">
                <a:solidFill>
                  <a:srgbClr val="2E5984"/>
                </a:solidFill>
              </a:rPr>
              <a:t>3. 소스코드 (Source Code): 실서비스 운영을 위한 추가 기술 스택</a:t>
            </a:r>
          </a:p>
          <a:p>
            <a:r>
              <a:rPr sz="1100">
                <a:solidFill>
                  <a:srgbClr val="222222"/>
                </a:solidFill>
              </a:rPr>
              <a:t>•  핵심 도구: 로컬 개발 환경을 넘어 상용 수준의 서비스를 위해 필요한 보조 기술들입니다.</a:t>
            </a:r>
          </a:p>
          <a:p>
            <a:r>
              <a:rPr sz="1100">
                <a:solidFill>
                  <a:srgbClr val="222222"/>
                </a:solidFill>
              </a:rPr>
              <a:t>•  Nginx: 리버스 프록시 및 보안 강화 (HTTPS)</a:t>
            </a:r>
          </a:p>
          <a:p>
            <a:r>
              <a:rPr sz="1100">
                <a:solidFill>
                  <a:srgbClr val="222222"/>
                </a:solidFill>
              </a:rPr>
              <a:t>•  Docker Compose: DB와 API 서버 등 다중 컨테이너 통합 관리</a:t>
            </a:r>
          </a:p>
          <a:p>
            <a:r>
              <a:rPr sz="1100">
                <a:solidFill>
                  <a:srgbClr val="222222"/>
                </a:solidFill>
              </a:rPr>
              <a:t>•  Redis: 데이터 조회 성능 향상을 위한 메모리 캐시</a:t>
            </a:r>
          </a:p>
          <a:p>
            <a:r>
              <a:rPr sz="1100">
                <a:solidFill>
                  <a:srgbClr val="222222"/>
                </a:solidFill>
              </a:rPr>
              <a:t>•  Uptime Kuma: 24시간 서버 가동 상태 감시 및 알림</a:t>
            </a:r>
          </a:p>
          <a:p>
            <a:r>
              <a:rPr sz="1100">
                <a:solidFill>
                  <a:srgbClr val="222222"/>
                </a:solidFill>
              </a:rPr>
              <a:t>•  GitHub Actions: 코드 수정 시 자동 테스트 및 배포 (CI/CD)</a:t>
            </a:r>
          </a:p>
          <a:p>
            <a:pPr>
              <a:spcBef>
                <a:spcPts val="600"/>
              </a:spcBef>
            </a:pPr>
            <a:r>
              <a:rPr sz="1300" b="1">
                <a:solidFill>
                  <a:srgbClr val="2E5984"/>
                </a:solidFill>
              </a:rPr>
              <a:t>4. 실습 (Practice): 역할별 구성 요소 연결 확인 및 Docker 상태 점검</a:t>
            </a:r>
          </a:p>
          <a:p>
            <a:r>
              <a:rPr sz="1100">
                <a:solidFill>
                  <a:srgbClr val="222222"/>
                </a:solidFill>
              </a:rPr>
              <a:t>•  과제 1: docker-compose.yml 파일을 작성하여 PostgreSQL과 FastAPI 서버가 동시에 가동되는지 확인하십시오.</a:t>
            </a:r>
          </a:p>
          <a:p>
            <a:r>
              <a:rPr sz="1100">
                <a:solidFill>
                  <a:srgbClr val="222222"/>
                </a:solidFill>
              </a:rPr>
              <a:t>•  과제 2: docker ps 명령어를 실행하여 ai_fin_postgres와 ai_fin_api 컨테이너가 정상적으로 Up 상태인지 확인하고, 각 서비스 간의 네트워크 통신 여부를 점검합니다.</a:t>
            </a:r>
          </a:p>
          <a:p>
            <a:pPr>
              <a:spcBef>
                <a:spcPts val="600"/>
              </a:spcBef>
            </a:pPr>
            <a:r>
              <a:rPr sz="1300" b="1">
                <a:solidFill>
                  <a:srgbClr val="2E5984"/>
                </a:solidFill>
              </a:rPr>
              <a:t>5. 확장 (Expansion): 고가용성(HA) 및 자동화된 운영 체계로의 진화</a:t>
            </a:r>
          </a:p>
          <a:p>
            <a:r>
              <a:rPr sz="1100">
                <a:solidFill>
                  <a:srgbClr val="222222"/>
                </a:solidFill>
              </a:rPr>
              <a:t>•  고도화 전략: 한글 폰트(Noto Sans KR)가 적용된 고품질 PDF 출력 엔진을 탑재하고, GitHub Actions를 연동하여 소스코드 푸시와 동시에 실서버에 반영되는 자동화 환경을 구축합니다.</a:t>
            </a:r>
          </a:p>
          <a:p>
            <a:r>
              <a:rPr sz="1100">
                <a:solidFill>
                  <a:srgbClr val="222222"/>
                </a:solidFill>
              </a:rPr>
              <a:t>•  기술적 지향점: 이 아키텍처는 향후 수천 명의 사용자가 동시에 접속해도 안정적으로 대응할 수 있는 클라우드 네이티브(Cloud Native) 금융 서비스의 기반이 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138  ·  62/216</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[063] AI 금융정보단말 구축 실무 - 기술 스택 상세 가이드</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프로젝트의 성패를 결정하는 기술적 토대(Tech Stack)</a:t>
            </a:r>
          </a:p>
          <a:p>
            <a:r>
              <a:rPr sz="1100">
                <a:solidFill>
                  <a:srgbClr val="222222"/>
                </a:solidFill>
              </a:rPr>
              <a:t>•  정의: AI 금융정보단말의 수집, 저장, 분석, 배포 전 과정을 안정적으로 지원하기 위해 선택된 표준 소프트웨어 및 라이브러리 집합입니다.</a:t>
            </a:r>
          </a:p>
          <a:p>
            <a:r>
              <a:rPr sz="1100">
                <a:solidFill>
                  <a:srgbClr val="222222"/>
                </a:solidFill>
              </a:rPr>
              <a:t>•  핵심 가치: 유료 플랫폼 의존성을 배제하고, Python 중심의 오픈소스 생태계를 활용하여 비용 효율성과 시스템 통제권을 동시에 확보하는 것을 목적으로 합니다.</a:t>
            </a:r>
          </a:p>
          <a:p>
            <a:pPr>
              <a:spcBef>
                <a:spcPts val="600"/>
              </a:spcBef>
            </a:pPr>
            <a:r>
              <a:rPr sz="1300" b="1">
                <a:solidFill>
                  <a:srgbClr val="2E5984"/>
                </a:solidFill>
              </a:rPr>
              <a:t>2. 아키텍처 (Architecture): 계층별 기술 도구 매핑 (Layered Tech Map)</a:t>
            </a:r>
          </a:p>
          <a:p>
            <a:r>
              <a:rPr sz="1100">
                <a:solidFill>
                  <a:srgbClr val="222222"/>
                </a:solidFill>
              </a:rPr>
              <a:t>•  데이터 레이어: PostgreSQL (RDBMS), ChromaDB (Vector DB), SQLAlchemy (ORM).</a:t>
            </a:r>
          </a:p>
          <a:p>
            <a:r>
              <a:rPr sz="1100">
                <a:solidFill>
                  <a:srgbClr val="222222"/>
                </a:solidFill>
              </a:rPr>
              <a:t>•  비즈니스/분석 레이어: FastAPI (API 서버), Pandas (가공), pandas-ta (기술적 분석), OpenAI API (지능형 분석).</a:t>
            </a:r>
          </a:p>
          <a:p>
            <a:r>
              <a:rPr sz="1100">
                <a:solidFill>
                  <a:srgbClr val="222222"/>
                </a:solidFill>
              </a:rPr>
              <a:t>•  프레젠테이션 레이어: Streamlit (웹 UI), python-telegram-bot (메시징 인터페이스).</a:t>
            </a:r>
          </a:p>
          <a:p>
            <a:r>
              <a:rPr sz="1100">
                <a:solidFill>
                  <a:srgbClr val="222222"/>
                </a:solidFill>
              </a:rPr>
              <a:t>•  인프라 레이어: Docker / Docker Compose, Ubuntu Server, Nginx, APScheduler.</a:t>
            </a:r>
          </a:p>
          <a:p>
            <a:pPr>
              <a:spcBef>
                <a:spcPts val="600"/>
              </a:spcBef>
            </a:pPr>
            <a:r>
              <a:rPr sz="1300" b="1">
                <a:solidFill>
                  <a:srgbClr val="2E5984"/>
                </a:solidFill>
              </a:rPr>
              <a:t>3. 소스코드 (Source Code): 핵심 라이브러리 및 설치 명령 (requirements.txt)</a:t>
            </a:r>
          </a:p>
          <a:p>
            <a:r>
              <a:rPr sz="1100">
                <a:solidFill>
                  <a:srgbClr val="222222"/>
                </a:solidFill>
              </a:rPr>
              <a:t>•  핵심 로직: 시스템 구동을 위해 반드시 설치되어야 할 라이브러리들입니다.</a:t>
            </a:r>
          </a:p>
          <a:p>
            <a:pPr>
              <a:spcBef>
                <a:spcPts val="600"/>
              </a:spcBef>
            </a:pPr>
            <a:r>
              <a:rPr sz="1300" b="1">
                <a:solidFill>
                  <a:srgbClr val="2E5984"/>
                </a:solidFill>
              </a:rPr>
              <a:t>4. 실습 (Practice): 개발 환경 구축 및 API 도구 점검</a:t>
            </a:r>
          </a:p>
          <a:p>
            <a:r>
              <a:rPr sz="1100">
                <a:solidFill>
                  <a:srgbClr val="222222"/>
                </a:solidFill>
              </a:rPr>
              <a:t>•  과제: Python 3.11 설치와 VS Code 세팅을 완료하고, pip install 명령을 통해 분석 엔진 구축에 필요한 핵심 라이브러리들이 정상적으로 임포트(Import)되는지 확인하십시오.</a:t>
            </a:r>
          </a:p>
          <a:p>
            <a:r>
              <a:rPr sz="1100">
                <a:solidFill>
                  <a:srgbClr val="222222"/>
                </a:solidFill>
              </a:rPr>
              <a:t>•  확인 사항: DART, ECOS, 코스콤 등 외부 데이터 소스와의 통신을 위한 requests 패키지와 보안을 위한 python-dotenv가 프로젝트 환경에 포함되었는지 점검합니다.</a:t>
            </a:r>
          </a:p>
          <a:p>
            <a:pPr>
              <a:spcBef>
                <a:spcPts val="600"/>
              </a:spcBef>
            </a:pPr>
            <a:r>
              <a:rPr sz="1300" b="1">
                <a:solidFill>
                  <a:srgbClr val="2E5984"/>
                </a:solidFill>
              </a:rPr>
              <a:t>5. 확장 (Expansion): 실서비스 고도화를 위한 엔터프라이즈 도구</a:t>
            </a:r>
          </a:p>
          <a:p>
            <a:r>
              <a:rPr sz="1100">
                <a:solidFill>
                  <a:srgbClr val="222222"/>
                </a:solidFill>
              </a:rPr>
              <a:t>•  고도화 전략: 성능 향상을 위한 Redis (캐시), 대규모 뉴스 검색을 위한 Elasticsearch, 역할별 협업 AI를 위한 CrewAI 등을 추가 도입하여 시스템을 확장할 수 있습니다.</a:t>
            </a:r>
          </a:p>
          <a:p>
            <a:r>
              <a:rPr sz="1100">
                <a:solidFill>
                  <a:srgbClr val="222222"/>
                </a:solidFill>
              </a:rPr>
              <a:t>•  운영 안정성: 실서비스 배포 시 SSL 인증서(HTTPS) 적용, Uptime Kuma를 통한 실시간 모니터링, GitHub Actions 기반의 CI/CD를 연동하여 자율 운영 인프라를 완성합니다.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139  ·  63/216</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[064] AI 금융정보단말 구축 실무 - 실습 준비 및 폴더 설계</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개발 환경의 표준화와 데이터 거버넌스의 기초</a:t>
            </a:r>
          </a:p>
          <a:p>
            <a:r>
              <a:rPr sz="1100">
                <a:solidFill>
                  <a:srgbClr val="222222"/>
                </a:solidFill>
              </a:rPr>
              <a:t>•  필수 계정 확보: AI 금융 정보 플랫폼은 다양한 외부 기관(OpenAI, 금감원, 한국은행, 코스콤)의 데이터를 실시간으로 수집하므로, 각 서비스의 API Key 발급이 개발의 선행 조건입니다.</a:t>
            </a:r>
          </a:p>
          <a:p>
            <a:r>
              <a:rPr sz="1100">
                <a:solidFill>
                  <a:srgbClr val="222222"/>
                </a:solidFill>
              </a:rPr>
              <a:t>•  환경 규격화: 운영체제(Windows/Ubuntu)와 상관없이 동일한 실행 결과를 보장하기 위해 Python 3.11 이상의 환경과 일관된 프로젝트 구조를 유지하는 것이 중요합니다.</a:t>
            </a:r>
          </a:p>
          <a:p>
            <a:pPr>
              <a:spcBef>
                <a:spcPts val="600"/>
              </a:spcBef>
            </a:pPr>
            <a:r>
              <a:rPr sz="1300" b="1">
                <a:solidFill>
                  <a:srgbClr val="2E5984"/>
                </a:solidFill>
              </a:rPr>
              <a:t>2. 아키텍처 (Architecture): 모듈화된 프로젝트 디렉토리 구조</a:t>
            </a:r>
          </a:p>
          <a:p>
            <a:r>
              <a:rPr sz="1100">
                <a:solidFill>
                  <a:srgbClr val="222222"/>
                </a:solidFill>
              </a:rPr>
              <a:t>•  설계 원칙: 수집(Collectors), 분석(Analysis), 엔진(Agents), 인터페이스(API/Bots) 레이어를 물리적인 폴더로 분리하여 관심사 분리(SoC)를 실현합니다.</a:t>
            </a:r>
          </a:p>
          <a:p>
            <a:r>
              <a:rPr sz="1100">
                <a:solidFill>
                  <a:srgbClr val="222222"/>
                </a:solidFill>
              </a:rPr>
              <a:t>•  폴더 매핑:</a:t>
            </a:r>
          </a:p>
          <a:p>
            <a:r>
              <a:rPr sz="1100">
                <a:solidFill>
                  <a:srgbClr val="222222"/>
                </a:solidFill>
              </a:rPr>
              <a:t>•  app/collectors: API 연동 수집 엔진 위치</a:t>
            </a:r>
          </a:p>
          <a:p>
            <a:r>
              <a:rPr sz="1100">
                <a:solidFill>
                  <a:srgbClr val="222222"/>
                </a:solidFill>
              </a:rPr>
              <a:t>•  app/analysis: 기술적/기본적 분석 로직 위치</a:t>
            </a:r>
          </a:p>
          <a:p>
            <a:r>
              <a:rPr sz="1100">
                <a:solidFill>
                  <a:srgbClr val="222222"/>
                </a:solidFill>
              </a:rPr>
              <a:t>•  app/agents: GPT 브리프 생성 및 오케스트레이터 위치</a:t>
            </a:r>
          </a:p>
          <a:p>
            <a:r>
              <a:rPr sz="1100">
                <a:solidFill>
                  <a:srgbClr val="222222"/>
                </a:solidFill>
              </a:rPr>
              <a:t>•  data/ &amp; reports/: 수집 데이터 및 생성된 PDF 저장소</a:t>
            </a:r>
          </a:p>
          <a:p>
            <a:pPr>
              <a:spcBef>
                <a:spcPts val="600"/>
              </a:spcBef>
            </a:pPr>
            <a:r>
              <a:rPr sz="1300" b="1">
                <a:solidFill>
                  <a:srgbClr val="2E5984"/>
                </a:solidFill>
              </a:rPr>
              <a:t>3. 소스코드 (Source Code): 프로젝트 폴더 생성을 위한 쉘(Shell) 명령어</a:t>
            </a:r>
          </a:p>
          <a:p>
            <a:r>
              <a:rPr sz="1100">
                <a:solidFill>
                  <a:srgbClr val="222222"/>
                </a:solidFill>
              </a:rPr>
              <a:t>•  핵심 로직: 터미널 또는 파워쉘에서 명령어를 통해 표준 디렉토리 구조를 한 번에 생성합니다.</a:t>
            </a:r>
          </a:p>
          <a:p>
            <a:pPr>
              <a:spcBef>
                <a:spcPts val="600"/>
              </a:spcBef>
            </a:pPr>
            <a:r>
              <a:rPr sz="1300" b="1">
                <a:solidFill>
                  <a:srgbClr val="2E5984"/>
                </a:solidFill>
              </a:rPr>
              <a:t>4. 실습 (Practice): 5대 필수 API Key 확보 및 로컬 폴더 생성</a:t>
            </a:r>
          </a:p>
          <a:p>
            <a:r>
              <a:rPr sz="1100">
                <a:solidFill>
                  <a:srgbClr val="222222"/>
                </a:solidFill>
              </a:rPr>
              <a:t>•  과제 1: OpenAI, OpenDART, ECOS, 코스콤 API 키를 발급받고 텔레그램 봇을 생성하여 6개 필수 자원을 메모장에 안전하게 기록하십시오.</a:t>
            </a:r>
          </a:p>
          <a:p>
            <a:r>
              <a:rPr sz="1100">
                <a:solidFill>
                  <a:srgbClr val="222222"/>
                </a:solidFill>
              </a:rPr>
              <a:t>•  과제 2: 본인 PC의 작업 디렉토리에 ai_fin_terminal 폴더를 생성하고, 위 mkdir 명령어를 실행하여 30개 이상의 서브 디렉토리가 정상적으로 생성되었는지 확인하십시오.</a:t>
            </a:r>
          </a:p>
          <a:p>
            <a:pPr>
              <a:spcBef>
                <a:spcPts val="600"/>
              </a:spcBef>
            </a:pPr>
            <a:r>
              <a:rPr sz="1300" b="1">
                <a:solidFill>
                  <a:srgbClr val="2E5984"/>
                </a:solidFill>
              </a:rPr>
              <a:t>5. 확장 (Expansion): 로컬 개발에서 클라우드 VPS로의 인프라 전이</a:t>
            </a:r>
          </a:p>
          <a:p>
            <a:r>
              <a:rPr sz="1100">
                <a:solidFill>
                  <a:srgbClr val="222222"/>
                </a:solidFill>
              </a:rPr>
              <a:t>•  고도화 전략: 초급 단계에서는 개인 노트북에서 구축을 시작하지만, 완성 후 24x365 중단 없는 서비스를 위해 Ubuntu 22.04 LTS 기반의 VPS(가상 사설 서버) 환경으로 인프라를 이전합니다.</a:t>
            </a:r>
          </a:p>
          <a:p>
            <a:r>
              <a:rPr sz="1100">
                <a:solidFill>
                  <a:srgbClr val="222222"/>
                </a:solidFill>
              </a:rPr>
              <a:t>•  운영 최적화: 향후 데이터량이 증가할 것에 대비하여 data/ 폴더를 외부 볼륨(Storage)과 연결하거나, 대규모 로그 관리를 위해 logs/ 폴더를 별도의 로그 수집 서버와 연동하는 아키텍처 확장이 가능합니다.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140  ·  64/216</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[065] AI 금융정보단말 구축 실무 - Python 환경 및 의존성 관리</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프로젝트 독립성과 라이브러리 버전의 일관성 유지</a:t>
            </a:r>
          </a:p>
          <a:p>
            <a:r>
              <a:rPr sz="1100">
                <a:solidFill>
                  <a:srgbClr val="222222"/>
                </a:solidFill>
              </a:rPr>
              <a:t>•  가상환경(venv): PC의 전역 Python 환경과 격리된 독립적인 작업 공간을 생성하여, 프로젝트 간 라이브러리 버전 충돌을 방지합니다.</a:t>
            </a:r>
          </a:p>
          <a:p>
            <a:r>
              <a:rPr sz="1100">
                <a:solidFill>
                  <a:srgbClr val="222222"/>
                </a:solidFill>
              </a:rPr>
              <a:t>•  의존성 관리: 프로젝트에 필요한 모든 외부 패키지를 requirements.txt 파일에 명시하여, 다른 환경(서버, 동료의 PC 등)에서도 동일한 실행 환경을 즉시 복구할 수 있게 합니다.</a:t>
            </a:r>
          </a:p>
          <a:p>
            <a:pPr>
              <a:spcBef>
                <a:spcPts val="600"/>
              </a:spcBef>
            </a:pPr>
            <a:r>
              <a:rPr sz="1300" b="1">
                <a:solidFill>
                  <a:srgbClr val="2E5984"/>
                </a:solidFill>
              </a:rPr>
              <a:t>2. 아키텍처 (Architecture): 모듈별 핵심 라이브러리 구성도</a:t>
            </a:r>
          </a:p>
          <a:p>
            <a:r>
              <a:rPr sz="1100">
                <a:solidFill>
                  <a:srgbClr val="222222"/>
                </a:solidFill>
              </a:rPr>
              <a:t>•  기반 인프라: fastapi, uvicorn (서버) / python-dotenv (환경변수).</a:t>
            </a:r>
          </a:p>
          <a:p>
            <a:r>
              <a:rPr sz="1100">
                <a:solidFill>
                  <a:srgbClr val="222222"/>
                </a:solidFill>
              </a:rPr>
              <a:t>•  데이터 파이프라인: requests (API 통신) / pandas, numpy (수치 가공) / sqlalchemy, psycopg2-binary (DB 연동).</a:t>
            </a:r>
          </a:p>
          <a:p>
            <a:r>
              <a:rPr sz="1100">
                <a:solidFill>
                  <a:srgbClr val="222222"/>
                </a:solidFill>
              </a:rPr>
              <a:t>•  AI 및 분석 엔진: openai (GPT) / chromadb (벡터 DB) / pandas-ta (기술적 분석).</a:t>
            </a:r>
          </a:p>
          <a:p>
            <a:r>
              <a:rPr sz="1100">
                <a:solidFill>
                  <a:srgbClr val="222222"/>
                </a:solidFill>
              </a:rPr>
              <a:t>•  출력 및 운영: reportlab, matplotlib (PDF/차트) / streamlit (웹 UI) / apscheduler (자동화).</a:t>
            </a:r>
          </a:p>
          <a:p>
            <a:pPr>
              <a:spcBef>
                <a:spcPts val="600"/>
              </a:spcBef>
            </a:pPr>
            <a:r>
              <a:rPr sz="1300" b="1">
                <a:solidFill>
                  <a:srgbClr val="2E5984"/>
                </a:solidFill>
              </a:rPr>
              <a:t>3. 소스코드 (Source Code): 표준 requirements.txt 작성 내용</a:t>
            </a:r>
          </a:p>
          <a:p>
            <a:r>
              <a:rPr sz="1100">
                <a:solidFill>
                  <a:srgbClr val="222222"/>
                </a:solidFill>
              </a:rPr>
              <a:t>•  핵심 로직: 프로젝트 최상위 폴더에 아래 내용을 포함한 파일을 생성합니다.</a:t>
            </a:r>
          </a:p>
          <a:p>
            <a:pPr>
              <a:spcBef>
                <a:spcPts val="600"/>
              </a:spcBef>
            </a:pPr>
            <a:r>
              <a:rPr sz="1300" b="1">
                <a:solidFill>
                  <a:srgbClr val="2E5984"/>
                </a:solidFill>
              </a:rPr>
              <a:t>4. 실습 (Practice): 가상환경 활성화 및 패키지 일괄 설치</a:t>
            </a:r>
          </a:p>
          <a:p>
            <a:r>
              <a:rPr sz="1100">
                <a:solidFill>
                  <a:srgbClr val="222222"/>
                </a:solidFill>
              </a:rPr>
              <a:t>•  과제 1: 터미널에서 가상환경을 생성하고 활성화하십시오.</a:t>
            </a:r>
          </a:p>
          <a:p>
            <a:r>
              <a:rPr sz="1100">
                <a:solidFill>
                  <a:srgbClr val="222222"/>
                </a:solidFill>
              </a:rPr>
              <a:t>•  (Windows) python -m venv venv 후 source venv/Scripts/activate</a:t>
            </a:r>
          </a:p>
          <a:p>
            <a:r>
              <a:rPr sz="1100">
                <a:solidFill>
                  <a:srgbClr val="222222"/>
                </a:solidFill>
              </a:rPr>
              <a:t>•  (Mac/Linux) python3 -m venv venv 후 source venv/bin/activate</a:t>
            </a:r>
          </a:p>
          <a:p>
            <a:r>
              <a:rPr sz="1100">
                <a:solidFill>
                  <a:srgbClr val="222222"/>
                </a:solidFill>
              </a:rPr>
              <a:t>•  과제 2: 생성한 requirements.txt를 기반으로 모든 패키지를 설치하십시오.</a:t>
            </a:r>
          </a:p>
          <a:p>
            <a:r>
              <a:rPr sz="1100">
                <a:solidFill>
                  <a:srgbClr val="222222"/>
                </a:solidFill>
              </a:rPr>
              <a:t>•  명령어: pip install -r requirements.txt</a:t>
            </a:r>
          </a:p>
          <a:p>
            <a:pPr>
              <a:spcBef>
                <a:spcPts val="600"/>
              </a:spcBef>
            </a:pPr>
            <a:r>
              <a:rPr sz="1300" b="1">
                <a:solidFill>
                  <a:srgbClr val="2E5984"/>
                </a:solidFill>
              </a:rPr>
              <a:t>5. 확장 (Expansion): 'Lock' 파일을 통한 엔터프라이즈급 버전 통제</a:t>
            </a:r>
          </a:p>
          <a:p>
            <a:r>
              <a:rPr sz="1100">
                <a:solidFill>
                  <a:srgbClr val="222222"/>
                </a:solidFill>
              </a:rPr>
              <a:t>•  고도화 전략: 단순히 패키지명만 적는 것을 넘어 pip freeze &gt; requirements.txt 명령어를 통해 사용 중인 모든 라이브러리의 상세 버전까지 고정하여 운영 서버 배포 시 발생할 수 있는 잠재적 오류를 차단합니다.</a:t>
            </a:r>
          </a:p>
          <a:p>
            <a:r>
              <a:rPr sz="1100">
                <a:solidFill>
                  <a:srgbClr val="222222"/>
                </a:solidFill>
              </a:rPr>
              <a:t>•  기술 적용: 향후 Docker 이미지 빌드 시 이 requirements.txt는 컨테이너 내부의 Python 환경을 구성하는 핵심 명세서가 되어, 개발-테스트-운영 환경의 완벽한 일치(Identity)를 보장하게 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141  ·  65/216</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[066] AI 금융정보단말 구축 실무 - 환경변수 설정(.env) 및 보안</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코드와 기밀 정보의 분리 (Separation of Concerns)</a:t>
            </a:r>
          </a:p>
          <a:p>
            <a:r>
              <a:rPr sz="1100">
                <a:solidFill>
                  <a:srgbClr val="222222"/>
                </a:solidFill>
              </a:rPr>
              <a:t>•  정의: API 키, 데이터베이스 접속 정보, 텔레그램 토큰 등 외부에 노출되어서는 안 되는 기밀 정보를 소스코드 내에 직접 작성(Hard-coding)하지 않고, .env라는 별도의 설정 파일에서 관리하는 방식입니다.</a:t>
            </a:r>
          </a:p>
          <a:p>
            <a:r>
              <a:rPr sz="1100">
                <a:solidFill>
                  <a:srgbClr val="222222"/>
                </a:solidFill>
              </a:rPr>
              <a:t>•  핵심 가치: 소스코드가 공유되더라도 실제 API 키는 노출되지 않으며, 개발·테스트·운영 환경에 따라 설정을 유연하게 변경할 수 있는 운영 안정성을 확보합니다.</a:t>
            </a:r>
          </a:p>
          <a:p>
            <a:pPr>
              <a:spcBef>
                <a:spcPts val="600"/>
              </a:spcBef>
            </a:pPr>
            <a:r>
              <a:rPr sz="1300" b="1">
                <a:solidFill>
                  <a:srgbClr val="2E5984"/>
                </a:solidFill>
              </a:rPr>
              <a:t>2. 아키텍처 (Architecture): 설정 주입 및 보안 레이어 구조</a:t>
            </a:r>
          </a:p>
          <a:p>
            <a:r>
              <a:rPr sz="1100">
                <a:solidFill>
                  <a:srgbClr val="222222"/>
                </a:solidFill>
              </a:rPr>
              <a:t>•  데이터 흐름: [.env 파일] → [pydantic-settings / python-dotenv] → [애플리케이션 환경변수 로드] → [각 모듈(DART, OpenAI 등)에 주입].</a:t>
            </a:r>
          </a:p>
          <a:p>
            <a:r>
              <a:rPr sz="1100">
                <a:solidFill>
                  <a:srgbClr val="222222"/>
                </a:solidFill>
              </a:rPr>
              <a:t>•  보안 필터: .gitignore 파일을 통해 .env 파일이 Git 저장소(GitHub 등)에 업로드되는 것을 원천 차단하여 정보 유출 사고를 방지합니다.</a:t>
            </a:r>
          </a:p>
          <a:p>
            <a:pPr>
              <a:spcBef>
                <a:spcPts val="600"/>
              </a:spcBef>
            </a:pPr>
            <a:r>
              <a:rPr sz="1300" b="1">
                <a:solidFill>
                  <a:srgbClr val="2E5984"/>
                </a:solidFill>
              </a:rPr>
              <a:t>3. 소스코드 (Source Code): 표준 .env 파일 구성 예시</a:t>
            </a:r>
          </a:p>
          <a:p>
            <a:r>
              <a:rPr sz="1100">
                <a:solidFill>
                  <a:srgbClr val="222222"/>
                </a:solidFill>
              </a:rPr>
              <a:t>•  핵심 로직: 프로젝트 최상위 폴더에 생성할 환경변수 명세입니다.</a:t>
            </a:r>
          </a:p>
          <a:p>
            <a:pPr>
              <a:spcBef>
                <a:spcPts val="600"/>
              </a:spcBef>
            </a:pPr>
            <a:r>
              <a:rPr sz="1300" b="1">
                <a:solidFill>
                  <a:srgbClr val="2E5984"/>
                </a:solidFill>
              </a:rPr>
              <a:t>4. 실습 (Practice): .env 파일 생성 및 API 키 무결성 확인</a:t>
            </a:r>
          </a:p>
          <a:p>
            <a:r>
              <a:rPr sz="1100">
                <a:solidFill>
                  <a:srgbClr val="222222"/>
                </a:solidFill>
              </a:rPr>
              <a:t>•  과제 1: 제공된 .env.example 파일을 복사하여 .env 파일을 생성하고, 발급받은 6대 핵심 자산(OpenAI, DART, ECOS, KOSCOM, Telegram Token/ID)을 정확히 입력하십시오.</a:t>
            </a:r>
          </a:p>
          <a:p>
            <a:r>
              <a:rPr sz="1100">
                <a:solidFill>
                  <a:srgbClr val="222222"/>
                </a:solidFill>
              </a:rPr>
              <a:t>•  과제 2: VS Code 에디터에서 해당 파일이 정상적으로 저장되었는지 확인하고, 데이터베이스 URL의 패스워드 등이 실제 설치 정보와 일치하는지 점검합니다.</a:t>
            </a:r>
          </a:p>
          <a:p>
            <a:pPr>
              <a:spcBef>
                <a:spcPts val="600"/>
              </a:spcBef>
            </a:pPr>
            <a:r>
              <a:rPr sz="1300" b="1">
                <a:solidFill>
                  <a:srgbClr val="2E5984"/>
                </a:solidFill>
              </a:rPr>
              <a:t>5. 확장 (Expansion): 보안 수칙 준수 및 환경별 설정 고도화</a:t>
            </a:r>
          </a:p>
          <a:p>
            <a:r>
              <a:rPr sz="1100">
                <a:solidFill>
                  <a:srgbClr val="222222"/>
                </a:solidFill>
              </a:rPr>
              <a:t>•  보안 주의사항: .env 파일은 절대 외부에 공유하지 않으며, 화면 캡처 시에도 API 키가 노출되지 않도록 각별히 유의해야 합니다.</a:t>
            </a:r>
          </a:p>
          <a:p>
            <a:r>
              <a:rPr sz="1100">
                <a:solidFill>
                  <a:srgbClr val="222222"/>
                </a:solidFill>
              </a:rPr>
              <a:t>•  기술적 지향점: 향후 서비스 규모가 커질 경우, AWS Secrets Manager나 HashiCorp Vault와 같은 전문 비밀 관리 시스템으로 확장하여 엔터프라이즈 수준의 보안 인프라를 구축할 수 있습니다.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142  ·  66/216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[067] AI 금융정보단말 구축 실무 - 6부: PostgreSQL DB 설치 및 실행</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비개발자도 가능한 '1분' DB 구축 전략</a:t>
            </a:r>
          </a:p>
          <a:p>
            <a:r>
              <a:rPr sz="1100">
                <a:solidFill>
                  <a:srgbClr val="222222"/>
                </a:solidFill>
              </a:rPr>
              <a:t>•  Docker 기반 설치: 복잡한 OS별 설치 과정과 라이브러리 충돌을 피하기 위해 Docker 컨테이너 방식을 채택합니다.</a:t>
            </a:r>
          </a:p>
          <a:p>
            <a:r>
              <a:rPr sz="1100">
                <a:solidFill>
                  <a:srgbClr val="222222"/>
                </a:solidFill>
              </a:rPr>
              <a:t>•  핵심 가치: 명령어 한 줄로 전 세계 어디서나 동일한 버전(PostgreSQL 16)의 데이터베이스 환경을 즉시 구성하여 개발 생산성을 극대화합니다.</a:t>
            </a:r>
          </a:p>
          <a:p>
            <a:pPr>
              <a:spcBef>
                <a:spcPts val="600"/>
              </a:spcBef>
            </a:pPr>
            <a:r>
              <a:rPr sz="1300" b="1">
                <a:solidFill>
                  <a:srgbClr val="2E5984"/>
                </a:solidFill>
              </a:rPr>
              <a:t>2. 아키텍처 (Architecture): 컨테이너 기반의 격리된 데이터 레이어</a:t>
            </a:r>
          </a:p>
          <a:p>
            <a:r>
              <a:rPr sz="1100">
                <a:solidFill>
                  <a:srgbClr val="222222"/>
                </a:solidFill>
              </a:rPr>
              <a:t>•  서비스 구조: [호스트 PC] ↔ [Docker 엔진] ↔ [PostgreSQL 컨테이너] ↔ [데이터 볼륨(영구 저장)].</a:t>
            </a:r>
          </a:p>
          <a:p>
            <a:r>
              <a:rPr sz="1100">
                <a:solidFill>
                  <a:srgbClr val="222222"/>
                </a:solidFill>
              </a:rPr>
              <a:t>•  포트 바인딩: 외부 호스트의 5432 포트와 컨테이너 내부의 5432 포트를 연결하여 FastAPI 서버가 내부 DB에 원활하게 접속할 수 있도록 설계합니다.</a:t>
            </a:r>
          </a:p>
          <a:p>
            <a:pPr>
              <a:spcBef>
                <a:spcPts val="600"/>
              </a:spcBef>
            </a:pPr>
            <a:r>
              <a:rPr sz="1300" b="1">
                <a:solidFill>
                  <a:srgbClr val="2E5984"/>
                </a:solidFill>
              </a:rPr>
              <a:t>3. 소스코드 (Source Code): 표준 docker-compose.yml 파일 작성</a:t>
            </a:r>
          </a:p>
          <a:p>
            <a:r>
              <a:rPr sz="1100">
                <a:solidFill>
                  <a:srgbClr val="222222"/>
                </a:solidFill>
              </a:rPr>
              <a:t>•  핵심 로직: DB 사용자, 패스워드, DB명을 환경설정과 함께 정의합니다.</a:t>
            </a:r>
          </a:p>
          <a:p>
            <a:pPr>
              <a:spcBef>
                <a:spcPts val="600"/>
              </a:spcBef>
            </a:pPr>
            <a:r>
              <a:rPr sz="1300" b="1">
                <a:solidFill>
                  <a:srgbClr val="2E5984"/>
                </a:solidFill>
              </a:rPr>
              <a:t>4. 실습 (Practice): DB 서비스 기동 및 정상 작동 유무 확인</a:t>
            </a:r>
          </a:p>
          <a:p>
            <a:r>
              <a:rPr sz="1100">
                <a:solidFill>
                  <a:srgbClr val="222222"/>
                </a:solidFill>
              </a:rPr>
              <a:t>•  과제 1: 터미널에서 docker compose up -d 명령어를 실행하여 백그라운드에서 DB 서비스를 시작하십시오.</a:t>
            </a:r>
          </a:p>
          <a:p>
            <a:r>
              <a:rPr sz="1100">
                <a:solidFill>
                  <a:srgbClr val="222222"/>
                </a:solidFill>
              </a:rPr>
              <a:t>•  과제 2: docker ps 명령어를 통해 ai_fin_postgres 컨테이너의 상태가 Up으로 표시되고 5432 포트가 열려 있는지 확인하십시오.</a:t>
            </a:r>
          </a:p>
          <a:p>
            <a:pPr>
              <a:spcBef>
                <a:spcPts val="600"/>
              </a:spcBef>
            </a:pPr>
            <a:r>
              <a:rPr sz="1300" b="1">
                <a:solidFill>
                  <a:srgbClr val="2E5984"/>
                </a:solidFill>
              </a:rPr>
              <a:t>5. 확장 (Expansion): 고가용성 DB 운영 및 실시간 상태 감시</a:t>
            </a:r>
          </a:p>
          <a:p>
            <a:r>
              <a:rPr sz="1100">
                <a:solidFill>
                  <a:srgbClr val="222222"/>
                </a:solidFill>
              </a:rPr>
              <a:t>•  고도화 전략: 단순히 DB를 띄우는 것을 넘어, pgAdmin과 같은 GUI 관리 도구를 연동하여 데이터를 시각적으로 관리하거나, Uptime Kuma를 통해 DB 가동 시간을 실시간 모니터링합니다.</a:t>
            </a:r>
          </a:p>
          <a:p>
            <a:r>
              <a:rPr sz="1100">
                <a:solidFill>
                  <a:srgbClr val="222222"/>
                </a:solidFill>
              </a:rPr>
              <a:t>•  운영 안정성: 정기적으로 pg_dump 명령을 사용하여 DB를 백업하는 스케줄을 추가함으로써 데이터 유실에 대비한 엔터프라이즈급 금융 데이터 거버넌스 체계를 구축합니다.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143  ·  67/216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[068] AI 금융정보단말 구축 실무 - 7부: 전체 테이블 생성 SQL</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금융 데이터레이크(Data Lake)의 물리적 설계</a:t>
            </a:r>
          </a:p>
          <a:p>
            <a:r>
              <a:rPr sz="1100">
                <a:solidFill>
                  <a:srgbClr val="222222"/>
                </a:solidFill>
              </a:rPr>
              <a:t>•  정의: 시세, 수급, 재무, 거시지표 등 서로 다른 성격의 데이터들을 관계형 데이터베이스(RDBMS)의 규격에 맞춰 저장하기 위한 데이터 구조(Schema) 정의 단계입니다.</a:t>
            </a:r>
          </a:p>
          <a:p>
            <a:r>
              <a:rPr sz="1100">
                <a:solidFill>
                  <a:srgbClr val="222222"/>
                </a:solidFill>
              </a:rPr>
              <a:t>•  핵심 가치: 종목코드(Ticker)와 날짜(Date)를 기준으로 데이터를 정규화하여 관리함으로써, 복합적인 금융 분석 수행 시 데이터 간의 무결성과 연결성을 보장합니다.</a:t>
            </a:r>
          </a:p>
          <a:p>
            <a:pPr>
              <a:spcBef>
                <a:spcPts val="600"/>
              </a:spcBef>
            </a:pPr>
            <a:r>
              <a:rPr sz="1300" b="1">
                <a:solidFill>
                  <a:srgbClr val="2E5984"/>
                </a:solidFill>
              </a:rPr>
              <a:t>2. 아키텍처 (Architecture): 통합 온톨로지 기반의 테이블 구조</a:t>
            </a:r>
          </a:p>
          <a:p>
            <a:r>
              <a:rPr sz="1100">
                <a:solidFill>
                  <a:srgbClr val="222222"/>
                </a:solidFill>
              </a:rPr>
              <a:t>•  핵심 테이블 구성:</a:t>
            </a:r>
          </a:p>
          <a:p>
            <a:r>
              <a:rPr sz="1100">
                <a:solidFill>
                  <a:srgbClr val="222222"/>
                </a:solidFill>
              </a:rPr>
              <a:t>•  stocks / stock_prices: 종목 기본 정보 및 OHLCV 가격 데이터.</a:t>
            </a:r>
          </a:p>
          <a:p>
            <a:r>
              <a:rPr sz="1100">
                <a:solidFill>
                  <a:srgbClr val="222222"/>
                </a:solidFill>
              </a:rPr>
              <a:t>•  investor_flows: 외국인·기관·개인의 수급 데이터.</a:t>
            </a:r>
          </a:p>
          <a:p>
            <a:r>
              <a:rPr sz="1100">
                <a:solidFill>
                  <a:srgbClr val="222222"/>
                </a:solidFill>
              </a:rPr>
              <a:t>•  financial_statements: DART에서 수집한 기업 재무 제표.</a:t>
            </a:r>
          </a:p>
          <a:p>
            <a:r>
              <a:rPr sz="1100">
                <a:solidFill>
                  <a:srgbClr val="222222"/>
                </a:solidFill>
              </a:rPr>
              <a:t>•  macro_indicators: ECOS에서 수집한 거시 경제 지표.</a:t>
            </a:r>
          </a:p>
          <a:p>
            <a:r>
              <a:rPr sz="1100">
                <a:solidFill>
                  <a:srgbClr val="222222"/>
                </a:solidFill>
              </a:rPr>
              <a:t>•  analysis_scores / generated_reports: AI 분석 결과 및 리포트 관리.</a:t>
            </a:r>
          </a:p>
          <a:p>
            <a:r>
              <a:rPr sz="1100">
                <a:solidFill>
                  <a:srgbClr val="222222"/>
                </a:solidFill>
              </a:rPr>
              <a:t>•  news_memory: RAG 기반 분석을 위한 뉴스 저장소.</a:t>
            </a:r>
          </a:p>
          <a:p>
            <a:pPr>
              <a:spcBef>
                <a:spcPts val="600"/>
              </a:spcBef>
            </a:pPr>
            <a:r>
              <a:rPr sz="1300" b="1">
                <a:solidFill>
                  <a:srgbClr val="2E5984"/>
                </a:solidFill>
              </a:rPr>
              <a:t>3. 소스코드 (Source Code): 표준 DDL(Data Definition Language)</a:t>
            </a:r>
          </a:p>
          <a:p>
            <a:r>
              <a:rPr sz="1100">
                <a:solidFill>
                  <a:srgbClr val="222222"/>
                </a:solidFill>
              </a:rPr>
              <a:t>•  핵심 로직: 중복 저장을 방지하기 위한 UNIQUE 제약 조건과 자동 증가 SERIAL 키를 적용합니다.</a:t>
            </a:r>
          </a:p>
          <a:p>
            <a:pPr>
              <a:spcBef>
                <a:spcPts val="600"/>
              </a:spcBef>
            </a:pPr>
            <a:r>
              <a:rPr sz="1300" b="1">
                <a:solidFill>
                  <a:srgbClr val="2E5984"/>
                </a:solidFill>
              </a:rPr>
              <a:t>4. 실습 (Practice): psql 접속 및 스키마 일괄 생성</a:t>
            </a:r>
          </a:p>
          <a:p>
            <a:r>
              <a:rPr sz="1100">
                <a:solidFill>
                  <a:srgbClr val="222222"/>
                </a:solidFill>
              </a:rPr>
              <a:t>•  과제 1: 터미널에서 docker exec -it ai_fin_postgres psql -U postgres -d ai_fin_terminal 명령어로 DB에 접속하십시오.</a:t>
            </a:r>
          </a:p>
          <a:p>
            <a:r>
              <a:rPr sz="1100">
                <a:solidFill>
                  <a:srgbClr val="222222"/>
                </a:solidFill>
              </a:rPr>
              <a:t>•  과제 2: 교안에 제시된 전체 CREATE TABLE SQL을 복사하여 붙여넣고, \dt 명령어를 통해 9개의 테이블이 정상적으로 생성되었는지 확인하십시오.</a:t>
            </a:r>
          </a:p>
          <a:p>
            <a:pPr>
              <a:spcBef>
                <a:spcPts val="600"/>
              </a:spcBef>
            </a:pPr>
            <a:r>
              <a:rPr sz="1300" b="1">
                <a:solidFill>
                  <a:srgbClr val="2E5984"/>
                </a:solidFill>
              </a:rPr>
              <a:t>5. 확장 (Expansion): 쿼리 성능 최적화 및 인덱싱(Indexing)</a:t>
            </a:r>
          </a:p>
          <a:p>
            <a:r>
              <a:rPr sz="1100">
                <a:solidFill>
                  <a:srgbClr val="222222"/>
                </a:solidFill>
              </a:rPr>
              <a:t>•  고도화 전략: 수백만 건의 시세 데이터 내에서 특정 종목의 특정 기간을 빠르게 검색하기 위해 종목코드와 날짜의 결합 인덱스를 생성합니다.</a:t>
            </a:r>
          </a:p>
          <a:p>
            <a:r>
              <a:rPr sz="1100">
                <a:solidFill>
                  <a:srgbClr val="222222"/>
                </a:solidFill>
              </a:rPr>
              <a:t>•  기술 적용: CREATE INDEX IF NOT EXISTS idx_stock_prices_ticker_date ON stock_prices(ticker, trade_date);와 같은 인덱스 설정을 통해, 향후 Module 8(분석 엔진) 구동 시 데이터 로딩 속도를 비약적으로 향상시킵니다.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144  ·  68/216</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[069] AI 금융정보단말 구축 실무 - 8부: Python DB 연결 설정</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유연한 설정 관리와 효율적인 연결 풀링(Connection Pooling)</a:t>
            </a:r>
          </a:p>
          <a:p>
            <a:r>
              <a:rPr sz="1100">
                <a:solidFill>
                  <a:srgbClr val="222222"/>
                </a:solidFill>
              </a:rPr>
              <a:t>•  설정 모듈화: API 키와 DB 주소 등 민감한 정보를 BaseSettings를 통해 관리하여 코드의 보안성과 재사용성을 높입니다.</a:t>
            </a:r>
          </a:p>
          <a:p>
            <a:r>
              <a:rPr sz="1100">
                <a:solidFill>
                  <a:srgbClr val="222222"/>
                </a:solidFill>
              </a:rPr>
              <a:t>•  연결 최적화: SQLAlchemy의 create_engine과 sessionmaker를 활용해 DB 연결을 효율적으로 관리하고, pool_pre_ping=True 설정을 통해 연결 유효성을 자동으로 체크합니다.</a:t>
            </a:r>
          </a:p>
          <a:p>
            <a:pPr>
              <a:spcBef>
                <a:spcPts val="600"/>
              </a:spcBef>
            </a:pPr>
            <a:r>
              <a:rPr sz="1300" b="1">
                <a:solidFill>
                  <a:srgbClr val="2E5984"/>
                </a:solidFill>
              </a:rPr>
              <a:t>2. 아키텍처 (Architecture): 환경변수 로딩 및 세션 관리 구조</a:t>
            </a:r>
          </a:p>
          <a:p>
            <a:r>
              <a:rPr sz="1100">
                <a:solidFill>
                  <a:srgbClr val="222222"/>
                </a:solidFill>
              </a:rPr>
              <a:t>•  데이터 흐름: [.env] → [config.py (Settings 로드)] → [database.py (Engine 및 Session 생성)] → [Repository (데이터 CRUD)].</a:t>
            </a:r>
          </a:p>
          <a:p>
            <a:r>
              <a:rPr sz="1100">
                <a:solidFill>
                  <a:srgbClr val="222222"/>
                </a:solidFill>
              </a:rPr>
              <a:t>•  구조적 특징: 모든 DB 작업은 SessionLocal을 통해 격리된 세션 내에서 안전하게 수행되며, 설정값은 pydantic-settings를 통해 타입 안정성을 보장받습니다.</a:t>
            </a:r>
          </a:p>
          <a:p>
            <a:pPr>
              <a:spcBef>
                <a:spcPts val="600"/>
              </a:spcBef>
            </a:pPr>
            <a:r>
              <a:rPr sz="1300" b="1">
                <a:solidFill>
                  <a:srgbClr val="2E5984"/>
                </a:solidFill>
              </a:rPr>
              <a:t>3. 소스코드 (Source Code): 설정 및 DB 연결 핵심 파일 구현</a:t>
            </a:r>
          </a:p>
          <a:p>
            <a:r>
              <a:rPr sz="1100">
                <a:solidFill>
                  <a:srgbClr val="222222"/>
                </a:solidFill>
              </a:rPr>
              <a:t>•  핵심 로직: 환경변수 로드와 DB 세션 팩토리 설정입니다.</a:t>
            </a:r>
          </a:p>
          <a:p>
            <a:pPr>
              <a:spcBef>
                <a:spcPts val="600"/>
              </a:spcBef>
            </a:pPr>
            <a:r>
              <a:rPr sz="1300" b="1">
                <a:solidFill>
                  <a:srgbClr val="2E5984"/>
                </a:solidFill>
              </a:rPr>
              <a:t>4. 실습 (Practice): Settings 객체 로드 및 DB 연결 상태 점검</a:t>
            </a:r>
          </a:p>
          <a:p>
            <a:r>
              <a:rPr sz="1100">
                <a:solidFill>
                  <a:srgbClr val="222222"/>
                </a:solidFill>
              </a:rPr>
              <a:t>•  과제: Python 인터프리터에서 from app.core.config import settings를 실행하고, settings.DATABASE_URL이 .env에 설정한 값과 일치하게 출력되는지 확인하십시오.</a:t>
            </a:r>
          </a:p>
          <a:p>
            <a:r>
              <a:rPr sz="1100">
                <a:solidFill>
                  <a:srgbClr val="222222"/>
                </a:solidFill>
              </a:rPr>
              <a:t>•  확인 사항: engine.connect() 명령을 통해 실제 PostgreSQL 데이터베이스에 오류 없이 접속되는지 점검합니다.</a:t>
            </a:r>
          </a:p>
          <a:p>
            <a:pPr>
              <a:spcBef>
                <a:spcPts val="600"/>
              </a:spcBef>
            </a:pPr>
            <a:r>
              <a:rPr sz="1300" b="1">
                <a:solidFill>
                  <a:srgbClr val="2E5984"/>
                </a:solidFill>
              </a:rPr>
              <a:t>5. 확장 (Expansion): 클라우드 환경 대응 및 비동기(Async) DB 처리</a:t>
            </a:r>
          </a:p>
          <a:p>
            <a:r>
              <a:rPr sz="1100">
                <a:solidFill>
                  <a:srgbClr val="222222"/>
                </a:solidFill>
              </a:rPr>
              <a:t>•  고도화 전략: 서비스 규모가 커지면 AsyncSession을 도입하여 비동기 데이터 처리를 구현하거나, 환경별(dev, prod)로 설정을 분리하여 운영 안정성을 강화합니다.</a:t>
            </a:r>
          </a:p>
          <a:p>
            <a:r>
              <a:rPr sz="1100">
                <a:solidFill>
                  <a:srgbClr val="222222"/>
                </a:solidFill>
              </a:rPr>
              <a:t>•  기술적 지향점: 이 연결 설정은 향후 Module 12(AI 금융비서)에서 대량의 실시간 시세와 리스크 신호를 DB에 적재하고 분석 엔진으로 전달하는 핵심 데이터 파이프라인의 입구가 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145  ·  69/216</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[070] AI 금융정보단말 구축 실무 - 9부: DART 재무정보 수집 모듈</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기업의 DNA, 재무 제표 데이터의 자동 확보</a:t>
            </a:r>
          </a:p>
          <a:p>
            <a:r>
              <a:rPr sz="1100">
                <a:solidFill>
                  <a:srgbClr val="222222"/>
                </a:solidFill>
              </a:rPr>
              <a:t>•  DART API: 금융감독원 오픈다트(OpenDART)를 통해 상장사 및 주요 법인의 재무제표(손익계산서, 재무상태표 등)를 수집하는 핵심 모듈입니다.</a:t>
            </a:r>
          </a:p>
          <a:p>
            <a:r>
              <a:rPr sz="1100">
                <a:solidFill>
                  <a:srgbClr val="222222"/>
                </a:solidFill>
              </a:rPr>
              <a:t>•  고유번호(corp_code) 매핑: DART는 종목코드(005930) 대신 8자리의 고유번호를 사용하므로, 매핑용 XML을 내려받아 종목코드-고유번호 가교를 생성하는 과정이 필수적입니다.</a:t>
            </a:r>
          </a:p>
          <a:p>
            <a:pPr>
              <a:spcBef>
                <a:spcPts val="600"/>
              </a:spcBef>
            </a:pPr>
            <a:r>
              <a:rPr sz="1300" b="1">
                <a:solidFill>
                  <a:srgbClr val="2E5984"/>
                </a:solidFill>
              </a:rPr>
              <a:t>2. 아키텍처 (Architecture): ZIP 압축 해제 및 XML/JSON 파싱 파이프라인</a:t>
            </a:r>
          </a:p>
          <a:p>
            <a:r>
              <a:rPr sz="1100">
                <a:solidFill>
                  <a:srgbClr val="222222"/>
                </a:solidFill>
              </a:rPr>
              <a:t>•  데이터 흐름: [OpenDART API] → [corpCode.xml 다운로드] → [ZIP 압축 해제 및 메모리 로드] → [종목코드 매칭] → [재무 정보 JSON 수집].</a:t>
            </a:r>
          </a:p>
          <a:p>
            <a:r>
              <a:rPr sz="1100">
                <a:solidFill>
                  <a:srgbClr val="222222"/>
                </a:solidFill>
              </a:rPr>
              <a:t>•  보고서 유형: 사업보고서(11011), 반기(11012), 1분기(11013), 3분기(11014) 등 리포트 코드별 분기 수집 구조를 가집니다.</a:t>
            </a:r>
          </a:p>
          <a:p>
            <a:pPr>
              <a:spcBef>
                <a:spcPts val="600"/>
              </a:spcBef>
            </a:pPr>
            <a:r>
              <a:rPr sz="1300" b="1">
                <a:solidFill>
                  <a:srgbClr val="2E5984"/>
                </a:solidFill>
              </a:rPr>
              <a:t>3. 소스코드 (Source Code): DART Collector 및 기업 고유번호 매핑 로직</a:t>
            </a:r>
          </a:p>
          <a:p>
            <a:r>
              <a:rPr sz="1100">
                <a:solidFill>
                  <a:srgbClr val="222222"/>
                </a:solidFill>
              </a:rPr>
              <a:t>•  핵심 로직: zipfile과 xml.etree를 활용한 고유번호 추출 및 재무 데이터 호출부입니다.</a:t>
            </a:r>
          </a:p>
          <a:p>
            <a:pPr>
              <a:spcBef>
                <a:spcPts val="600"/>
              </a:spcBef>
            </a:pPr>
            <a:r>
              <a:rPr sz="1300" b="1">
                <a:solidFill>
                  <a:srgbClr val="2E5984"/>
                </a:solidFill>
              </a:rPr>
              <a:t>4. 실습 (Practice): '삼성전자' 고유번호 확인 및 재무 응답 테스트</a:t>
            </a:r>
          </a:p>
          <a:p>
            <a:r>
              <a:rPr sz="1100">
                <a:solidFill>
                  <a:srgbClr val="222222"/>
                </a:solidFill>
              </a:rPr>
              <a:t>•  과제 1: download_corp_codes()를 실행하여 삼성전자의 종목코드 005930에 대응하는 고유번호 00126380이 정상적으로 추출되는지 확인하십시오.</a:t>
            </a:r>
          </a:p>
          <a:p>
            <a:r>
              <a:rPr sz="1100">
                <a:solidFill>
                  <a:srgbClr val="222222"/>
                </a:solidFill>
              </a:rPr>
              <a:t>•  과제 2: 추출된 고유번호로 get_single_company_financials를 호출하여 {"account_nm": "매출액", "thstrm_amount": "..."} 형태의 JSON 데이터가 출력되는지 점검합니다.</a:t>
            </a:r>
          </a:p>
          <a:p>
            <a:pPr>
              <a:spcBef>
                <a:spcPts val="600"/>
              </a:spcBef>
            </a:pPr>
            <a:r>
              <a:rPr sz="1300" b="1">
                <a:solidFill>
                  <a:srgbClr val="2E5984"/>
                </a:solidFill>
              </a:rPr>
              <a:t>5. 확장 (Expansion): 다트 공시 원문 텍스트 분석 및 RAG 연동</a:t>
            </a:r>
          </a:p>
          <a:p>
            <a:r>
              <a:rPr sz="1100">
                <a:solidFill>
                  <a:srgbClr val="222222"/>
                </a:solidFill>
              </a:rPr>
              <a:t>•  고도화 전략: 수치 데이터(재무제표) 수집을 넘어, 공시 내 '이사의 진단 및 분석 의견'과 같은 비정형 텍스트를 수집하여 AI가 기업의 정성적 리스크를 파악하도록 확장합니다.</a:t>
            </a:r>
          </a:p>
          <a:p>
            <a:r>
              <a:rPr sz="1100">
                <a:solidFill>
                  <a:srgbClr val="222222"/>
                </a:solidFill>
              </a:rPr>
              <a:t>•  기술적 지향점: 수집된 재무 데이터는 향후 Module 14(기본적 분석) 엔진으로 전달되어, ROE, 부채비율 등을 계산하고 GPT가 투자의견(BUY/HOLD 등)을 결정하는 핵심 근거자료가 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146  ·  70/216</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[071] AI 금융정보단말 구축 실무 - 10부: ECOS 금융지표 수집 모듈</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시장의 '온도'를 읽는 매크로 데이터 파이프라인</a:t>
            </a:r>
          </a:p>
          <a:p>
            <a:r>
              <a:rPr sz="1100">
                <a:solidFill>
                  <a:srgbClr val="222222"/>
                </a:solidFill>
              </a:rPr>
              <a:t>•  ECOS API: 한국은행 경제통계시스템(ECOS)에서 제공하는 기준금리, 환율, 통화량, 물가지수 등 핵심 거시 경제 지표를 수집하는 모듈입니다.</a:t>
            </a:r>
          </a:p>
          <a:p>
            <a:r>
              <a:rPr sz="1100">
                <a:solidFill>
                  <a:srgbClr val="222222"/>
                </a:solidFill>
              </a:rPr>
              <a:t>•  지표의 중요성: 개별 기업의 실적 못지않게 금리와 환율은 주식 시장 전체의 유동성과 밸류에이션에 결정적인 영향을 미치는 '시스템 리스크'의 핵심 지표입니다.</a:t>
            </a:r>
          </a:p>
          <a:p>
            <a:pPr>
              <a:spcBef>
                <a:spcPts val="600"/>
              </a:spcBef>
            </a:pPr>
            <a:r>
              <a:rPr sz="1300" b="1">
                <a:solidFill>
                  <a:srgbClr val="2E5984"/>
                </a:solidFill>
              </a:rPr>
              <a:t>2. 아키텍처 (Architecture): 통계표 및 항목 코드 기반의 정밀 수집 구조</a:t>
            </a:r>
          </a:p>
          <a:p>
            <a:r>
              <a:rPr sz="1100">
                <a:solidFill>
                  <a:srgbClr val="222222"/>
                </a:solidFill>
              </a:rPr>
              <a:t>•  데이터 흐름: [ECOS API] → [통계표 코드(stat_code)] → [주기/기간 설정] → [세부항목 코드(item_code1)] → [JSON 데이터 수신].</a:t>
            </a:r>
          </a:p>
          <a:p>
            <a:r>
              <a:rPr sz="1100">
                <a:solidFill>
                  <a:srgbClr val="222222"/>
                </a:solidFill>
              </a:rPr>
              <a:t>•  유연한 설계: 다양한 경제 지표를 하나의 함수로 수집할 수 있도록 범용 수집 엔진(get_ecos_series)을 구축하고, 특정 지표(예: 기준금리)에 대해 래퍼 함수를 제공합니다.</a:t>
            </a:r>
          </a:p>
          <a:p>
            <a:pPr>
              <a:spcBef>
                <a:spcPts val="600"/>
              </a:spcBef>
            </a:pPr>
            <a:r>
              <a:rPr sz="1300" b="1">
                <a:solidFill>
                  <a:srgbClr val="2E5984"/>
                </a:solidFill>
              </a:rPr>
              <a:t>3. 소스코드 (Source Code): ECOS Collector 및 기준금리 수집 로직</a:t>
            </a:r>
          </a:p>
          <a:p>
            <a:r>
              <a:rPr sz="1100">
                <a:solidFill>
                  <a:srgbClr val="222222"/>
                </a:solidFill>
              </a:rPr>
              <a:t>•  핵심 구현: requests를 이용한 REST API 호출 및 파라미터 분기 처리입니다.</a:t>
            </a:r>
          </a:p>
          <a:p>
            <a:pPr>
              <a:spcBef>
                <a:spcPts val="600"/>
              </a:spcBef>
            </a:pPr>
            <a:r>
              <a:rPr sz="1300" b="1">
                <a:solidFill>
                  <a:srgbClr val="2E5984"/>
                </a:solidFill>
              </a:rPr>
              <a:t>4. 실습 (Practice): 기준금리 통계 코드 검증 및 JSON 응답 확인</a:t>
            </a:r>
          </a:p>
          <a:p>
            <a:r>
              <a:rPr sz="1100">
                <a:solidFill>
                  <a:srgbClr val="222222"/>
                </a:solidFill>
              </a:rPr>
              <a:t>•  과제 1: ECOS 홈페이지에서 '기준금리'의 통계표 코드가 722Y001, 항목 코드가 0101000임을 확인하고 소스코드에 적용하십시오.</a:t>
            </a:r>
          </a:p>
          <a:p>
            <a:r>
              <a:rPr sz="1100">
                <a:solidFill>
                  <a:srgbClr val="222222"/>
                </a:solidFill>
              </a:rPr>
              <a:t>•  과제 2: get_base_rate()를 호출하여 {"DATA_VALUE": "3.5"}와 같은 실제 금리 수치가 포함된 JSON 데이터가 정상적으로 수신되는지 점검합니다.</a:t>
            </a:r>
          </a:p>
          <a:p>
            <a:pPr>
              <a:spcBef>
                <a:spcPts val="600"/>
              </a:spcBef>
            </a:pPr>
            <a:r>
              <a:rPr sz="1300" b="1">
                <a:solidFill>
                  <a:srgbClr val="2E5984"/>
                </a:solidFill>
              </a:rPr>
              <a:t>5. 확장 (Expansion): 복합 지표 모니터링 및 리스크 엔진(RiskWatch) 연동</a:t>
            </a:r>
          </a:p>
          <a:p>
            <a:r>
              <a:rPr sz="1100">
                <a:solidFill>
                  <a:srgbClr val="222222"/>
                </a:solidFill>
              </a:rPr>
              <a:t>•  고도화 전략: 기준금리 외에 USD/KRW 환율(036Y001), 소비자물가지수(CPI) 등 투자 결정에 직간접적으로 영향을 주는 5대 핵심 지표로 수집 범위를 확장합니다.</a:t>
            </a:r>
          </a:p>
          <a:p>
            <a:r>
              <a:rPr sz="1100">
                <a:solidFill>
                  <a:srgbClr val="222222"/>
                </a:solidFill>
              </a:rPr>
              <a:t>•  기술적 지향점: 수집된 매크로 데이터는 153번 슬라이드에서 다룰 macro_score 계산의 근거가 되며, 임계치 도달 시 Module 10(RiskWatch)을 통해 사용자에게 긴급 환율/금리 경고 알림을 발송하는 체계로 발전합니다.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147  ·  71/216</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[072] AI 금융정보단말 구축 실무 - 11부: 코스콤 OHLCV·수급 수집 모듈</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기술적·수급 분석의 원천, 증권 표준 데이터 확보</a:t>
            </a:r>
          </a:p>
          <a:p>
            <a:r>
              <a:rPr sz="1100">
                <a:solidFill>
                  <a:srgbClr val="222222"/>
                </a:solidFill>
              </a:rPr>
              <a:t>•  코스콤 API: 국내 증권 시장의 표준 데이터를 제공하는 코스콤(KOSCOM)을 통해 종목별 시세(OHLCV)와 투자자별(외국인, 기관, 개인) 매매 동향을 수집하는 모듈입니다.</a:t>
            </a:r>
          </a:p>
          <a:p>
            <a:r>
              <a:rPr sz="1100">
                <a:solidFill>
                  <a:srgbClr val="222222"/>
                </a:solidFill>
              </a:rPr>
              <a:t>•  데이터의 중요성: 시세 데이터는 차트 분석의 기초가 되며, 수급 데이터는 시장을 움직이는 주포(외국인/기관)의 의도를 파악하는 핵심 지표입니다.</a:t>
            </a:r>
          </a:p>
          <a:p>
            <a:pPr>
              <a:spcBef>
                <a:spcPts val="600"/>
              </a:spcBef>
            </a:pPr>
            <a:r>
              <a:rPr sz="1300" b="1">
                <a:solidFill>
                  <a:srgbClr val="2E5984"/>
                </a:solidFill>
              </a:rPr>
              <a:t>2. 아키텍처 (Architecture): 유연한 대응을 위한 '어댑터(Adapter)' 구조</a:t>
            </a:r>
          </a:p>
          <a:p>
            <a:r>
              <a:rPr sz="1100">
                <a:solidFill>
                  <a:srgbClr val="222222"/>
                </a:solidFill>
              </a:rPr>
              <a:t>•  설계 원칙: 코스콤 API는 계약 형태나 권한별로 URL과 인증 방식이 달라질 수 있으므로, 내부 로직에 영향을 주지 않고 규격만 맞추어 교체 가능한 어댑터 형태로 구축합니다.</a:t>
            </a:r>
          </a:p>
          <a:p>
            <a:r>
              <a:rPr sz="1100">
                <a:solidFill>
                  <a:srgbClr val="222222"/>
                </a:solidFill>
              </a:rPr>
              <a:t>•  데이터 흐름: [사용자 요청] → [KoscomClient 호출] → [인증 헤더 생성] → [시세/수급 JSON 수신] → [내부 표준 규격 변환(Normalize)].</a:t>
            </a:r>
          </a:p>
          <a:p>
            <a:pPr>
              <a:spcBef>
                <a:spcPts val="600"/>
              </a:spcBef>
            </a:pPr>
            <a:r>
              <a:rPr sz="1300" b="1">
                <a:solidFill>
                  <a:srgbClr val="2E5984"/>
                </a:solidFill>
              </a:rPr>
              <a:t>3. 소스코드 (Source Code): KoscomClient 및 시세·수급 수집 로직</a:t>
            </a:r>
          </a:p>
          <a:p>
            <a:r>
              <a:rPr sz="1100">
                <a:solidFill>
                  <a:srgbClr val="222222"/>
                </a:solidFill>
              </a:rPr>
              <a:t>•  핵심 구현: 인증 방식 및 API 호출을 추상화한 클라이언트 클래스입니다.</a:t>
            </a:r>
          </a:p>
          <a:p>
            <a:pPr>
              <a:spcBef>
                <a:spcPts val="600"/>
              </a:spcBef>
            </a:pPr>
            <a:r>
              <a:rPr sz="1300" b="1">
                <a:solidFill>
                  <a:srgbClr val="2E5984"/>
                </a:solidFill>
              </a:rPr>
              <a:t>4. 실습 (Practice): 10대 체크리스트 기반 API 연동 점검</a:t>
            </a:r>
          </a:p>
          <a:p>
            <a:r>
              <a:rPr sz="1100">
                <a:solidFill>
                  <a:srgbClr val="222222"/>
                </a:solidFill>
              </a:rPr>
              <a:t>•  과제: 코스콤 API 연동 시 아래 10가지 항목을 반드시 확인하고 소스코드에 반영하십시오.</a:t>
            </a:r>
          </a:p>
          <a:p>
            <a:r>
              <a:rPr sz="1100">
                <a:solidFill>
                  <a:srgbClr val="222222"/>
                </a:solidFill>
              </a:rPr>
              <a:t>•  Base URL 및 인증 방식(Bearer vs API Key)</a:t>
            </a:r>
          </a:p>
          <a:p>
            <a:r>
              <a:rPr sz="1100">
                <a:solidFill>
                  <a:srgbClr val="222222"/>
                </a:solidFill>
              </a:rPr>
              <a:t>•  종목코드 형식(005930 vs KR7...) 및 날짜 형식(YYYYMMDD)</a:t>
            </a:r>
          </a:p>
          <a:p>
            <a:r>
              <a:rPr sz="1100">
                <a:solidFill>
                  <a:srgbClr val="222222"/>
                </a:solidFill>
              </a:rPr>
              <a:t>•  OHLCV 및 수급(외국인/기관) 관련 필드명 매칭</a:t>
            </a:r>
          </a:p>
          <a:p>
            <a:r>
              <a:rPr sz="1100">
                <a:solidFill>
                  <a:srgbClr val="222222"/>
                </a:solidFill>
              </a:rPr>
              <a:t>•  호출 제한(Rate Limit) 및 상업적 재배포 가능 범위</a:t>
            </a:r>
          </a:p>
          <a:p>
            <a:pPr>
              <a:spcBef>
                <a:spcPts val="600"/>
              </a:spcBef>
            </a:pPr>
            <a:r>
              <a:rPr sz="1300" b="1">
                <a:solidFill>
                  <a:srgbClr val="2E5984"/>
                </a:solidFill>
              </a:rPr>
              <a:t>5. 확장 (Expansion): 수급 가공 및 기술적 분석 엔진(tAnalyzer) 연동</a:t>
            </a:r>
          </a:p>
          <a:p>
            <a:r>
              <a:rPr sz="1100">
                <a:solidFill>
                  <a:srgbClr val="222222"/>
                </a:solidFill>
              </a:rPr>
              <a:t>•  고도화 전략: 수집된 데이터를 단순히 저장하는 데 그치지 않고, 152번 슬라이드에서 다룰 flow_score 계산기 및 기술적 분석 모듈(RSI, MACD)과 결합하여 지능형 차트 분석으로 확장합니다.</a:t>
            </a:r>
          </a:p>
          <a:p>
            <a:r>
              <a:rPr sz="1100">
                <a:solidFill>
                  <a:srgbClr val="222222"/>
                </a:solidFill>
              </a:rPr>
              <a:t>•  기술적 지향점: 향후 Module 12(AI 금융비서)에서는 이 데이터를 바탕으로 GPT가 "외국인 수급 유입에 따른 차트 돌파 가능성"을 실시간으로 브리핑하는 에이전틱 분석 환경을 완성합니다.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148  ·  72/216</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[073] AI 금융정보단말 구축 실무 - 11부: 코스콤 API 연동 체크리스트</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데이터 정합성을 위한 '명세(Spec) 검증'</a:t>
            </a:r>
          </a:p>
          <a:p>
            <a:r>
              <a:rPr sz="1100">
                <a:solidFill>
                  <a:srgbClr val="222222"/>
                </a:solidFill>
              </a:rPr>
              <a:t>•  연동의 핵심: 외부 API 연동 시 가장 빈번한 오류는 로직의 결함이 아니라 URL, 인증 방식, 데이터 규격 등 기본 명세의 불일치에서 발생합니다.</a:t>
            </a:r>
          </a:p>
          <a:p>
            <a:r>
              <a:rPr sz="1100">
                <a:solidFill>
                  <a:srgbClr val="222222"/>
                </a:solidFill>
              </a:rPr>
              <a:t>•  핵심 가치: 실제 코딩에 들어가기 전, 코스콤에서 제공하는 최신 API 명세서와 본 시스템의 수집 엔진 규격이 일치하는지 전수 점검하여 개발 리소스를 절약하는 데 목적이 있습니다.</a:t>
            </a:r>
          </a:p>
          <a:p>
            <a:pPr>
              <a:spcBef>
                <a:spcPts val="600"/>
              </a:spcBef>
            </a:pPr>
            <a:r>
              <a:rPr sz="1300" b="1">
                <a:solidFill>
                  <a:srgbClr val="2E5984"/>
                </a:solidFill>
              </a:rPr>
              <a:t>2. 아키텍처 (Architecture): API 어댑터의 설정 동기화 구조</a:t>
            </a:r>
          </a:p>
          <a:p>
            <a:r>
              <a:rPr sz="1100">
                <a:solidFill>
                  <a:srgbClr val="222222"/>
                </a:solidFill>
              </a:rPr>
              <a:t>•  구조적 특징: 환경설정(.env) 및 설정 모듈(config.py)에 정의된 값들이 코스콤 클라이언트(KoscomClient)의 헤더와 파라미터에 정확히 주입되는지 검증하는 구조입니다.</a:t>
            </a:r>
          </a:p>
          <a:p>
            <a:r>
              <a:rPr sz="1100">
                <a:solidFill>
                  <a:srgbClr val="222222"/>
                </a:solidFill>
              </a:rPr>
              <a:t>•  체크포인트: 인증 방식(Bearer vs API Key)과 데이터 포맷(JSON)이 서버와 클라이언트 간에 사전에 약속된 규격대로 통신하는지 확인합니다.</a:t>
            </a:r>
          </a:p>
          <a:p>
            <a:pPr>
              <a:spcBef>
                <a:spcPts val="600"/>
              </a:spcBef>
            </a:pPr>
            <a:r>
              <a:rPr sz="1300" b="1">
                <a:solidFill>
                  <a:srgbClr val="2E5984"/>
                </a:solidFill>
              </a:rPr>
              <a:t>3. 소스코드 (Source Code): 10대 체크리스트 기반 설정 명세 [출처: 149]</a:t>
            </a:r>
          </a:p>
          <a:p>
            <a:r>
              <a:rPr sz="1100">
                <a:solidFill>
                  <a:srgbClr val="222222"/>
                </a:solidFill>
              </a:rPr>
              <a:t>•  필수 확인 항목 (Must-Check 10):</a:t>
            </a:r>
          </a:p>
          <a:p>
            <a:r>
              <a:rPr sz="1100">
                <a:solidFill>
                  <a:srgbClr val="222222"/>
                </a:solidFill>
              </a:rPr>
              <a:t>•  Base URL: 테스트 서버와 실운영 서버 주소 구분.</a:t>
            </a:r>
          </a:p>
          <a:p>
            <a:r>
              <a:rPr sz="1100">
                <a:solidFill>
                  <a:srgbClr val="222222"/>
                </a:solidFill>
              </a:rPr>
              <a:t>•  인증 방식: Bearer Token 방식인지 API Key Header 방식인지 확인.</a:t>
            </a:r>
          </a:p>
          <a:p>
            <a:r>
              <a:rPr sz="1100">
                <a:solidFill>
                  <a:srgbClr val="222222"/>
                </a:solidFill>
              </a:rPr>
              <a:t>•  종목코드 형식: 6자리(005930)인지 표준코드(KR7...)인지 확인.</a:t>
            </a:r>
          </a:p>
          <a:p>
            <a:r>
              <a:rPr sz="1100">
                <a:solidFill>
                  <a:srgbClr val="222222"/>
                </a:solidFill>
              </a:rPr>
              <a:t>•  날짜 형식: YYYYMMDD 또는 YYYY-MM-DD 구분.</a:t>
            </a:r>
          </a:p>
          <a:p>
            <a:r>
              <a:rPr sz="1100">
                <a:solidFill>
                  <a:srgbClr val="222222"/>
                </a:solidFill>
              </a:rPr>
              <a:t>•  OHLCV 필드명: 시가, 고가, 저가, 종가, 거래량 필드명 대조.</a:t>
            </a:r>
          </a:p>
          <a:p>
            <a:r>
              <a:rPr sz="1100">
                <a:solidFill>
                  <a:srgbClr val="222222"/>
                </a:solidFill>
              </a:rPr>
              <a:t>•  외국인 순매수 필드명: 수량 또는 금액 기준 필드 확인.</a:t>
            </a:r>
          </a:p>
          <a:p>
            <a:r>
              <a:rPr sz="1100">
                <a:solidFill>
                  <a:srgbClr val="222222"/>
                </a:solidFill>
              </a:rPr>
              <a:t>•  기관 순매수 필드명: 수량 또는 금액 기준 필드 확인.</a:t>
            </a:r>
          </a:p>
          <a:p>
            <a:r>
              <a:rPr sz="1100">
                <a:solidFill>
                  <a:srgbClr val="222222"/>
                </a:solidFill>
              </a:rPr>
              <a:t>•  분봉·일봉 구분 파라미터: 데이터 주기 결정을 위한 인자 확인.</a:t>
            </a:r>
          </a:p>
          <a:p>
            <a:r>
              <a:rPr sz="1100">
                <a:solidFill>
                  <a:srgbClr val="222222"/>
                </a:solidFill>
              </a:rPr>
              <a:t>•  호출 제한 (Rate Limit): 초당/분당 호출 가능 횟수 점검.</a:t>
            </a:r>
          </a:p>
          <a:p>
            <a:r>
              <a:rPr sz="1100">
                <a:solidFill>
                  <a:srgbClr val="222222"/>
                </a:solidFill>
              </a:rPr>
              <a:t>•  상업적 재배포 가능 범위: 라이선스 및 데이터 활용 범위 확인.</a:t>
            </a:r>
          </a:p>
          <a:p>
            <a:pPr>
              <a:spcBef>
                <a:spcPts val="600"/>
              </a:spcBef>
            </a:pPr>
            <a:r>
              <a:rPr sz="1300" b="1">
                <a:solidFill>
                  <a:srgbClr val="2E5984"/>
                </a:solidFill>
              </a:rPr>
              <a:t>4. 실습 (Practice): 테스트 API 주소 접속 및 응답 구조 대조</a:t>
            </a:r>
          </a:p>
          <a:p>
            <a:r>
              <a:rPr sz="1100">
                <a:solidFill>
                  <a:srgbClr val="222222"/>
                </a:solidFill>
              </a:rPr>
              <a:t>•  과제: 제공된 테스트 API 주소()에 접속하여 반환되는 JSON 데이터의 키(Key) 값이 소스코드의 필드 매핑 정보와 일치하는지 직접 확인하십시오.</a:t>
            </a:r>
          </a:p>
          <a:p>
            <a:r>
              <a:rPr sz="1100">
                <a:solidFill>
                  <a:srgbClr val="222222"/>
                </a:solidFill>
              </a:rPr>
              <a:t>•  확인 사항: inqStrtDd(시작일)와 inqEndDd(종료일) 파라미터를 변경했을 때 응답 데이터의 기간이 정확히 일치하는지 점검합니다.</a:t>
            </a:r>
          </a:p>
          <a:p>
            <a:pPr>
              <a:spcBef>
                <a:spcPts val="600"/>
              </a:spcBef>
            </a:pPr>
            <a:r>
              <a:rPr sz="1300" b="1">
                <a:solidFill>
                  <a:srgbClr val="2E5984"/>
                </a:solidFill>
              </a:rPr>
              <a:t>5. 확장 (Expansion): 유연한 필드 매핑 및 에러 핸들링 고도화</a:t>
            </a:r>
          </a:p>
          <a:p>
            <a:r>
              <a:rPr sz="1100">
                <a:solidFill>
                  <a:srgbClr val="222222"/>
                </a:solidFill>
              </a:rPr>
              <a:t>•  고도화 전략: 코스콤의 명세 변경에 유연하게 대응하기 위해, 하드코딩 대신 상단에 Mapping Dictionary를 배치하여 필드명 변경 시 코드 수정 없이 설정만으로 대응 가능하도록 설계합니다.</a:t>
            </a:r>
          </a:p>
          <a:p>
            <a:r>
              <a:rPr sz="1100">
                <a:solidFill>
                  <a:srgbClr val="222222"/>
                </a:solidFill>
              </a:rPr>
              <a:t>•  기술적 지향점: 향후 Module 12(AI 금융비서)에서는 API 호출 실패 시 단순 종료가 아니라, Retry 로직과 함께 관리자 텔레그램으로 즉시 알림을 보내는 운영 안정화 레이어를 추가하여 24x365 무중단 시스템을 완성합니다.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149  ·  73/216</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[074] AI 금융정보단말 구축 실무 - 13부: 기술적 분석 자동 계산 모듈</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숫자의 움직임을 투자 심리 스코어로 치환</a:t>
            </a:r>
          </a:p>
          <a:p>
            <a:r>
              <a:rPr sz="1100">
                <a:solidFill>
                  <a:srgbClr val="222222"/>
                </a:solidFill>
              </a:rPr>
              <a:t>•  정의: 코스콤에서 수집한 시세 데이터(OHLCV)를 수학적 공식(이동평균, RSI, MACD 등)에 대입하여 현재 시장의 추세와 과열 정도를 객관적인 점수(Score)로 산출하는 모듈입니다.</a:t>
            </a:r>
          </a:p>
          <a:p>
            <a:r>
              <a:rPr sz="1100">
                <a:solidFill>
                  <a:srgbClr val="222222"/>
                </a:solidFill>
              </a:rPr>
              <a:t>•  핵심 가치: 주관적인 차트 해석에서 벗어나, 데이터 기반의 추세(Trend), 모멘텀(Momentum), 변동성(Volatility) 지표를 도출하여 AI 리포트의 신뢰도를 높입니다.</a:t>
            </a:r>
          </a:p>
          <a:p>
            <a:pPr>
              <a:spcBef>
                <a:spcPts val="600"/>
              </a:spcBef>
            </a:pPr>
            <a:r>
              <a:rPr sz="1300" b="1">
                <a:solidFill>
                  <a:srgbClr val="2E5984"/>
                </a:solidFill>
              </a:rPr>
              <a:t>2. 아키텍처 (Architecture): Pandas 기반 시계열 분석 파이프라인</a:t>
            </a:r>
          </a:p>
          <a:p>
            <a:r>
              <a:rPr sz="1100">
                <a:solidFill>
                  <a:srgbClr val="222222"/>
                </a:solidFill>
              </a:rPr>
              <a:t>•  데이터 흐름: [stock_prices DB] → [Pandas DataFrame 변환] → [지표 계산 함수] → [스코어링 로직] → [JSON 결과 반환].</a:t>
            </a:r>
          </a:p>
          <a:p>
            <a:r>
              <a:rPr sz="1100">
                <a:solidFill>
                  <a:srgbClr val="222222"/>
                </a:solidFill>
              </a:rPr>
              <a:t>•  분석 요건: 정확한 보조지표 산출을 위해 최소 60거래일 이상의 가격 데이터가 입력되어야 하며, 데이터 부족 시 경고를 반환하도록 설계합니다.</a:t>
            </a:r>
          </a:p>
          <a:p>
            <a:pPr>
              <a:spcBef>
                <a:spcPts val="600"/>
              </a:spcBef>
            </a:pPr>
            <a:r>
              <a:rPr sz="1300" b="1">
                <a:solidFill>
                  <a:srgbClr val="2E5984"/>
                </a:solidFill>
              </a:rPr>
              <a:t>3. 소스코드 (Source Code): 핵심 지표 계산 및 스코어링 로직</a:t>
            </a:r>
          </a:p>
          <a:p>
            <a:r>
              <a:rPr sz="1100">
                <a:solidFill>
                  <a:srgbClr val="222222"/>
                </a:solidFill>
              </a:rPr>
              <a:t>•  핵심 구현: pandas를 활용한 이동평균 및 RSI, MACD 계산 로직입니다.</a:t>
            </a:r>
          </a:p>
          <a:p>
            <a:pPr>
              <a:spcBef>
                <a:spcPts val="600"/>
              </a:spcBef>
            </a:pPr>
            <a:r>
              <a:rPr sz="1300" b="1">
                <a:solidFill>
                  <a:srgbClr val="2E5984"/>
                </a:solidFill>
              </a:rPr>
              <a:t>4. 실습 (Practice): '삼성전자' 기술적 스코어 산출 및 데이터 검증</a:t>
            </a:r>
          </a:p>
          <a:p>
            <a:r>
              <a:rPr sz="1100">
                <a:solidFill>
                  <a:srgbClr val="222222"/>
                </a:solidFill>
              </a:rPr>
              <a:t>•  과제: stock_prices 테이블에 적재된 '삼성전자' 데이터를 로드하여 calculate_technical_indicators 함수를 실행하고, 추세 점수(Trend Score)가 실제 주가와 이동평균선의 위치 관계를 올바르게 반영하는지 확인하십시오.</a:t>
            </a:r>
          </a:p>
          <a:p>
            <a:r>
              <a:rPr sz="1100">
                <a:solidFill>
                  <a:srgbClr val="222222"/>
                </a:solidFill>
              </a:rPr>
              <a:t>•  확인 사항: 데이터가 60개 미만일 경우 시스템이 중단되지 않고 적절한 경고 메시지와 함께 중립 점수(50점)를 반환하는지 점검합니다.</a:t>
            </a:r>
          </a:p>
          <a:p>
            <a:pPr>
              <a:spcBef>
                <a:spcPts val="600"/>
              </a:spcBef>
            </a:pPr>
            <a:r>
              <a:rPr sz="1300" b="1">
                <a:solidFill>
                  <a:srgbClr val="2E5984"/>
                </a:solidFill>
              </a:rPr>
              <a:t>5. 확장 (Expansion): 'pandas-ta' 라이브러리 도입 및 전략 고도화</a:t>
            </a:r>
          </a:p>
          <a:p>
            <a:r>
              <a:rPr sz="1100">
                <a:solidFill>
                  <a:srgbClr val="222222"/>
                </a:solidFill>
              </a:rPr>
              <a:t>•  고도화 전략: 자체 구현 함수를 넘어 pandas-ta 라이브러리를 도입하여 일목균형표, 스토캐스틱 등 100여 가지 이상의 전문 지표로 분석 범위를 확장합니다.</a:t>
            </a:r>
          </a:p>
          <a:p>
            <a:r>
              <a:rPr sz="1100">
                <a:solidFill>
                  <a:srgbClr val="222222"/>
                </a:solidFill>
              </a:rPr>
              <a:t>•  기술적 지향점: 이 모듈에서 산출된 스코어는 155번 슬라이드에서 다룰 gpt_brief_agent로 전달되어, GPT가 "현재 강력한 상승 추세에 진입했으나 과매수 구간이므로 주의가 필요함"과 같은 고품질 투자 의견을 생성하는 기초가 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150  ·  74/216</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[075] AI 금융정보단말 구축 실무 - 14부: 기본적 분석 모듈</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숫자로 읽는 기업의 체력과 수익성 검진</a:t>
            </a:r>
          </a:p>
          <a:p>
            <a:r>
              <a:rPr sz="1100">
                <a:solidFill>
                  <a:srgbClr val="222222"/>
                </a:solidFill>
              </a:rPr>
              <a:t>•  정의: DART에서 수집한 재무제표의 핵심 항목(매출, 이익, 자산, 부채 등)을 추출하여 영업이익률, 부채비율, ROE와 같은 재무 지표를 계산하고 이를 점수화하는 모듈입니다.</a:t>
            </a:r>
          </a:p>
          <a:p>
            <a:r>
              <a:rPr sz="1100">
                <a:solidFill>
                  <a:srgbClr val="222222"/>
                </a:solidFill>
              </a:rPr>
              <a:t>•  핵심 가치: 주가 변동성(기술적 분석)과는 별개로, 기업이 실제로 돈을 잘 벌고 있는지(수익성)와 망하지 않을 정도의 안전판을 갖췄는지(안정성)를 객관적 데이터로 입증합니다.</a:t>
            </a:r>
          </a:p>
          <a:p>
            <a:pPr>
              <a:spcBef>
                <a:spcPts val="600"/>
              </a:spcBef>
            </a:pPr>
            <a:r>
              <a:rPr sz="1300" b="1">
                <a:solidFill>
                  <a:srgbClr val="2E5984"/>
                </a:solidFill>
              </a:rPr>
              <a:t>2. 아키텍처 (Architecture): 재무 데이터 파싱 및 스코어링 파이프라인</a:t>
            </a:r>
          </a:p>
          <a:p>
            <a:r>
              <a:rPr sz="1100">
                <a:solidFill>
                  <a:srgbClr val="222222"/>
                </a:solidFill>
              </a:rPr>
              <a:t>•  데이터 흐름: [financial_statements DB] → [계정명 필터링 및 숫자 변환] → [재무 지표 추출] → [루브릭 기반 스코어링] → [JSON 결과 반환].</a:t>
            </a:r>
          </a:p>
          <a:p>
            <a:r>
              <a:rPr sz="1100">
                <a:solidFill>
                  <a:srgbClr val="222222"/>
                </a:solidFill>
              </a:rPr>
              <a:t>•  구조적 특징: DART 특유의 콤마(,)가 포함된 문자열 데이터를 safe_num 함수를 통해 안전한 실수형(Float)으로 변환한 뒤 분석 로직에 주입합니다.</a:t>
            </a:r>
          </a:p>
          <a:p>
            <a:pPr>
              <a:spcBef>
                <a:spcPts val="600"/>
              </a:spcBef>
            </a:pPr>
            <a:r>
              <a:rPr sz="1300" b="1">
                <a:solidFill>
                  <a:srgbClr val="2E5984"/>
                </a:solidFill>
              </a:rPr>
              <a:t>3. 소스코드 (Source Code): 재무 항목 추출 및 기본적 분석 로직 [출처: 151]</a:t>
            </a:r>
          </a:p>
          <a:p>
            <a:r>
              <a:rPr sz="1100">
                <a:solidFill>
                  <a:srgbClr val="222222"/>
                </a:solidFill>
              </a:rPr>
              <a:t>•  핵심 구현: 주요 계정(매출액, 영업이익 등) 추출 및 평가 점수 산출 로직입니다.</a:t>
            </a:r>
          </a:p>
          <a:p>
            <a:pPr>
              <a:spcBef>
                <a:spcPts val="600"/>
              </a:spcBef>
            </a:pPr>
            <a:r>
              <a:rPr sz="1300" b="1">
                <a:solidFill>
                  <a:srgbClr val="2E5984"/>
                </a:solidFill>
              </a:rPr>
              <a:t>4. 실습 (Practice): '삼성전자' 재무 데이터 추출 및 점수 검증</a:t>
            </a:r>
          </a:p>
          <a:p>
            <a:r>
              <a:rPr sz="1100">
                <a:solidFill>
                  <a:srgbClr val="222222"/>
                </a:solidFill>
              </a:rPr>
              <a:t>•  과제: extract_financial_accounts 함수를 사용하여 '삼성전자'의 최신 사업보고서 데이터에서 매출액과 영업이익이 정확히 추출되는지 확인하고, 산출된 기본적 분석 점수(Fundamental Score)가 재무 건전성을 잘 반영하는지 점검하십시오.</a:t>
            </a:r>
          </a:p>
          <a:p>
            <a:r>
              <a:rPr sz="1100">
                <a:solidFill>
                  <a:srgbClr val="222222"/>
                </a:solidFill>
              </a:rPr>
              <a:t>•  확인 사항: 특정 계정값이 누락(None)된 경우에도 시스템이 중단되지 않고 중립 점수(50점)를 부여하는 예외 처리가 작동하는지 확인합니다.</a:t>
            </a:r>
          </a:p>
          <a:p>
            <a:pPr>
              <a:spcBef>
                <a:spcPts val="600"/>
              </a:spcBef>
            </a:pPr>
            <a:r>
              <a:rPr sz="1300" b="1">
                <a:solidFill>
                  <a:srgbClr val="2E5984"/>
                </a:solidFill>
              </a:rPr>
              <a:t>5. 확장 (Expansion): 'F-Score' 도입 및 섹터별 상대 평가</a:t>
            </a:r>
          </a:p>
          <a:p>
            <a:r>
              <a:rPr sz="1100">
                <a:solidFill>
                  <a:srgbClr val="222222"/>
                </a:solidFill>
              </a:rPr>
              <a:t>•  고도화 전략: 단순 3대 지표를 넘어 조셉 피오트로스키의 F-Score(9가지 재무 건전성 지표)를 도입하여 분석의 정밀도를 높이거나, 동일 산업군 내에서의 상대적 재무 위치를 비교 분석하도록 확장합니다.</a:t>
            </a:r>
          </a:p>
          <a:p>
            <a:r>
              <a:rPr sz="1100">
                <a:solidFill>
                  <a:srgbClr val="222222"/>
                </a:solidFill>
              </a:rPr>
              <a:t>•  기술적 지향점: 이 모듈에서 산출된 재무 리포트는 향후 Module 17(종합 스케줄링)에서 수급 및 기술적 분석과 결합되어, GPT가 "우수한 재무 구조에도 불구하고 현재 수급이 이탈하고 있음"과 같은 입체적인 투자 브리프를 작성하는 근거가 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151  ·  75/216</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[076] AI 금융정보단말 구축 실무 - 15부: 수급 분석 모듈</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'스마트 머니'의 궤적 추적과 수급 에너지 측정</a:t>
            </a:r>
          </a:p>
          <a:p>
            <a:r>
              <a:rPr sz="1100">
                <a:solidFill>
                  <a:srgbClr val="222222"/>
                </a:solidFill>
              </a:rPr>
              <a:t>•  정의: 코스콤에서 수집한 투자자별 매매 동향 데이터(${flow_df})를 바탕으로, 최근 일정 기간(예: 20거래일) 동안 외국인과 기관이 주식을 사고 있는지 팔고 있는지를 수치화하는 모듈입니다.</a:t>
            </a:r>
          </a:p>
          <a:p>
            <a:r>
              <a:rPr sz="1100">
                <a:solidFill>
                  <a:srgbClr val="222222"/>
                </a:solidFill>
              </a:rPr>
              <a:t>•  핵심 가치: 개미 투자자와 달리 시장을 움직이는 힘을 가진 외국인과 기관의 '동반 순매수' 여부를 포착하여, 주가 상승의 지속 가능성과 신뢰도를 평가합니다.</a:t>
            </a:r>
          </a:p>
          <a:p>
            <a:pPr>
              <a:spcBef>
                <a:spcPts val="600"/>
              </a:spcBef>
            </a:pPr>
            <a:r>
              <a:rPr sz="1300" b="1">
                <a:solidFill>
                  <a:srgbClr val="2E5984"/>
                </a:solidFill>
              </a:rPr>
              <a:t>2. 아키텍처 (Architecture): 누적 순매수 기반의 스코어링 및 코멘트 엔진</a:t>
            </a:r>
          </a:p>
          <a:p>
            <a:r>
              <a:rPr sz="1100">
                <a:solidFill>
                  <a:srgbClr val="222222"/>
                </a:solidFill>
              </a:rPr>
              <a:t>•  데이터 흐름: [investor_flows DB] → [최근 20거래일 필터링] → [순매수 합산] → [가감산 로직 적용] → [수급 코멘트 생성].</a:t>
            </a:r>
          </a:p>
          <a:p>
            <a:r>
              <a:rPr sz="1100">
                <a:solidFill>
                  <a:srgbClr val="222222"/>
                </a:solidFill>
              </a:rPr>
              <a:t>•  판단 기준: 외국인과 기관의 매수세가 살아있는 경우 점수를 가산하고, 양 주체가 모두 매도 우위일 경우 리스크 점수를 높이는 구조입니다.</a:t>
            </a:r>
          </a:p>
          <a:p>
            <a:pPr>
              <a:spcBef>
                <a:spcPts val="600"/>
              </a:spcBef>
            </a:pPr>
            <a:r>
              <a:rPr sz="1300" b="1">
                <a:solidFill>
                  <a:srgbClr val="2E5984"/>
                </a:solidFill>
              </a:rPr>
              <a:t>3. 소스코드 (Source Code): calculate_flow_score 및 수급 판단 로직</a:t>
            </a:r>
          </a:p>
          <a:p>
            <a:r>
              <a:rPr sz="1100">
                <a:solidFill>
                  <a:srgbClr val="222222"/>
                </a:solidFill>
              </a:rPr>
              <a:t>•  핵심 구현: pandas를 이용한 누적 매수량 계산 및 상태별 코멘트 자동 생성부입니다.</a:t>
            </a:r>
          </a:p>
          <a:p>
            <a:pPr>
              <a:spcBef>
                <a:spcPts val="600"/>
              </a:spcBef>
            </a:pPr>
            <a:r>
              <a:rPr sz="1300" b="1">
                <a:solidFill>
                  <a:srgbClr val="2E5984"/>
                </a:solidFill>
              </a:rPr>
              <a:t>4. 실습 (Practice): '삼성전자' 20일 수급 에너지 측정 및 결과 검증</a:t>
            </a:r>
          </a:p>
          <a:p>
            <a:r>
              <a:rPr sz="1100">
                <a:solidFill>
                  <a:srgbClr val="222222"/>
                </a:solidFill>
              </a:rPr>
              <a:t>•  과제: load_flow_df 함수로 삼성전자의 수급 데이터를 가져와 calculate_flow_score를 실행하고, "외국인과 기관 동반 순매수"라는 코멘트와 함께 수급 점수가 90점에 도달하는 케이스를 확인하십시오.</a:t>
            </a:r>
          </a:p>
          <a:p>
            <a:r>
              <a:rPr sz="1100">
                <a:solidFill>
                  <a:srgbClr val="222222"/>
                </a:solidFill>
              </a:rPr>
              <a:t>•  확인 사항: 데이터가 부족할 경우 시스템이 오류로 중단되지 않고 "수급 데이터 부족"이라는 메시지와 함께 중립 점수(50점)를 반환하는지 점검합니다.</a:t>
            </a:r>
          </a:p>
          <a:p>
            <a:pPr>
              <a:spcBef>
                <a:spcPts val="600"/>
              </a:spcBef>
            </a:pPr>
            <a:r>
              <a:rPr sz="1300" b="1">
                <a:solidFill>
                  <a:srgbClr val="2E5984"/>
                </a:solidFill>
              </a:rPr>
              <a:t>5. 확장 (Expansion): 가중치 적용 및 '수급 전환점' 탐지 기능</a:t>
            </a:r>
          </a:p>
          <a:p>
            <a:r>
              <a:rPr sz="1100">
                <a:solidFill>
                  <a:srgbClr val="222222"/>
                </a:solidFill>
              </a:rPr>
              <a:t>•  고도화 전략: 단순히 20일 합산을 넘어, 최근 3~5거래일의 수급에 더 높은 가중치를 부여하여 수급의 '변곡점'을 더 빠르게 포착하도록 로직을 강화합니다.</a:t>
            </a:r>
          </a:p>
          <a:p>
            <a:r>
              <a:rPr sz="1100">
                <a:solidFill>
                  <a:srgbClr val="222222"/>
                </a:solidFill>
              </a:rPr>
              <a:t>•  기술적 지향점: 이 모듈에서 도출된 수급 점수는 154번 슬라이드에서 다룰 calculate_total_score의 20% 비중을 차지하며, GPT가 "기술적 지표는 과열권이나 기관의 강력한 수급이 뒷받침되고 있음"과 같은 입체적인 매매 전략을 제안하는 핵심 근거가 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152  ·  76/216</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[077] AI 금융정보단말 구축 실무 - 16부: 거시 분석 모듈</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개별 종목을 압도하는 '시장의 중력' 진단</a:t>
            </a:r>
          </a:p>
          <a:p>
            <a:r>
              <a:rPr sz="1100">
                <a:solidFill>
                  <a:srgbClr val="222222"/>
                </a:solidFill>
              </a:rPr>
              <a:t>•  정의: ECOS에서 수집한 거시 경제 지표(기준금리, 환율, 소비자물가 등)를 바탕으로 현재 투자 환경이 주식 시장에 우호적인지, 아니면 리스크가 높은 상태인지를 점검하여 점수화하는 모듈입니다.</a:t>
            </a:r>
          </a:p>
          <a:p>
            <a:r>
              <a:rPr sz="1100">
                <a:solidFill>
                  <a:srgbClr val="222222"/>
                </a:solidFill>
              </a:rPr>
              <a:t>•  핵심 가치: 개별 기업의 실적이 좋더라도 고금리, 고환율, 고물가라는 '3고(高)' 현상이 발생할 경우 시장 전체의 밸류에이션이 하락하므로, 이에 대한 시스템적 리스크를 정량화하는 데 목적이 있습니다.</a:t>
            </a:r>
          </a:p>
          <a:p>
            <a:pPr>
              <a:spcBef>
                <a:spcPts val="600"/>
              </a:spcBef>
            </a:pPr>
            <a:r>
              <a:rPr sz="1300" b="1">
                <a:solidFill>
                  <a:srgbClr val="2E5984"/>
                </a:solidFill>
              </a:rPr>
              <a:t>2. 아키텍처 (Architecture): 매크로 스냅샷 기반의 리스크 판별 구조</a:t>
            </a:r>
          </a:p>
          <a:p>
            <a:r>
              <a:rPr sz="1100">
                <a:solidFill>
                  <a:srgbClr val="222222"/>
                </a:solidFill>
              </a:rPr>
              <a:t>•  데이터 흐름: [macro_indicators DB] → [최근 지표 로드] → [지표별 임계치 검동] → [가감산 스코어링] → [거시 환경 코멘트 생성].</a:t>
            </a:r>
          </a:p>
          <a:p>
            <a:r>
              <a:rPr sz="1100">
                <a:solidFill>
                  <a:srgbClr val="222222"/>
                </a:solidFill>
              </a:rPr>
              <a:t>•  판단 기준: 기준금리 3.5% 이상, 환율 1400원 이상 등 시장이 부담을 느끼는 임계값을 설정하고 이를 초과할 경우 리스크 점수를 낮추는 방식입니다.</a:t>
            </a:r>
          </a:p>
          <a:p>
            <a:pPr>
              <a:spcBef>
                <a:spcPts val="600"/>
              </a:spcBef>
            </a:pPr>
            <a:r>
              <a:rPr sz="1300" b="1">
                <a:solidFill>
                  <a:srgbClr val="2E5984"/>
                </a:solidFill>
              </a:rPr>
              <a:t>3. 소스코드 (Source Code): calculate_macro_score 및 리스크 진단 로직 [출처: 153]</a:t>
            </a:r>
          </a:p>
          <a:p>
            <a:r>
              <a:rPr sz="1100">
                <a:solidFill>
                  <a:srgbClr val="222222"/>
                </a:solidFill>
              </a:rPr>
              <a:t>•  핵심 구현: 주요 경제 지표에 따른 점수 차감 및 의견 생성부입니다.</a:t>
            </a:r>
          </a:p>
          <a:p>
            <a:pPr>
              <a:spcBef>
                <a:spcPts val="600"/>
              </a:spcBef>
            </a:pPr>
            <a:r>
              <a:rPr sz="1300" b="1">
                <a:solidFill>
                  <a:srgbClr val="2E5984"/>
                </a:solidFill>
              </a:rPr>
              <a:t>4. 실습 (Practice): '고금리/고환율' 시나리오 기반 점수 산출 테스트</a:t>
            </a:r>
          </a:p>
          <a:p>
            <a:r>
              <a:rPr sz="1100">
                <a:solidFill>
                  <a:srgbClr val="222222"/>
                </a:solidFill>
              </a:rPr>
              <a:t>•  과제: 현재 한국은행 기준금리 3.5%와 원/달러 환율 1350원을 입력값으로 주입하여, calculate_macro_score 함수가 "고금리 부담", "환율 부담 존재"라는 코멘트와 함께 중립 이하의 점수를 반환하는지 확인하십시오.</a:t>
            </a:r>
          </a:p>
          <a:p>
            <a:r>
              <a:rPr sz="1100">
                <a:solidFill>
                  <a:srgbClr val="222222"/>
                </a:solidFill>
              </a:rPr>
              <a:t>•  확인 사항: 물가 지수(CPI)가 4%를 초과할 경우 추가로 점수가 차감되는 로직이 정상 작동하는지 점검합니다.</a:t>
            </a:r>
          </a:p>
          <a:p>
            <a:pPr>
              <a:spcBef>
                <a:spcPts val="600"/>
              </a:spcBef>
            </a:pPr>
            <a:r>
              <a:rPr sz="1300" b="1">
                <a:solidFill>
                  <a:srgbClr val="2E5984"/>
                </a:solidFill>
              </a:rPr>
              <a:t>5. 확장 (Expansion): 장단기 금리차 및 선행지수 기반의 예측 모델</a:t>
            </a:r>
          </a:p>
          <a:p>
            <a:r>
              <a:rPr sz="1100">
                <a:solidFill>
                  <a:srgbClr val="222222"/>
                </a:solidFill>
              </a:rPr>
              <a:t>•  고도화 전략: 단순히 현재 수치만 보는 것을 넘어, 경기 침체의 신호로 읽히는 장단기 금리차 역전 현상이나 OECD 경기선행지수를 추가하여 더욱 정교한 거시 리스크 엔진으로 발전시킵니다.</a:t>
            </a:r>
          </a:p>
          <a:p>
            <a:r>
              <a:rPr sz="1100">
                <a:solidFill>
                  <a:srgbClr val="222222"/>
                </a:solidFill>
              </a:rPr>
              <a:t>•  기술적 지향점: 이 모듈에서 산출된 거시 점수는 154번 슬라이드에서 다룰 calculate_total_score의 15% 비중을 차지하며, GPT가 "기업의 펀더멘털은 견고하나 거시 환경의 불확실성이 높아 보수적 접근이 필요함"과 같은 매크로 기반 투자 조언을 생성하는 근거가 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153  ·  77/216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[078] AI 금융정보단말 구축 실무 - 17부: 종목별 리스크 스코어링</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파편화된 데이터를 통합된 '투자 언어'로 변환</a:t>
            </a:r>
          </a:p>
          <a:p>
            <a:r>
              <a:rPr sz="1100">
                <a:solidFill>
                  <a:srgbClr val="222222"/>
                </a:solidFill>
              </a:rPr>
              <a:t>•  정의: 앞서 구축한 기본적, 기술적, 수급, 거시 분석 결과를 사전에 정의된 가중치에 따라 합산하여, 해당 종목의 종합 점수(Total Score)와 리스크 등급(Rating)을 산출하는 최종 의사결정 엔진입니다.</a:t>
            </a:r>
          </a:p>
          <a:p>
            <a:r>
              <a:rPr sz="1100">
                <a:solidFill>
                  <a:srgbClr val="222222"/>
                </a:solidFill>
              </a:rPr>
              <a:t>•  핵심 가치: 전문가의 주관적 판단 대신 데이터 기반의 정량적 스코어링을 통해 투자 우선순위를 명확히 하고, 일관성 있는 리포트 생성을 가능하게 합니다.</a:t>
            </a:r>
          </a:p>
          <a:p>
            <a:pPr>
              <a:spcBef>
                <a:spcPts val="600"/>
              </a:spcBef>
            </a:pPr>
            <a:r>
              <a:rPr sz="1300" b="1">
                <a:solidFill>
                  <a:srgbClr val="2E5984"/>
                </a:solidFill>
              </a:rPr>
              <a:t>2. 아키텍처 (Architecture): 가중치 합산 기반의 등급 판별 엔진</a:t>
            </a:r>
          </a:p>
          <a:p>
            <a:r>
              <a:rPr sz="1100">
                <a:solidFill>
                  <a:srgbClr val="222222"/>
                </a:solidFill>
              </a:rPr>
              <a:t>•  데이터 흐름: [개별 분석 점수 로드] → [가중치 합산] → [리스크 역산] → [등급 매핑] → [최종 스코어 카드 생성].</a:t>
            </a:r>
          </a:p>
          <a:p>
            <a:r>
              <a:rPr sz="1100">
                <a:solidFill>
                  <a:srgbClr val="222222"/>
                </a:solidFill>
              </a:rPr>
              <a:t>•  가중치 설계(Weights): 기본적 분석(35%), 기술적 분석(30%), 수급 분석(20%), 거시 분석(15%) 비중으로 구성하여 펀더멘털과 시장 상황을 균형 있게 반영합니다.</a:t>
            </a:r>
          </a:p>
          <a:p>
            <a:pPr>
              <a:spcBef>
                <a:spcPts val="600"/>
              </a:spcBef>
            </a:pPr>
            <a:r>
              <a:rPr sz="1300" b="1">
                <a:solidFill>
                  <a:srgbClr val="2E5984"/>
                </a:solidFill>
              </a:rPr>
              <a:t>3. 소스코드 (Source Code): calculate_total_score 및 등급 산출 로직 [출처: 154]</a:t>
            </a:r>
          </a:p>
          <a:p>
            <a:r>
              <a:rPr sz="1100">
                <a:solidFill>
                  <a:srgbClr val="222222"/>
                </a:solidFill>
              </a:rPr>
              <a:t>•  핵심 구현: 가중치 계산 및 점수 구간별 리스크 등급 부여 로직입니다.</a:t>
            </a:r>
          </a:p>
          <a:p>
            <a:pPr>
              <a:spcBef>
                <a:spcPts val="600"/>
              </a:spcBef>
            </a:pPr>
            <a:r>
              <a:rPr sz="1300" b="1">
                <a:solidFill>
                  <a:srgbClr val="2E5984"/>
                </a:solidFill>
              </a:rPr>
              <a:t>4. 실습 (Practice): '삼성전자' 종합 시뮬레이션 및 점수 검증</a:t>
            </a:r>
          </a:p>
          <a:p>
            <a:r>
              <a:rPr sz="1100">
                <a:solidFill>
                  <a:srgbClr val="222222"/>
                </a:solidFill>
              </a:rPr>
              <a:t>•  과제: 가상의 시나리오(재무 80, 차트 70, 수급 40, 매크로 50)를 calculate_total_score 함수에 주입하여 산출되는 종합 점수(65.5점)와 등급(BUY)이 로직대로 도출되는지 확인하십시오.</a:t>
            </a:r>
          </a:p>
          <a:p>
            <a:r>
              <a:rPr sz="1100">
                <a:solidFill>
                  <a:srgbClr val="222222"/>
                </a:solidFill>
              </a:rPr>
              <a:t>•  확인 사항: 분석 등급은 확정적 매수 권유가 아니라는 점을 확인하고, 리스크 점수가 50점 이상(종합 점수 50점 미만)일 때 시스템이 적절한 경고 알림 대상으로 분류하는지 점검합니다.</a:t>
            </a:r>
          </a:p>
          <a:p>
            <a:pPr>
              <a:spcBef>
                <a:spcPts val="600"/>
              </a:spcBef>
            </a:pPr>
            <a:r>
              <a:rPr sz="1300" b="1">
                <a:solidFill>
                  <a:srgbClr val="2E5984"/>
                </a:solidFill>
              </a:rPr>
              <a:t>5. 확장 (Expansion): 동적 가중치 도입 및 에이전트 오케스트레이션 연동</a:t>
            </a:r>
          </a:p>
          <a:p>
            <a:r>
              <a:rPr sz="1100">
                <a:solidFill>
                  <a:srgbClr val="222222"/>
                </a:solidFill>
              </a:rPr>
              <a:t>•  고도화 전략: 시장 국면(상승장, 하락장)에 따라 기술적 분석이나 거시 분석의 가중치를 자동으로 조정하는 동적 가중치 모델(Dynamic Weighting)로 발전시킬 수 있습니다.</a:t>
            </a:r>
          </a:p>
          <a:p>
            <a:r>
              <a:rPr sz="1100">
                <a:solidFill>
                  <a:srgbClr val="222222"/>
                </a:solidFill>
              </a:rPr>
              <a:t>•  기술적 지향점: 이 최종 스코어 카드는 155번 슬라이드에서 다룰 GPT 분석 모듈에 주입되어, "우수한 재무 구조(35%)에도 불구하고 환율 리스크(15%)가 반영되어 'HOLD' 의견을 제시함"과 같은 데이터 기반의 심층 투자 리포트를 완성하는 마침표가 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154  ·  78/216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[079] AI 금융정보단말 구축 실무 - 18부: OpenAI Structured Output Schema</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일관된 리포트 생성을 위한 GPT 출력 구조화</a:t>
            </a:r>
          </a:p>
          <a:p>
            <a:r>
              <a:rPr sz="1100">
                <a:solidFill>
                  <a:srgbClr val="222222"/>
                </a:solidFill>
              </a:rPr>
              <a:t>•  정의: GPT의 자유로운 텍스트 답변 대신, 사전에 약속된 JSON 규격(Schema)으로만 응답하게 하여 시스템 연동의 안정성과 데이터 정합성을 확보하는 기술입니다.</a:t>
            </a:r>
          </a:p>
          <a:p>
            <a:r>
              <a:rPr sz="1100">
                <a:solidFill>
                  <a:srgbClr val="222222"/>
                </a:solidFill>
              </a:rPr>
              <a:t>•  핵심 가치: 애널리스트 리포트의 형식을 규격화함으로써 PDF 생성 엔진이나 웹 화면 대시보드에 데이터 누락 없이 정보를 전달할 수 있습니다.</a:t>
            </a:r>
          </a:p>
          <a:p>
            <a:pPr>
              <a:spcBef>
                <a:spcPts val="600"/>
              </a:spcBef>
            </a:pPr>
            <a:r>
              <a:rPr sz="1300" b="1">
                <a:solidFill>
                  <a:srgbClr val="2E5984"/>
                </a:solidFill>
              </a:rPr>
              <a:t>2. 아키텍처 (Architecture): 투자 브리프용 JSON 스키마 설계</a:t>
            </a:r>
          </a:p>
          <a:p>
            <a:r>
              <a:rPr sz="1100">
                <a:solidFill>
                  <a:srgbClr val="222222"/>
                </a:solidFill>
              </a:rPr>
              <a:t>•  구조적 특징: strict: True 설정을 적용하여 GPT가 정의된 스키마를 100% 준수하도록 강제합니다.</a:t>
            </a:r>
          </a:p>
          <a:p>
            <a:r>
              <a:rPr sz="1100">
                <a:solidFill>
                  <a:srgbClr val="222222"/>
                </a:solidFill>
              </a:rPr>
              <a:t>•  필수 필드 구성:</a:t>
            </a:r>
          </a:p>
          <a:p>
            <a:r>
              <a:rPr sz="1100">
                <a:solidFill>
                  <a:srgbClr val="222222"/>
                </a:solidFill>
              </a:rPr>
              <a:t>•  one_line_summary: 핵심 요약</a:t>
            </a:r>
          </a:p>
          <a:p>
            <a:r>
              <a:rPr sz="1100">
                <a:solidFill>
                  <a:srgbClr val="222222"/>
                </a:solidFill>
              </a:rPr>
              <a:t>•  investment_opinion: 5단계 투자의견 (STRONG_BUY ~ RISK)</a:t>
            </a:r>
          </a:p>
          <a:p>
            <a:r>
              <a:rPr sz="1100">
                <a:solidFill>
                  <a:srgbClr val="222222"/>
                </a:solidFill>
              </a:rPr>
              <a:t>•  key_points / risk_factors: 리스트 형태의 주요 포인트 및 리스크</a:t>
            </a:r>
          </a:p>
          <a:p>
            <a:r>
              <a:rPr sz="1100">
                <a:solidFill>
                  <a:srgbClr val="222222"/>
                </a:solidFill>
              </a:rPr>
              <a:t>•  view 시리즈: 재무/기술/수급/거시 부문별 서술형 의견</a:t>
            </a:r>
          </a:p>
          <a:p>
            <a:r>
              <a:rPr sz="1100">
                <a:solidFill>
                  <a:srgbClr val="222222"/>
                </a:solidFill>
              </a:rPr>
              <a:t>•  action_strategy &amp; disclaimer: 대응 전략 및 투자자 고지문</a:t>
            </a:r>
          </a:p>
          <a:p>
            <a:pPr>
              <a:spcBef>
                <a:spcPts val="600"/>
              </a:spcBef>
            </a:pPr>
            <a:r>
              <a:rPr sz="1300" b="1">
                <a:solidFill>
                  <a:srgbClr val="2E5984"/>
                </a:solidFill>
              </a:rPr>
              <a:t>3. 소스코드 (Source Code): gpt_brief_agent.py 및 스키마 정의</a:t>
            </a:r>
          </a:p>
          <a:p>
            <a:r>
              <a:rPr sz="1100">
                <a:solidFill>
                  <a:srgbClr val="222222"/>
                </a:solidFill>
              </a:rPr>
              <a:t>•  핵심 로직: OpenAI Responses API와 json_schema 형식을 활용한 호출부입니다.</a:t>
            </a:r>
          </a:p>
          <a:p>
            <a:pPr>
              <a:spcBef>
                <a:spcPts val="600"/>
              </a:spcBef>
            </a:pPr>
            <a:r>
              <a:rPr sz="1300" b="1">
                <a:solidFill>
                  <a:srgbClr val="2E5984"/>
                </a:solidFill>
              </a:rPr>
              <a:t>4. 실습 (Practice): 분석 데이터(Payload) 기반 브리프 생성 테스트</a:t>
            </a:r>
          </a:p>
          <a:p>
            <a:r>
              <a:rPr sz="1100">
                <a:solidFill>
                  <a:srgbClr val="222222"/>
                </a:solidFill>
              </a:rPr>
              <a:t>•  과제: 이전 단계에서 산출된 종합 점수와 개별 분석 결과가 담긴 payload를 주입하여 generate_investment_brief 함수를 실행하십시오.</a:t>
            </a:r>
          </a:p>
          <a:p>
            <a:r>
              <a:rPr sz="1100">
                <a:solidFill>
                  <a:srgbClr val="222222"/>
                </a:solidFill>
              </a:rPr>
              <a:t>•  확인 사항: 출력된 결과가 웹 화면(Streamlit)의 메트릭 카드와 텍스트 영역에 오류 없이 매핑되어 표시되는지 검증합니다.</a:t>
            </a:r>
          </a:p>
          <a:p>
            <a:pPr>
              <a:spcBef>
                <a:spcPts val="600"/>
              </a:spcBef>
            </a:pPr>
            <a:r>
              <a:rPr sz="1300" b="1">
                <a:solidFill>
                  <a:srgbClr val="2E5984"/>
                </a:solidFill>
              </a:rPr>
              <a:t>5. 확장 (Expansion): 에이전틱 오케스트레이션 및 지식(RAG) 연동</a:t>
            </a:r>
          </a:p>
          <a:p>
            <a:r>
              <a:rPr sz="1100">
                <a:solidFill>
                  <a:srgbClr val="222222"/>
                </a:solidFill>
              </a:rPr>
              <a:t>•  고도화 전략: 단순 서술을 넘어 CrewAI와 같은 멀티 에이전트 프레임워크를 도입하여 각 분야 에이전트의 초안을 최종 취합하는 구조로 고도화합니다.</a:t>
            </a:r>
          </a:p>
          <a:p>
            <a:r>
              <a:rPr sz="1100">
                <a:solidFill>
                  <a:srgbClr val="222222"/>
                </a:solidFill>
              </a:rPr>
              <a:t>•  기술 적용: ChromaDB(뉴스 RAG)에서 검색된 최신 이슈를 프롬프트에 포함하여, 단순 수치 분석을 넘어 실시간 시장 상황이 반영된 지능형 투자 브리프를 완성합니다.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155  ·  79/216</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[080] AI 금융정보단말 구축 실무 - 19부: ChromaDB 기반 뉴스 RAG 구축</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AI에게 '장기 기억 장치'와 '문맥 이해력' 부여</a:t>
            </a:r>
          </a:p>
          <a:p>
            <a:r>
              <a:rPr sz="1100">
                <a:solidFill>
                  <a:srgbClr val="222222"/>
                </a:solidFill>
              </a:rPr>
              <a:t>•  RAG (Retrieval-Augmented Generation): 외부 데이터(뉴스, 리포트 등)를 벡터화하여 저장한 후, 필요할 때 검색하여 AI의 답변 생성에 활용하는 기술입니다.</a:t>
            </a:r>
          </a:p>
          <a:p>
            <a:r>
              <a:rPr sz="1100">
                <a:solidFill>
                  <a:srgbClr val="222222"/>
                </a:solidFill>
              </a:rPr>
              <a:t>•  핵심 가치: GPT의 학습 컷오프(Cut-off) 이후 발생한 최신 뉴스나 특정 종목의 과거 특이 사례를 분석에 포함함으로써, AI 리포트의 시의성과 정확도를 극대화합니다.</a:t>
            </a:r>
          </a:p>
          <a:p>
            <a:pPr>
              <a:spcBef>
                <a:spcPts val="600"/>
              </a:spcBef>
            </a:pPr>
            <a:r>
              <a:rPr sz="1300" b="1">
                <a:solidFill>
                  <a:srgbClr val="2E5984"/>
                </a:solidFill>
              </a:rPr>
              <a:t>2. 아키텍처 (Architecture): 벡터 임베딩 기반의 지식 저장 및 검색 구조</a:t>
            </a:r>
          </a:p>
          <a:p>
            <a:r>
              <a:rPr sz="1100">
                <a:solidFill>
                  <a:srgbClr val="222222"/>
                </a:solidFill>
              </a:rPr>
              <a:t>•  데이터 흐름: [시장 뉴스/공시] → [OpenAI Embedding (text-embedding-3-small)] → [ChromaDB (벡터 저장소)] ↔ [유사 사례 검색(Query)] → [GPT 프롬프트 주입].</a:t>
            </a:r>
          </a:p>
          <a:p>
            <a:r>
              <a:rPr sz="1100">
                <a:solidFill>
                  <a:srgbClr val="222222"/>
                </a:solidFill>
              </a:rPr>
              <a:t>•  저장 방식: 텍스트를 숫자의 나열(Vector)로 변환하여 저장함으로써, 단순 키워드 매칭이 아닌 의미적 유사성(Semantic Similarity) 기반의 검색을 수행합니다.</a:t>
            </a:r>
          </a:p>
          <a:p>
            <a:pPr>
              <a:spcBef>
                <a:spcPts val="600"/>
              </a:spcBef>
            </a:pPr>
            <a:r>
              <a:rPr sz="1300" b="1">
                <a:solidFill>
                  <a:srgbClr val="2E5984"/>
                </a:solidFill>
              </a:rPr>
              <a:t>3. 소스코드 (Source Code): news_rag.py 및 벡터 DB 연동 로직 [출처: 156]</a:t>
            </a:r>
          </a:p>
          <a:p>
            <a:r>
              <a:rPr sz="1100">
                <a:solidFill>
                  <a:srgbClr val="222222"/>
                </a:solidFill>
              </a:rPr>
              <a:t>•  핵심 구현: 뉴스 임베딩, 저장 및 유사 사례 검색 함수입니다.</a:t>
            </a:r>
          </a:p>
          <a:p>
            <a:pPr>
              <a:spcBef>
                <a:spcPts val="600"/>
              </a:spcBef>
            </a:pPr>
            <a:r>
              <a:rPr sz="1300" b="1">
                <a:solidFill>
                  <a:srgbClr val="2E5984"/>
                </a:solidFill>
              </a:rPr>
              <a:t>4. 실습 (Practice): '삼성전자' 관련 뉴스 저장 및 유사 사례 호출</a:t>
            </a:r>
          </a:p>
          <a:p>
            <a:r>
              <a:rPr sz="1100">
                <a:solidFill>
                  <a:srgbClr val="222222"/>
                </a:solidFill>
              </a:rPr>
              <a:t>•  과제 1: add_news_memory를 통해 삼성전자의 최근 공급계약 체결 뉴스를 저장하십시오.</a:t>
            </a:r>
          </a:p>
          <a:p>
            <a:r>
              <a:rPr sz="1100">
                <a:solidFill>
                  <a:srgbClr val="222222"/>
                </a:solidFill>
              </a:rPr>
              <a:t>•  과제 2: "과거 공급계약 체결 시 주가 반응은 어떠했는가?"라는 질문으로 search_similar_cases를 실행하여 저장된 뉴스가 의미 기반으로 검색되는지 확인하십시오.</a:t>
            </a:r>
          </a:p>
          <a:p>
            <a:pPr>
              <a:spcBef>
                <a:spcPts val="600"/>
              </a:spcBef>
            </a:pPr>
            <a:r>
              <a:rPr sz="1300" b="1">
                <a:solidFill>
                  <a:srgbClr val="2E5984"/>
                </a:solidFill>
              </a:rPr>
              <a:t>5. 확장 (Expansion): '이벤트 메모리' 구축 및 실시간 리스크 알림 연동</a:t>
            </a:r>
          </a:p>
          <a:p>
            <a:r>
              <a:rPr sz="1100">
                <a:solidFill>
                  <a:srgbClr val="222222"/>
                </a:solidFill>
              </a:rPr>
              <a:t>•  고도화 전략: 뉴스뿐만 아니라 과거 금융 위기 사례나 특정 종목의 공시 위반 사례 등을 '이벤트 메모리'로 구축하여 분석의 깊이를 더합니다.</a:t>
            </a:r>
          </a:p>
          <a:p>
            <a:r>
              <a:rPr sz="1100">
                <a:solidFill>
                  <a:srgbClr val="222222"/>
                </a:solidFill>
              </a:rPr>
              <a:t>•  기술적 지향점: 검색된 유사 사례는 159번 슬라이드에서 다룰 generate_full_report 과정에 포함되어, GPT가 "과거 2022년 유사한 환율 급등 구간에서 해당 종목은 외국인 수급 이탈로 하락한 사례가 있음"과 같은 입체적 리스크 조언을 수행하게 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156  ·  80/216</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[081] AI 금융정보단말 구축 실무 - 20부: PDF 리포트 템플릿 및 생성 모듈</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분석 결과를 전문적인 보고서 형식으로 문서화</a:t>
            </a:r>
          </a:p>
          <a:p>
            <a:r>
              <a:rPr sz="1100">
                <a:solidFill>
                  <a:srgbClr val="222222"/>
                </a:solidFill>
              </a:rPr>
              <a:t>•  정의: 정량적 수치(점수)와 정성적 분석(GPT 브리프)을 결합하여 표준화된 A4 규격의 PDF 투자 보고서를 자동 생성하는 모듈입니다.</a:t>
            </a:r>
          </a:p>
          <a:p>
            <a:r>
              <a:rPr sz="1100">
                <a:solidFill>
                  <a:srgbClr val="222222"/>
                </a:solidFill>
              </a:rPr>
              <a:t>•  핵심 가치: 웹 화면뿐만 아니라 오프라인에서도 활용 가능한 전문가급 리포트를 제공함으로써, 최종 사용자의 신뢰도를 높이고 체계적인 투자 기록 관리를 지원합니다.</a:t>
            </a:r>
          </a:p>
          <a:p>
            <a:pPr>
              <a:spcBef>
                <a:spcPts val="600"/>
              </a:spcBef>
            </a:pPr>
            <a:r>
              <a:rPr sz="1300" b="1">
                <a:solidFill>
                  <a:srgbClr val="2E5984"/>
                </a:solidFill>
              </a:rPr>
              <a:t>2. 아키텍처 (Architecture): ReportLab 기반의 A4 리포트 레이아웃 설계</a:t>
            </a:r>
          </a:p>
          <a:p>
            <a:r>
              <a:rPr sz="1100">
                <a:solidFill>
                  <a:srgbClr val="222222"/>
                </a:solidFill>
              </a:rPr>
              <a:t>•  데이터 흐름: [통합 데이터 팩(Payload)] → [ReportLab 엔진] → [템플릿 매핑(표/텍스트/이미지)] → [PDF 파일 생성] → [reports/ 폴더 저장].</a:t>
            </a:r>
          </a:p>
          <a:p>
            <a:r>
              <a:rPr sz="1100">
                <a:solidFill>
                  <a:srgbClr val="222222"/>
                </a:solidFill>
              </a:rPr>
              <a:t>•  레이아웃 구성:</a:t>
            </a:r>
          </a:p>
          <a:p>
            <a:r>
              <a:rPr sz="1100">
                <a:solidFill>
                  <a:srgbClr val="222222"/>
                </a:solidFill>
              </a:rPr>
              <a:t>•  헤더: 종목명, 티커, 작성일시</a:t>
            </a:r>
          </a:p>
          <a:p>
            <a:r>
              <a:rPr sz="1100">
                <a:solidFill>
                  <a:srgbClr val="222222"/>
                </a:solidFill>
              </a:rPr>
              <a:t>•  점수판: 종합·리스크·기술·기본·수급·거시 점수 및 투자의견 테이블</a:t>
            </a:r>
          </a:p>
          <a:p>
            <a:r>
              <a:rPr sz="1100">
                <a:solidFill>
                  <a:srgbClr val="222222"/>
                </a:solidFill>
              </a:rPr>
              <a:t>•  본문: GPT 요약, 주요 포인트, 분석 세부내용(Fundamental/Technical 등)</a:t>
            </a:r>
          </a:p>
          <a:p>
            <a:r>
              <a:rPr sz="1100">
                <a:solidFill>
                  <a:srgbClr val="222222"/>
                </a:solidFill>
              </a:rPr>
              <a:t>•  푸터: 리스크 요인, 대응 전략 및 투자자문 고지문(Disclaimer)</a:t>
            </a:r>
          </a:p>
          <a:p>
            <a:pPr>
              <a:spcBef>
                <a:spcPts val="600"/>
              </a:spcBef>
            </a:pPr>
            <a:r>
              <a:rPr sz="1300" b="1">
                <a:solidFill>
                  <a:srgbClr val="2E5984"/>
                </a:solidFill>
              </a:rPr>
              <a:t>3. 소스코드 (Source Code): pdf_report.py 핵심 구현 로직 [출처: 157]</a:t>
            </a:r>
          </a:p>
          <a:p>
            <a:r>
              <a:rPr sz="1100">
                <a:solidFill>
                  <a:srgbClr val="222222"/>
                </a:solidFill>
              </a:rPr>
              <a:t>•  핵심 구현: SimpleDocTemplate과 Table 클래스를 이용한 문서 구성부입니다.</a:t>
            </a:r>
          </a:p>
          <a:p>
            <a:pPr>
              <a:spcBef>
                <a:spcPts val="600"/>
              </a:spcBef>
            </a:pPr>
            <a:r>
              <a:rPr sz="1300" b="1">
                <a:solidFill>
                  <a:srgbClr val="2E5984"/>
                </a:solidFill>
              </a:rPr>
              <a:t>4. 실습 (Practice): PDF 생성 함수 실행 및 리포트 시각화 점검</a:t>
            </a:r>
          </a:p>
          <a:p>
            <a:r>
              <a:rPr sz="1100">
                <a:solidFill>
                  <a:srgbClr val="222222"/>
                </a:solidFill>
              </a:rPr>
              <a:t>•  과제: create_pdf_report 함수를 실행하여 reports/ 폴더 내에 해당 종목의 PDF 파일이 생성되는지 확인하고, 종합 점수와 투자의견(Rating)이 표(Table) 내에 정확히 매핑되었는지 확인하십시오.</a:t>
            </a:r>
          </a:p>
          <a:p>
            <a:r>
              <a:rPr sz="1100">
                <a:solidFill>
                  <a:srgbClr val="222222"/>
                </a:solidFill>
              </a:rPr>
              <a:t>•  확인 사항: 데이터가 누락된 경우 대시(-) 표시로 대체되는 safe_text 유틸리티가 정상 작동하는지 점검합니다.</a:t>
            </a:r>
          </a:p>
          <a:p>
            <a:pPr>
              <a:spcBef>
                <a:spcPts val="600"/>
              </a:spcBef>
            </a:pPr>
            <a:r>
              <a:rPr sz="1300" b="1">
                <a:solidFill>
                  <a:srgbClr val="2E5984"/>
                </a:solidFill>
              </a:rPr>
              <a:t>5. 확장 (Expansion): 한글 폰트 지원 및 멀티 페이지 리포트 고도화</a:t>
            </a:r>
          </a:p>
          <a:p>
            <a:r>
              <a:rPr sz="1100">
                <a:solidFill>
                  <a:srgbClr val="222222"/>
                </a:solidFill>
              </a:rPr>
              <a:t>•  고도화 전략: 한글 깨짐 현상을 방지하기 위해 Noto Sans KR 또는 나눔고딕 폰트를 TTFont로 등록하여 리포트의 가독성을 높입니다.</a:t>
            </a:r>
          </a:p>
          <a:p>
            <a:r>
              <a:rPr sz="1100">
                <a:solidFill>
                  <a:srgbClr val="222222"/>
                </a:solidFill>
              </a:rPr>
              <a:t>•  기술적 지향점: 향후 Module 12(AI 금융비서)에서는 이 PDF 리포트를 텔레그램으로 자동 전송하거나, Matplotlib/mplfinance를 연동하여 차트 이미지가 포함된 고품질 멀티 페이지 리포트로 진화시킵니다.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157  ·  81/216</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[082] AI 금융정보단말 구축 실무 - 21부: 종목 분석 오케스트레이터 및 한글 폰트 설정</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흩어진 지능을 하나로 묶는 '중앙 통제실'</a:t>
            </a:r>
          </a:p>
          <a:p>
            <a:r>
              <a:rPr sz="1100">
                <a:solidFill>
                  <a:srgbClr val="222222"/>
                </a:solidFill>
              </a:rPr>
              <a:t>•  분석 오케스트레이터: 수집(DART/ECOS/코스콤), 분석(기술/기본/수급/거시), 생성(GPT/PDF)의 전 과정을 순차적으로 실행하고 데이터를 중개하는 investment_agent.py 모듈입니다.</a:t>
            </a:r>
          </a:p>
          <a:p>
            <a:r>
              <a:rPr sz="1100">
                <a:solidFill>
                  <a:srgbClr val="222222"/>
                </a:solidFill>
              </a:rPr>
              <a:t>•  폰트 이슈 해결: ReportLab 기본 환경에서는 한글이 깨지는 문제가 발생하므로, 나눔고딕(NanumGothic)이나 Noto Sans KR 폰트를 시스템에 등록하여 리포트의 가독성을 확보하는 것이 필수적입니다.</a:t>
            </a:r>
          </a:p>
          <a:p>
            <a:pPr>
              <a:spcBef>
                <a:spcPts val="600"/>
              </a:spcBef>
            </a:pPr>
            <a:r>
              <a:rPr sz="1300" b="1">
                <a:solidFill>
                  <a:srgbClr val="2E5984"/>
                </a:solidFill>
              </a:rPr>
              <a:t>2. 아키텍처 (Architecture): 결정적 파이프라인(Deterministic Pipeline) 구조</a:t>
            </a:r>
          </a:p>
          <a:p>
            <a:r>
              <a:rPr sz="1100">
                <a:solidFill>
                  <a:srgbClr val="222222"/>
                </a:solidFill>
              </a:rPr>
              <a:t>•  작동 흐름: [종목 입력] → [DB 데이터 로드] → [4대 분석 모듈 실행] → [종합 스코어링] → [GPT 브리프 생성] → [PDF 리포트 출력].</a:t>
            </a:r>
          </a:p>
          <a:p>
            <a:r>
              <a:rPr sz="1100">
                <a:solidFill>
                  <a:srgbClr val="222222"/>
                </a:solidFill>
              </a:rPr>
              <a:t>•  데이터 정합성: 각 단계의 출력값이 다음 단계의 입력값(Payload)으로 정확히 전달되도록 설계하여 분석 결과의 일관성을 유지합니다.</a:t>
            </a:r>
          </a:p>
          <a:p>
            <a:pPr>
              <a:spcBef>
                <a:spcPts val="600"/>
              </a:spcBef>
            </a:pPr>
            <a:r>
              <a:rPr sz="1300" b="1">
                <a:solidFill>
                  <a:srgbClr val="2E5984"/>
                </a:solidFill>
              </a:rPr>
              <a:t>3. 소스코드 (Source Code): 한글 폰트 등록 및 오케스트레이터 로드 로직</a:t>
            </a:r>
          </a:p>
          <a:p>
            <a:r>
              <a:rPr sz="1100">
                <a:solidFill>
                  <a:srgbClr val="222222"/>
                </a:solidFill>
              </a:rPr>
              <a:t>•  핵심 구현: PDF 한글 지원 설정 및 데이터 로딩부의 시작입니다.</a:t>
            </a:r>
          </a:p>
          <a:p>
            <a:pPr>
              <a:spcBef>
                <a:spcPts val="600"/>
              </a:spcBef>
            </a:pPr>
            <a:r>
              <a:rPr sz="1300" b="1">
                <a:solidFill>
                  <a:srgbClr val="2E5984"/>
                </a:solidFill>
              </a:rPr>
              <a:t>4. 실습 (Practice): 폰트 파일 배치 및 통합 분석 프로세스 가동</a:t>
            </a:r>
          </a:p>
          <a:p>
            <a:r>
              <a:rPr sz="1100">
                <a:solidFill>
                  <a:srgbClr val="222222"/>
                </a:solidFill>
              </a:rPr>
              <a:t>•  과제 1: ./app/static/fonts/ 폴더를 생성하고 한글 폰트 파일(.ttf)을 배치한 뒤, PDF 생성 시 한글이 깨지지 않고 정상 출력되는지 확인하십시오.</a:t>
            </a:r>
          </a:p>
          <a:p>
            <a:r>
              <a:rPr sz="1100">
                <a:solidFill>
                  <a:srgbClr val="222222"/>
                </a:solidFill>
              </a:rPr>
              <a:t>•  과제 2: generate_full_report("005930")를 실행하여 삼성전자의 전체 분석 페이로드가 정상적으로 구성되고 pdf_path가 반환되는지 점검합니다.</a:t>
            </a:r>
          </a:p>
          <a:p>
            <a:pPr>
              <a:spcBef>
                <a:spcPts val="600"/>
              </a:spcBef>
            </a:pPr>
            <a:r>
              <a:rPr sz="1300" b="1">
                <a:solidFill>
                  <a:srgbClr val="2E5984"/>
                </a:solidFill>
              </a:rPr>
              <a:t>5. 확장 (Expansion): 동적 폰트 관리 및 에이전틱 오케스트레이션 준비</a:t>
            </a:r>
          </a:p>
          <a:p>
            <a:r>
              <a:rPr sz="1100">
                <a:solidFill>
                  <a:srgbClr val="222222"/>
                </a:solidFill>
              </a:rPr>
              <a:t>•  고도화 전략: 리포트의 디자인 요구사항에 따라 제목, 본문, 강조 텍스트별로 서로 다른 폰트 스타일을 적용하여 시각적 완성도를 높입니다.</a:t>
            </a:r>
          </a:p>
          <a:p>
            <a:r>
              <a:rPr sz="1100">
                <a:solidFill>
                  <a:srgbClr val="222222"/>
                </a:solidFill>
              </a:rPr>
              <a:t>•  기술적 지향점: 현재의 결정적 파이프라인(Deterministic)을 넘어, 183번 슬라이드에서 다룰 CrewAI 기반의 멀티 에이전트 시스템으로 확장하여 각 분석 분야가 스스로 사고하고 협업하는 진정한 에이전틱 AI 금융 플랫폼으로 진화시킵니다.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158  ·  82/216</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[083] AI 금융정보단말 구축 실무 - 21부: 전체 리포트 생성 로직</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분석 파이프라인의 완성 (End-to-End Execution)</a:t>
            </a:r>
          </a:p>
          <a:p>
            <a:r>
              <a:rPr sz="1100">
                <a:solidFill>
                  <a:srgbClr val="222222"/>
                </a:solidFill>
              </a:rPr>
              <a:t>•  정의: 개별적으로 구축된 수집, 분석, 생성 모듈들을 하나의 함수(generate_full_report) 내에서 순차적으로 호출하여, 종목코드 입력부터 PDF 리포트 생성까지의 전 과정을 자동화(Automation)하는 로직입니다.</a:t>
            </a:r>
          </a:p>
          <a:p>
            <a:r>
              <a:rPr sz="1100">
                <a:solidFill>
                  <a:srgbClr val="222222"/>
                </a:solidFill>
              </a:rPr>
              <a:t>•  핵심 가치: 각 모듈 간의 데이터 의존성을 해결하고, 분석 결과(Payload)를 통합하여 GPT와 PDF 엔진에 정확히 전달함으로써 지능형 금융 서비스의 실체를 구현합니다.</a:t>
            </a:r>
          </a:p>
          <a:p>
            <a:pPr>
              <a:spcBef>
                <a:spcPts val="600"/>
              </a:spcBef>
            </a:pPr>
            <a:r>
              <a:rPr sz="1300" b="1">
                <a:solidFill>
                  <a:srgbClr val="2E5984"/>
                </a:solidFill>
              </a:rPr>
              <a:t>2. 아키텍처 (Architecture): 데이터 흐름 및 모듈 호출 순서</a:t>
            </a:r>
          </a:p>
          <a:p>
            <a:r>
              <a:rPr sz="1100">
                <a:solidFill>
                  <a:srgbClr val="222222"/>
                </a:solidFill>
              </a:rPr>
              <a:t>•  프로세스 맵: [1. 데이터 로드(DB)] → [2. 4대 분석 엔진 가동] → [3. 종합 스코어링] → [4. GPT 브리프 생성] → [5. PDF 문서 출력].,</a:t>
            </a:r>
          </a:p>
          <a:p>
            <a:r>
              <a:rPr sz="1100">
                <a:solidFill>
                  <a:srgbClr val="222222"/>
                </a:solidFill>
              </a:rPr>
              <a:t>•  데이터 패키징: 모든 분석 결과를 payload라는 딕셔너리 객체로 통합하여 GPT 에이전트가 문맥(Context)을 완벽히 이해하도록 설계합니다.</a:t>
            </a:r>
          </a:p>
          <a:p>
            <a:pPr>
              <a:spcBef>
                <a:spcPts val="600"/>
              </a:spcBef>
            </a:pPr>
            <a:r>
              <a:rPr sz="1300" b="1">
                <a:solidFill>
                  <a:srgbClr val="2E5984"/>
                </a:solidFill>
              </a:rPr>
              <a:t>3. 소스코드 (Source Code): generate_full_report 핵심 함수 구현 [출처: 159]</a:t>
            </a:r>
          </a:p>
          <a:p>
            <a:r>
              <a:rPr sz="1100">
                <a:solidFill>
                  <a:srgbClr val="222222"/>
                </a:solidFill>
              </a:rPr>
              <a:t>•  핵심 로직: 모듈별 결과값을 취합하여 최종 결과물을 도출하는 파이프라인입니다.</a:t>
            </a:r>
          </a:p>
          <a:p>
            <a:pPr>
              <a:spcBef>
                <a:spcPts val="600"/>
              </a:spcBef>
            </a:pPr>
            <a:r>
              <a:rPr sz="1300" b="1">
                <a:solidFill>
                  <a:srgbClr val="2E5984"/>
                </a:solidFill>
              </a:rPr>
              <a:t>4. 실습 (Practice): '삼성전자' 통합 분석 실행 및 PDF 생성 확인</a:t>
            </a:r>
          </a:p>
          <a:p>
            <a:r>
              <a:rPr sz="1100">
                <a:solidFill>
                  <a:srgbClr val="222222"/>
                </a:solidFill>
              </a:rPr>
              <a:t>•  과제 1: Python 터미널에서 generate_full_report("005930")를 실행하고, total_score와 rating이 담긴 JSON 응답이 반환되는지 확인하십시오.</a:t>
            </a:r>
          </a:p>
          <a:p>
            <a:r>
              <a:rPr sz="1100">
                <a:solidFill>
                  <a:srgbClr val="222222"/>
                </a:solidFill>
              </a:rPr>
              <a:t>•  과제 2: 리턴된 pdf_path 경로(예: reports/005930_..._report.pdf)로 이동하여, 실제 한글이 포함된 1페이지 분량의 PDF 리포트가 생성되었는지 열람하십시오.,</a:t>
            </a:r>
          </a:p>
          <a:p>
            <a:pPr>
              <a:spcBef>
                <a:spcPts val="600"/>
              </a:spcBef>
            </a:pPr>
            <a:r>
              <a:rPr sz="1300" b="1">
                <a:solidFill>
                  <a:srgbClr val="2E5984"/>
                </a:solidFill>
              </a:rPr>
              <a:t>5. 확장 (Expansion): 샘플 데이터 기반 테스트 및 에이전트 협업 확장</a:t>
            </a:r>
          </a:p>
          <a:p>
            <a:r>
              <a:rPr sz="1100">
                <a:solidFill>
                  <a:srgbClr val="222222"/>
                </a:solidFill>
              </a:rPr>
              <a:t>•  고도화 전략: 실제 API 키가 없거나 데이터 수집 전인 경우를 대비하여, 90일치 가격 더미 데이터 등을 활용한 샘플 데이터 로드 옵션을 제공하여 시스템 안정성을 높입니다.,</a:t>
            </a:r>
          </a:p>
          <a:p>
            <a:r>
              <a:rPr sz="1100">
                <a:solidFill>
                  <a:srgbClr val="222222"/>
                </a:solidFill>
              </a:rPr>
              <a:t>•  기술적 지향점: 현재의 결정적(Deterministic) 파이프라인을 183번 슬라이드에서 다룰 CrewAI의 멀티 에이전트(Technical/Macro Analyst 등) 협업 구조로 전이하여, AI가 스스로 분석 우선순위를 결정하는 고도의 에이전틱 AI 시스템으로 진화시킵니다.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159  ·  83/216</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[084] AI 금융정보단말 구축 실무 - 22부: FastAPI 전체 서버 코드</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지능형 에이전트의 외부 소통 관문(API Gateway)</a:t>
            </a:r>
          </a:p>
          <a:p>
            <a:r>
              <a:rPr sz="1100">
                <a:solidFill>
                  <a:srgbClr val="222222"/>
                </a:solidFill>
              </a:rPr>
              <a:t>•  정의: 분석 오케스트레이터가 도출한 결과물을 HTTP 통신 규격(REST API)에 맞춰 외부 사용자나 시스템에 전달하는 중앙 서버 모듈입니다.</a:t>
            </a:r>
          </a:p>
          <a:p>
            <a:r>
              <a:rPr sz="1100">
                <a:solidFill>
                  <a:srgbClr val="222222"/>
                </a:solidFill>
              </a:rPr>
              <a:t>•  핵심 가치: 복잡한 내부 로직을 숨기고 단순한 URL 요청(GET /report/005930)만으로 고도화된 AI 분석 결과와 PDF 리포트를 즉시 제공할 수 있는 서비스 범용성을 확보합니다.</a:t>
            </a:r>
          </a:p>
          <a:p>
            <a:pPr>
              <a:spcBef>
                <a:spcPts val="600"/>
              </a:spcBef>
            </a:pPr>
            <a:r>
              <a:rPr sz="1300" b="1">
                <a:solidFill>
                  <a:srgbClr val="2E5984"/>
                </a:solidFill>
              </a:rPr>
              <a:t>2. 아키텍처 (Architecture): RESTful 기반의 엔드포인트 구조</a:t>
            </a:r>
          </a:p>
          <a:p>
            <a:r>
              <a:rPr sz="1100">
                <a:solidFill>
                  <a:srgbClr val="222222"/>
                </a:solidFill>
              </a:rPr>
              <a:t>•  데이터 흐름: [사용자/UI 요청] → [FastAPI 엔드포인트] → [Investment Agent 호출] → [JSON 데이터 및 PDF 파일 응답].</a:t>
            </a:r>
          </a:p>
          <a:p>
            <a:r>
              <a:rPr sz="1100">
                <a:solidFill>
                  <a:srgbClr val="222222"/>
                </a:solidFill>
              </a:rPr>
              <a:t>•  엔드포인트 설계:</a:t>
            </a:r>
          </a:p>
          <a:p>
            <a:r>
              <a:rPr sz="1100">
                <a:solidFill>
                  <a:srgbClr val="222222"/>
                </a:solidFill>
              </a:rPr>
              <a:t>•  /report/{ticker}: 분석 데이터(JSON) 즉시 반환.</a:t>
            </a:r>
          </a:p>
          <a:p>
            <a:r>
              <a:rPr sz="1100">
                <a:solidFill>
                  <a:srgbClr val="222222"/>
                </a:solidFill>
              </a:rPr>
              <a:t>•  /report/{ticker}/pdf: 생성된 PDF 리포트 파일 다운로드 제공.</a:t>
            </a:r>
          </a:p>
          <a:p>
            <a:r>
              <a:rPr sz="1100">
                <a:solidFill>
                  <a:srgbClr val="222222"/>
                </a:solidFill>
              </a:rPr>
              <a:t>•  /health: 서버 및 DB 연결 상태 확인용 보조 엔드포인트.</a:t>
            </a:r>
          </a:p>
          <a:p>
            <a:pPr>
              <a:spcBef>
                <a:spcPts val="600"/>
              </a:spcBef>
            </a:pPr>
            <a:r>
              <a:rPr sz="1300" b="1">
                <a:solidFill>
                  <a:srgbClr val="2E5984"/>
                </a:solidFill>
              </a:rPr>
              <a:t>3. 소스코드 (Source Code): main.py 핵심 서버 로직 구현 [출처: 160]</a:t>
            </a:r>
          </a:p>
          <a:p>
            <a:r>
              <a:rPr sz="1100">
                <a:solidFill>
                  <a:srgbClr val="222222"/>
                </a:solidFill>
              </a:rPr>
              <a:t>•  핵심 구현: FastAPI 인스턴스 생성 및 리포트 생성/다운로드 API 정의부입니다.</a:t>
            </a:r>
          </a:p>
          <a:p>
            <a:pPr>
              <a:spcBef>
                <a:spcPts val="600"/>
              </a:spcBef>
            </a:pPr>
            <a:r>
              <a:rPr sz="1300" b="1">
                <a:solidFill>
                  <a:srgbClr val="2E5984"/>
                </a:solidFill>
              </a:rPr>
              <a:t>4. 실습 (Practice): 서버 기동 및 Swagger UI를 통한 API 명세 검증</a:t>
            </a:r>
          </a:p>
          <a:p>
            <a:r>
              <a:rPr sz="1100">
                <a:solidFill>
                  <a:srgbClr val="222222"/>
                </a:solidFill>
              </a:rPr>
              <a:t>•  과제 1: 터미널에서 uvicorn main:app --reload 명령을 실행하여 로컬 서버를 가동하십시오.</a:t>
            </a:r>
          </a:p>
          <a:p>
            <a:r>
              <a:rPr sz="1100">
                <a:solidFill>
                  <a:srgbClr val="222222"/>
                </a:solidFill>
              </a:rPr>
              <a:t>•  과제 2: 브라우저에서 http://127.0.0.1:8000/docs에 접속하여 Swagger UI를 통해 005930(삼성전자) 리포트가 정상적으로 생성 및 다운로드되는지 테스트하십시오.</a:t>
            </a:r>
          </a:p>
          <a:p>
            <a:pPr>
              <a:spcBef>
                <a:spcPts val="600"/>
              </a:spcBef>
            </a:pPr>
            <a:r>
              <a:rPr sz="1300" b="1">
                <a:solidFill>
                  <a:srgbClr val="2E5984"/>
                </a:solidFill>
              </a:rPr>
              <a:t>5. 확장 (Expansion): 보안(CORS) 설정 및 실시간 모니터링 연동</a:t>
            </a:r>
          </a:p>
          <a:p>
            <a:r>
              <a:rPr sz="1100">
                <a:solidFill>
                  <a:srgbClr val="222222"/>
                </a:solidFill>
              </a:rPr>
              <a:t>•  고도화 전략: 서로 다른 도메인(예: React/Streamlit 프론트엔드)에서의 요청을 허용하기 위해 CORS(Cross-Origin Resource Sharing) 미들웨어 설정을 추가합니다.</a:t>
            </a:r>
          </a:p>
          <a:p>
            <a:r>
              <a:rPr sz="1100">
                <a:solidFill>
                  <a:srgbClr val="222222"/>
                </a:solidFill>
              </a:rPr>
              <a:t>•  운영 안정성: 서버의 가동 상태를 24시간 감시하기 위해 Uptime Kuma와 같은 모니터링 도구를 연동하거나, 비정상적인 접근을 차단하는 Rate Limit 기능을 적용하여 엔터프라이즈급 API 서버로 발전시킵니다.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160  ·  84/216</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[085] AI 금융정보단말 구축 실무 - 23부: Streamlit 투자단말 UI</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파이썬만으로 완성하는 전문가용 금융 대시보드</a:t>
            </a:r>
          </a:p>
          <a:p>
            <a:r>
              <a:rPr sz="1100">
                <a:solidFill>
                  <a:srgbClr val="222222"/>
                </a:solidFill>
              </a:rPr>
              <a:t>•  Streamlit: 복잡한 프론트엔드 지식 없이도 파이썬 코드만으로 데이터 기반의 인터랙티브 웹 애플리케이션을 빠르게 구축할 수 있는 프레임워크입니다.</a:t>
            </a:r>
          </a:p>
          <a:p>
            <a:r>
              <a:rPr sz="1100">
                <a:solidFill>
                  <a:srgbClr val="222222"/>
                </a:solidFill>
              </a:rPr>
              <a:t>•  핵심 가치: FastAPI 서버와 연동하여 종목 검색, 점수 시각화, GPT 브리프 열람, PDF 다운로드까지 한 화면에서 처리하는 통합 투자 단말 환경을 제공합니다.</a:t>
            </a:r>
          </a:p>
          <a:p>
            <a:pPr>
              <a:spcBef>
                <a:spcPts val="600"/>
              </a:spcBef>
            </a:pPr>
            <a:r>
              <a:rPr sz="1300" b="1">
                <a:solidFill>
                  <a:srgbClr val="2E5984"/>
                </a:solidFill>
              </a:rPr>
              <a:t>2. 아키텍처 (Architecture): API 기반의 프론트-백엔드 분리 구조</a:t>
            </a:r>
          </a:p>
          <a:p>
            <a:r>
              <a:rPr sz="1100">
                <a:solidFill>
                  <a:srgbClr val="222222"/>
                </a:solidFill>
              </a:rPr>
              <a:t>•  데이터 흐름: [사용자 입력] → [Streamlit UI] → [FastAPI (8000번 포트) 호출] → [JSON 데이터 수신] → [UI 컴포넌트 렌더링].</a:t>
            </a:r>
          </a:p>
          <a:p>
            <a:r>
              <a:rPr sz="1100">
                <a:solidFill>
                  <a:srgbClr val="222222"/>
                </a:solidFill>
              </a:rPr>
              <a:t>•  UI 구성: 사이드바(설정), 메인 상단(종합 점수 메트릭), 메인 중단(GPT 분석 브리프), 메인 하단(PDF 리포트 다운로드).</a:t>
            </a:r>
          </a:p>
          <a:p>
            <a:pPr>
              <a:spcBef>
                <a:spcPts val="600"/>
              </a:spcBef>
            </a:pPr>
            <a:r>
              <a:rPr sz="1300" b="1">
                <a:solidFill>
                  <a:srgbClr val="2E5984"/>
                </a:solidFill>
              </a:rPr>
              <a:t>3. 소스코드 (Source Code): streamlit_app.py 핵심 UI 로직</a:t>
            </a:r>
          </a:p>
          <a:p>
            <a:r>
              <a:rPr sz="1100">
                <a:solidFill>
                  <a:srgbClr val="222222"/>
                </a:solidFill>
              </a:rPr>
              <a:t>•  핵심 구현: API 호출부와 결과 시각화 컴포넌트 구성입니다.</a:t>
            </a:r>
          </a:p>
          <a:p>
            <a:pPr>
              <a:spcBef>
                <a:spcPts val="600"/>
              </a:spcBef>
            </a:pPr>
            <a:r>
              <a:rPr sz="1300" b="1">
                <a:solidFill>
                  <a:srgbClr val="2E5984"/>
                </a:solidFill>
              </a:rPr>
              <a:t>4. 실습 (Practice): '삼성전자' 분석 결과 시각화 및 PDF 연동 확인</a:t>
            </a:r>
          </a:p>
          <a:p>
            <a:r>
              <a:rPr sz="1100">
                <a:solidFill>
                  <a:srgbClr val="222222"/>
                </a:solidFill>
              </a:rPr>
              <a:t>•  과제 1: 터미널에서 streamlit run streamlit_app.py 명령을 실행하여 브라우저 창(localhost:8501)을 띄우십시오.</a:t>
            </a:r>
          </a:p>
          <a:p>
            <a:r>
              <a:rPr sz="1100">
                <a:solidFill>
                  <a:srgbClr val="222222"/>
                </a:solidFill>
              </a:rPr>
              <a:t>•  과제 2: 종목코드 입력창에 005930을 입력하고 버튼을 눌러 종합 점수, 투자의견, GPT 요약이 정상적으로 표시되는지 확인하고 PDF 다운로드 링크가 작동하는지 점검하십시오.</a:t>
            </a:r>
          </a:p>
          <a:p>
            <a:pPr>
              <a:spcBef>
                <a:spcPts val="600"/>
              </a:spcBef>
            </a:pPr>
            <a:r>
              <a:rPr sz="1300" b="1">
                <a:solidFill>
                  <a:srgbClr val="2E5984"/>
                </a:solidFill>
              </a:rPr>
              <a:t>5. 확장 (Expansion): 실시간 차트 삽입 및 멀티 페이지 대시보드 고도화</a:t>
            </a:r>
          </a:p>
          <a:p>
            <a:r>
              <a:rPr sz="1100">
                <a:solidFill>
                  <a:srgbClr val="222222"/>
                </a:solidFill>
              </a:rPr>
              <a:t>•  고도화 전략: st.plotly_chart를 활용하여 인터랙티브한 주가 차트를 추가하거나, 여러 종목을 비교 분석하는 멀티 페이지 모드로 확장합니다.</a:t>
            </a:r>
          </a:p>
          <a:p>
            <a:r>
              <a:rPr sz="1100">
                <a:solidFill>
                  <a:srgbClr val="222222"/>
                </a:solidFill>
              </a:rPr>
              <a:t>•  기술적 지향점: 향후 Module 12(AI 금융비서)에서는 이 웹 화면을 텔레그램과 연동하여, 텔레그램에서 분석을 요청하면 웹 화면의 상세 페이지 URL을 반환하는 하이브리드 단말 시스템으로 완성합니다.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161  ·  85/216</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[086] AI 금융정보단말 구축 실무 - 24부: Telegram Bot 구축</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대화형 인터페이스를 통한 '내 손안의 금융 비서'</a:t>
            </a:r>
          </a:p>
          <a:p>
            <a:r>
              <a:rPr sz="1100">
                <a:solidFill>
                  <a:srgbClr val="222222"/>
                </a:solidFill>
              </a:rPr>
              <a:t>•  정의: 사용자가 텔레그램 채팅창에 종목코드를 입력하면, 백엔드의 분석 에이전트가 작동하여 핵심 요약 정보와 PDF 리포트를 즉시 회신해 주는 대화형 금융 서비스입니다.</a:t>
            </a:r>
          </a:p>
          <a:p>
            <a:r>
              <a:rPr sz="1100">
                <a:solidFill>
                  <a:srgbClr val="222222"/>
                </a:solidFill>
              </a:rPr>
              <a:t>•  핵심 가치: 별도의 앱 설치 없이 텔레그램이라는 범용 메신저를 활용함으로써 접근성을 높이고, 중요 리스크 발생 시 실시간 푸시 알림을 전달할 수 있는 기반을 마련합니다.</a:t>
            </a:r>
          </a:p>
          <a:p>
            <a:pPr>
              <a:spcBef>
                <a:spcPts val="600"/>
              </a:spcBef>
            </a:pPr>
            <a:r>
              <a:rPr sz="1300" b="1">
                <a:solidFill>
                  <a:srgbClr val="2E5984"/>
                </a:solidFill>
              </a:rPr>
              <a:t>2. 아키텍처 (Architecture): 폴링(Polling) 기반의 명령-응답 구조</a:t>
            </a:r>
          </a:p>
          <a:p>
            <a:r>
              <a:rPr sz="1100">
                <a:solidFill>
                  <a:srgbClr val="222222"/>
                </a:solidFill>
              </a:rPr>
              <a:t>•  데이터 흐름: [사용자 종목코드 입력] → [Telegram Bot (Polling)] → [analyze 함수] → [generate_full_report 호출] → [텍스트 결과 + PDF 파일 회신].</a:t>
            </a:r>
          </a:p>
          <a:p>
            <a:r>
              <a:rPr sz="1100">
                <a:solidFill>
                  <a:srgbClr val="222222"/>
                </a:solidFill>
              </a:rPr>
              <a:t>•  구동 방식: 서버가 주기적으로 텔레그램 서버에 새로운 메시지가 있는지 확인하는 폴링 방식을 채택하여, 복잡한 웹훅(Webhook) 설정 없이도 로컬 환경에서 즉시 봇을 구동할 수 있도록 설계합니다.</a:t>
            </a:r>
          </a:p>
          <a:p>
            <a:pPr>
              <a:spcBef>
                <a:spcPts val="600"/>
              </a:spcBef>
            </a:pPr>
            <a:r>
              <a:rPr sz="1300" b="1">
                <a:solidFill>
                  <a:srgbClr val="2E5984"/>
                </a:solidFill>
              </a:rPr>
              <a:t>3. 소스코드 (Source Code): telegram_bot.py 핵심 봇 로직 [출처: 162]</a:t>
            </a:r>
          </a:p>
          <a:p>
            <a:r>
              <a:rPr sz="1100">
                <a:solidFill>
                  <a:srgbClr val="222222"/>
                </a:solidFill>
              </a:rPr>
              <a:t>•  핵심 구현: 메시지 핸들러와 분석 에이전트 연동부입니다.</a:t>
            </a:r>
          </a:p>
          <a:p>
            <a:pPr>
              <a:spcBef>
                <a:spcPts val="600"/>
              </a:spcBef>
            </a:pPr>
            <a:r>
              <a:rPr sz="1300" b="1">
                <a:solidFill>
                  <a:srgbClr val="2E5984"/>
                </a:solidFill>
              </a:rPr>
              <a:t>4. 실습 (Practice): 봇 생성, 토큰 발급 및 실제 종목 분석 테스트</a:t>
            </a:r>
          </a:p>
          <a:p>
            <a:r>
              <a:rPr sz="1100">
                <a:solidFill>
                  <a:srgbClr val="222222"/>
                </a:solidFill>
              </a:rPr>
              <a:t>•  과제 1: 텔레그램 @BotFather를 통해 신규 봇을 생성하고 발급받은 Token을 .env 파일에 저장하십시오.</a:t>
            </a:r>
          </a:p>
          <a:p>
            <a:r>
              <a:rPr sz="1100">
                <a:solidFill>
                  <a:srgbClr val="222222"/>
                </a:solidFill>
              </a:rPr>
              <a:t>•  과제 2: python -m app.bots.telegram_bot을 실행한 뒤, 본인의 봇 채팅창에 '005930'을 입력하여 텍스트 요약본과 PDF 파일이 정상적으로 배달되는지 확인하십시오.</a:t>
            </a:r>
          </a:p>
          <a:p>
            <a:pPr>
              <a:spcBef>
                <a:spcPts val="600"/>
              </a:spcBef>
            </a:pPr>
            <a:r>
              <a:rPr sz="1300" b="1">
                <a:solidFill>
                  <a:srgbClr val="2E5984"/>
                </a:solidFill>
              </a:rPr>
              <a:t>5. 확장 (Expansion): 권한 관리 및 웹훅 기반 실서비스 전환</a:t>
            </a:r>
          </a:p>
          <a:p>
            <a:r>
              <a:rPr sz="1100">
                <a:solidFill>
                  <a:srgbClr val="222222"/>
                </a:solidFill>
              </a:rPr>
              <a:t>•  고도화 전략: 무분별한 사용과 비용 발생을 막기 위해 ALLOWED_USER_IDS 화이트리스트를 도입하여 승인된 사용자만 봇을 이용할 수 있도록 제한합니다.</a:t>
            </a:r>
          </a:p>
          <a:p>
            <a:r>
              <a:rPr sz="1100">
                <a:solidFill>
                  <a:srgbClr val="222222"/>
                </a:solidFill>
              </a:rPr>
              <a:t>•  기술적 지향점: 서비스 규모가 커지면 폴링 방식 대신 FastAPI와 연동된 웹훅(Webhook) 방식으로 전환하여 서버 자원 소모를 최적화하고, 163번 슬라이드에서 다룰 데일리 브리핑 스케줄러와 결합하여 매일 아침 자동으로 리포트를 배송하는 시스템을 구축합니다.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162  ·  86/216</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[087] AI 금융정보단말 구축 실무 - 25부: 종목 자동 브리핑 Telegram Bot</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능동적 리스크 관리를 위한 '푸시(Push)형' 비서 시스템</a:t>
            </a:r>
          </a:p>
          <a:p>
            <a:r>
              <a:rPr sz="1100">
                <a:solidFill>
                  <a:srgbClr val="222222"/>
                </a:solidFill>
              </a:rPr>
              <a:t>•  정의: 사용자가 매번 검색하지 않아도, 매일 아침 장 시작 전(예: 오전 7시) 관심 종목(Watchlist)의 분석 결과와 리스크 상태를 텔레그램으로 자동 전송하는 시스템입니다.</a:t>
            </a:r>
          </a:p>
          <a:p>
            <a:r>
              <a:rPr sz="1100">
                <a:solidFill>
                  <a:srgbClr val="222222"/>
                </a:solidFill>
              </a:rPr>
              <a:t>•  핵심 가치: 투자자가 놓칠 수 있는 야간 매크로 변화나 재무 이벤트를 선제적으로 브리핑하여 의사결정의 골든타임을 확보해 줍니다.</a:t>
            </a:r>
          </a:p>
          <a:p>
            <a:pPr>
              <a:spcBef>
                <a:spcPts val="600"/>
              </a:spcBef>
            </a:pPr>
            <a:r>
              <a:rPr sz="1300" b="1">
                <a:solidFill>
                  <a:srgbClr val="2E5984"/>
                </a:solidFill>
              </a:rPr>
              <a:t>2. 아키텍처 (Architecture): APScheduler 기반의 스케줄링 및 메시지 루프</a:t>
            </a:r>
          </a:p>
          <a:p>
            <a:r>
              <a:rPr sz="1100">
                <a:solidFill>
                  <a:srgbClr val="222222"/>
                </a:solidFill>
              </a:rPr>
              <a:t>•  데이터 흐름: [APScheduler (Cron 실행)] → [WATCHLIST 순회] → [generate_full_report 호출] → [메시지 취합] → [Telegram API 전송].</a:t>
            </a:r>
          </a:p>
          <a:p>
            <a:r>
              <a:rPr sz="1100">
                <a:solidFill>
                  <a:srgbClr val="222222"/>
                </a:solidFill>
              </a:rPr>
              <a:t>•  구조적 특징: 다수의 종목을 분석하므로 특정 종목에서 오류가 발생해도 전체 스케줄러가 중단되지 않도록 개별 예외 처리(Try-Except) 루프를 가집니다.</a:t>
            </a:r>
          </a:p>
          <a:p>
            <a:pPr>
              <a:spcBef>
                <a:spcPts val="600"/>
              </a:spcBef>
            </a:pPr>
            <a:r>
              <a:rPr sz="1300" b="1">
                <a:solidFill>
                  <a:srgbClr val="2E5984"/>
                </a:solidFill>
              </a:rPr>
              <a:t>3. 소스코드 (Source Code): daily_briefing.py 및 스케줄러 구현</a:t>
            </a:r>
          </a:p>
          <a:p>
            <a:r>
              <a:rPr sz="1100">
                <a:solidFill>
                  <a:srgbClr val="222222"/>
                </a:solidFill>
              </a:rPr>
              <a:t>•  핵심 구현: 관심 종목 리스트 관리 및 주기적 분석 실행부입니다.</a:t>
            </a:r>
          </a:p>
          <a:p>
            <a:pPr>
              <a:spcBef>
                <a:spcPts val="600"/>
              </a:spcBef>
            </a:pPr>
            <a:r>
              <a:rPr sz="1300" b="1">
                <a:solidFill>
                  <a:srgbClr val="2E5984"/>
                </a:solidFill>
              </a:rPr>
              <a:t>4. 실습 (Practice): 데일리 브리핑 수동 실행 및 알림 수신 검증</a:t>
            </a:r>
          </a:p>
          <a:p>
            <a:r>
              <a:rPr sz="1100">
                <a:solidFill>
                  <a:srgbClr val="222222"/>
                </a:solidFill>
              </a:rPr>
              <a:t>•  과제 1: WATCHLIST에 본인이 관심 있는 종목코드를 추가하고 python -m app.scheduler.daily_briefing을 실행하십시오.</a:t>
            </a:r>
          </a:p>
          <a:p>
            <a:r>
              <a:rPr sz="1100">
                <a:solidFill>
                  <a:srgbClr val="222222"/>
                </a:solidFill>
              </a:rPr>
              <a:t>•  과제 2: 텔레그램 채팅방에 [AI 금융정보단말 데일리 브리핑]이라는 제목과 함께 여러 종목의 요약 정보가 한 번의 메시지로 도착하는지 확인하십시오.</a:t>
            </a:r>
          </a:p>
          <a:p>
            <a:pPr>
              <a:spcBef>
                <a:spcPts val="600"/>
              </a:spcBef>
            </a:pPr>
            <a:r>
              <a:rPr sz="1300" b="1">
                <a:solidFill>
                  <a:srgbClr val="2E5984"/>
                </a:solidFill>
              </a:rPr>
              <a:t>5. 확장 (Expansion): 동적 워치리스트 및 리스크 기반 긴급 알림</a:t>
            </a:r>
          </a:p>
          <a:p>
            <a:r>
              <a:rPr sz="1100">
                <a:solidFill>
                  <a:srgbClr val="222222"/>
                </a:solidFill>
              </a:rPr>
              <a:t>•  고도화 전략: 코드 내 하드코딩된 WATCHLIST 대신 DB(stocks 테이블)나 구글 시트에서 사용자가 등록한 종목을 실시간으로 읽어오도록 개선합니다.</a:t>
            </a:r>
          </a:p>
          <a:p>
            <a:r>
              <a:rPr sz="1100">
                <a:solidFill>
                  <a:srgbClr val="222222"/>
                </a:solidFill>
              </a:rPr>
              <a:t>•  기술적 지향점: 단순 시간 기반 브리핑을 넘어, 장 중 리스크 점수가 급등(Critical)하거나 외국인 대량 매도가 포착될 때 즉시 알림을 쏘는 '이벤트 드리븐(Event-driven) 알림 엔진'으로 진화시킵니다.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163  ·  87/216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[088] AI 금융정보단말 구축 실무 - 26부: 데이터 수집 스케줄러 통합 관리</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데이터 신선도 유지를 위한 '정기 수집 파이프라인'</a:t>
            </a:r>
          </a:p>
          <a:p>
            <a:r>
              <a:rPr sz="1100">
                <a:solidFill>
                  <a:srgbClr val="222222"/>
                </a:solidFill>
              </a:rPr>
              <a:t>•  정의: DART, ECOS, 코스콤 등 외부 API로부터 데이터를 가져오는 시점과 분석 엔진이 돌아가는 시점을 유기적으로 배열하여, 매일 아침 최신 데이터 기반의 리포트를 보장하는 통합 관리 체계입니다.</a:t>
            </a:r>
          </a:p>
          <a:p>
            <a:r>
              <a:rPr sz="1100">
                <a:solidFill>
                  <a:srgbClr val="222222"/>
                </a:solidFill>
              </a:rPr>
              <a:t>•  핵심 가치: 작업 간의 선후 관계(예: 가격 수집 후 지표 계산)를 고려한 시간차 배정을 통해 시스템 부하를 분산하고 데이터 누락을 방지합니다.</a:t>
            </a:r>
          </a:p>
          <a:p>
            <a:pPr>
              <a:spcBef>
                <a:spcPts val="600"/>
              </a:spcBef>
            </a:pPr>
            <a:r>
              <a:rPr sz="1300" b="1">
                <a:solidFill>
                  <a:srgbClr val="2E5984"/>
                </a:solidFill>
              </a:rPr>
              <a:t>2. 아키텍처 (Architecture): 7단계 새벽 작업 스케줄링 설계 [출처: 164]</a:t>
            </a:r>
          </a:p>
          <a:p>
            <a:r>
              <a:rPr sz="1100">
                <a:solidFill>
                  <a:srgbClr val="222222"/>
                </a:solidFill>
              </a:rPr>
              <a:t>•  운영 타임라인:</a:t>
            </a:r>
          </a:p>
          <a:p>
            <a:r>
              <a:rPr sz="1100">
                <a:solidFill>
                  <a:srgbClr val="222222"/>
                </a:solidFill>
              </a:rPr>
              <a:t>•  06:00: DART 기업코드 갱신 (신규 상장사 등 반영).</a:t>
            </a:r>
          </a:p>
          <a:p>
            <a:r>
              <a:rPr sz="1100">
                <a:solidFill>
                  <a:srgbClr val="222222"/>
                </a:solidFill>
              </a:rPr>
              <a:t>•  06:10: ECOS 거시지표 갱신 (금리, 환율 등 최신치 로드).</a:t>
            </a:r>
          </a:p>
          <a:p>
            <a:r>
              <a:rPr sz="1100">
                <a:solidFill>
                  <a:srgbClr val="222222"/>
                </a:solidFill>
              </a:rPr>
              <a:t>•  06:20 / 06:30: 코스콤 가격 및 수급 데이터 갱신 (전일 종가 및 투자자 동향 확정).</a:t>
            </a:r>
          </a:p>
          <a:p>
            <a:r>
              <a:rPr sz="1100">
                <a:solidFill>
                  <a:srgbClr val="222222"/>
                </a:solidFill>
              </a:rPr>
              <a:t>•  06:40: 기술적 지표 자동 계산 (적재된 데이터를 바탕으로 스코어링 준비).</a:t>
            </a:r>
          </a:p>
          <a:p>
            <a:r>
              <a:rPr sz="1100">
                <a:solidFill>
                  <a:srgbClr val="222222"/>
                </a:solidFill>
              </a:rPr>
              <a:t>•  07:00: Telegram 데일리 브리핑 (최종 리포트 발송).</a:t>
            </a:r>
          </a:p>
          <a:p>
            <a:pPr>
              <a:spcBef>
                <a:spcPts val="600"/>
              </a:spcBef>
            </a:pPr>
            <a:r>
              <a:rPr sz="1300" b="1">
                <a:solidFill>
                  <a:srgbClr val="2E5984"/>
                </a:solidFill>
              </a:rPr>
              <a:t>3. 소스코드 (Source Code): main_scheduler.py 통합 구현 [출처: 164]</a:t>
            </a:r>
          </a:p>
          <a:p>
            <a:r>
              <a:rPr sz="1100">
                <a:solidFill>
                  <a:srgbClr val="222222"/>
                </a:solidFill>
              </a:rPr>
              <a:t>•  핵심 구현: BlockingScheduler를 활용한 다중 작업 등록 로직입니다.</a:t>
            </a:r>
          </a:p>
          <a:p>
            <a:pPr>
              <a:spcBef>
                <a:spcPts val="600"/>
              </a:spcBef>
            </a:pPr>
            <a:r>
              <a:rPr sz="1300" b="1">
                <a:solidFill>
                  <a:srgbClr val="2E5984"/>
                </a:solidFill>
              </a:rPr>
              <a:t>4. 실습 (Practice): 크론(Cron) 표현식 검증 및 로그 모니터링</a:t>
            </a:r>
          </a:p>
          <a:p>
            <a:r>
              <a:rPr sz="1100">
                <a:solidFill>
                  <a:srgbClr val="222222"/>
                </a:solidFill>
              </a:rPr>
              <a:t>•  과제: 스케줄러를 실행하고, 터미널 로그를 통해 각 작업(collect_...)이 지정된 시간에 정확히 호출되는지 확인하십시오.</a:t>
            </a:r>
          </a:p>
          <a:p>
            <a:r>
              <a:rPr sz="1100">
                <a:solidFill>
                  <a:srgbClr val="222222"/>
                </a:solidFill>
              </a:rPr>
              <a:t>•  확인 사항: Asia/Seoul 타임존 설정이 서버 환경과 일치하는지 점검하여, 해외 서버 운영 시 발생할 수 있는 시간차 오류를 미연에 방지합니다.</a:t>
            </a:r>
          </a:p>
          <a:p>
            <a:pPr>
              <a:spcBef>
                <a:spcPts val="600"/>
              </a:spcBef>
            </a:pPr>
            <a:r>
              <a:rPr sz="1300" b="1">
                <a:solidFill>
                  <a:srgbClr val="2E5984"/>
                </a:solidFill>
              </a:rPr>
              <a:t>5. 확장 (Expansion): 분산 작업 큐(Celery) 및 장애 복구 로직 도입</a:t>
            </a:r>
          </a:p>
          <a:p>
            <a:r>
              <a:rPr sz="1100">
                <a:solidFill>
                  <a:srgbClr val="222222"/>
                </a:solidFill>
              </a:rPr>
              <a:t>•  고도화 전략: 수집할 종목 수가 수천 개로 늘어날 경우, 단순 스케줄러를 넘어 Celery와 Redis를 결합한 분산 작업 큐 시스템으로 확장하여 병렬 처리를 구현합니다.</a:t>
            </a:r>
          </a:p>
          <a:p>
            <a:r>
              <a:rPr sz="1100">
                <a:solidFill>
                  <a:srgbClr val="222222"/>
                </a:solidFill>
              </a:rPr>
              <a:t>•  운영 안정성: 수집 실패 시 5분 후 재시도(Retry)하는 로직을 추가하거나, 166번 슬라이드에서 다룰 systemd 서비스 등록을 통해 서버 재부팅 시에도 스케줄러가 자동 재시작되도록 관리 수준을 높입니다.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164  ·  88/216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[089] AI 금융정보단말 구축 실무 - 27부: Docker 기반 배포 구조</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"어디서나 동일하게 작동하는" 가상화 배포 환경</a:t>
            </a:r>
          </a:p>
          <a:p>
            <a:r>
              <a:rPr sz="1100">
                <a:solidFill>
                  <a:srgbClr val="222222"/>
                </a:solidFill>
              </a:rPr>
              <a:t>•  Docker: 애플리케이션과 실행에 필요한 모든 환경(라이브러리, 설정 등)을 하나의 컨테이너(Container)로 패키징하여, 로컬 PC나 클라우드 VPS 등 어떤 환경에서도 동일하게 구동시키는 기술입니다.</a:t>
            </a:r>
          </a:p>
          <a:p>
            <a:r>
              <a:rPr sz="1100">
                <a:solidFill>
                  <a:srgbClr val="222222"/>
                </a:solidFill>
              </a:rPr>
              <a:t>•  핵심 가치: "내 컴퓨터에서는 되는데 서버에서는 안 된다"는 환경 불일치 문제를 해결하고, DB와 API 서버 등 복잡한 서비스 구성을 한 번에 실행 및 관리할 수 있습니다.</a:t>
            </a:r>
          </a:p>
          <a:p>
            <a:pPr>
              <a:spcBef>
                <a:spcPts val="600"/>
              </a:spcBef>
            </a:pPr>
            <a:r>
              <a:rPr sz="1300" b="1">
                <a:solidFill>
                  <a:srgbClr val="2E5984"/>
                </a:solidFill>
              </a:rPr>
              <a:t>2. 아키텍처 (Architecture): 다중 컨테이너 및 볼륨(Volume) 설계</a:t>
            </a:r>
          </a:p>
          <a:p>
            <a:r>
              <a:rPr sz="1100">
                <a:solidFill>
                  <a:srgbClr val="222222"/>
                </a:solidFill>
              </a:rPr>
              <a:t>•  서비스 구성:</a:t>
            </a:r>
          </a:p>
          <a:p>
            <a:r>
              <a:rPr sz="1100">
                <a:solidFill>
                  <a:srgbClr val="222222"/>
                </a:solidFill>
              </a:rPr>
              <a:t>•  PostgreSQL 컨테이너: 데이터 저장소 (5432 포트).</a:t>
            </a:r>
          </a:p>
          <a:p>
            <a:r>
              <a:rPr sz="1100">
                <a:solidFill>
                  <a:srgbClr val="222222"/>
                </a:solidFill>
              </a:rPr>
              <a:t>•  API 컨테이너 (FastAPI): 분석 엔진 및 리포트 생성 서버 (8000 포트).</a:t>
            </a:r>
          </a:p>
          <a:p>
            <a:r>
              <a:rPr sz="1100">
                <a:solidFill>
                  <a:srgbClr val="222222"/>
                </a:solidFill>
              </a:rPr>
              <a:t>•  데이터 영속성: 컨테이너가 삭제되어도 데이터베이스와 생성된 PDF 리포트 파일이 사라지지 않도록 호스트 PC의 디렉토리와 연결하는 볼륨 마운팅 구조를 가집니다.</a:t>
            </a:r>
          </a:p>
          <a:p>
            <a:pPr>
              <a:spcBef>
                <a:spcPts val="600"/>
              </a:spcBef>
            </a:pPr>
            <a:r>
              <a:rPr sz="1300" b="1">
                <a:solidFill>
                  <a:srgbClr val="2E5984"/>
                </a:solidFill>
              </a:rPr>
              <a:t>3. 소스코드 (Source Code): Dockerfile 및 docker-compose.yml 명세</a:t>
            </a:r>
          </a:p>
          <a:p>
            <a:r>
              <a:rPr sz="1100">
                <a:solidFill>
                  <a:srgbClr val="222222"/>
                </a:solidFill>
              </a:rPr>
              <a:t>•  핵심 구현: 가상 OS 이미지 생성 및 서비스 간 연결 설정입니다.</a:t>
            </a:r>
          </a:p>
          <a:p>
            <a:pPr>
              <a:spcBef>
                <a:spcPts val="600"/>
              </a:spcBef>
            </a:pPr>
            <a:r>
              <a:rPr sz="1300" b="1">
                <a:solidFill>
                  <a:srgbClr val="2E5984"/>
                </a:solidFill>
              </a:rPr>
              <a:t>4. 실습 (Practice): 백그라운드 실행 및 서비스 상태 점검</a:t>
            </a:r>
          </a:p>
          <a:p>
            <a:r>
              <a:rPr sz="1100">
                <a:solidFill>
                  <a:srgbClr val="222222"/>
                </a:solidFill>
              </a:rPr>
              <a:t>•  과제: 터미널에서 docker compose up -d --build 명령을 실행하여 모든 서비스를 백그라운드에서 기동시키십시오.</a:t>
            </a:r>
          </a:p>
          <a:p>
            <a:r>
              <a:rPr sz="1100">
                <a:solidFill>
                  <a:srgbClr val="222222"/>
                </a:solidFill>
              </a:rPr>
              <a:t>•  확인 사항: docker ps 명령을 통해 ai_fin_postgres와 ai_fin_api 두 컨테이너가 'Up' 상태인지 확인하고, 브라우저에서 API 서버가 정상 응답하는지 점검합니다.</a:t>
            </a:r>
          </a:p>
          <a:p>
            <a:pPr>
              <a:spcBef>
                <a:spcPts val="600"/>
              </a:spcBef>
            </a:pPr>
            <a:r>
              <a:rPr sz="1300" b="1">
                <a:solidFill>
                  <a:srgbClr val="2E5984"/>
                </a:solidFill>
              </a:rPr>
              <a:t>5. 확장 (Expansion): 이미지 경량화 및 CI/CD 자동 배포 연동</a:t>
            </a:r>
          </a:p>
          <a:p>
            <a:r>
              <a:rPr sz="1100">
                <a:solidFill>
                  <a:srgbClr val="222222"/>
                </a:solidFill>
              </a:rPr>
              <a:t>•  고도화 전략: 빌드 시간을 단축하기 위해 멀티 스테이지 빌드를 적용하거나, Alpine Linux 기반의 경량 이미지를 사용하여 서버 자원 효율성을 높입니다.</a:t>
            </a:r>
          </a:p>
          <a:p>
            <a:r>
              <a:rPr sz="1100">
                <a:solidFill>
                  <a:srgbClr val="222222"/>
                </a:solidFill>
              </a:rPr>
              <a:t>•  기술적 지향점: 향후 GitHub Actions와 연연하여 코드가 업데이트될 때마다 자동으로 Docker 이미지를 빌드하고 운영 서버로 배포하는 지속적 배포(CD) 파이프라인을 구축하여 운영 편의성을 극대화합니다.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165  ·  89/216</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[090] AI 금융정보단말 구축 실무 - 28부: Ubuntu systemd 서비스 등록</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리눅스 표준 방식의 '무중단 자동 실행' 설정</a:t>
            </a:r>
          </a:p>
          <a:p>
            <a:r>
              <a:rPr sz="1100">
                <a:solidFill>
                  <a:srgbClr val="222222"/>
                </a:solidFill>
              </a:rPr>
              <a:t>•  systemd: 리눅스 시스템이 부팅될 때 특정 프로그램을 자동으로 실행하고, 프로그램이 비정상 종료되었을 때 다시 살려주는 시스템 및 서비스 관리자입니다.</a:t>
            </a:r>
          </a:p>
          <a:p>
            <a:r>
              <a:rPr sz="1100">
                <a:solidFill>
                  <a:srgbClr val="222222"/>
                </a:solidFill>
              </a:rPr>
              <a:t>•  필요성: Docker를 사용하지 않는 환경에서 서버가 재부팅되더라도 AI 금융 API가 자동으로 가동되어 24x365 중단 없는 서비스를 제공하기 위해 필수적입니다.</a:t>
            </a:r>
          </a:p>
          <a:p>
            <a:pPr>
              <a:spcBef>
                <a:spcPts val="600"/>
              </a:spcBef>
            </a:pPr>
            <a:r>
              <a:rPr sz="1300" b="1">
                <a:solidFill>
                  <a:srgbClr val="2E5984"/>
                </a:solidFill>
              </a:rPr>
              <a:t>2. 아키텍처 (Architecture): OS 레벨의 서비스 감시 및 제어 구조</a:t>
            </a:r>
          </a:p>
          <a:p>
            <a:r>
              <a:rPr sz="1100">
                <a:solidFill>
                  <a:srgbClr val="222222"/>
                </a:solidFill>
              </a:rPr>
              <a:t>•  작동 흐름: [Ubuntu 부팅] → [systemd 엔진] → [ai-fin-api.service 로드] → [가상환경(venv) 내 uvicorn 실행].</a:t>
            </a:r>
          </a:p>
          <a:p>
            <a:r>
              <a:rPr sz="1100">
                <a:solidFill>
                  <a:srgbClr val="222222"/>
                </a:solidFill>
              </a:rPr>
              <a:t>•  관리 방식: systemctl 명령어를 통해 서비스의 시작, 중지, 상태 확인 및 부팅 시 자동 시작 여부를 제어합니다.</a:t>
            </a:r>
          </a:p>
          <a:p>
            <a:pPr>
              <a:spcBef>
                <a:spcPts val="600"/>
              </a:spcBef>
            </a:pPr>
            <a:r>
              <a:rPr sz="1300" b="1">
                <a:solidFill>
                  <a:srgbClr val="2E5984"/>
                </a:solidFill>
              </a:rPr>
              <a:t>3. 소스코드 (Source Code): API 서비스 설정 파일(ai-fin-api.service) [출처: 166]</a:t>
            </a:r>
          </a:p>
          <a:p>
            <a:r>
              <a:rPr sz="1100">
                <a:solidFill>
                  <a:srgbClr val="222222"/>
                </a:solidFill>
              </a:rPr>
              <a:t>•  핵심 설정: 경로 및 실행 명령어 명세입니다.</a:t>
            </a:r>
          </a:p>
          <a:p>
            <a:pPr>
              <a:spcBef>
                <a:spcPts val="600"/>
              </a:spcBef>
            </a:pPr>
            <a:r>
              <a:rPr sz="1300" b="1">
                <a:solidFill>
                  <a:srgbClr val="2E5984"/>
                </a:solidFill>
              </a:rPr>
              <a:t>4. 실습 (Practice): 서비스 등록 및 가동 상태 점검 [출처: 167]</a:t>
            </a:r>
          </a:p>
          <a:p>
            <a:r>
              <a:rPr sz="1100">
                <a:solidFill>
                  <a:srgbClr val="222222"/>
                </a:solidFill>
              </a:rPr>
              <a:t>•  과제 1: sudo nano 명령으로 위 설정 파일을 작성하고 저장하십시오.</a:t>
            </a:r>
          </a:p>
          <a:p>
            <a:r>
              <a:rPr sz="1100">
                <a:solidFill>
                  <a:srgbClr val="222222"/>
                </a:solidFill>
              </a:rPr>
              <a:t>•  과제 2: 아래 명령어를 순차적으로 실행하여 서비스를 활성화하고 상태를 확인하십시오.</a:t>
            </a:r>
          </a:p>
          <a:p>
            <a:r>
              <a:rPr sz="1100">
                <a:solidFill>
                  <a:srgbClr val="222222"/>
                </a:solidFill>
              </a:rPr>
              <a:t>•  sudo systemctl daemon-reload (설정 반영)</a:t>
            </a:r>
          </a:p>
          <a:p>
            <a:r>
              <a:rPr sz="1100">
                <a:solidFill>
                  <a:srgbClr val="222222"/>
                </a:solidFill>
              </a:rPr>
              <a:t>•  sudo systemctl enable ai-fin-api (자동 시작 등록)</a:t>
            </a:r>
          </a:p>
          <a:p>
            <a:r>
              <a:rPr sz="1100">
                <a:solidFill>
                  <a:srgbClr val="222222"/>
                </a:solidFill>
              </a:rPr>
              <a:t>•  sudo systemctl start ai-fin-api (즉시 실행)</a:t>
            </a:r>
          </a:p>
          <a:p>
            <a:r>
              <a:rPr sz="1100">
                <a:solidFill>
                  <a:srgbClr val="222222"/>
                </a:solidFill>
              </a:rPr>
              <a:t>•  sudo systemctl status ai-fin-api (정상 가동 확인)</a:t>
            </a:r>
          </a:p>
          <a:p>
            <a:pPr>
              <a:spcBef>
                <a:spcPts val="600"/>
              </a:spcBef>
            </a:pPr>
            <a:r>
              <a:rPr sz="1300" b="1">
                <a:solidFill>
                  <a:srgbClr val="2E5984"/>
                </a:solidFill>
              </a:rPr>
              <a:t>5. 확장 (Expansion): 스케줄러 서비스 분리 및 로그 모니터링</a:t>
            </a:r>
          </a:p>
          <a:p>
            <a:r>
              <a:rPr sz="1100">
                <a:solidFill>
                  <a:srgbClr val="222222"/>
                </a:solidFill>
              </a:rPr>
              <a:t>•  고도화 전략: API 서버와 별개로, 167번 슬라이드에서 다룰 ai-fin-scheduler.service를 추가 등록하여 데이터 수집 작업과 사용자 요청 처리 작업을 독립적으로 운영합니다.</a:t>
            </a:r>
          </a:p>
          <a:p>
            <a:r>
              <a:rPr sz="1100">
                <a:solidFill>
                  <a:srgbClr val="222222"/>
                </a:solidFill>
              </a:rPr>
              <a:t>•  기술적 지향점: journalctl -u ai-fin-api -f 명령을 통해 실시간으로 서버 로그를 모니터링하며, 오류 발생 시 즉시 원인을 파악할 수 있는 운영 안정성 체계를 완성합니다.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166  ·  90/216</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[091] AI 금융정보단말 구축 실무 - 28부: Ubuntu systemd 서비스 가동 및 스케줄러 등록</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API 가동 및 스케줄러 독립 운영</a:t>
            </a:r>
          </a:p>
          <a:p>
            <a:r>
              <a:rPr sz="1100">
                <a:solidFill>
                  <a:srgbClr val="222222"/>
                </a:solidFill>
              </a:rPr>
              <a:t>•  서비스 활성화: 작성된 설정 파일을 시스템에 인식시키고 부팅 시 자동으로 실행되도록 등록하는 과정입니다.</a:t>
            </a:r>
          </a:p>
          <a:p>
            <a:r>
              <a:rPr sz="1100">
                <a:solidFill>
                  <a:srgbClr val="222222"/>
                </a:solidFill>
              </a:rPr>
              <a:t>•  스케줄러 독립화: 사용자 요청을 처리하는 API 서버와 별개로, 정해진 시간에 데이터를 수집하는 스케줄러를 독립된 서비스로 운영하여 시스템 부하를 분산하고 안정성을 높입니다.</a:t>
            </a:r>
          </a:p>
          <a:p>
            <a:pPr>
              <a:spcBef>
                <a:spcPts val="600"/>
              </a:spcBef>
            </a:pPr>
            <a:r>
              <a:rPr sz="1300" b="1">
                <a:solidFill>
                  <a:srgbClr val="2E5984"/>
                </a:solidFill>
              </a:rPr>
              <a:t>2. 아키텍처 (Architecture): 이중화된 시스템 서비스 구조</a:t>
            </a:r>
          </a:p>
          <a:p>
            <a:r>
              <a:rPr sz="1100">
                <a:solidFill>
                  <a:srgbClr val="222222"/>
                </a:solidFill>
              </a:rPr>
              <a:t>•  구조적 특징:</a:t>
            </a:r>
          </a:p>
          <a:p>
            <a:r>
              <a:rPr sz="1100">
                <a:solidFill>
                  <a:srgbClr val="222222"/>
                </a:solidFill>
              </a:rPr>
              <a:t>•  ai-fin-api.service: 실시간 분석 및 PDF 생성 요청 처리 (Port 8000).</a:t>
            </a:r>
          </a:p>
          <a:p>
            <a:r>
              <a:rPr sz="1100">
                <a:solidFill>
                  <a:srgbClr val="222222"/>
                </a:solidFill>
              </a:rPr>
              <a:t>•  ai-fin-scheduler.service: 새벽 시간대 데이터 수집 및 데일리 브리핑 발송 전담.</a:t>
            </a:r>
          </a:p>
          <a:p>
            <a:r>
              <a:rPr sz="1100">
                <a:solidFill>
                  <a:srgbClr val="222222"/>
                </a:solidFill>
              </a:rPr>
              <a:t>•  장점: 스케줄러에 오류가 발생하더라도 API 서버는 정상 작동하며, 각 서비스가 개별적으로 재시작(Restart)될 수 있어 유지보수가 용이합니다.</a:t>
            </a:r>
          </a:p>
          <a:p>
            <a:pPr>
              <a:spcBef>
                <a:spcPts val="600"/>
              </a:spcBef>
            </a:pPr>
            <a:r>
              <a:rPr sz="1300" b="1">
                <a:solidFill>
                  <a:srgbClr val="2E5984"/>
                </a:solidFill>
              </a:rPr>
              <a:t>3. 소스코드 (Source Code): 스케줄러 서비스 설정 파일(ai-fin-scheduler.service) [출처: 167]</a:t>
            </a:r>
          </a:p>
          <a:p>
            <a:r>
              <a:rPr sz="1100">
                <a:solidFill>
                  <a:srgbClr val="222222"/>
                </a:solidFill>
              </a:rPr>
              <a:t>•  핵심 구현: 가상환경 내의 Python을 이용하여 스케줄러 모듈을 실행하는 명세입니다.</a:t>
            </a:r>
          </a:p>
          <a:p>
            <a:pPr>
              <a:spcBef>
                <a:spcPts val="600"/>
              </a:spcBef>
            </a:pPr>
            <a:r>
              <a:rPr sz="1300" b="1">
                <a:solidFill>
                  <a:srgbClr val="2E5984"/>
                </a:solidFill>
              </a:rPr>
              <a:t>4. 실습 (Practice): 서비스 등록 및 실행 명령 세트 [출처: 167]</a:t>
            </a:r>
          </a:p>
          <a:p>
            <a:r>
              <a:rPr sz="1100">
                <a:solidFill>
                  <a:srgbClr val="222222"/>
                </a:solidFill>
              </a:rPr>
              <a:t>•  과제: 아래 명령어를 사용하여 API와 스케줄러 서비스를 리눅스 시스템에 상주시키십시오.</a:t>
            </a:r>
          </a:p>
          <a:p>
            <a:pPr>
              <a:spcBef>
                <a:spcPts val="600"/>
              </a:spcBef>
            </a:pPr>
            <a:r>
              <a:rPr sz="1300" b="1">
                <a:solidFill>
                  <a:srgbClr val="2E5984"/>
                </a:solidFill>
              </a:rPr>
              <a:t>5. 확장 (Expansion): journalctl을 이용한 실시간 로그 모니터링</a:t>
            </a:r>
          </a:p>
          <a:p>
            <a:r>
              <a:rPr sz="1100">
                <a:solidFill>
                  <a:srgbClr val="222222"/>
                </a:solidFill>
              </a:rPr>
              <a:t>•  고도화 전략: 서비스가 보이지 않는 백그라운드에서 실행되므로, journalctl 명령을 통해 실시간으로 발생하는 수집 로그나 API 호출 오류를 감시합니다.</a:t>
            </a:r>
          </a:p>
          <a:p>
            <a:r>
              <a:rPr sz="1100">
                <a:solidFill>
                  <a:srgbClr val="222222"/>
                </a:solidFill>
              </a:rPr>
              <a:t>•  sudo journalctl -u ai-fin-scheduler -f: 스케줄러 수집 로그 실시간 확인.</a:t>
            </a:r>
          </a:p>
          <a:p>
            <a:r>
              <a:rPr sz="1100">
                <a:solidFill>
                  <a:srgbClr val="222222"/>
                </a:solidFill>
              </a:rPr>
              <a:t>•  기술적 지향점: 향후 Module 12(AI 금융비서)에서는 서비스 중단 시 관리자에게 텔레그램 긴급 알림을 보내는 Uptime Kuma와 같은 외부 모니터링 도구와 결합하여 완벽한 무중단 운영 체계를 완성합니다.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167  ·  91/216</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[092] AI 금융정보단말 구축 실무 - 29부: 통합 온톨로지 설계</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파편화된 금융 데이터를 연결하는 '의미론적 지도'</a:t>
            </a:r>
          </a:p>
          <a:p>
            <a:r>
              <a:rPr sz="1100">
                <a:solidFill>
                  <a:srgbClr val="222222"/>
                </a:solidFill>
              </a:rPr>
              <a:t>•  정의: 종목, 재무, 가격, 수급, 거시지표 등 서로 다른 출처의 데이터를 하나의 유기적인 체계로 묶어, AI 에이전트가 데이터 간의 상관관계를 이해하도록 설계하는 데이터 명세서입니다.</a:t>
            </a:r>
          </a:p>
          <a:p>
            <a:r>
              <a:rPr sz="1100">
                <a:solidFill>
                  <a:srgbClr val="222222"/>
                </a:solidFill>
              </a:rPr>
              <a:t>•  핵심 가치: 단순히 데이터를 저장하는 것을 넘어, "금리 인상(거시)이 반도체 섹터(종목)의 밸류에이션(재무)에 어떤 영향을 주는가?"와 같은 복합적인 질문에 AI가 논리적으로 답변할 수 있는 지식 베이스(Knowledge Base) 역할을 합니다.</a:t>
            </a:r>
          </a:p>
          <a:p>
            <a:pPr>
              <a:spcBef>
                <a:spcPts val="600"/>
              </a:spcBef>
            </a:pPr>
            <a:r>
              <a:rPr sz="1300" b="1">
                <a:solidFill>
                  <a:srgbClr val="2E5984"/>
                </a:solidFill>
              </a:rPr>
              <a:t>2. 아키텍처 (Architecture): 종목 중심의 수직·수평 통합 데이터 개념 [출처: 168]</a:t>
            </a:r>
          </a:p>
          <a:p>
            <a:r>
              <a:rPr sz="1100">
                <a:solidFill>
                  <a:srgbClr val="222222"/>
                </a:solidFill>
              </a:rPr>
              <a:t>•  계층 구조 (Hierarchy):</a:t>
            </a:r>
          </a:p>
          <a:p>
            <a:r>
              <a:rPr sz="1100">
                <a:solidFill>
                  <a:srgbClr val="222222"/>
                </a:solidFill>
              </a:rPr>
              <a:t>•  중심 노드: 종목 (Stock)</a:t>
            </a:r>
          </a:p>
          <a:p>
            <a:r>
              <a:rPr sz="1100">
                <a:solidFill>
                  <a:srgbClr val="222222"/>
                </a:solidFill>
              </a:rPr>
              <a:t>•  연결 데이터: ├ 재무정보 (Financials), ├ 가격정보 (Prices), ├ 수급정보 (Flows), ├ 거시지표 (Macro), ├ 뉴스 (News), ├ 기술지표 (Technical), ├ 리스크점수 (Risk Score), └ 투자브리프 (Investment Brief)</a:t>
            </a:r>
          </a:p>
          <a:p>
            <a:pPr>
              <a:spcBef>
                <a:spcPts val="600"/>
              </a:spcBef>
            </a:pPr>
            <a:r>
              <a:rPr sz="1300" b="1">
                <a:solidFill>
                  <a:srgbClr val="2E5984"/>
                </a:solidFill>
              </a:rPr>
              <a:t>3. 소스코드 (Source Code): ontology.json 설계 및 관계 정의 [출처: 168]</a:t>
            </a:r>
          </a:p>
          <a:p>
            <a:r>
              <a:rPr sz="1100">
                <a:solidFill>
                  <a:srgbClr val="222222"/>
                </a:solidFill>
              </a:rPr>
              <a:t>•  핵심 구현: 데이터 필드와 노드 간의 관계(Relations)를 정의한 JSON 스키마입니다.</a:t>
            </a:r>
          </a:p>
          <a:p>
            <a:pPr>
              <a:spcBef>
                <a:spcPts val="600"/>
              </a:spcBef>
            </a:pPr>
            <a:r>
              <a:rPr sz="1300" b="1">
                <a:solidFill>
                  <a:srgbClr val="2E5984"/>
                </a:solidFill>
              </a:rPr>
              <a:t>4. 실습 (Practice): '삼성전자' 엔티티 매핑 및 데이터 관계 추적</a:t>
            </a:r>
          </a:p>
          <a:p>
            <a:r>
              <a:rPr sz="1100">
                <a:solidFill>
                  <a:srgbClr val="222222"/>
                </a:solidFill>
              </a:rPr>
              <a:t>•  과제: 위의 온톨로지 구조에 따라 '삼성전자'라는 엔티티가 hasFinancials 관계를 통해 '2025년 1분기 재무제표'와 어떻게 연결되는지 데이터 흐름을 시각화하십시오.</a:t>
            </a:r>
          </a:p>
          <a:p>
            <a:r>
              <a:rPr sz="1100">
                <a:solidFill>
                  <a:srgbClr val="222222"/>
                </a:solidFill>
              </a:rPr>
              <a:t>•  확인 사항: 거시지표(MacroIndicator)의 '환율' 변동이 종목(Stock)의 '리스크 점수'에 어떻게 전이되어 반영되는지 논리적 경로를 점검합니다.</a:t>
            </a:r>
          </a:p>
          <a:p>
            <a:pPr>
              <a:spcBef>
                <a:spcPts val="600"/>
              </a:spcBef>
            </a:pPr>
            <a:r>
              <a:rPr sz="1300" b="1">
                <a:solidFill>
                  <a:srgbClr val="2E5984"/>
                </a:solidFill>
              </a:rPr>
              <a:t>5. 확장 (Expansion): 지식 그래프(Knowledge Graph)로의 진화</a:t>
            </a:r>
          </a:p>
          <a:p>
            <a:r>
              <a:rPr sz="1100">
                <a:solidFill>
                  <a:srgbClr val="222222"/>
                </a:solidFill>
              </a:rPr>
              <a:t>•  고도화 전략: 현재의 JSON 기반 온톨로지를 Neo4j와 같은 그래프 데이터베이스로 확장하여, 기업 간 지분 관계, 공급망(Supply Chain) 관계 등을 포함한 거대한 금융 지식 그래프를 구축합니다.</a:t>
            </a:r>
          </a:p>
          <a:p>
            <a:r>
              <a:rPr sz="1100">
                <a:solidFill>
                  <a:srgbClr val="222222"/>
                </a:solidFill>
              </a:rPr>
              <a:t>•  기술적 지향점: 이를 통해 156번 슬라이드에서 다룬 RAG(뉴스 검색) 기능이 단순 키워드 검색을 넘어, "삼성전자의 벤더 기업 중 현재 재무 리스크가 가장 높은 곳은?"과 같은 추론형 질의에 답변할 수 있는 차세대 AI 금융 시스템으로 도약합니다.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168  ·  92/216</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[093] AI 금융정보단말 구축 실무 - 30부: 비개발자용 실행 순서 요약</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복잡한 개발 과정을 4일의 마일스톤으로 체계화</a:t>
            </a:r>
          </a:p>
          <a:p>
            <a:r>
              <a:rPr sz="1100">
                <a:solidFill>
                  <a:srgbClr val="222222"/>
                </a:solidFill>
              </a:rPr>
              <a:t>•  정의: 환경 구축부터 최종 서비스 가동까지의 전체 공정을 1일 단위의 집중 과제로 분산하여, 비개발자나 초급 개발자도 중도 포기 없이 MVP(최소 기능 제품)를 완성할 수 있도록 돕는 로드맵입니다.</a:t>
            </a:r>
          </a:p>
          <a:p>
            <a:r>
              <a:rPr sz="1100">
                <a:solidFill>
                  <a:srgbClr val="222222"/>
                </a:solidFill>
              </a:rPr>
              <a:t>•  핵심 가치: 각 단계의 완료 기준을 명확히 제시함으로써 개발 병목 현상을 방지하고, 체계적인 학습과 구현을 병행할 수 있도록 지원합니다.</a:t>
            </a:r>
          </a:p>
          <a:p>
            <a:pPr>
              <a:spcBef>
                <a:spcPts val="600"/>
              </a:spcBef>
            </a:pPr>
            <a:r>
              <a:rPr sz="1300" b="1">
                <a:solidFill>
                  <a:srgbClr val="2E5984"/>
                </a:solidFill>
              </a:rPr>
              <a:t>2. 아키텍처 (Architecture): 단계별 빌드업(Build-up) 파이프라인</a:t>
            </a:r>
          </a:p>
          <a:p>
            <a:r>
              <a:rPr sz="1100">
                <a:solidFill>
                  <a:srgbClr val="222222"/>
                </a:solidFill>
              </a:rPr>
              <a:t>•  로드맵 흐름: [1일차: 기초 인프라] → [2일차: 외부 데이터 혈맥 연결] → [3일차: 지능형 분석 두뇌 구축] → [4일차: 사용자 접점 완성].</a:t>
            </a:r>
          </a:p>
          <a:p>
            <a:r>
              <a:rPr sz="1100">
                <a:solidFill>
                  <a:srgbClr val="222222"/>
                </a:solidFill>
              </a:rPr>
              <a:t>•  설계 원칙: 상위 단계가 완료되어야 다음 단계의 데이터 활용이 가능하도록 의존성 기반으로 설계되었습니다.</a:t>
            </a:r>
          </a:p>
          <a:p>
            <a:pPr>
              <a:spcBef>
                <a:spcPts val="600"/>
              </a:spcBef>
            </a:pPr>
            <a:r>
              <a:rPr sz="1300" b="1">
                <a:solidFill>
                  <a:srgbClr val="2E5984"/>
                </a:solidFill>
              </a:rPr>
              <a:t>3. 소스코드 (Source Code): 일자별 실행 핵심 체크리스트 [출처: 169]</a:t>
            </a:r>
          </a:p>
          <a:p>
            <a:r>
              <a:rPr sz="1100">
                <a:solidFill>
                  <a:srgbClr val="222222"/>
                </a:solidFill>
              </a:rPr>
              <a:t>•  1일차: 환경 구축 (기초 다지기) [출처: 169]</a:t>
            </a:r>
          </a:p>
          <a:p>
            <a:r>
              <a:rPr sz="1100">
                <a:solidFill>
                  <a:srgbClr val="222222"/>
                </a:solidFill>
              </a:rPr>
              <a:t>•  Python 및 Docker 설치</a:t>
            </a:r>
          </a:p>
          <a:p>
            <a:r>
              <a:rPr sz="1100">
                <a:solidFill>
                  <a:srgbClr val="222222"/>
                </a:solidFill>
              </a:rPr>
              <a:t>•  프로젝트 폴더 구조 생성</a:t>
            </a:r>
          </a:p>
          <a:p>
            <a:r>
              <a:rPr sz="1100">
                <a:solidFill>
                  <a:srgbClr val="222222"/>
                </a:solidFill>
              </a:rPr>
              <a:t>•  requirements.txt 작성 및 패키지 설치</a:t>
            </a:r>
          </a:p>
          <a:p>
            <a:r>
              <a:rPr sz="1100">
                <a:solidFill>
                  <a:srgbClr val="222222"/>
                </a:solidFill>
              </a:rPr>
              <a:t>•  .env 환경변수 파일 작성</a:t>
            </a:r>
          </a:p>
          <a:p>
            <a:r>
              <a:rPr sz="1100">
                <a:solidFill>
                  <a:srgbClr val="222222"/>
                </a:solidFill>
              </a:rPr>
              <a:t>•  PostgreSQL 컨테이너 실행 및 CREATE TABLE SQL 수행</a:t>
            </a:r>
          </a:p>
          <a:p>
            <a:r>
              <a:rPr sz="1100">
                <a:solidFill>
                  <a:srgbClr val="222222"/>
                </a:solidFill>
              </a:rPr>
              <a:t>•  2일차: 데이터 연결 (혈맥 잇기) [출처: 169]</a:t>
            </a:r>
          </a:p>
          <a:p>
            <a:r>
              <a:rPr sz="1100">
                <a:solidFill>
                  <a:srgbClr val="222222"/>
                </a:solidFill>
              </a:rPr>
              <a:t>•  DART, ECOS, 코스콤 API Key 발급 및 설정</a:t>
            </a:r>
          </a:p>
          <a:p>
            <a:r>
              <a:rPr sz="1100">
                <a:solidFill>
                  <a:srgbClr val="222222"/>
                </a:solidFill>
              </a:rPr>
              <a:t>•  각 기관별 수집 코드(Collector) 테스트</a:t>
            </a:r>
          </a:p>
          <a:p>
            <a:r>
              <a:rPr sz="1100">
                <a:solidFill>
                  <a:srgbClr val="222222"/>
                </a:solidFill>
              </a:rPr>
              <a:t>•  코스콤 OHLCV 및 수급 데이터 수집 로직 수정/보완</a:t>
            </a:r>
          </a:p>
          <a:p>
            <a:r>
              <a:rPr sz="1100">
                <a:solidFill>
                  <a:srgbClr val="222222"/>
                </a:solidFill>
              </a:rPr>
              <a:t>•  수집된 데이터의 DB 저장 정합성 테스트</a:t>
            </a:r>
          </a:p>
          <a:p>
            <a:r>
              <a:rPr sz="1100">
                <a:solidFill>
                  <a:srgbClr val="222222"/>
                </a:solidFill>
              </a:rPr>
              <a:t>•  3일차: 분석 엔진 구축 (지능 부여) [출처: 169]</a:t>
            </a:r>
          </a:p>
          <a:p>
            <a:r>
              <a:rPr sz="1100">
                <a:solidFill>
                  <a:srgbClr val="222222"/>
                </a:solidFill>
              </a:rPr>
              <a:t>•  기술적/기본적/수급/거시 분석 모듈 작성</a:t>
            </a:r>
          </a:p>
          <a:p>
            <a:r>
              <a:rPr sz="1100">
                <a:solidFill>
                  <a:srgbClr val="222222"/>
                </a:solidFill>
              </a:rPr>
              <a:t>•  종합 리스크 스코어링 로직 연동</a:t>
            </a:r>
          </a:p>
          <a:p>
            <a:r>
              <a:rPr sz="1100">
                <a:solidFill>
                  <a:srgbClr val="222222"/>
                </a:solidFill>
              </a:rPr>
              <a:t>•  특정 단일 종목(예: 삼성전자)에 대한 종합 분석 테스트</a:t>
            </a:r>
          </a:p>
          <a:p>
            <a:r>
              <a:rPr sz="1100">
                <a:solidFill>
                  <a:srgbClr val="222222"/>
                </a:solidFill>
              </a:rPr>
              <a:t>•  4일차: GPT·PDF·웹단말 구축 (서비스 시각화) [출처: 169]</a:t>
            </a:r>
          </a:p>
          <a:p>
            <a:r>
              <a:rPr sz="1100">
                <a:solidFill>
                  <a:srgbClr val="222222"/>
                </a:solidFill>
              </a:rPr>
              <a:t>•  GPT Structured Output 스키마 작성 및 브리프 생성 테스트</a:t>
            </a:r>
          </a:p>
          <a:p>
            <a:r>
              <a:rPr sz="1100">
                <a:solidFill>
                  <a:srgbClr val="222222"/>
                </a:solidFill>
              </a:rPr>
              <a:t>•  1페이지 PDF 리포트 생성 엔진 가동</a:t>
            </a:r>
          </a:p>
          <a:p>
            <a:r>
              <a:rPr sz="1100">
                <a:solidFill>
                  <a:srgbClr val="222222"/>
                </a:solidFill>
              </a:rPr>
              <a:t>•  FastAPI 서버, Streamlit 화면, Telegram Bot 연동 및 최종 검수</a:t>
            </a:r>
          </a:p>
          <a:p>
            <a:pPr>
              <a:spcBef>
                <a:spcPts val="600"/>
              </a:spcBef>
            </a:pPr>
            <a:r>
              <a:rPr sz="1300" b="1">
                <a:solidFill>
                  <a:srgbClr val="2E5984"/>
                </a:solidFill>
              </a:rPr>
              <a:t>4. 실습 (Practice): 1일차 '인프라 완결성' 자가 진단</a:t>
            </a:r>
          </a:p>
          <a:p>
            <a:r>
              <a:rPr sz="1100">
                <a:solidFill>
                  <a:srgbClr val="222222"/>
                </a:solidFill>
              </a:rPr>
              <a:t>•  과제: 현재 본인의 환경에서 1일차 과제(Python, Docker, DB)가 모두 완료되었는지 확인하고, docker ps 명령을 통해 PostgreSQL이 정상적으로 응답하는지 최종 점검하십시오.</a:t>
            </a:r>
          </a:p>
          <a:p>
            <a:r>
              <a:rPr sz="1100">
                <a:solidFill>
                  <a:srgbClr val="222222"/>
                </a:solidFill>
              </a:rPr>
              <a:t>•  확인 사항: .env 파일에 발급받은 모든 API Key가 누락 없이 기입되었는지 대조합니다.</a:t>
            </a:r>
          </a:p>
          <a:p>
            <a:pPr>
              <a:spcBef>
                <a:spcPts val="600"/>
              </a:spcBef>
            </a:pPr>
            <a:r>
              <a:rPr sz="1300" b="1">
                <a:solidFill>
                  <a:srgbClr val="2E5984"/>
                </a:solidFill>
              </a:rPr>
              <a:t>5. 확장 (Expansion): 5일차 '24x365 운영 안정화'로의 전이</a:t>
            </a:r>
          </a:p>
          <a:p>
            <a:r>
              <a:rPr sz="1100">
                <a:solidFill>
                  <a:srgbClr val="222222"/>
                </a:solidFill>
              </a:rPr>
              <a:t>•  고도화 전략: 4일간의 구축이 완료되면, 170번 슬라이드에서 다룰 5일차 과정(APScheduler 등록, Docker 배포, 장애 복구 테스트)을 통해 사람이 개입하지 않아도 스스로 작동하는 무중단 금융정보 시스템으로 업그레이드합니다.</a:t>
            </a:r>
          </a:p>
          <a:p>
            <a:r>
              <a:rPr sz="1100">
                <a:solidFill>
                  <a:srgbClr val="222222"/>
                </a:solidFill>
              </a:rPr>
              <a:t>•  기술적 지향점: 단순 실습 결과물을 넘어, 실제 서버에서 안정적으로 돌아가는 상용 수준의 에이전틱 AI 플랫폼으로 완성합니다.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169  ·  93/216</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[094] AI 금융정보단말 구축 실무 - 30부: 5일차 - 24x365 운영 안정화</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로컬 개발(Dev)에서 실서비스 운영(Ops)으로의 전이</a:t>
            </a:r>
          </a:p>
          <a:p>
            <a:r>
              <a:rPr sz="1100">
                <a:solidFill>
                  <a:srgbClr val="222222"/>
                </a:solidFill>
              </a:rPr>
              <a:t>•  정의: 4일간 구축한 지능형 분석 엔진이 사람이 개입하지 않아도 정해진 시간에 데이터를 수집하고, 리포트를 생성하며, 장애 시 스스로 복구되는 무중단 운영 체계를 완성하는 단계입니다.</a:t>
            </a:r>
          </a:p>
          <a:p>
            <a:r>
              <a:rPr sz="1100">
                <a:solidFill>
                  <a:srgbClr val="222222"/>
                </a:solidFill>
              </a:rPr>
              <a:t>•  핵심 가치: "내 컴퓨터를 꺼도 시스템은 돌아간다"는 상태를 실현하여, 실질적인 금융 리서치 자동화 도구로서의 생명력을 부여합니다.</a:t>
            </a:r>
          </a:p>
          <a:p>
            <a:pPr>
              <a:spcBef>
                <a:spcPts val="600"/>
              </a:spcBef>
            </a:pPr>
            <a:r>
              <a:rPr sz="1300" b="1">
                <a:solidFill>
                  <a:srgbClr val="2E5984"/>
                </a:solidFill>
              </a:rPr>
              <a:t>2. 아키텍처 (Architecture): 자동화 및 복구 파이프라인 (Self-Healing Pipeline)</a:t>
            </a:r>
          </a:p>
          <a:p>
            <a:r>
              <a:rPr sz="1100">
                <a:solidFill>
                  <a:srgbClr val="222222"/>
                </a:solidFill>
              </a:rPr>
              <a:t>•  프로세스 흐름: [정기 스케줄 가동] → [수집/분석/배송] → [로그 기록] → [장애 발생 시 재시작].</a:t>
            </a:r>
          </a:p>
          <a:p>
            <a:r>
              <a:rPr sz="1100">
                <a:solidFill>
                  <a:srgbClr val="222222"/>
                </a:solidFill>
              </a:rPr>
              <a:t>•  운영 요소: APScheduler(시간 관리), systemd/Docker(상시 실행), 로그(추적), 장애 복구(안정성).</a:t>
            </a:r>
          </a:p>
          <a:p>
            <a:pPr>
              <a:spcBef>
                <a:spcPts val="600"/>
              </a:spcBef>
            </a:pPr>
            <a:r>
              <a:rPr sz="1300" b="1">
                <a:solidFill>
                  <a:srgbClr val="2E5984"/>
                </a:solidFill>
              </a:rPr>
              <a:t>3. 구현 체크리스트 (Implementation Checklist): 5일차 핵심 과제 [출처: 170]</a:t>
            </a:r>
          </a:p>
          <a:p>
            <a:r>
              <a:rPr sz="1100">
                <a:solidFill>
                  <a:srgbClr val="222222"/>
                </a:solidFill>
              </a:rPr>
              <a:t>•  운영 안정화 6대 과업:</a:t>
            </a:r>
          </a:p>
          <a:p>
            <a:r>
              <a:rPr sz="1100">
                <a:solidFill>
                  <a:srgbClr val="222222"/>
                </a:solidFill>
              </a:rPr>
              <a:t>•  APScheduler 등록: 모든 수집 및 분석 작업의 시간표 확정.</a:t>
            </a:r>
          </a:p>
          <a:p>
            <a:r>
              <a:rPr sz="1100">
                <a:solidFill>
                  <a:srgbClr val="222222"/>
                </a:solidFill>
              </a:rPr>
              <a:t>•  오전 7시 자동 브리핑 설정: 매일 아침 투자자에게 전달될 최신 정보 배송 체계 가동.</a:t>
            </a:r>
          </a:p>
          <a:p>
            <a:r>
              <a:rPr sz="1100">
                <a:solidFill>
                  <a:srgbClr val="222222"/>
                </a:solidFill>
              </a:rPr>
              <a:t>•  Docker 배포: 환경 격리를 통한 서버 배포 및 운영 최적화.</a:t>
            </a:r>
          </a:p>
          <a:p>
            <a:r>
              <a:rPr sz="1100">
                <a:solidFill>
                  <a:srgbClr val="222222"/>
                </a:solidFill>
              </a:rPr>
              <a:t>•  systemd 등록: 리눅스 OS 레벨의 서비스 상주 처리 (Docker 미사용 시).</a:t>
            </a:r>
          </a:p>
          <a:p>
            <a:r>
              <a:rPr sz="1100">
                <a:solidFill>
                  <a:srgbClr val="222222"/>
                </a:solidFill>
              </a:rPr>
              <a:t>•  로그 확인: logs/ 폴더 및 journalctl을 통한 정상 작동 여부 실시간 검증.</a:t>
            </a:r>
          </a:p>
          <a:p>
            <a:r>
              <a:rPr sz="1100">
                <a:solidFill>
                  <a:srgbClr val="222222"/>
                </a:solidFill>
              </a:rPr>
              <a:t>•  장애 복구 테스트: 네트워크 단절이나 API 오류 시 시스템이 정상적으로 재시도(Retry)하거나 재시작되는지 시뮬레이션.</a:t>
            </a:r>
          </a:p>
          <a:p>
            <a:pPr>
              <a:spcBef>
                <a:spcPts val="600"/>
              </a:spcBef>
            </a:pPr>
            <a:r>
              <a:rPr sz="1300" b="1">
                <a:solidFill>
                  <a:srgbClr val="2E5984"/>
                </a:solidFill>
              </a:rPr>
              <a:t>4. 실습 (Practice): '오전 7시 알림' 시뮬레이션 및 장애 복구 테스트</a:t>
            </a:r>
          </a:p>
          <a:p>
            <a:r>
              <a:rPr sz="1100">
                <a:solidFill>
                  <a:srgbClr val="222222"/>
                </a:solidFill>
              </a:rPr>
              <a:t>•  과제 1: 스케줄러의 시간을 현재 시간 5분 후로 설정하여 텔레그램 데일리 브리핑이 자동으로 도착하는지 최종 확인하십시오.</a:t>
            </a:r>
          </a:p>
          <a:p>
            <a:r>
              <a:rPr sz="1100">
                <a:solidFill>
                  <a:srgbClr val="222222"/>
                </a:solidFill>
              </a:rPr>
              <a:t>•  과제 2: API 서버 프로세스를 강제로 종료(Kill)시킨 후, systemd나 Docker가 이를 감지하여 수 초 내에 서버를 다시 살려내는지 점검하십시오.</a:t>
            </a:r>
          </a:p>
          <a:p>
            <a:pPr>
              <a:spcBef>
                <a:spcPts val="600"/>
              </a:spcBef>
            </a:pPr>
            <a:r>
              <a:rPr sz="1300" b="1">
                <a:solidFill>
                  <a:srgbClr val="2E5984"/>
                </a:solidFill>
              </a:rPr>
              <a:t>5. 확장 (Expansion): 엔터프라이즈급 모니터링 및 품질 관리 도입</a:t>
            </a:r>
          </a:p>
          <a:p>
            <a:r>
              <a:rPr sz="1100">
                <a:solidFill>
                  <a:srgbClr val="222222"/>
                </a:solidFill>
              </a:rPr>
              <a:t>•  고도화 전략: 단순히 서버가 켜져 있는지를 넘어, 분석 결과의 정합성을 체크하는 품질 평가(Evaluation) 단계를 추가하거나, Uptime Kuma와 같은 외부 대시보드를 연동하여 시각적인 운영 관제를 수행합니다.</a:t>
            </a:r>
          </a:p>
          <a:p>
            <a:r>
              <a:rPr sz="1100">
                <a:solidFill>
                  <a:srgbClr val="222222"/>
                </a:solidFill>
              </a:rPr>
              <a:t>•  기술적 지향점: 이로써 16시간의 과정을 통해 구축된 AI 금융정보단말(KOStockCrewAI)은 단순한 캡스톤 프로젝트를 넘어, 24시간 잠들지 않고 시장을 감시하는 나만의 에이전틱 AI 금융 비서로 완성됩니다.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170  ·  94/216</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[095] AI 금융정보단말 구축 실무 - 31부: 운영 정책 및 데이터 라이선스 준수</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서비스의 지속성을 결정짓는 법적·기술적 컴플라이언스</a:t>
            </a:r>
          </a:p>
          <a:p>
            <a:r>
              <a:rPr sz="1100">
                <a:solidFill>
                  <a:srgbClr val="222222"/>
                </a:solidFill>
              </a:rPr>
              <a:t>•  정의: 금융 데이터를 활용한 서비스를 운영할 때 발생할 수 있는 저작권(라이선스) 위반, 보안 사고, 그리고 투자자 보호 관련 법적 리스크를 사전에 점검하고 관리하는 단계입니다.</a:t>
            </a:r>
          </a:p>
          <a:p>
            <a:r>
              <a:rPr sz="1100">
                <a:solidFill>
                  <a:srgbClr val="222222"/>
                </a:solidFill>
              </a:rPr>
              <a:t>•  핵심 가치: 훌륭한 알고리즘보다 중요한 것은 데이터 제공 기관과의 계약 준수와 사용자 보안이며, 이는 곧 서비스의 신뢰도와 직결됩니다.</a:t>
            </a:r>
          </a:p>
          <a:p>
            <a:pPr>
              <a:spcBef>
                <a:spcPts val="600"/>
              </a:spcBef>
            </a:pPr>
            <a:r>
              <a:rPr sz="1300" b="1">
                <a:solidFill>
                  <a:srgbClr val="2E5984"/>
                </a:solidFill>
              </a:rPr>
              <a:t>2. 아키텍처 (Architecture): 3중 보안 및 컴플라이언스 체크 레이어 [출처: 171]</a:t>
            </a:r>
          </a:p>
          <a:p>
            <a:r>
              <a:rPr sz="1100">
                <a:solidFill>
                  <a:srgbClr val="222222"/>
                </a:solidFill>
              </a:rPr>
              <a:t>•  데이터 거버넌스: [DART/ECOS/코스콤 약관 확인] → [재배포 범위 설정] → [API Key 암호화 보관].</a:t>
            </a:r>
          </a:p>
          <a:p>
            <a:r>
              <a:rPr sz="1100">
                <a:solidFill>
                  <a:srgbClr val="222222"/>
                </a:solidFill>
              </a:rPr>
              <a:t>•  보안 아키텍처: API Key를 절대 프론트엔드(Streamlit 등)나 화면 캡처에 노출하지 않으며, 백엔드 서버(FastAPI) 내부에서만 처리하도록 격리합니다.</a:t>
            </a:r>
          </a:p>
          <a:p>
            <a:pPr>
              <a:spcBef>
                <a:spcPts val="600"/>
              </a:spcBef>
            </a:pPr>
            <a:r>
              <a:rPr sz="1300" b="1">
                <a:solidFill>
                  <a:srgbClr val="2E5984"/>
                </a:solidFill>
              </a:rPr>
              <a:t>3. 소스코드 (Source Code): 운영 안정화 및 보안 체크리스트 [출처: 171]</a:t>
            </a:r>
          </a:p>
          <a:p>
            <a:r>
              <a:rPr sz="1100">
                <a:solidFill>
                  <a:srgbClr val="222222"/>
                </a:solidFill>
              </a:rPr>
              <a:t>•  운영 안정화 10대 항목: 실서비스 가동 전 반드시 체크해야 할 기술적 정점입니다. | 항목 | 체크 내용 | [출처] | | :--- | :--- | :--- | | API Key | DART, ECOS, 코스콤, OpenAI 키 작동 여부 | | | 인프라 | PostgreSQL, FastAPI, 스케줄러 자동 시작 설정 | | | 보안 | API Key 프론트엔드 노출 차단 및 .env 보호 | | | 로그/경로 | PDF 저장 경로 권한 및 로그 파일 생성 확인 | | | 예외처리 | 호출 제한(Rate Limit) 확인 및 재시도(Retry) 로직 | | | 법적고지 | 리포트 하단 투자자문 고지 문구(Disclaimer) 포함 | |</a:t>
            </a:r>
          </a:p>
          <a:p>
            <a:pPr>
              <a:spcBef>
                <a:spcPts val="600"/>
              </a:spcBef>
            </a:pPr>
            <a:r>
              <a:rPr sz="1300" b="1">
                <a:solidFill>
                  <a:srgbClr val="2E5984"/>
                </a:solidFill>
              </a:rPr>
              <a:t>4. 실습 (Practice): MVP 최종 완성 기준(10계명) 자가 진단 [출처: 171]</a:t>
            </a:r>
          </a:p>
          <a:p>
            <a:r>
              <a:rPr sz="1100">
                <a:solidFill>
                  <a:srgbClr val="222222"/>
                </a:solidFill>
              </a:rPr>
              <a:t>•  과제: 아래 10개 항목 중 본인의 시스템이 충족하는 항목을 체크하고, 미비한 부분을 보완하십시오.</a:t>
            </a:r>
          </a:p>
          <a:p>
            <a:r>
              <a:rPr sz="1100">
                <a:solidFill>
                  <a:srgbClr val="222222"/>
                </a:solidFill>
              </a:rPr>
              <a:t>•  PostgreSQL 테이블 생성 및 인덱스 최적화 완료.</a:t>
            </a:r>
          </a:p>
          <a:p>
            <a:r>
              <a:rPr sz="1100">
                <a:solidFill>
                  <a:srgbClr val="222222"/>
                </a:solidFill>
              </a:rPr>
              <a:t>•  DART/ECOS/코스콤 데이터 수집 및 DB 저장 가능.</a:t>
            </a:r>
          </a:p>
          <a:p>
            <a:r>
              <a:rPr sz="1100">
                <a:solidFill>
                  <a:srgbClr val="222222"/>
                </a:solidFill>
              </a:rPr>
              <a:t>•  기본적/기술적/수급/거시 분석 점수 산출 로직 정상.</a:t>
            </a:r>
          </a:p>
          <a:p>
            <a:r>
              <a:rPr sz="1100">
                <a:solidFill>
                  <a:srgbClr val="222222"/>
                </a:solidFill>
              </a:rPr>
              <a:t>•  GPT 기반 투자 브리프 및 PDF 리포트 자동 생성.</a:t>
            </a:r>
          </a:p>
          <a:p>
            <a:r>
              <a:rPr sz="1100">
                <a:solidFill>
                  <a:srgbClr val="222222"/>
                </a:solidFill>
              </a:rPr>
              <a:t>•  웹단말(Streamlit) 또는 텔레그램을 통한 종목 조회 가능.</a:t>
            </a:r>
          </a:p>
          <a:p>
            <a:pPr>
              <a:spcBef>
                <a:spcPts val="600"/>
              </a:spcBef>
            </a:pPr>
            <a:r>
              <a:rPr sz="1300" b="1">
                <a:solidFill>
                  <a:srgbClr val="2E5984"/>
                </a:solidFill>
              </a:rPr>
              <a:t>5. 확장 (Expansion): 데이터 권리 관계 정립 및 유료 서비스 준비</a:t>
            </a:r>
          </a:p>
          <a:p>
            <a:r>
              <a:rPr sz="1100">
                <a:solidFill>
                  <a:srgbClr val="222222"/>
                </a:solidFill>
              </a:rPr>
              <a:t>•  고도화 전략: 코스콤 데이터의 경우 계약 범위 밖의 재배포 금지 규정을 재확인하고, 외부 일반 사용자에게 서비스를 제공할 경우 필요한 추가 라이선스나 API 유료 플랜 전환 시점을 검토합니다.</a:t>
            </a:r>
          </a:p>
          <a:p>
            <a:r>
              <a:rPr sz="1100">
                <a:solidFill>
                  <a:srgbClr val="222222"/>
                </a:solidFill>
              </a:rPr>
              <a:t>•  기술적 지향점: 향후 Module 12(AI 금융비서)에서는 사용자별 권한 관리(RBAC)를 도입하여, 유료 구독자에게만 특정 섹터의 심층 분석 리포트를 제공하는 비즈니스 모델로 확장합니다.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171  ·  95/216</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[096] AI 금융정보단말 구축 실무 - 32부: 향후 확장 과제 및 실습 마무리</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MVP를 넘어선 '지능형 자산관리 플랫폼'으로의 진화</a:t>
            </a:r>
          </a:p>
          <a:p>
            <a:r>
              <a:rPr sz="1100">
                <a:solidFill>
                  <a:srgbClr val="222222"/>
                </a:solidFill>
              </a:rPr>
              <a:t>•  정의: 구축된 AI 금융정보단말의 핵심 기능을 확장하여, 수동적인 정보 조회를 넘어 능동적으로 시장을 감시하고 맞춤형 전략을 제안하는 차세대 금융 플랫폼으로 발전시키는 단계입니다.</a:t>
            </a:r>
          </a:p>
          <a:p>
            <a:r>
              <a:rPr sz="1100">
                <a:solidFill>
                  <a:srgbClr val="222222"/>
                </a:solidFill>
              </a:rPr>
              <a:t>•  핵심 가치: 일회성 분석이 아닌 지속적인 시장 모니터링과 데이터 간의 입체적 연결을 통해 사용자의 투자 의사결정 품질을 한 단계 더 높이는 데 목적이 있습니다.</a:t>
            </a:r>
          </a:p>
          <a:p>
            <a:pPr>
              <a:spcBef>
                <a:spcPts val="600"/>
              </a:spcBef>
            </a:pPr>
            <a:r>
              <a:rPr sz="1300" b="1">
                <a:solidFill>
                  <a:srgbClr val="2E5984"/>
                </a:solidFill>
              </a:rPr>
              <a:t>2. 아키텍처 (Architecture): 실시간 이벤트 기반의 리서치 파이프라인</a:t>
            </a:r>
          </a:p>
          <a:p>
            <a:r>
              <a:rPr sz="1100">
                <a:solidFill>
                  <a:srgbClr val="222222"/>
                </a:solidFill>
              </a:rPr>
              <a:t>•  고도화 구조:</a:t>
            </a:r>
          </a:p>
          <a:p>
            <a:r>
              <a:rPr sz="1100">
                <a:solidFill>
                  <a:srgbClr val="222222"/>
                </a:solidFill>
              </a:rPr>
              <a:t>•  탐지 레이어: 전체 상장종목 일괄 분석 및 리스크/수급/추세 전환 종목 자동 탐지.</a:t>
            </a:r>
          </a:p>
          <a:p>
            <a:r>
              <a:rPr sz="1100">
                <a:solidFill>
                  <a:srgbClr val="222222"/>
                </a:solidFill>
              </a:rPr>
              <a:t>•  분석 레이어: 뉴스 RAG 기반 이벤트 분석 및 VaR(Value at Risk) 기반 손실 위험 분석.</a:t>
            </a:r>
          </a:p>
          <a:p>
            <a:r>
              <a:rPr sz="1100">
                <a:solidFill>
                  <a:srgbClr val="222222"/>
                </a:solidFill>
              </a:rPr>
              <a:t>•  전달 레이어: 실시간 텔레그램 얼러트 및 고객 맞춤형 PDF 리포트 자동 발송.</a:t>
            </a:r>
          </a:p>
          <a:p>
            <a:pPr>
              <a:spcBef>
                <a:spcPts val="600"/>
              </a:spcBef>
            </a:pPr>
            <a:r>
              <a:rPr sz="1300" b="1">
                <a:solidFill>
                  <a:srgbClr val="2E5984"/>
                </a:solidFill>
              </a:rPr>
              <a:t>3. 소스코드 (Source Code): 주요 고도화 기능 로드맵 (Roadmap)</a:t>
            </a:r>
          </a:p>
          <a:p>
            <a:r>
              <a:rPr sz="1100">
                <a:solidFill>
                  <a:srgbClr val="222222"/>
                </a:solidFill>
              </a:rPr>
              <a:t>•  핵심 확장 과제 10선:</a:t>
            </a:r>
          </a:p>
          <a:p>
            <a:r>
              <a:rPr sz="1100">
                <a:solidFill>
                  <a:srgbClr val="222222"/>
                </a:solidFill>
              </a:rPr>
              <a:t>•  전체 상장종목 일괄 분석 및 리스크 상위 종목 자동 탐지.</a:t>
            </a:r>
          </a:p>
          <a:p>
            <a:r>
              <a:rPr sz="1100">
                <a:solidFill>
                  <a:srgbClr val="222222"/>
                </a:solidFill>
              </a:rPr>
              <a:t>•  외국인·기관 동반 순매수 및 기술적 추세 전환 종목 탐지.</a:t>
            </a:r>
          </a:p>
          <a:p>
            <a:r>
              <a:rPr sz="1100">
                <a:solidFill>
                  <a:srgbClr val="222222"/>
                </a:solidFill>
              </a:rPr>
              <a:t>•  ETF·업종·테마 데이터 확장 및 포트폴리오 위험도 분석.</a:t>
            </a:r>
          </a:p>
          <a:p>
            <a:r>
              <a:rPr sz="1100">
                <a:solidFill>
                  <a:srgbClr val="222222"/>
                </a:solidFill>
              </a:rPr>
              <a:t>•  뉴스 RAG를 활용한 과거 유사 국면 비교 및 이벤트 분석.</a:t>
            </a:r>
          </a:p>
          <a:p>
            <a:r>
              <a:rPr sz="1100">
                <a:solidFill>
                  <a:srgbClr val="222222"/>
                </a:solidFill>
              </a:rPr>
              <a:t>•  실시간 텔레그램 알림 및 고객용 PDF 리포트 자동 발송 시스템.</a:t>
            </a:r>
          </a:p>
          <a:p>
            <a:pPr>
              <a:spcBef>
                <a:spcPts val="600"/>
              </a:spcBef>
            </a:pPr>
            <a:r>
              <a:rPr sz="1300" b="1">
                <a:solidFill>
                  <a:srgbClr val="2E5984"/>
                </a:solidFill>
              </a:rPr>
              <a:t>4. 실습 (Practice): 16시간 대장정의 최종 산출물 확인 및 검증</a:t>
            </a:r>
          </a:p>
          <a:p>
            <a:r>
              <a:rPr sz="1100">
                <a:solidFill>
                  <a:srgbClr val="222222"/>
                </a:solidFill>
              </a:rPr>
              <a:t>•  최종 결과물 체크리스트: 본 과정을 통해 여러분은 다음의 산출물을 확보하게 되었습니다.</a:t>
            </a:r>
          </a:p>
          <a:p>
            <a:r>
              <a:rPr sz="1100">
                <a:solidFill>
                  <a:srgbClr val="222222"/>
                </a:solidFill>
              </a:rPr>
              <a:t>•  ✅ 작동하는 FastAPI 서버 및 Streamlit 웹단말.</a:t>
            </a:r>
          </a:p>
          <a:p>
            <a:r>
              <a:rPr sz="1100">
                <a:solidFill>
                  <a:srgbClr val="222222"/>
                </a:solidFill>
              </a:rPr>
              <a:t>•  ✅ 대화형 텔레그램 봇 및 PostgreSQL 기반 데이터 레이크.</a:t>
            </a:r>
          </a:p>
          <a:p>
            <a:r>
              <a:rPr sz="1100">
                <a:solidFill>
                  <a:srgbClr val="222222"/>
                </a:solidFill>
              </a:rPr>
              <a:t>•  ✅ 종목별 분석 점수, GPT 투자 브리프, 1페이지 PDF 보고서.</a:t>
            </a:r>
          </a:p>
          <a:p>
            <a:r>
              <a:rPr sz="1100">
                <a:solidFill>
                  <a:srgbClr val="222222"/>
                </a:solidFill>
              </a:rPr>
              <a:t>•  ✅ 매일 오전 7시 자동으로 작동하는 데일리 브리핑 스케줄러.</a:t>
            </a:r>
          </a:p>
          <a:p>
            <a:pPr>
              <a:spcBef>
                <a:spcPts val="600"/>
              </a:spcBef>
            </a:pPr>
            <a:r>
              <a:rPr sz="1300" b="1">
                <a:solidFill>
                  <a:srgbClr val="2E5984"/>
                </a:solidFill>
              </a:rPr>
              <a:t>5. 확장 (Expansion): 'AI 투자 비서' 완성을 위한 미래 비전</a:t>
            </a:r>
          </a:p>
          <a:p>
            <a:r>
              <a:rPr sz="1100">
                <a:solidFill>
                  <a:srgbClr val="222222"/>
                </a:solidFill>
              </a:rPr>
              <a:t>•  고도화 전략: 현재의 개별 종목 분석을 넘어, 92번 슬라이드에서 언급된 멀티 에이전트 리서치 시스템을 도입하여 각 분야 에이전트(거시/재무/차트/수급)가 협업하는 수준으로 진화시킵니다.</a:t>
            </a:r>
          </a:p>
          <a:p>
            <a:r>
              <a:rPr sz="1100">
                <a:solidFill>
                  <a:srgbClr val="222222"/>
                </a:solidFill>
              </a:rPr>
              <a:t>•  기술적 지향점: 인공지능이 스스로 시장의 기회를 포착하고 리스크를 경고하는 '나만의 AI 투자 비서'를 완성함으로써, 데이터에 기반한 객관적이고 효율적인 투자의 시대를 열어갑니다.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172  ·  96/216</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[097] AI 금융정보단말 구축 실무 - 35부: 교육 운영용 실습 순서 (최종 산출물)</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16시간 대장정의 완성, '나만의 금융 AI 자산' 확보</a:t>
            </a:r>
          </a:p>
          <a:p>
            <a:r>
              <a:rPr sz="1100">
                <a:solidFill>
                  <a:srgbClr val="222222"/>
                </a:solidFill>
              </a:rPr>
              <a:t>•  정의: 단순 이론 학습을 넘어, 설계부터 배포까지 전 과정을 직접 수행하여 확보한 8대 핵심 소프트웨어 자산을 최종 검수하는 단계입니다.</a:t>
            </a:r>
          </a:p>
          <a:p>
            <a:r>
              <a:rPr sz="1100">
                <a:solidFill>
                  <a:srgbClr val="222222"/>
                </a:solidFill>
              </a:rPr>
              <a:t>•  핵심 가치: 이 산출물들은 교육생이 향후 핀테크 개발자나 AI 아키텍트로 활동할 때 강력한 포트폴리오가 되며, 실무에 즉시 투입 가능한 수준의 완성도를 가집니다.</a:t>
            </a:r>
          </a:p>
          <a:p>
            <a:pPr>
              <a:spcBef>
                <a:spcPts val="600"/>
              </a:spcBef>
            </a:pPr>
            <a:r>
              <a:rPr sz="1300" b="1">
                <a:solidFill>
                  <a:srgbClr val="2E5984"/>
                </a:solidFill>
              </a:rPr>
              <a:t>2. 아키텍처 (Architecture): 유기적으로 연결된 8대 통합 시스템</a:t>
            </a:r>
          </a:p>
          <a:p>
            <a:r>
              <a:rPr sz="1100">
                <a:solidFill>
                  <a:srgbClr val="222222"/>
                </a:solidFill>
              </a:rPr>
              <a:t>•  시스템 통합도: [데이터베이스] ↔ [API 서버] ↔ [분석 엔진] ↔ [UI/UX 단말] ↔ [자동화 스케줄러]가 하나의 거대한 에이전틱 파이프라인으로 작동합니다.</a:t>
            </a:r>
          </a:p>
          <a:p>
            <a:r>
              <a:rPr sz="1100">
                <a:solidFill>
                  <a:srgbClr val="222222"/>
                </a:solidFill>
              </a:rPr>
              <a:t>•  작동 검증: 종목코드 입력 시 데이터 수집부터 PDF 생성까지의 전 과정이 심리스(Seamless)하게 이어지는지 확인하는 것이 아키텍처 완성의 척도입니다.</a:t>
            </a:r>
          </a:p>
          <a:p>
            <a:pPr>
              <a:spcBef>
                <a:spcPts val="600"/>
              </a:spcBef>
            </a:pPr>
            <a:r>
              <a:rPr sz="1300" b="1">
                <a:solidFill>
                  <a:srgbClr val="2E5984"/>
                </a:solidFill>
              </a:rPr>
              <a:t>3. 체크리스트 (Deliverables): 실습 완료 산출물 8선 [출처: 173]</a:t>
            </a:r>
          </a:p>
          <a:p>
            <a:r>
              <a:rPr sz="1100">
                <a:solidFill>
                  <a:srgbClr val="222222"/>
                </a:solidFill>
              </a:rPr>
              <a:t>•  기술 인프라 및 엔진:</a:t>
            </a:r>
          </a:p>
          <a:p>
            <a:r>
              <a:rPr sz="1100">
                <a:solidFill>
                  <a:srgbClr val="222222"/>
                </a:solidFill>
              </a:rPr>
              <a:t>•  작동하는 FastAPI 서버: 모든 기능의 중심 관문 (Backend).</a:t>
            </a:r>
          </a:p>
          <a:p>
            <a:r>
              <a:rPr sz="1100">
                <a:solidFill>
                  <a:srgbClr val="222222"/>
                </a:solidFill>
              </a:rPr>
              <a:t>•  PostgreSQL DB: 정제된 재무·시세·수급 데이터 레이크.</a:t>
            </a:r>
          </a:p>
          <a:p>
            <a:r>
              <a:rPr sz="1100">
                <a:solidFill>
                  <a:srgbClr val="222222"/>
                </a:solidFill>
              </a:rPr>
              <a:t>•  종목별 분석 점수: 정량적 데이터 기반의 4대 영역 스코어링 엔진.</a:t>
            </a:r>
          </a:p>
          <a:p>
            <a:r>
              <a:rPr sz="1100">
                <a:solidFill>
                  <a:srgbClr val="222222"/>
                </a:solidFill>
              </a:rPr>
              <a:t>•  사용자 인터페이스 및 출력: 4. 작동하는 Streamlit 웹단말: 시각적 데이터 분석 및 조회 화면. 5. 작동하는 Telegram Bot: 모바일 대화형 분석 요청 및 수신 창구. 6. 1페이지 PDF 보고서: 출력 및 배포 가능한 전문가용 투자 리포트.</a:t>
            </a:r>
          </a:p>
          <a:p>
            <a:r>
              <a:rPr sz="1100">
                <a:solidFill>
                  <a:srgbClr val="222222"/>
                </a:solidFill>
              </a:rPr>
              <a:t>•  지능형 에이전트 및 자동화: 7. GPT 투자 브리프: 정성적 문맥 분석이 담긴 AI 애널리스트 의견. 8. 오전 7시 자동 브리핑 스케줄러: 24x365 무중단 운영 자동화 심장.</a:t>
            </a:r>
          </a:p>
          <a:p>
            <a:pPr>
              <a:spcBef>
                <a:spcPts val="600"/>
              </a:spcBef>
            </a:pPr>
            <a:r>
              <a:rPr sz="1300" b="1">
                <a:solidFill>
                  <a:srgbClr val="2E5984"/>
                </a:solidFill>
              </a:rPr>
              <a:t>4. 실습 (Practice): 최종 통합 테스트 및 '데모 데이(Demo Day)'</a:t>
            </a:r>
          </a:p>
          <a:p>
            <a:r>
              <a:rPr sz="1100">
                <a:solidFill>
                  <a:srgbClr val="222222"/>
                </a:solidFill>
              </a:rPr>
              <a:t>•  과제: 모든 시스템(FastAPI, Streamlit, Telegram, Scheduler)을 동시에 기동하고, 특정 종목(예: 삼성전자)에 대한 엔드 투 엔드(E2E) 분석 프로세스를 시연하십시오.</a:t>
            </a:r>
          </a:p>
          <a:p>
            <a:r>
              <a:rPr sz="1100">
                <a:solidFill>
                  <a:srgbClr val="222222"/>
                </a:solidFill>
              </a:rPr>
              <a:t>•  확인 사항: PDF 리포트 내에 투자의견(Rating)과 GPT 요약이 정확히 매핑되어 출력되는지, 텔레그램으로 파일이 정상 배달되는지 최종 점검합니다.</a:t>
            </a:r>
          </a:p>
          <a:p>
            <a:pPr>
              <a:spcBef>
                <a:spcPts val="600"/>
              </a:spcBef>
            </a:pPr>
            <a:r>
              <a:rPr sz="1300" b="1">
                <a:solidFill>
                  <a:srgbClr val="2E5984"/>
                </a:solidFill>
              </a:rPr>
              <a:t>5. 확장 (Expansion): 포트폴리오 자산화 및 기업용 솔루션 전이</a:t>
            </a:r>
          </a:p>
          <a:p>
            <a:r>
              <a:rPr sz="1100">
                <a:solidFill>
                  <a:srgbClr val="222222"/>
                </a:solidFill>
              </a:rPr>
              <a:t>•  고도화 전략: 확보된 8대 산출물을 기반으로 개인용 시스템을 넘어, 기업 내 리서치 자동화 도구나 고객 관리용 투자 알리미 서비스로 커스터마이징하여 비즈니스 가치를 창출합니다.</a:t>
            </a:r>
          </a:p>
          <a:p>
            <a:r>
              <a:rPr sz="1100">
                <a:solidFill>
                  <a:srgbClr val="222222"/>
                </a:solidFill>
              </a:rPr>
              <a:t>•  기술적 지향점: 이 산출물들은 향후 여러분이 구축할 더 복잡한 멀티 에이전트 시스템(CrewAI)이나 지능형 자산관리 플랫폼의 든든한 초석이 될 것입니다.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173  ·  97/216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[098] AI 금융정보단말 구축 실무 - 33부: KOStockCrewAI MVP 마스터 프롬프트</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비개발자를 위한 '원샷(One-shot) 프로젝트 생성'</a:t>
            </a:r>
          </a:p>
          <a:p>
            <a:r>
              <a:rPr sz="1100">
                <a:solidFill>
                  <a:srgbClr val="222222"/>
                </a:solidFill>
              </a:rPr>
              <a:t>•  정의: 시니어 아키텍트의 페르소나를 AI에게 부여하고, 앞서 학습한 모든 기술 스택(FastAPI, Streamlit, PostgreSQL 등)이 통합된 프로젝트 전체를 단 한 번의 명령으로 생성하게 하는 마스터 지시문입니다.</a:t>
            </a:r>
          </a:p>
          <a:p>
            <a:r>
              <a:rPr sz="1100">
                <a:solidFill>
                  <a:srgbClr val="222222"/>
                </a:solidFill>
              </a:rPr>
              <a:t>•  핵심 가치: 복잡한 코딩 과정 없이도 구조가 완벽한 폴더 트리와 실행 가능한 소스코드를 확보하여, 학습과 구현 사이의 간극을 최소화합니다.</a:t>
            </a:r>
          </a:p>
          <a:p>
            <a:pPr>
              <a:spcBef>
                <a:spcPts val="600"/>
              </a:spcBef>
            </a:pPr>
            <a:r>
              <a:rPr sz="1300" b="1">
                <a:solidFill>
                  <a:srgbClr val="2E5984"/>
                </a:solidFill>
              </a:rPr>
              <a:t>2. 아키텍처 (Architecture): 시니어 아키텍트 페르소나 및 목표 설정 [출처: 174]</a:t>
            </a:r>
          </a:p>
          <a:p>
            <a:r>
              <a:rPr sz="1100">
                <a:solidFill>
                  <a:srgbClr val="222222"/>
                </a:solidFill>
              </a:rPr>
              <a:t>•  페르소나 정의: "당신은 시니어 Python/FastAPI/Streamlit/CrewAI 아키텍트입니다"라고 역할을 정의하여 고품질의 코드 구조를 유도합니다.</a:t>
            </a:r>
          </a:p>
          <a:p>
            <a:r>
              <a:rPr sz="1100">
                <a:solidFill>
                  <a:srgbClr val="222222"/>
                </a:solidFill>
              </a:rPr>
              <a:t>•  통합 분석 목표: 종목코드 입력 시 [데이터 수집 → DB 저장 → 4대 분석 → 리스크 스코어링 → GPT 브리프 → PDF → UI/Telegram]에 이르는 E2E(End-to-End) 파이프라인 완성을 목표로 합니다.</a:t>
            </a:r>
          </a:p>
          <a:p>
            <a:pPr>
              <a:spcBef>
                <a:spcPts val="600"/>
              </a:spcBef>
            </a:pPr>
            <a:r>
              <a:rPr sz="1300" b="1">
                <a:solidFill>
                  <a:srgbClr val="2E5984"/>
                </a:solidFill>
              </a:rPr>
              <a:t>3. 소스코드 (Source Code): 마스터 프롬프트 서두 및 중요 원칙 [출처: 174, 175]</a:t>
            </a:r>
          </a:p>
          <a:p>
            <a:r>
              <a:rPr sz="1100">
                <a:solidFill>
                  <a:srgbClr val="222222"/>
                </a:solidFill>
              </a:rPr>
              <a:t>•  프롬프트 핵심부:</a:t>
            </a:r>
          </a:p>
          <a:p>
            <a:pPr>
              <a:spcBef>
                <a:spcPts val="600"/>
              </a:spcBef>
            </a:pPr>
            <a:r>
              <a:rPr sz="1300" b="1">
                <a:solidFill>
                  <a:srgbClr val="2E5984"/>
                </a:solidFill>
              </a:rPr>
              <a:t>4. 실습 (Practice): 프롬프트 주입 및 생성 파일 목록 검증</a:t>
            </a:r>
          </a:p>
          <a:p>
            <a:r>
              <a:rPr sz="1100">
                <a:solidFill>
                  <a:srgbClr val="222222"/>
                </a:solidFill>
              </a:rPr>
              <a:t>•  과제: 제시된 마스터 프롬프트를 ChatGPT(GPT-4o 이상) 또는 Claude 3.5 Sonnet에 입력하고, AI가 생성하는 전체 폴더 구조(app/, data/, reports/ 등)가 설계도와 일치하는지 확인하십시오.</a:t>
            </a:r>
          </a:p>
          <a:p>
            <a:r>
              <a:rPr sz="1100">
                <a:solidFill>
                  <a:srgbClr val="222222"/>
                </a:solidFill>
              </a:rPr>
              <a:t>•  확인 사항: AI가 답변을 중단할 경우 "계속해서 코드를 작성해줘"라고 요청하여, main.py부터 requirements.txt까지 모든 파일이 누락 없이 생성되는지 점검합니다.</a:t>
            </a:r>
          </a:p>
          <a:p>
            <a:pPr>
              <a:spcBef>
                <a:spcPts val="600"/>
              </a:spcBef>
            </a:pPr>
            <a:r>
              <a:rPr sz="1300" b="1">
                <a:solidFill>
                  <a:srgbClr val="2E5984"/>
                </a:solidFill>
              </a:rPr>
              <a:t>5. 확장 (Expansion): 바이브 코딩(Vibe Coding)을 통한 커스터마이징</a:t>
            </a:r>
          </a:p>
          <a:p>
            <a:r>
              <a:rPr sz="1100">
                <a:solidFill>
                  <a:srgbClr val="222222"/>
                </a:solidFill>
              </a:rPr>
              <a:t>•  고도화 전략: 생성된 코드를 바탕으로 "차트 시각화 부분을 더 화려하게 바꿔줘"나 "수급 분석 가중치를 변경해줘"와 같은 추가 명령을 통해 본인만의 특화된 금융 단말기로 진화시킵니다.</a:t>
            </a:r>
          </a:p>
          <a:p>
            <a:r>
              <a:rPr sz="1100">
                <a:solidFill>
                  <a:srgbClr val="222222"/>
                </a:solidFill>
              </a:rPr>
              <a:t>•  기술적 지향점: 이 마스터 프롬프트는 175번 슬라이드에서 상세히 다룰 폴더 트리 및 파일별 상세 구현으로 이어지며, 최종적으로 비개발자 수강생이 실무에서 즉시 가동 가능한 '나만의 AI 투자 비서'를 손에 쥐게 하는 출발점이 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174  ·  98/216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[099] AI 금융정보단말 구축 실무 - 33부: MVP 구현 원칙 및 폴더 구조 설계</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견고한 앱 구축을 위한 7가지 핵심 운영 원칙</a:t>
            </a:r>
          </a:p>
          <a:p>
            <a:r>
              <a:rPr sz="1100">
                <a:solidFill>
                  <a:srgbClr val="222222"/>
                </a:solidFill>
              </a:rPr>
              <a:t>•  정의: 비개발자가 앱을 실행할 때 발생할 수 있는 변수(API 키 누락, 데이터 형식 차이 등)를 사전에 차단하고, 법적·기술적 안전성을 확보하기 위한 강제 가이드라인입니다.</a:t>
            </a:r>
          </a:p>
          <a:p>
            <a:r>
              <a:rPr sz="1100">
                <a:solidFill>
                  <a:srgbClr val="222222"/>
                </a:solidFill>
              </a:rPr>
              <a:t>•  핵심 가치: "친절한 오류 메시지"와 "어댑터 구조"를 통해 시스템의 회복 탄력성(Resilience)과 확장성을 동시에 확보합니다.</a:t>
            </a:r>
          </a:p>
          <a:p>
            <a:pPr>
              <a:spcBef>
                <a:spcPts val="600"/>
              </a:spcBef>
            </a:pPr>
            <a:r>
              <a:rPr sz="1300" b="1">
                <a:solidFill>
                  <a:srgbClr val="2E5984"/>
                </a:solidFill>
              </a:rPr>
              <a:t>2. 아키텍처 (Architecture): 모듈화된 프로젝트 폴더 트리(Folder Tree)</a:t>
            </a:r>
          </a:p>
          <a:p>
            <a:r>
              <a:rPr sz="1100">
                <a:solidFill>
                  <a:srgbClr val="222222"/>
                </a:solidFill>
              </a:rPr>
              <a:t>•  구조적 특징: 기능별로 폴더를 엄격히 분리하여 유지보수 효율을 극대화합니다.</a:t>
            </a:r>
          </a:p>
          <a:p>
            <a:r>
              <a:rPr sz="1100">
                <a:solidFill>
                  <a:srgbClr val="222222"/>
                </a:solidFill>
              </a:rPr>
              <a:t>•  app/: 핵심 로직 (API, DB, 수집, 분석, 에이전트 등).</a:t>
            </a:r>
          </a:p>
          <a:p>
            <a:r>
              <a:rPr sz="1100">
                <a:solidFill>
                  <a:srgbClr val="222222"/>
                </a:solidFill>
              </a:rPr>
              <a:t>•  data/ &amp; reports/: 데이터베이스 파일 및 생성된 PDF 저장소.</a:t>
            </a:r>
          </a:p>
          <a:p>
            <a:r>
              <a:rPr sz="1100">
                <a:solidFill>
                  <a:srgbClr val="222222"/>
                </a:solidFill>
              </a:rPr>
              <a:t>•  logs/ &amp; prompts/: 시스템 기록 및 AI 지시문 관리.</a:t>
            </a:r>
          </a:p>
          <a:p>
            <a:r>
              <a:rPr sz="1100">
                <a:solidFill>
                  <a:srgbClr val="222222"/>
                </a:solidFill>
              </a:rPr>
              <a:t>•  최상위: main.py(서버), streamlit_app.py(웹 UI), requirements.txt(패키지).</a:t>
            </a:r>
          </a:p>
          <a:p>
            <a:pPr>
              <a:spcBef>
                <a:spcPts val="600"/>
              </a:spcBef>
            </a:pPr>
            <a:r>
              <a:rPr sz="1300" b="1">
                <a:solidFill>
                  <a:srgbClr val="2E5984"/>
                </a:solidFill>
              </a:rPr>
              <a:t>3. 소스코드 (Source Code): AI에게 명령할 상세 구현 원칙</a:t>
            </a:r>
          </a:p>
          <a:p>
            <a:r>
              <a:rPr sz="1100">
                <a:solidFill>
                  <a:srgbClr val="222222"/>
                </a:solidFill>
              </a:rPr>
              <a:t>•  핵심 지시문(Principles 4-10):</a:t>
            </a:r>
          </a:p>
          <a:p>
            <a:r>
              <a:rPr sz="1100">
                <a:solidFill>
                  <a:srgbClr val="222222"/>
                </a:solidFill>
              </a:rPr>
              <a:t>•  예외 처리: API Key 누락 시 앱이 중단되지 않도록 친절한 안내 문구를 출력할 것.</a:t>
            </a:r>
          </a:p>
          <a:p>
            <a:r>
              <a:rPr sz="1100">
                <a:solidFill>
                  <a:srgbClr val="222222"/>
                </a:solidFill>
              </a:rPr>
              <a:t>•  유연성: 코스콤 API는 어댑터(Adapter) 구조로, ECOS 코드는 설정값으로 분리할 것.</a:t>
            </a:r>
          </a:p>
          <a:p>
            <a:r>
              <a:rPr sz="1100">
                <a:solidFill>
                  <a:srgbClr val="222222"/>
                </a:solidFill>
              </a:rPr>
              <a:t>•  준법성: 모든 리포트에 투자자문 고지문(Disclaimer)을 반드시 포함할 것.</a:t>
            </a:r>
          </a:p>
          <a:p>
            <a:r>
              <a:rPr sz="1100">
                <a:solidFill>
                  <a:srgbClr val="222222"/>
                </a:solidFill>
              </a:rPr>
              <a:t>•  보안: Streamlit UI에 API Key가 노출되지 않도록 설계할 것.</a:t>
            </a:r>
          </a:p>
          <a:p>
            <a:r>
              <a:rPr sz="1100">
                <a:solidFill>
                  <a:srgbClr val="222222"/>
                </a:solidFill>
              </a:rPr>
              <a:t>•  가독성: 초보자를 위해 모든 함수에 상세한 한글 주석과 README를 작성할 것.</a:t>
            </a:r>
          </a:p>
          <a:p>
            <a:pPr>
              <a:spcBef>
                <a:spcPts val="600"/>
              </a:spcBef>
            </a:pPr>
            <a:r>
              <a:rPr sz="1300" b="1">
                <a:solidFill>
                  <a:srgbClr val="2E5984"/>
                </a:solidFill>
              </a:rPr>
              <a:t>4. 실습 (Practice): 폴더 트리 생성 확인 및 의존성 라이브러리 검토</a:t>
            </a:r>
          </a:p>
          <a:p>
            <a:r>
              <a:rPr sz="1100">
                <a:solidFill>
                  <a:srgbClr val="222222"/>
                </a:solidFill>
              </a:rPr>
              <a:t>•  과제 1: AI가 제안한 KOStockCrewAI/ 하위의 12개 이상 폴더 구조가 자신의 작업 환경에 정상적으로 생성되는지 확인하십시오.</a:t>
            </a:r>
          </a:p>
          <a:p>
            <a:r>
              <a:rPr sz="1100">
                <a:solidFill>
                  <a:srgbClr val="222222"/>
                </a:solidFill>
              </a:rPr>
              <a:t>•  과제 2: requirements.txt에 정의된 FastAPI, Pandas, OpenAI, ReportLab, CrewAI 등 필수 패키지가 누락 없이 명시되었는지 대조하십시오.</a:t>
            </a:r>
          </a:p>
          <a:p>
            <a:pPr>
              <a:spcBef>
                <a:spcPts val="600"/>
              </a:spcBef>
            </a:pPr>
            <a:r>
              <a:rPr sz="1300" b="1">
                <a:solidFill>
                  <a:srgbClr val="2E5984"/>
                </a:solidFill>
              </a:rPr>
              <a:t>5. 확장 (Expansion): 에이전틱 워크플로우로의 구조적 진화</a:t>
            </a:r>
          </a:p>
          <a:p>
            <a:r>
              <a:rPr sz="1100">
                <a:solidFill>
                  <a:srgbClr val="222222"/>
                </a:solidFill>
              </a:rPr>
              <a:t>•  고도화 전략: 현재의 폴더 구조는 단순한 스크립트 모음이 아니라, 향후 app/agents/crew.py를 통해 여러 AI 에이전트가 협업할 수 있는 에이전틱 오케스트레이션(Agentic Orchestration)의 기반이 됩니다.</a:t>
            </a:r>
          </a:p>
          <a:p>
            <a:r>
              <a:rPr sz="1100">
                <a:solidFill>
                  <a:srgbClr val="222222"/>
                </a:solidFill>
              </a:rPr>
              <a:t>•  기술적 지향점: 176번 슬라이드에서 다룰 상세 모듈별 구현(Collector, Analyst 등)을 통해, 이 뼈대 위에 실제 금융 지능을 이식하는 단계를 준비합니다.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175  ·  99/216</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[100] AI 금융정보단말 구축 실무 - 33부: MVP 상세 폴더 트리 및 파일 명세</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모듈화된 폴더 구조를 통한 '유지보수성' 확보</a:t>
            </a:r>
          </a:p>
          <a:p>
            <a:r>
              <a:rPr sz="1100">
                <a:solidFill>
                  <a:srgbClr val="222222"/>
                </a:solidFill>
              </a:rPr>
              <a:t>•  정의: 대규모 AI 프로젝트에서 데이터 수집, 분석, 서비스 배포 단위를 물리적 폴더로 격리하여, 특정 모듈(예: 코스콤 API)의 명세가 변경되더라도 전체 시스템에 미치는 영향을 최소화하는 설계 방식입니다.</a:t>
            </a:r>
          </a:p>
          <a:p>
            <a:r>
              <a:rPr sz="1100">
                <a:solidFill>
                  <a:srgbClr val="222222"/>
                </a:solidFill>
              </a:rPr>
              <a:t>•  핵심 가치: 비개발자가 보더라도 데이터의 입구(collectors)부터 출구(reports/bots)까지의 흐름을 직관적으로 파악할 수 있도록 표준화된 경로를 제공합니다.</a:t>
            </a:r>
          </a:p>
          <a:p>
            <a:pPr>
              <a:spcBef>
                <a:spcPts val="600"/>
              </a:spcBef>
            </a:pPr>
            <a:r>
              <a:rPr sz="1300" b="1">
                <a:solidFill>
                  <a:srgbClr val="2E5984"/>
                </a:solidFill>
              </a:rPr>
              <a:t>2. 아키텍처 (Architecture): KOStockCrewAI 핵심 디렉토리 완성 [출처: 176, 177]</a:t>
            </a:r>
          </a:p>
          <a:p>
            <a:r>
              <a:rPr sz="1100">
                <a:solidFill>
                  <a:srgbClr val="222222"/>
                </a:solidFill>
              </a:rPr>
              <a:t>•  상세 구조 (계속):</a:t>
            </a:r>
          </a:p>
          <a:p>
            <a:r>
              <a:rPr sz="1100">
                <a:solidFill>
                  <a:srgbClr val="222222"/>
                </a:solidFill>
              </a:rPr>
              <a:t>•  app/collectors/: ecos_collector.py, koscom_collector.py (멀티 소스 수집) [출처: 176]</a:t>
            </a:r>
          </a:p>
          <a:p>
            <a:r>
              <a:rPr sz="1100">
                <a:solidFill>
                  <a:srgbClr val="222222"/>
                </a:solidFill>
              </a:rPr>
              <a:t>•  app/analysis/: technical.py, fundamental.py, flow.py, macro.py, scoring.py (4대 엔진) [출처: 176]</a:t>
            </a:r>
          </a:p>
          <a:p>
            <a:r>
              <a:rPr sz="1100">
                <a:solidFill>
                  <a:srgbClr val="222222"/>
                </a:solidFill>
              </a:rPr>
              <a:t>•  app/agents/: crew.py, gpt_brief_agent.py, investment_agent.py (지능형 통제) [출처: 176]</a:t>
            </a:r>
          </a:p>
          <a:p>
            <a:r>
              <a:rPr sz="1100">
                <a:solidFill>
                  <a:srgbClr val="222222"/>
                </a:solidFill>
              </a:rPr>
              <a:t>•  app/rag/: news_rag.py (ChromaDB 연동) [출처: 176]</a:t>
            </a:r>
          </a:p>
          <a:p>
            <a:r>
              <a:rPr sz="1100">
                <a:solidFill>
                  <a:srgbClr val="222222"/>
                </a:solidFill>
              </a:rPr>
              <a:t>•  app/bots/ &amp; scheduler/: telegram_bot.py, main_scheduler.py (인터페이스 및 자동화) [출처: 176]</a:t>
            </a:r>
          </a:p>
          <a:p>
            <a:r>
              <a:rPr sz="1100">
                <a:solidFill>
                  <a:srgbClr val="222222"/>
                </a:solidFill>
              </a:rPr>
              <a:t>•  Prompts/: investment_brief_prompt.md (AI 페르소나 및 지시문 관리) [출처: 176]</a:t>
            </a:r>
          </a:p>
          <a:p>
            <a:pPr>
              <a:spcBef>
                <a:spcPts val="600"/>
              </a:spcBef>
            </a:pPr>
            <a:r>
              <a:rPr sz="1300" b="1">
                <a:solidFill>
                  <a:srgbClr val="2E5984"/>
                </a:solidFill>
              </a:rPr>
              <a:t>3. 소스코드 (Source Code): 필수 패키지(requirements.txt) 및 환경 설정 [출처: 177, 178]</a:t>
            </a:r>
          </a:p>
          <a:p>
            <a:r>
              <a:rPr sz="1100">
                <a:solidFill>
                  <a:srgbClr val="222222"/>
                </a:solidFill>
              </a:rPr>
              <a:t>•  핵심 라이브러리:</a:t>
            </a:r>
          </a:p>
          <a:p>
            <a:r>
              <a:rPr sz="1100">
                <a:solidFill>
                  <a:srgbClr val="222222"/>
                </a:solidFill>
              </a:rPr>
              <a:t>•  환경변수 명세: .env.example에는 OpenAI, DART, ECOS, 코스콤의 API Key와 DATABASE_URL, 텔레그램 토큰 등이 포함되어야 합니다. [출처: 177, 178]</a:t>
            </a:r>
          </a:p>
          <a:p>
            <a:pPr>
              <a:spcBef>
                <a:spcPts val="600"/>
              </a:spcBef>
            </a:pPr>
            <a:r>
              <a:rPr sz="1300" b="1">
                <a:solidFill>
                  <a:srgbClr val="2E5984"/>
                </a:solidFill>
              </a:rPr>
              <a:t>4. 실습 (Practice): 하위 폴더 생성 및 __init__.py 배치를 통한 패키지화</a:t>
            </a:r>
          </a:p>
          <a:p>
            <a:r>
              <a:rPr sz="1100">
                <a:solidFill>
                  <a:srgbClr val="222222"/>
                </a:solidFill>
              </a:rPr>
              <a:t>•  과제 1: mkdir -p 명령어를 사용하여 analysis, agents, rag, bots 등 하위 디렉토리를 생성하십시오.</a:t>
            </a:r>
          </a:p>
          <a:p>
            <a:r>
              <a:rPr sz="1100">
                <a:solidFill>
                  <a:srgbClr val="222222"/>
                </a:solidFill>
              </a:rPr>
              <a:t>•  과제 2: 각 폴더 내에 빈 파일인 __init__.py를 생성하여, Python 인터프리터가 해당 폴더들을 하나의 패키지로 인식하도록 설정하십시오. [출처: 191]</a:t>
            </a:r>
          </a:p>
          <a:p>
            <a:pPr>
              <a:spcBef>
                <a:spcPts val="600"/>
              </a:spcBef>
            </a:pPr>
            <a:r>
              <a:rPr sz="1300" b="1">
                <a:solidFill>
                  <a:srgbClr val="2E5984"/>
                </a:solidFill>
              </a:rPr>
              <a:t>5. 확장 (Expansion): '에이전틱 시스템'으로의 진화를 위한 준비</a:t>
            </a:r>
          </a:p>
          <a:p>
            <a:r>
              <a:rPr sz="1100">
                <a:solidFill>
                  <a:srgbClr val="222222"/>
                </a:solidFill>
              </a:rPr>
              <a:t>•  고도화 전략: 현재의 agents/ 폴더는 단순한 함수 호출을 넘어, 향후 crew.py에 정의될 DataCollector, TechnicalAnalyst 등의 자율형 에이전트들이 협업하는 멀티 에이전트 플랫폼으로 확장되는 핵심 거점이 됩니다. [출처: 183]</a:t>
            </a:r>
          </a:p>
          <a:p>
            <a:r>
              <a:rPr sz="1100">
                <a:solidFill>
                  <a:srgbClr val="222222"/>
                </a:solidFill>
              </a:rPr>
              <a:t>•  기술적 지향점: 177번 슬라이드부터 진행될 각 파일별 상세 코딩을 통해, 이 정적인 폴더 구조 속에 살아있는 금융 인텔리전스를 채워 넣는 과정을 시작합니다.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176  ·  100/216</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[101] AI 금융정보단말 구축 실무 - 33부: 의존성 관리 및 환경 설정</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프로젝트의 생태계와 보안의 기초 정의</a:t>
            </a:r>
          </a:p>
          <a:p>
            <a:r>
              <a:rPr sz="1100">
                <a:solidFill>
                  <a:srgbClr val="222222"/>
                </a:solidFill>
              </a:rPr>
              <a:t>•  의존성 관리(requirements.txt): 분석 엔진(Pandas), API 서버(FastAPI), 시각화(ReportLab), AI(OpenAI/CrewAI) 등 프로젝트가 작동하는 데 필요한 라이브러리 목록을 명시하여 개발 환경의 일관성을 유지합니다. [출처: 177]</a:t>
            </a:r>
          </a:p>
          <a:p>
            <a:r>
              <a:rPr sz="1100">
                <a:solidFill>
                  <a:srgbClr val="222222"/>
                </a:solidFill>
              </a:rPr>
              <a:t>•  환경 설정(.env): API Key와 DB 주소 등 보안이 중요한 정보를 코드에서 분리하여 안전하게 관리하는 보안의 첫 번째 관문입니다. [출처: 177, 178]</a:t>
            </a:r>
          </a:p>
          <a:p>
            <a:pPr>
              <a:spcBef>
                <a:spcPts val="600"/>
              </a:spcBef>
            </a:pPr>
            <a:r>
              <a:rPr sz="1300" b="1">
                <a:solidFill>
                  <a:srgbClr val="2E5984"/>
                </a:solidFill>
              </a:rPr>
              <a:t>2. 아키텍처 (Architecture): 설정값 기반의 유연한 시스템 구조</a:t>
            </a:r>
          </a:p>
          <a:p>
            <a:r>
              <a:rPr sz="1100">
                <a:solidFill>
                  <a:srgbClr val="222222"/>
                </a:solidFill>
              </a:rPr>
              <a:t>•  구조적 특징: [환경변수 파일] → [Config 모듈(Pydantic)] → [각 모듈별 주입(Injection)].</a:t>
            </a:r>
          </a:p>
          <a:p>
            <a:r>
              <a:rPr sz="1100">
                <a:solidFill>
                  <a:srgbClr val="222222"/>
                </a:solidFill>
              </a:rPr>
              <a:t>•  장점: 코드를 수정하지 않고도 .env 파일의 값만 변경하여 로컬 테스트용 DB에서 운영 서버용 DB로 즉시 전환하거나 API 모델을 교체할 수 있습니다. [출처: 178]</a:t>
            </a:r>
          </a:p>
          <a:p>
            <a:pPr>
              <a:spcBef>
                <a:spcPts val="600"/>
              </a:spcBef>
            </a:pPr>
            <a:r>
              <a:rPr sz="1300" b="1">
                <a:solidFill>
                  <a:srgbClr val="2E5984"/>
                </a:solidFill>
              </a:rPr>
              <a:t>3. 소스코드 (Source Code): MVP 필수 패키지 및 설정 명세 [출처: 177]</a:t>
            </a:r>
          </a:p>
          <a:p>
            <a:r>
              <a:rPr sz="1100">
                <a:solidFill>
                  <a:srgbClr val="222222"/>
                </a:solidFill>
              </a:rPr>
              <a:t>•  핵심 라이브러리 리스트 (requirements.txt):</a:t>
            </a:r>
          </a:p>
          <a:p>
            <a:r>
              <a:rPr sz="1100">
                <a:solidFill>
                  <a:srgbClr val="222222"/>
                </a:solidFill>
              </a:rPr>
              <a:t>•  환경 설정 샘플 (.env.example): [출처: 177, 178]</a:t>
            </a:r>
          </a:p>
          <a:p>
            <a:pPr>
              <a:spcBef>
                <a:spcPts val="600"/>
              </a:spcBef>
            </a:pPr>
            <a:r>
              <a:rPr sz="1300" b="1">
                <a:solidFill>
                  <a:srgbClr val="2E5984"/>
                </a:solidFill>
              </a:rPr>
              <a:t>4. 실습 (Practice): 패키지 일괄 설치 및 환경변수 로드 테스트</a:t>
            </a:r>
          </a:p>
          <a:p>
            <a:r>
              <a:rPr sz="1100">
                <a:solidFill>
                  <a:srgbClr val="222222"/>
                </a:solidFill>
              </a:rPr>
              <a:t>•  과제 1: 가상환경(venv)을 활성화한 상태에서 pip install -r requirements.txt 명령을 수행하여 21개 필수 패키지를 한 번에 설치하십시오. [출처: 188]</a:t>
            </a:r>
          </a:p>
          <a:p>
            <a:r>
              <a:rPr sz="1100">
                <a:solidFill>
                  <a:srgbClr val="222222"/>
                </a:solidFill>
              </a:rPr>
              <a:t>•  과제 2: .env.example 파일을 복사하여 .env 파일을 생성하고, 본인이 발급받은 API Key들을 입력하십시오. (절대 GitHub에 공유 금지) [출처: 188, 189]</a:t>
            </a:r>
          </a:p>
          <a:p>
            <a:pPr>
              <a:spcBef>
                <a:spcPts val="600"/>
              </a:spcBef>
            </a:pPr>
            <a:r>
              <a:rPr sz="1300" b="1">
                <a:solidFill>
                  <a:srgbClr val="2E5984"/>
                </a:solidFill>
              </a:rPr>
              <a:t>5. 확장 (Expansion): 보안 자동화 및 CI/CD 환경 적용</a:t>
            </a:r>
          </a:p>
          <a:p>
            <a:r>
              <a:rPr sz="1100">
                <a:solidFill>
                  <a:srgbClr val="222222"/>
                </a:solidFill>
              </a:rPr>
              <a:t>•  고도화 전략: 코드 내에 API Key가 실수로 포함되는 것을 방지하기 위해 .gitignore 파일에 .env를 등록하고, Git-secrets와 같은 도구를 활용하여 보안 검수를 자동화합니다. [출처: 190]</a:t>
            </a:r>
          </a:p>
          <a:p>
            <a:r>
              <a:rPr sz="1100">
                <a:solidFill>
                  <a:srgbClr val="222222"/>
                </a:solidFill>
              </a:rPr>
              <a:t>•  기술적 지향점: 향후 운영 단계에서는 GitHub Actions Secrets 또는 AWS Secrets Manager와 연동하여, 소스코드의 변경 없이 배포 환경에 따라 동적으로 설정값을 주입하는 전문적인 데브옵스(DevOps) 체계로 발전시킵니다. [출처: 187]</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177  ·  101/216</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[102] AI 금융정보단말 구축 실무 - 33부: 중앙 설정 관리 모듈(config.py)</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타입 안정성을 보장하는 '설정값 중앙 통제실'</a:t>
            </a:r>
          </a:p>
          <a:p>
            <a:r>
              <a:rPr sz="1100">
                <a:solidFill>
                  <a:srgbClr val="222222"/>
                </a:solidFill>
              </a:rPr>
              <a:t>•  정의: .env 파일에 저장된 문자열 기반의 환경 변수들을 파이썬 객체로 변환하고, 필수 데이터의 누락 여부를 실행 시점에 즉시 검증하는 설정 관리 라이브러리(pydantic-settings) 기반 모듈입니다. [출처: 178]</a:t>
            </a:r>
          </a:p>
          <a:p>
            <a:r>
              <a:rPr sz="1100">
                <a:solidFill>
                  <a:srgbClr val="222222"/>
                </a:solidFill>
              </a:rPr>
              <a:t>•  핵심 가치: API 키나 DB 주소 같은 민감한 정보가 코드 곳곳에 흩어지지 않도록 단일 지점(Single Point of Truth)에서 관리하며, 잘못된 설정으로 인한 런타임 오류를 사전에 차단합니다. [출처: 178]</a:t>
            </a:r>
          </a:p>
          <a:p>
            <a:pPr>
              <a:spcBef>
                <a:spcPts val="600"/>
              </a:spcBef>
            </a:pPr>
            <a:r>
              <a:rPr sz="1300" b="1">
                <a:solidFill>
                  <a:srgbClr val="2E5984"/>
                </a:solidFill>
              </a:rPr>
              <a:t>2. 아키텍처 (Architecture): Pydantic 기반의 환경변수 로딩 파이프라인</a:t>
            </a:r>
          </a:p>
          <a:p>
            <a:r>
              <a:rPr sz="1100">
                <a:solidFill>
                  <a:srgbClr val="222222"/>
                </a:solidFill>
              </a:rPr>
              <a:t>•  작동 흐름: [시스템 환경변수/.env] → [BaseSettings 클래스 상속] → [타입 검사 및 기본값 할당] → [settings 인스턴스 전역 공유].</a:t>
            </a:r>
          </a:p>
          <a:p>
            <a:r>
              <a:rPr sz="1100">
                <a:solidFill>
                  <a:srgbClr val="222222"/>
                </a:solidFill>
              </a:rPr>
              <a:t>•  구조적 이점: 필수 키(OPENAI_API_KEY 등)가 누락되면 프로그램이 시작과 동시에 에러를 발생시켜, 분석 도중 키가 없어 중단되는 불상사를 방지합니다. [출처: 178]</a:t>
            </a:r>
          </a:p>
          <a:p>
            <a:pPr>
              <a:spcBef>
                <a:spcPts val="600"/>
              </a:spcBef>
            </a:pPr>
            <a:r>
              <a:rPr sz="1300" b="1">
                <a:solidFill>
                  <a:srgbClr val="2E5984"/>
                </a:solidFill>
              </a:rPr>
              <a:t>3. 소스코드 (Source Code): app/core/config.py 핵심 구현 [출처: 145, 178]</a:t>
            </a:r>
          </a:p>
          <a:p>
            <a:r>
              <a:rPr sz="1100">
                <a:solidFill>
                  <a:srgbClr val="222222"/>
                </a:solidFill>
              </a:rPr>
              <a:t>•  핵심 로직: 환경변수 매핑 및 필수 키 검증 헬퍼 함수입니다.</a:t>
            </a:r>
          </a:p>
          <a:p>
            <a:pPr>
              <a:spcBef>
                <a:spcPts val="600"/>
              </a:spcBef>
            </a:pPr>
            <a:r>
              <a:rPr sz="1300" b="1">
                <a:solidFill>
                  <a:srgbClr val="2E5984"/>
                </a:solidFill>
              </a:rPr>
              <a:t>4. 실습 (Practice): 설정 로드 검증 및 누락 알림 테스트</a:t>
            </a:r>
          </a:p>
          <a:p>
            <a:r>
              <a:rPr sz="1100">
                <a:solidFill>
                  <a:srgbClr val="222222"/>
                </a:solidFill>
              </a:rPr>
              <a:t>•  과제 1: .env 파일의 특정 필수 키(예: DATABASE_URL)를 잠시 주석 처리하고 앱을 실행하여, ValidationError가 발생하는지 확인하십시오. [출처: 178]</a:t>
            </a:r>
          </a:p>
          <a:p>
            <a:r>
              <a:rPr sz="1100">
                <a:solidFill>
                  <a:srgbClr val="222222"/>
                </a:solidFill>
              </a:rPr>
              <a:t>•  과제 2: 파이썬 쉘에서 from app.core.config import settings; print(settings.REPORT_DIR)을 실행하여 기본값(reports)이 정상적으로 출력되는지 점검하십시오. [출처: 178]</a:t>
            </a:r>
          </a:p>
          <a:p>
            <a:pPr>
              <a:spcBef>
                <a:spcPts val="600"/>
              </a:spcBef>
            </a:pPr>
            <a:r>
              <a:rPr sz="1300" b="1">
                <a:solidFill>
                  <a:srgbClr val="2E5984"/>
                </a:solidFill>
              </a:rPr>
              <a:t>5. 확장 (Expansion): 동적 환경 전환 및 하이브리드 인증 지원</a:t>
            </a:r>
          </a:p>
          <a:p>
            <a:r>
              <a:rPr sz="1100">
                <a:solidFill>
                  <a:srgbClr val="222222"/>
                </a:solidFill>
              </a:rPr>
              <a:t>•  고도화 전략: 로컬 개발용(DEV)과 실서버 운영용(PROD) 설정을 분리하기 위해 APP_ENV 변수에 따라 로드할 .env 파일을 자동으로 선택하는 로직을 추가합니다. [출처: 187]</a:t>
            </a:r>
          </a:p>
          <a:p>
            <a:r>
              <a:rPr sz="1100">
                <a:solidFill>
                  <a:srgbClr val="222222"/>
                </a:solidFill>
              </a:rPr>
              <a:t>•  기술적 지향점: 180번 슬라이드에서 다룰 코스콤 API 연동 시, KOSCOM_AUTH_TYPE 설정에 따라 Bearer 또는 X-API-KEY 인증 방식을 유연하게 스위칭하는 어댑터 구조의 기반 데이터로 활용합니다. [출처: 178, 180]</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178  ·  102/216</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[103] AI 금융정보단말 구축 실무 - 34부: DB 스키마 설계 및 데이터 레포지토리</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정규화된 데이터 레이크와 효율적인 데이터 접근 계층(DAO)</a:t>
            </a:r>
          </a:p>
          <a:p>
            <a:r>
              <a:rPr sz="1100">
                <a:solidFill>
                  <a:srgbClr val="222222"/>
                </a:solidFill>
              </a:rPr>
              <a:t>•  DB 스키마(schema.sql): 주가, 재무, 수급, 거시지표 등 서로 다른 성격의 금융 데이터를 체계적으로 저장하기 위해 구조화된 9개의 핵심 테이블 정의서입니다.</a:t>
            </a:r>
          </a:p>
          <a:p>
            <a:r>
              <a:rPr sz="1100">
                <a:solidFill>
                  <a:srgbClr val="222222"/>
                </a:solidFill>
              </a:rPr>
              <a:t>•  레포지토리(repositories.py): 복잡한 SQL 쿼리를 파이썬 함수로 추상화하여, 데이터의 삽입(Upsert)과 조회(Load)를 쉽고 안전하게 처리하는 데이터 접근 계층입니다.</a:t>
            </a:r>
          </a:p>
          <a:p>
            <a:pPr>
              <a:spcBef>
                <a:spcPts val="600"/>
              </a:spcBef>
            </a:pPr>
            <a:r>
              <a:rPr sz="1300" b="1">
                <a:solidFill>
                  <a:srgbClr val="2E5984"/>
                </a:solidFill>
              </a:rPr>
              <a:t>2. 아키텍처 (Architecture): 9대 핵심 테이블 및 기능 매핑</a:t>
            </a:r>
          </a:p>
          <a:p>
            <a:r>
              <a:rPr sz="1100">
                <a:solidFill>
                  <a:srgbClr val="222222"/>
                </a:solidFill>
              </a:rPr>
              <a:t>•  데이터 스택: [기초 정보] stocks → [동적 데이터] stock_prices, investor_flows, financial_statements, macro_indicators → [분석 결과] technical_indicators, analysis_scores, news_memory, generated_reports.</a:t>
            </a:r>
          </a:p>
          <a:p>
            <a:r>
              <a:rPr sz="1100">
                <a:solidFill>
                  <a:srgbClr val="222222"/>
                </a:solidFill>
              </a:rPr>
              <a:t>•  무결성 설계: ticker와 date를 조합한 Unique Constraint와 Index를 설정하여 중복 적재를 방지하고 검색 속도를 최적화합니다.</a:t>
            </a:r>
          </a:p>
          <a:p>
            <a:pPr>
              <a:spcBef>
                <a:spcPts val="600"/>
              </a:spcBef>
            </a:pPr>
            <a:r>
              <a:rPr sz="1300" b="1">
                <a:solidFill>
                  <a:srgbClr val="2E5984"/>
                </a:solidFill>
              </a:rPr>
              <a:t>3. 소스코드 (Source Code): 스키마 정의 및 레포지토리 핵심 로직</a:t>
            </a:r>
          </a:p>
          <a:p>
            <a:r>
              <a:rPr sz="1100">
                <a:solidFill>
                  <a:srgbClr val="222222"/>
                </a:solidFill>
              </a:rPr>
              <a:t>•  DB 스키마 (SQL):</a:t>
            </a:r>
          </a:p>
          <a:p>
            <a:r>
              <a:rPr sz="1100">
                <a:solidFill>
                  <a:srgbClr val="222222"/>
                </a:solidFill>
              </a:rPr>
              <a:t>•  레포지토리 (Python):</a:t>
            </a:r>
          </a:p>
          <a:p>
            <a:pPr>
              <a:spcBef>
                <a:spcPts val="600"/>
              </a:spcBef>
            </a:pPr>
            <a:r>
              <a:rPr sz="1300" b="1">
                <a:solidFill>
                  <a:srgbClr val="2E5984"/>
                </a:solidFill>
              </a:rPr>
              <a:t>4. 실습 (Practice): SQL 스크립트 실행 및 데이터 정합성 검증</a:t>
            </a:r>
          </a:p>
          <a:p>
            <a:r>
              <a:rPr sz="1100">
                <a:solidFill>
                  <a:srgbClr val="222222"/>
                </a:solidFill>
              </a:rPr>
              <a:t>•  과제 1: 터미널에서 Docker 명령어를 통해 작성한 schema.sql을 실행하여 9개 테이블과 인덱스가 정상 생성되는지 확인하십시오.</a:t>
            </a:r>
          </a:p>
          <a:p>
            <a:r>
              <a:rPr sz="1100">
                <a:solidFill>
                  <a:srgbClr val="222222"/>
                </a:solidFill>
              </a:rPr>
              <a:t>•  명령: docker exec -i ai_fin_postgres psql -U postgres -d ai_fin_terminal &lt; app/db/schema.sql</a:t>
            </a:r>
          </a:p>
          <a:p>
            <a:r>
              <a:rPr sz="1100">
                <a:solidFill>
                  <a:srgbClr val="222222"/>
                </a:solidFill>
              </a:rPr>
              <a:t>•  과제 2: upsert_stock 함수를 호출하여 '삼성전자(005930)' 정보를 입력하고, DB 관리도구(pgAdmin)에서 데이터가 정상적으로 조회되는지 점검하십시오.</a:t>
            </a:r>
          </a:p>
          <a:p>
            <a:pPr>
              <a:spcBef>
                <a:spcPts val="600"/>
              </a:spcBef>
            </a:pPr>
            <a:r>
              <a:rPr sz="1300" b="1">
                <a:solidFill>
                  <a:srgbClr val="2E5984"/>
                </a:solidFill>
              </a:rPr>
              <a:t>5. 확장 (Expansion): 시계열 최적화 및 RAG 검색 성능 고도화</a:t>
            </a:r>
          </a:p>
          <a:p>
            <a:r>
              <a:rPr sz="1100">
                <a:solidFill>
                  <a:srgbClr val="222222"/>
                </a:solidFill>
              </a:rPr>
              <a:t>•  고도화 전략: 주가 데이터가 수백만 건 이상으로 늘어날 경우를 대비해 TimescaleDB와 같은 시계열 확장팩 도입을 검토하거나, news_memory 테이블의 검색 성능을 높이기 위해 ChromaDB(Vector DB)와의 동기화 로직을 강화합니다.</a:t>
            </a:r>
          </a:p>
          <a:p>
            <a:r>
              <a:rPr sz="1100">
                <a:solidFill>
                  <a:srgbClr val="222222"/>
                </a:solidFill>
              </a:rPr>
              <a:t>•  기술적 지향점: 완벽하게 설계된 스키마는 향후 183번 슬라이드에서 다룰 멀티 에이전트(CrewAI)가 필요로 하는 데이터를 정확한 시점에 제공하는 신뢰할 수 있는 지식 창고 역할을 수행하게 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179  ·  103/216</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[104] AI 금융정보단말 구축 실무 - 35부: 외부 데이터 수집 모듈</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분석 엔진에 신선한 데이터를 공급하는 '금융 혈맥'</a:t>
            </a:r>
          </a:p>
          <a:p>
            <a:r>
              <a:rPr sz="1100">
                <a:solidFill>
                  <a:srgbClr val="222222"/>
                </a:solidFill>
              </a:rPr>
              <a:t>•  정의: 공공(DART, ECOS) 및 민간(코스콤) API와 통신하여 기업 재무, 거시경제, 실시간 시세 데이터를 가져와 시스템 내부 형식으로 변환하는 데이터 수집 레이어입니다.</a:t>
            </a:r>
          </a:p>
          <a:p>
            <a:r>
              <a:rPr sz="1100">
                <a:solidFill>
                  <a:srgbClr val="222222"/>
                </a:solidFill>
              </a:rPr>
              <a:t>•  핵심 가치: 파편화된 외부 데이터 소스를 단일한 인터페이스로 통합하여, 분석 엔진이 데이터의 출처를 신경 쓰지 않고 분석에만 집중할 수 있는 추상화된 환경을 제공합니다.</a:t>
            </a:r>
          </a:p>
          <a:p>
            <a:pPr>
              <a:spcBef>
                <a:spcPts val="600"/>
              </a:spcBef>
            </a:pPr>
            <a:r>
              <a:rPr sz="1300" b="1">
                <a:solidFill>
                  <a:srgbClr val="2E5984"/>
                </a:solidFill>
              </a:rPr>
              <a:t>2. 아키텍처 (Architecture): 유연한 대응을 위한 '어댑터(Adapter)' 패턴 설계</a:t>
            </a:r>
          </a:p>
          <a:p>
            <a:r>
              <a:rPr sz="1100">
                <a:solidFill>
                  <a:srgbClr val="222222"/>
                </a:solidFill>
              </a:rPr>
              <a:t>•  구조적 특징: 각 기관마다 다른 인증 방식(Bearer, X-API-KEY 등)과 데이터 형식(JSON, XML, ZIP)을 각각의 Collector 모듈에서 처리한 후, DB 레포지토리가 이해할 수 있는 공통 규격으로 전달합니다.</a:t>
            </a:r>
          </a:p>
          <a:p>
            <a:r>
              <a:rPr sz="1100">
                <a:solidFill>
                  <a:srgbClr val="222222"/>
                </a:solidFill>
              </a:rPr>
              <a:t>•  기관별 역할:</a:t>
            </a:r>
          </a:p>
          <a:p>
            <a:r>
              <a:rPr sz="1100">
                <a:solidFill>
                  <a:srgbClr val="222222"/>
                </a:solidFill>
              </a:rPr>
              <a:t>•  DART: 기업 고유번호(corp_code) 매핑 및 주요 재무 계정 추출.</a:t>
            </a:r>
          </a:p>
          <a:p>
            <a:r>
              <a:rPr sz="1100">
                <a:solidFill>
                  <a:srgbClr val="222222"/>
                </a:solidFill>
              </a:rPr>
              <a:t>•  ECOS: 통계표 및 항목 코드 기반의 시계열 거시지표 수집.</a:t>
            </a:r>
          </a:p>
          <a:p>
            <a:r>
              <a:rPr sz="1100">
                <a:solidFill>
                  <a:srgbClr val="222222"/>
                </a:solidFill>
              </a:rPr>
              <a:t>•  코스콤: 실시간/배치 기반의 OHLCV 시세 및 투자자별 수급 데이터 수집.</a:t>
            </a:r>
          </a:p>
          <a:p>
            <a:pPr>
              <a:spcBef>
                <a:spcPts val="600"/>
              </a:spcBef>
            </a:pPr>
            <a:r>
              <a:rPr sz="1300" b="1">
                <a:solidFill>
                  <a:srgbClr val="2E5984"/>
                </a:solidFill>
              </a:rPr>
              <a:t>3. 소스코드 (Source Code): dart_collector.py 및 koscom_collector.py 핵심 로직</a:t>
            </a:r>
          </a:p>
          <a:p>
            <a:r>
              <a:rPr sz="1100">
                <a:solidFill>
                  <a:srgbClr val="222222"/>
                </a:solidFill>
              </a:rPr>
              <a:t>•  핵심 구현: DART 기업번호 매핑 및 코스콤 클라이언트 구조입니다.</a:t>
            </a:r>
          </a:p>
          <a:p>
            <a:pPr>
              <a:spcBef>
                <a:spcPts val="600"/>
              </a:spcBef>
            </a:pPr>
            <a:r>
              <a:rPr sz="1300" b="1">
                <a:solidFill>
                  <a:srgbClr val="2E5984"/>
                </a:solidFill>
              </a:rPr>
              <a:t>4. 실습 (Practice): DART 기업코드 다운로드 및 ECOS 기준금리 호출 테스트</a:t>
            </a:r>
          </a:p>
          <a:p>
            <a:r>
              <a:rPr sz="1100">
                <a:solidFill>
                  <a:srgbClr val="222222"/>
                </a:solidFill>
              </a:rPr>
              <a:t>•  과제 1: download_corp_codes() 함수를 실행하여 CORPCODE.xml이 정상적으로 파싱되고 본인의 종목코드가 리스트에 존재하는지 확인하십시오.</a:t>
            </a:r>
          </a:p>
          <a:p>
            <a:r>
              <a:rPr sz="1100">
                <a:solidFill>
                  <a:srgbClr val="222222"/>
                </a:solidFill>
              </a:rPr>
              <a:t>•  과제 2: ECOS API를 통해 현재 한국은행 기준금리를 호출하고, config.py에 설정된 통계표 코드(722Y001)와 항목 코드(0101000)가 정확히 일치하는지 점검하십시오.</a:t>
            </a:r>
          </a:p>
          <a:p>
            <a:pPr>
              <a:spcBef>
                <a:spcPts val="600"/>
              </a:spcBef>
            </a:pPr>
            <a:r>
              <a:rPr sz="1300" b="1">
                <a:solidFill>
                  <a:srgbClr val="2E5984"/>
                </a:solidFill>
              </a:rPr>
              <a:t>5. 확장 (Expansion): 호출 제한(Rate Limit) 관리 및 데이터 정규화(Normalization)</a:t>
            </a:r>
          </a:p>
          <a:p>
            <a:r>
              <a:rPr sz="1100">
                <a:solidFill>
                  <a:srgbClr val="222222"/>
                </a:solidFill>
              </a:rPr>
              <a:t>•  고도화 전략: 기관별 호출 제한(예: 분당 1,000회)을 준수하기 위해 time.sleep() 또는 비동기 큐를 도입하고, 코스콤의 시세 필드명(예: trdPrc)을 시스템 표준 필드명(close)으로 자동 변환하는 정규화 모듈을 강화합니다.</a:t>
            </a:r>
          </a:p>
          <a:p>
            <a:r>
              <a:rPr sz="1100">
                <a:solidFill>
                  <a:srgbClr val="222222"/>
                </a:solidFill>
              </a:rPr>
              <a:t>•  기술적 지향점: 이 데이터 수집 모듈은 향후 183번 슬라이드에서 구현할 멀티 에이전트(CrewAI) 중 DataCollectorAgent의 핵심 도구(Tool)로 등록되어, AI가 스스로 판단하여 필요한 데이터를 수집하는 자율형 시스템의 근간이 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180  ·  104/216</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[105] AI 금융정보단말 구축 실무 - 36부: 데이터 분석 엔진 구현</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로우 데이터(Raw Data)를 투자 점수로 변환하는 '정량 분석 엔진'</a:t>
            </a:r>
          </a:p>
          <a:p>
            <a:r>
              <a:rPr sz="1100">
                <a:solidFill>
                  <a:srgbClr val="222222"/>
                </a:solidFill>
              </a:rPr>
              <a:t>•  기술적 분석(technical.py): 주가와 거래량 데이터를 기반으로 추세, 모멘텀, 변동성을 계산하여 매수/매도 신호를 포착합니다.</a:t>
            </a:r>
          </a:p>
          <a:p>
            <a:r>
              <a:rPr sz="1100">
                <a:solidFill>
                  <a:srgbClr val="222222"/>
                </a:solidFill>
              </a:rPr>
              <a:t>•  기본적 분석(fundamental.py): DART 재무제표에서 핵심 계정을 추출하여 수익성, 안정성, 성장성을 점수화합니다.</a:t>
            </a:r>
          </a:p>
          <a:p>
            <a:r>
              <a:rPr sz="1100">
                <a:solidFill>
                  <a:srgbClr val="222222"/>
                </a:solidFill>
              </a:rPr>
              <a:t>•  핵심 가치: 주관적 판단을 배제하고 데이터에 기반한 객관적 루브릭(Rubric)에 따라 종목을 평가함으로써 분석의 일관성을 확보합니다.</a:t>
            </a:r>
          </a:p>
          <a:p>
            <a:pPr>
              <a:spcBef>
                <a:spcPts val="600"/>
              </a:spcBef>
            </a:pPr>
            <a:r>
              <a:rPr sz="1300" b="1">
                <a:solidFill>
                  <a:srgbClr val="2E5984"/>
                </a:solidFill>
              </a:rPr>
              <a:t>2. 아키텍처 (Architecture): 모듈화된 분석 파이프라인 및 영역별 스코어링</a:t>
            </a:r>
          </a:p>
          <a:p>
            <a:r>
              <a:rPr sz="1100">
                <a:solidFill>
                  <a:srgbClr val="222222"/>
                </a:solidFill>
              </a:rPr>
              <a:t>•  분석 영역:</a:t>
            </a:r>
          </a:p>
          <a:p>
            <a:r>
              <a:rPr sz="1100">
                <a:solidFill>
                  <a:srgbClr val="222222"/>
                </a:solidFill>
              </a:rPr>
              <a:t>•  Technical: 이동평균선(MA), RSI, MACD, 볼린저밴드, ATR 등을 통한 추세 및 과열 분석.</a:t>
            </a:r>
          </a:p>
          <a:p>
            <a:r>
              <a:rPr sz="1100">
                <a:solidFill>
                  <a:srgbClr val="222222"/>
                </a:solidFill>
              </a:rPr>
              <a:t>•  Fundamental: 매출액, 영업이익, ROE, 부채비율 등 핵심 지표 산출.</a:t>
            </a:r>
          </a:p>
          <a:p>
            <a:r>
              <a:rPr sz="1100">
                <a:solidFill>
                  <a:srgbClr val="222222"/>
                </a:solidFill>
              </a:rPr>
              <a:t>•  데이터 흐름: [DB 데이터 로드] → [Pandas 변환] → [지표 계산] → [영역별 점수(0~100점) 반환].</a:t>
            </a:r>
          </a:p>
          <a:p>
            <a:pPr>
              <a:spcBef>
                <a:spcPts val="600"/>
              </a:spcBef>
            </a:pPr>
            <a:r>
              <a:rPr sz="1300" b="1">
                <a:solidFill>
                  <a:srgbClr val="2E5984"/>
                </a:solidFill>
              </a:rPr>
              <a:t>3. 소스코드 (Source Code): 분석 모듈 핵심 로직 명세 [출처: 150, 151, 181]</a:t>
            </a:r>
          </a:p>
          <a:p>
            <a:r>
              <a:rPr sz="1100">
                <a:solidFill>
                  <a:srgbClr val="222222"/>
                </a:solidFill>
              </a:rPr>
              <a:t>•  technical.py (기술적 지표): MA5/20/60, RSI14, MACD, 볼린저밴드 상/하단, ATR14를 계산하며 데이터 부족 시 경고를 반환합니다.</a:t>
            </a:r>
          </a:p>
          <a:p>
            <a:r>
              <a:rPr sz="1100">
                <a:solidFill>
                  <a:srgbClr val="222222"/>
                </a:solidFill>
              </a:rPr>
              <a:t>•  fundamental.py (재무 점수): 매출액, 영업이익, 순이익, 자산, 부채, 자본을 추출하여 ROE와 부채비율을 계산합니다.</a:t>
            </a:r>
          </a:p>
          <a:p>
            <a:pPr>
              <a:spcBef>
                <a:spcPts val="600"/>
              </a:spcBef>
            </a:pPr>
            <a:r>
              <a:rPr sz="1300" b="1">
                <a:solidFill>
                  <a:srgbClr val="2E5984"/>
                </a:solidFill>
              </a:rPr>
              <a:t>4. 실습 (Practice): 샘플 데이터를 이용한 지표 계산 및 점수 정합성 검증</a:t>
            </a:r>
          </a:p>
          <a:p>
            <a:r>
              <a:rPr sz="1100">
                <a:solidFill>
                  <a:srgbClr val="222222"/>
                </a:solidFill>
              </a:rPr>
              <a:t>•  과제 1: load_sample_data API를 통해 적재된 더미 데이터를 기반으로 기술적 분석 함수를 실행하고 RSI와 MACD 값이 정상 산출되는지 확인하십시오.</a:t>
            </a:r>
          </a:p>
          <a:p>
            <a:r>
              <a:rPr sz="1100">
                <a:solidFill>
                  <a:srgbClr val="222222"/>
                </a:solidFill>
              </a:rPr>
              <a:t>•  과제 2: '삼성전자'의 재무 행 데이터에서 thstrm_amount가 각 계정명(매출액, 영업이익 등)에 정확히 매핑되는지 로그를 통해 점검하십시오.</a:t>
            </a:r>
          </a:p>
          <a:p>
            <a:pPr>
              <a:spcBef>
                <a:spcPts val="600"/>
              </a:spcBef>
            </a:pPr>
            <a:r>
              <a:rPr sz="1300" b="1">
                <a:solidFill>
                  <a:srgbClr val="2E5984"/>
                </a:solidFill>
              </a:rPr>
              <a:t>5. 확장 (Expansion): pandas-ta 라이브러리 도입 및 AI 분석용 데이터 정제</a:t>
            </a:r>
          </a:p>
          <a:p>
            <a:r>
              <a:rPr sz="1100">
                <a:solidFill>
                  <a:srgbClr val="222222"/>
                </a:solidFill>
              </a:rPr>
              <a:t>•  고도화 전략: 수동 계산 방식에서 탈피하여 pandas-ta 라이브러리를 도입함으로써 100여 개 이상의 전문 기술적 지표를 즉시 확장 적용합니다.</a:t>
            </a:r>
          </a:p>
          <a:p>
            <a:r>
              <a:rPr sz="1100">
                <a:solidFill>
                  <a:srgbClr val="222222"/>
                </a:solidFill>
              </a:rPr>
              <a:t>•  기술적 지향점: 산출된 정량 점수는 182번 슬라이드에서 다룰 scoring.py로 전달되어 종합 등급을 결정하며, 계산된 수치들은 gpt_brief_agent의 정성적 분석을 위한 핵심 근거 데이터로 활용됩니다.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181  ·  105/216</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[106] AI 금융정보단말 구축 실무 - 37부: 수급·거시 분석 및 종합 스코어링</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시장의 '돈의 흐름'과 '판의 변화'를 읽는 최종 의사결정 모듈</a:t>
            </a:r>
          </a:p>
          <a:p>
            <a:r>
              <a:rPr sz="1100">
                <a:solidFill>
                  <a:srgbClr val="222222"/>
                </a:solidFill>
              </a:rPr>
              <a:t>•  수급 분석(flow.py): 주가 상승의 주체인 외국인과 기관의 매수 강도를 추적하여 수급 에너지를 평가합니다. [출처: 182]</a:t>
            </a:r>
          </a:p>
          <a:p>
            <a:r>
              <a:rPr sz="1100">
                <a:solidFill>
                  <a:srgbClr val="222222"/>
                </a:solidFill>
              </a:rPr>
              <a:t>•  거시 분석(macro.py): 금리, 환율, 물가 등 시장 전체의 체력을 결정하는 외부 변수를 점수화합니다. [출처: 182]</a:t>
            </a:r>
          </a:p>
          <a:p>
            <a:r>
              <a:rPr sz="1100">
                <a:solidFill>
                  <a:srgbClr val="222222"/>
                </a:solidFill>
              </a:rPr>
              <a:t>•  종합 스코어링(scoring.py): 4대 분석 영역에 가중치를 부여하여 최종 합산 점수와 투자 등급(Rating)을 산출하는 시스템의 최종 결론부입니다. [출처: 182]</a:t>
            </a:r>
          </a:p>
          <a:p>
            <a:pPr>
              <a:spcBef>
                <a:spcPts val="600"/>
              </a:spcBef>
            </a:pPr>
            <a:r>
              <a:rPr sz="1300" b="1">
                <a:solidFill>
                  <a:srgbClr val="2E5984"/>
                </a:solidFill>
              </a:rPr>
              <a:t>2. 아키텍처 (Architecture): 가중치 기반의 평가 시스템 및 등급 매핑 [출처: 154, 182]</a:t>
            </a:r>
          </a:p>
          <a:p>
            <a:r>
              <a:rPr sz="1100">
                <a:solidFill>
                  <a:srgbClr val="222222"/>
                </a:solidFill>
              </a:rPr>
              <a:t>•  영역별 가중치: 기본적 분석(35%) + 기술적 분석(30%) + 수급 분석(20%) + 거시 분석(15%).</a:t>
            </a:r>
          </a:p>
          <a:p>
            <a:r>
              <a:rPr sz="1100">
                <a:solidFill>
                  <a:srgbClr val="222222"/>
                </a:solidFill>
              </a:rPr>
              <a:t>•  등급 체계 (Rating):</a:t>
            </a:r>
          </a:p>
          <a:p>
            <a:r>
              <a:rPr sz="1100">
                <a:solidFill>
                  <a:srgbClr val="222222"/>
                </a:solidFill>
              </a:rPr>
              <a:t>•  80점 이상: STRONG_BUY (적극 매수)</a:t>
            </a:r>
          </a:p>
          <a:p>
            <a:r>
              <a:rPr sz="1100">
                <a:solidFill>
                  <a:srgbClr val="222222"/>
                </a:solidFill>
              </a:rPr>
              <a:t>•  65~79점: BUY (매수)</a:t>
            </a:r>
          </a:p>
          <a:p>
            <a:r>
              <a:rPr sz="1100">
                <a:solidFill>
                  <a:srgbClr val="222222"/>
                </a:solidFill>
              </a:rPr>
              <a:t>•  50~64점: HOLD (보유/관찰)</a:t>
            </a:r>
          </a:p>
          <a:p>
            <a:r>
              <a:rPr sz="1100">
                <a:solidFill>
                  <a:srgbClr val="222222"/>
                </a:solidFill>
              </a:rPr>
              <a:t>•  35~49점: WATCH (주의)</a:t>
            </a:r>
          </a:p>
          <a:p>
            <a:r>
              <a:rPr sz="1100">
                <a:solidFill>
                  <a:srgbClr val="222222"/>
                </a:solidFill>
              </a:rPr>
              <a:t>•  35점 미만: RISK (위험/회피)</a:t>
            </a:r>
          </a:p>
          <a:p>
            <a:pPr>
              <a:spcBef>
                <a:spcPts val="600"/>
              </a:spcBef>
            </a:pPr>
            <a:r>
              <a:rPr sz="1300" b="1">
                <a:solidFill>
                  <a:srgbClr val="2E5984"/>
                </a:solidFill>
              </a:rPr>
              <a:t>3. 소스코드 (Source Code): 핵심 분석 및 합산 로직 명세 [출처: 152, 153, 154, 182]</a:t>
            </a:r>
          </a:p>
          <a:p>
            <a:r>
              <a:rPr sz="1100">
                <a:solidFill>
                  <a:srgbClr val="222222"/>
                </a:solidFill>
              </a:rPr>
              <a:t>•  flow.py (수급): 최근 20거래일 순매수 합산. [출처: 152, 182]</a:t>
            </a:r>
          </a:p>
          <a:p>
            <a:r>
              <a:rPr sz="1100">
                <a:solidFill>
                  <a:srgbClr val="222222"/>
                </a:solidFill>
              </a:rPr>
              <a:t>•  scoring.py (종합): 영역별 점수 취합 및 가중치 적용. [출처: 154, 182]</a:t>
            </a:r>
          </a:p>
          <a:p>
            <a:pPr>
              <a:spcBef>
                <a:spcPts val="600"/>
              </a:spcBef>
            </a:pPr>
            <a:r>
              <a:rPr sz="1300" b="1">
                <a:solidFill>
                  <a:srgbClr val="2E5984"/>
                </a:solidFill>
              </a:rPr>
              <a:t>4. 실습 (Practice): 가중치 변경 시뮬레이션 및 데이터 부족 예외 테스트</a:t>
            </a:r>
          </a:p>
          <a:p>
            <a:r>
              <a:rPr sz="1100">
                <a:solidFill>
                  <a:srgbClr val="222222"/>
                </a:solidFill>
              </a:rPr>
              <a:t>•  과제 1: 본인이 수급(Flow)의 중요도를 높게 평가한다면 scoring.py의 가중치를 직접 수정(예: 20% → 30%)하고 최종 점수 변화를 관찰하십시오. [출처: 182]</a:t>
            </a:r>
          </a:p>
          <a:p>
            <a:r>
              <a:rPr sz="1100">
                <a:solidFill>
                  <a:srgbClr val="222222"/>
                </a:solidFill>
              </a:rPr>
              <a:t>•  과제 2: 수급 데이터가 전혀 없는 신규 종목의 경우, 시스템이 중단되지 않고 중립 점수(50점)를 반환하는지 검증하십시오. [출처: 182]</a:t>
            </a:r>
          </a:p>
          <a:p>
            <a:pPr>
              <a:spcBef>
                <a:spcPts val="600"/>
              </a:spcBef>
            </a:pPr>
            <a:r>
              <a:rPr sz="1300" b="1">
                <a:solidFill>
                  <a:srgbClr val="2E5984"/>
                </a:solidFill>
              </a:rPr>
              <a:t>5. 확장 (Expansion): 동적 가중치 모델 및 리스크 경보 시스템 연동</a:t>
            </a:r>
          </a:p>
          <a:p>
            <a:r>
              <a:rPr sz="1100">
                <a:solidFill>
                  <a:srgbClr val="222222"/>
                </a:solidFill>
              </a:rPr>
              <a:t>•  고도화 전략: 시장 국면(상승장/하락장)에 따라 기술적 지표와 거시 지표의 가중치를 자동으로 조절하는 동적 가중치 엔진으로 확장합니다.</a:t>
            </a:r>
          </a:p>
          <a:p>
            <a:r>
              <a:rPr sz="1100">
                <a:solidFill>
                  <a:srgbClr val="222222"/>
                </a:solidFill>
              </a:rPr>
              <a:t>•  기술적 지향점: 산출된 risk_score가 특정 임계값을 넘을 경우, 163번 슬라이드의 텔레그램 알림 엔진에 긴급 신호를 보내 투자자에게 즉각적인 경고를 전송하는 '지능형 리스크 워치' 체계를 완성합니다. [출처: 172]</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182  ·  106/216</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[107] AI 금융정보단말 구축 실무 - 38부: GPT 투자 브리프 생성 엔진</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데이터에 '서사(Narrative)'를 입히는 AI 애널리스트</a:t>
            </a:r>
          </a:p>
          <a:p>
            <a:r>
              <a:rPr sz="1100">
                <a:solidFill>
                  <a:srgbClr val="222222"/>
                </a:solidFill>
              </a:rPr>
              <a:t>•  정의: 기술적·기본적·수급·거시 분석에서 도출된 방대한 숫자 데이터를 자연어로 해석하여, 투자자가 즉시 이해할 수 있는 형태의 요약 브리프를 생성하는 엔진입니다.</a:t>
            </a:r>
          </a:p>
          <a:p>
            <a:r>
              <a:rPr sz="1100">
                <a:solidFill>
                  <a:srgbClr val="222222"/>
                </a:solidFill>
              </a:rPr>
              <a:t>•  핵심 가치: 파편화된 지표들 간의 상관관계를 GPT가 추론하여 "왜 이 종목이 유망한지" 또는 "어떤 리스크를 조심해야 하는지"에 대한 논리적 근거를 제공합니다.</a:t>
            </a:r>
          </a:p>
          <a:p>
            <a:pPr>
              <a:spcBef>
                <a:spcPts val="600"/>
              </a:spcBef>
            </a:pPr>
            <a:r>
              <a:rPr sz="1300" b="1">
                <a:solidFill>
                  <a:srgbClr val="2E5984"/>
                </a:solidFill>
              </a:rPr>
              <a:t>2. 아키텍처 (Architecture): 데이터 무결성을 위한 'Structured Output' 설계</a:t>
            </a:r>
          </a:p>
          <a:p>
            <a:r>
              <a:rPr sz="1100">
                <a:solidFill>
                  <a:srgbClr val="222222"/>
                </a:solidFill>
              </a:rPr>
              <a:t>•  구조적 특징: 단순 텍스트 생성이 아닌, 사전에 정의된 JSON 스키마(Schema)를 강제하여 PDF 리포트와 웹 화면에 정확한 필드값이 매핑되도록 보장합니다.</a:t>
            </a:r>
          </a:p>
          <a:p>
            <a:r>
              <a:rPr sz="1100">
                <a:solidFill>
                  <a:srgbClr val="222222"/>
                </a:solidFill>
              </a:rPr>
              <a:t>•  출력 필드(9개 항목):</a:t>
            </a:r>
          </a:p>
          <a:p>
            <a:r>
              <a:rPr sz="1100">
                <a:solidFill>
                  <a:srgbClr val="222222"/>
                </a:solidFill>
              </a:rPr>
              <a:t>•  핵심요약(one_line_summary) 2. 투자의견(opinion) 3. 주요포인트(key_points) 4. 기본적 분석 5. 기술적 분석 6. 수급 분석 7. 거시 환경 8. 리스크 요인 9. 대응 전략.</a:t>
            </a:r>
          </a:p>
          <a:p>
            <a:pPr>
              <a:spcBef>
                <a:spcPts val="600"/>
              </a:spcBef>
            </a:pPr>
            <a:r>
              <a:rPr sz="1300" b="1">
                <a:solidFill>
                  <a:srgbClr val="2E5984"/>
                </a:solidFill>
              </a:rPr>
              <a:t>3. 소스코드 (Source Code): gpt_brief_agent.py 핵심 로직 명세</a:t>
            </a:r>
          </a:p>
          <a:p>
            <a:r>
              <a:rPr sz="1100">
                <a:solidFill>
                  <a:srgbClr val="222222"/>
                </a:solidFill>
              </a:rPr>
              <a:t>•  핵심 구현: OpenAI Responses API와 JSON Schema 적용입니다.</a:t>
            </a:r>
          </a:p>
          <a:p>
            <a:pPr>
              <a:spcBef>
                <a:spcPts val="600"/>
              </a:spcBef>
            </a:pPr>
            <a:r>
              <a:rPr sz="1300" b="1">
                <a:solidFill>
                  <a:srgbClr val="2E5984"/>
                </a:solidFill>
              </a:rPr>
              <a:t>4. 실습 (Practice): 브리프 생성 테스트 및 투자자문 고지문 검증</a:t>
            </a:r>
          </a:p>
          <a:p>
            <a:r>
              <a:rPr sz="1100">
                <a:solidFill>
                  <a:srgbClr val="222222"/>
                </a:solidFill>
              </a:rPr>
              <a:t>•  과제 1: 삼성전자의 스코어링 데이터를 주입하여 GPT가 생성한 투자 의견(enum값)이 182번 슬라이드의 정량 등급과 논리적으로 일치하는지 확인하십시오.</a:t>
            </a:r>
          </a:p>
          <a:p>
            <a:r>
              <a:rPr sz="1100">
                <a:solidFill>
                  <a:srgbClr val="222222"/>
                </a:solidFill>
              </a:rPr>
              <a:t>•  과제 2: 생성된 브리프 하단에 "본 자료는 정보 제공 목적의 자동 생성 리포트이며... 투자 판단과 책임은 투자자 본인에게 있습니다."라는 면책 조항(Disclaimer)이 반드시 포함되는지 점검하십시오.</a:t>
            </a:r>
          </a:p>
          <a:p>
            <a:pPr>
              <a:spcBef>
                <a:spcPts val="600"/>
              </a:spcBef>
            </a:pPr>
            <a:r>
              <a:rPr sz="1300" b="1">
                <a:solidFill>
                  <a:srgbClr val="2E5984"/>
                </a:solidFill>
              </a:rPr>
              <a:t>5. 확장 (Expansion): 자율형 에이전트(CrewAI) 오케스트레이션으로의 진화</a:t>
            </a:r>
          </a:p>
          <a:p>
            <a:r>
              <a:rPr sz="1100">
                <a:solidFill>
                  <a:srgbClr val="222222"/>
                </a:solidFill>
              </a:rPr>
              <a:t>•  고도화 전략: 현재의 일방향 파이프라인을 넘어, 184번 슬라이드에서 다룰 CrewAI를 연동하여 데이터 수집가, 재무 분석가, 차트 전문가 등 각 역할을 맡은 에이전트들이 협업하여 리포트를 작성하는 멀티 에이전트 시스템으로 확장합니다.</a:t>
            </a:r>
          </a:p>
          <a:p>
            <a:r>
              <a:rPr sz="1100">
                <a:solidFill>
                  <a:srgbClr val="222222"/>
                </a:solidFill>
              </a:rPr>
              <a:t>•  기술적 지향점: 이를 통해 단순 요약을 넘어 "과거 유사 국면과 비교했을 때 현재의 수급 상황은 어떤가?"와 같은 입체적인 질의에 답변할 수 있는 지능형 리서치 엔진으로 발전시킵니다.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183  ·  107/216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[108] AI 금융정보단말 구축 실무 - 39부: 분석 오케스트레이터 구현</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개별 모듈을 통합 지휘하는 '시스템의 중앙 통제실'</a:t>
            </a:r>
          </a:p>
          <a:p>
            <a:r>
              <a:rPr sz="1100">
                <a:solidFill>
                  <a:srgbClr val="222222"/>
                </a:solidFill>
              </a:rPr>
              <a:t>•  정의: 앞서 구축한 수집(Collector), 분석(Analysis), 스코어링(Scoring), GPT 에이전트 모듈을 유기적으로 연결하여 하나의 완성된 리포트를 생성해내는 중앙 오케스트레이터입니다. [출처: 136, 184]</a:t>
            </a:r>
          </a:p>
          <a:p>
            <a:r>
              <a:rPr sz="1100">
                <a:solidFill>
                  <a:srgbClr val="222222"/>
                </a:solidFill>
              </a:rPr>
              <a:t>•  핵심 가치: 각 단계의 데이터 의존성을 관리하고, 특정 데이터가 누락될 경우 샘플 데이터로 대체(Fallback)하거나 예외 처리를 수행하여 시스템의 중단 없는 서비스를 보장합니다. [출처: 184]</a:t>
            </a:r>
          </a:p>
          <a:p>
            <a:pPr>
              <a:spcBef>
                <a:spcPts val="600"/>
              </a:spcBef>
            </a:pPr>
            <a:r>
              <a:rPr sz="1300" b="1">
                <a:solidFill>
                  <a:srgbClr val="2E5984"/>
                </a:solidFill>
              </a:rPr>
              <a:t>2. 아키텍처 (Architecture): 13단계 엔드 투 엔드(E2E) 분석 워크플로우 [출처: 136, 184]</a:t>
            </a:r>
          </a:p>
          <a:p>
            <a:r>
              <a:rPr sz="1100">
                <a:solidFill>
                  <a:srgbClr val="222222"/>
                </a:solidFill>
              </a:rPr>
              <a:t>•  프로세스 단계:</a:t>
            </a:r>
          </a:p>
          <a:p>
            <a:r>
              <a:rPr sz="1100">
                <a:solidFill>
                  <a:srgbClr val="222222"/>
                </a:solidFill>
              </a:rPr>
              <a:t>•  종목정보 로드 → 2. 가격 데이터 로드 → 3. 수급 데이터 로드 → 4. 재무 데이터 로드 → 5. 거시 데이터 로드.</a:t>
            </a:r>
          </a:p>
          <a:p>
            <a:r>
              <a:rPr sz="1100">
                <a:solidFill>
                  <a:srgbClr val="222222"/>
                </a:solidFill>
              </a:rPr>
              <a:t>•  기술적 분석 → 7. 기본적 분석 → 8. 수급 분석 → 9. 거시 분석.</a:t>
            </a:r>
          </a:p>
          <a:p>
            <a:r>
              <a:rPr sz="1100">
                <a:solidFill>
                  <a:srgbClr val="222222"/>
                </a:solidFill>
              </a:rPr>
              <a:t>•  종합 스코어링 → 11. GPT 브리프 생성 → 12. PDF 생성 → 13. 최종 DB(generated_reports) 저장.</a:t>
            </a:r>
          </a:p>
          <a:p>
            <a:pPr>
              <a:spcBef>
                <a:spcPts val="600"/>
              </a:spcBef>
            </a:pPr>
            <a:r>
              <a:rPr sz="1300" b="1">
                <a:solidFill>
                  <a:srgbClr val="2E5984"/>
                </a:solidFill>
              </a:rPr>
              <a:t>3. 소스코드 (Source Code): generate_full_report 핵심 로직 [출처: 159, 184]</a:t>
            </a:r>
          </a:p>
          <a:p>
            <a:r>
              <a:rPr sz="1100">
                <a:solidFill>
                  <a:srgbClr val="222222"/>
                </a:solidFill>
              </a:rPr>
              <a:t>•  핵심 구현: 전 과정을 순차적으로 실행하고 결과를 취합하는 파이프라인 설계입니다.</a:t>
            </a:r>
          </a:p>
          <a:p>
            <a:pPr>
              <a:spcBef>
                <a:spcPts val="600"/>
              </a:spcBef>
            </a:pPr>
            <a:r>
              <a:rPr sz="1300" b="1">
                <a:solidFill>
                  <a:srgbClr val="2E5984"/>
                </a:solidFill>
              </a:rPr>
              <a:t>4. 실습 (Practice): 전체 파이프라인 구동 및 '샘플 데이터' 모드 검증</a:t>
            </a:r>
          </a:p>
          <a:p>
            <a:r>
              <a:rPr sz="1100">
                <a:solidFill>
                  <a:srgbClr val="222222"/>
                </a:solidFill>
              </a:rPr>
              <a:t>•  과제 1: generate_full_report 함수를 실행하여 데이터 수집부터 PDF 파일 생성까지의 전 과정이 단절 없이 이어지는지 확인하십시오. [출처: 184]</a:t>
            </a:r>
          </a:p>
          <a:p>
            <a:r>
              <a:rPr sz="1100">
                <a:solidFill>
                  <a:srgbClr val="222222"/>
                </a:solidFill>
              </a:rPr>
              <a:t>•  과제 2: 외부 API 키가 없는 경우에도 /sample/load/{ticker} 엔드포인트를 통해 생성된 더미 데이터를 기반으로 리포트가 정상 출력되는지 점검하십시오. [출처: 190]</a:t>
            </a:r>
          </a:p>
          <a:p>
            <a:pPr>
              <a:spcBef>
                <a:spcPts val="600"/>
              </a:spcBef>
            </a:pPr>
            <a:r>
              <a:rPr sz="1300" b="1">
                <a:solidFill>
                  <a:srgbClr val="2E5984"/>
                </a:solidFill>
              </a:rPr>
              <a:t>5. 확장 (Expansion): CrewAI 기반의 에이전틱 고도화 전략 [출처: 183, 184]</a:t>
            </a:r>
          </a:p>
          <a:p>
            <a:r>
              <a:rPr sz="1100">
                <a:solidFill>
                  <a:srgbClr val="222222"/>
                </a:solidFill>
              </a:rPr>
              <a:t>•  고도화 전략: MVP의 안정성을 위해 현재의 결정론적 파이프라인(Deterministic Pipeline)을 기본으로 운영하되, 향후 crew.py를 호출하여 6대 전문 에이전트(DataCollector, TechnicalAnalyst 등)가 협업하는 구조로 확장합니다. [출처: 183]</a:t>
            </a:r>
          </a:p>
          <a:p>
            <a:r>
              <a:rPr sz="1100">
                <a:solidFill>
                  <a:srgbClr val="222222"/>
                </a:solidFill>
              </a:rPr>
              <a:t>•  운영 안정성: CrewAI 등 외부 패키지 설치 문제로 전체 시스템이 멈추지 않도록 try/except 처리를 포함하여 서비스의 가용성을 극대화합니다. [출처: 184]</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184  ·  108/216</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[109] AI 금융정보단말 구축 실무 - 40부: PDF 리포트 생성 엔진 구현</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분석의 완결성을 부여하는 '1페이지 전문가 리포트'</a:t>
            </a:r>
          </a:p>
          <a:p>
            <a:r>
              <a:rPr sz="1100">
                <a:solidFill>
                  <a:srgbClr val="222222"/>
                </a:solidFill>
              </a:rPr>
              <a:t>•  정의: 복잡한 숫자와 AI의 텍스트 분석 결과를 투자자가 한눈에 파악할 수 있도록 표준화된 서식의 PDF 문서로 자동 생성하는 엔진입니다.</a:t>
            </a:r>
          </a:p>
          <a:p>
            <a:r>
              <a:rPr sz="1100">
                <a:solidFill>
                  <a:srgbClr val="222222"/>
                </a:solidFill>
              </a:rPr>
              <a:t>•  핵심 가치: 웹이나 메신저를 통한 일회성 정보 소비를 넘어, 출력 및 보관이 가능한 전문가용 투자 브리프를 제공함으로써 서비스의 신뢰도를 극대화합니다.</a:t>
            </a:r>
          </a:p>
          <a:p>
            <a:pPr>
              <a:spcBef>
                <a:spcPts val="600"/>
              </a:spcBef>
            </a:pPr>
            <a:r>
              <a:rPr sz="1300" b="1">
                <a:solidFill>
                  <a:srgbClr val="2E5984"/>
                </a:solidFill>
              </a:rPr>
              <a:t>2. 아키텍처 (Architecture): ReportLab 기반의 1페이지 요약 레이아웃</a:t>
            </a:r>
          </a:p>
          <a:p>
            <a:r>
              <a:rPr sz="1100">
                <a:solidFill>
                  <a:srgbClr val="222222"/>
                </a:solidFill>
              </a:rPr>
              <a:t>•  상세 구성:</a:t>
            </a:r>
          </a:p>
          <a:p>
            <a:r>
              <a:rPr sz="1100">
                <a:solidFill>
                  <a:srgbClr val="222222"/>
                </a:solidFill>
              </a:rPr>
              <a:t>•  헤더: 제목("KOStockCrewAI 투자 브리프") 및 작성 일시.</a:t>
            </a:r>
          </a:p>
          <a:p>
            <a:r>
              <a:rPr sz="1100">
                <a:solidFill>
                  <a:srgbClr val="222222"/>
                </a:solidFill>
              </a:rPr>
              <a:t>•  요약 표: 종합점수, 리스크점수, 기본/기술/수급/거시 영역별 점수 배치.</a:t>
            </a:r>
          </a:p>
          <a:p>
            <a:r>
              <a:rPr sz="1100">
                <a:solidFill>
                  <a:srgbClr val="222222"/>
                </a:solidFill>
              </a:rPr>
              <a:t>•  AI 섹션: GPT 핵심요약, 주요 포인트, 리스크 요인, 대응전략 서술.</a:t>
            </a:r>
          </a:p>
          <a:p>
            <a:r>
              <a:rPr sz="1100">
                <a:solidFill>
                  <a:srgbClr val="222222"/>
                </a:solidFill>
              </a:rPr>
              <a:t>•  푸터: 법적 효력을 위한 투자자문 고지문(Disclaimer) 포함.</a:t>
            </a:r>
          </a:p>
          <a:p>
            <a:pPr>
              <a:spcBef>
                <a:spcPts val="600"/>
              </a:spcBef>
            </a:pPr>
            <a:r>
              <a:rPr sz="1300" b="1">
                <a:solidFill>
                  <a:srgbClr val="2E5984"/>
                </a:solidFill>
              </a:rPr>
              <a:t>3. 소스코드 (Source Code): pdf_report.py 핵심 구현 및 한글 처리</a:t>
            </a:r>
          </a:p>
          <a:p>
            <a:r>
              <a:rPr sz="1100">
                <a:solidFill>
                  <a:srgbClr val="222222"/>
                </a:solidFill>
              </a:rPr>
              <a:t>•  핵심 로직: ReportLab 활용 및 폰트 폴백(Fallback) 설계입니다.</a:t>
            </a:r>
          </a:p>
          <a:p>
            <a:pPr>
              <a:spcBef>
                <a:spcPts val="600"/>
              </a:spcBef>
            </a:pPr>
            <a:r>
              <a:rPr sz="1300" b="1">
                <a:solidFill>
                  <a:srgbClr val="2E5984"/>
                </a:solidFill>
              </a:rPr>
              <a:t>4. 실습 (Practice): PDF 생성 테스트 및 레이아웃 검증</a:t>
            </a:r>
          </a:p>
          <a:p>
            <a:r>
              <a:rPr sz="1100">
                <a:solidFill>
                  <a:srgbClr val="222222"/>
                </a:solidFill>
              </a:rPr>
              <a:t>•  과제: 임의의 종목에 대해 create_pdf_report 함수를 실행하고, reports/ 폴더 내에 생성된 PDF 파일을 열어 다음 사항을 점검하십시오.</a:t>
            </a:r>
          </a:p>
          <a:p>
            <a:r>
              <a:rPr sz="1100">
                <a:solidFill>
                  <a:srgbClr val="222222"/>
                </a:solidFill>
              </a:rPr>
              <a:t>•  체크리스트: 한글 깨짐 여부, 4대 분석 점수 표기 정확성, 하단 면책 조항 유무.</a:t>
            </a:r>
          </a:p>
          <a:p>
            <a:pPr>
              <a:spcBef>
                <a:spcPts val="600"/>
              </a:spcBef>
            </a:pPr>
            <a:r>
              <a:rPr sz="1300" b="1">
                <a:solidFill>
                  <a:srgbClr val="2E5984"/>
                </a:solidFill>
              </a:rPr>
              <a:t>5. 확장 (Expansion): 시각화 차트 삽입 및 실시간 배포 연동</a:t>
            </a:r>
          </a:p>
          <a:p>
            <a:r>
              <a:rPr sz="1100">
                <a:solidFill>
                  <a:srgbClr val="222222"/>
                </a:solidFill>
              </a:rPr>
              <a:t>•  고도화 전략: mplfinance로 생성한 캔들 차트 이미지를 PDF 내부에 동적으로 삽입하거나, 기업 로고를 추가하여 리포트의 시각적 완성도를 높입니다.</a:t>
            </a:r>
          </a:p>
          <a:p>
            <a:r>
              <a:rPr sz="1100">
                <a:solidFill>
                  <a:srgbClr val="222222"/>
                </a:solidFill>
              </a:rPr>
              <a:t>•  기술적 지향점: 생성된 PDF를 163번 슬라이드의 텔레그램 데일리 브리핑 또는 이메일과 연동하여, 매일 아침 투자자에게 자동으로 전달되는 '퍼스널 AI 애널리스트' 시스템을 완성합니다.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185  ·  109/216</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[110] AI 금융정보단말 구축 실무 - 41부: FastAPI 메인 서버 및 UI·봇 통합</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서비스의 진입점과 '멀티 채널' 인터페이스 완성</a:t>
            </a:r>
          </a:p>
          <a:p>
            <a:r>
              <a:rPr sz="1100">
                <a:solidFill>
                  <a:srgbClr val="222222"/>
                </a:solidFill>
              </a:rPr>
              <a:t>•  메인 서버(main.py): 모든 분석 API와 데이터 수집 경로를 통합 관리하고, 외부 서비스(웹/봇)의 요청을 처리하는 중앙 게이트웨이입니다. [출처: 186]</a:t>
            </a:r>
          </a:p>
          <a:p>
            <a:r>
              <a:rPr sz="1100">
                <a:solidFill>
                  <a:srgbClr val="222222"/>
                </a:solidFill>
              </a:rPr>
              <a:t>•  UI·봇 통합: 웹 단말(Streamlit)과 메신저(Telegram)라는 이중 인터페이스를 통해 사용자가 언제 어디서든 종목 분석 결과에 접근할 수 있도록 하는 사용자 경험(UX) 완성 단계입니다. [출처: 186]</a:t>
            </a:r>
          </a:p>
          <a:p>
            <a:pPr>
              <a:spcBef>
                <a:spcPts val="600"/>
              </a:spcBef>
            </a:pPr>
            <a:r>
              <a:rPr sz="1300" b="1">
                <a:solidFill>
                  <a:srgbClr val="2E5984"/>
                </a:solidFill>
              </a:rPr>
              <a:t>2. 아키텍처 (Architecture): API 중심의 인터페이스 허브 구조 [출처: 186]</a:t>
            </a:r>
          </a:p>
          <a:p>
            <a:r>
              <a:rPr sz="1100">
                <a:solidFill>
                  <a:srgbClr val="222222"/>
                </a:solidFill>
              </a:rPr>
              <a:t>•  백엔드(FastAPI): 분석 루팅, CORS 설정, Swagger 문서화 처리.</a:t>
            </a:r>
          </a:p>
          <a:p>
            <a:r>
              <a:rPr sz="1100">
                <a:solidFill>
                  <a:srgbClr val="222222"/>
                </a:solidFill>
              </a:rPr>
              <a:t>•  웹 프론트(Streamlit): 종목코드 입력, 점수 메트릭 카드, GPT 브리프 표시 및 PDF 다운로드 링크 제공.</a:t>
            </a:r>
          </a:p>
          <a:p>
            <a:r>
              <a:rPr sz="1100">
                <a:solidFill>
                  <a:srgbClr val="222222"/>
                </a:solidFill>
              </a:rPr>
              <a:t>•  메신저 봇(Telegram): /start 명령 처리, 대화형 종목 분석 요청 및 PDF 보고서 파일 전송.</a:t>
            </a:r>
          </a:p>
          <a:p>
            <a:pPr>
              <a:spcBef>
                <a:spcPts val="600"/>
              </a:spcBef>
            </a:pPr>
            <a:r>
              <a:rPr sz="1300" b="1">
                <a:solidFill>
                  <a:srgbClr val="2E5984"/>
                </a:solidFill>
              </a:rPr>
              <a:t>3. 소스코드 (Source Code): main.py 및 UI 인터페이스 핵심 명세 [출처: 186]</a:t>
            </a:r>
          </a:p>
          <a:p>
            <a:r>
              <a:rPr sz="1100">
                <a:solidFill>
                  <a:srgbClr val="222222"/>
                </a:solidFill>
              </a:rPr>
              <a:t>•  핵심 구현: 서버 설정 및 UI/봇 연동 규칙입니다.</a:t>
            </a:r>
          </a:p>
          <a:p>
            <a:pPr>
              <a:spcBef>
                <a:spcPts val="600"/>
              </a:spcBef>
            </a:pPr>
            <a:r>
              <a:rPr sz="1300" b="1">
                <a:solidFill>
                  <a:srgbClr val="2E5984"/>
                </a:solidFill>
              </a:rPr>
              <a:t>4. 실습 (Practice): 통합 서버 가동 및 /docs를 통한 API 최종 검수 [출처: 186]</a:t>
            </a:r>
          </a:p>
          <a:p>
            <a:r>
              <a:rPr sz="1100">
                <a:solidFill>
                  <a:srgbClr val="222222"/>
                </a:solidFill>
              </a:rPr>
              <a:t>•  과제 1: uvicorn main:app --reload 명령으로 서버를 가동하고, /docs (Swagger UI)에 접속하여 GET /report/{ticker} 기능이 정상 작동하는지 테스트하십시오.</a:t>
            </a:r>
          </a:p>
          <a:p>
            <a:r>
              <a:rPr sz="1100">
                <a:solidFill>
                  <a:srgbClr val="222222"/>
                </a:solidFill>
              </a:rPr>
              <a:t>•  과제 2: Streamlit 앱과 텔레그램 봇을 동시에 실행한 후, 동일한 종목에 대해 웹과 모바일에서 분석 결과가 일관되게 제공되는지 확인하십시오.</a:t>
            </a:r>
          </a:p>
          <a:p>
            <a:pPr>
              <a:spcBef>
                <a:spcPts val="600"/>
              </a:spcBef>
            </a:pPr>
            <a:r>
              <a:rPr sz="1300" b="1">
                <a:solidFill>
                  <a:srgbClr val="2E5984"/>
                </a:solidFill>
              </a:rPr>
              <a:t>5. 확장 (Expansion): 비동기 처리 고도화 및 다중 사용자 대응</a:t>
            </a:r>
          </a:p>
          <a:p>
            <a:r>
              <a:rPr sz="1100">
                <a:solidFill>
                  <a:srgbClr val="222222"/>
                </a:solidFill>
              </a:rPr>
              <a:t>•  고도화 전략: 대량의 분석 요청이 몰릴 경우를 대비하여 AsyncIO 기반의 비동기 호출을 전면 적용하고, 사용자별 세션 관리와 Rate Limit(호출 제한) 설정을 통해 서버 자원을 보호합니다. [출처: 171, 186]</a:t>
            </a:r>
          </a:p>
          <a:p>
            <a:r>
              <a:rPr sz="1100">
                <a:solidFill>
                  <a:srgbClr val="222222"/>
                </a:solidFill>
              </a:rPr>
              <a:t>•  기술적 지향점: 이로써 187번 슬라이드에서 다룰 오전 7시 자동 브리핑 스케줄러가 안정적으로 작동할 수 있는 서비스 기반이 모두 갖춰졌으며, 실무에서 즉시 운영 가능한 수준의 지능형 금융 서비스 플랫폼이 완성됩니다. [출처: 186, 187]</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186  ·  110/216</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[111] AI 금융정보단말 구축 실무 - 42부: 24x365 운영 자동화 스케줄링</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잠들지 않는 AI 애널리스트의 '자동화 심장부'</a:t>
            </a:r>
          </a:p>
          <a:p>
            <a:r>
              <a:rPr sz="1100">
                <a:solidFill>
                  <a:srgbClr val="222222"/>
                </a:solidFill>
              </a:rPr>
              <a:t>•  정의: 사람이 직접 명령하지 않아도 정해진 시간마다 외부 API에서 데이터를 수집하고 분석 리포트를 생성하여 배달하는 시간 기반 작업 관리 시스템입니다. [출처: 164, 187]</a:t>
            </a:r>
          </a:p>
          <a:p>
            <a:r>
              <a:rPr sz="1100">
                <a:solidFill>
                  <a:srgbClr val="222222"/>
                </a:solidFill>
              </a:rPr>
              <a:t>•  핵심 가치: 매일 아침 장 시작 전 최신 금융 데이터를 확보함으로써, 사용자가 별도의 조작 없이도 오전 7시에 완성된 브리핑을 받아볼 수 있는 무중단 운영 환경을 실현합니다. [출처: 187]</a:t>
            </a:r>
          </a:p>
          <a:p>
            <a:pPr>
              <a:spcBef>
                <a:spcPts val="600"/>
              </a:spcBef>
            </a:pPr>
            <a:r>
              <a:rPr sz="1300" b="1">
                <a:solidFill>
                  <a:srgbClr val="2E5984"/>
                </a:solidFill>
              </a:rPr>
              <a:t>2. 아키텍처 (Architecture): 순차적 데이터 빌드업 파이프라인 [출처: 164, 187]</a:t>
            </a:r>
          </a:p>
          <a:p>
            <a:r>
              <a:rPr sz="1100">
                <a:solidFill>
                  <a:srgbClr val="222222"/>
                </a:solidFill>
              </a:rPr>
              <a:t>•  작업 흐름 (Batch Pipeline):</a:t>
            </a:r>
          </a:p>
          <a:p>
            <a:r>
              <a:rPr sz="1100">
                <a:solidFill>
                  <a:srgbClr val="222222"/>
                </a:solidFill>
              </a:rPr>
              <a:t>•  06:00: DART 기업코드 갱신 (기초 정보 업데이트).</a:t>
            </a:r>
          </a:p>
          <a:p>
            <a:r>
              <a:rPr sz="1100">
                <a:solidFill>
                  <a:srgbClr val="222222"/>
                </a:solidFill>
              </a:rPr>
              <a:t>•  06:10: ECOS 거시지표 수집 (거시 환경 업데이트).</a:t>
            </a:r>
          </a:p>
          <a:p>
            <a:r>
              <a:rPr sz="1100">
                <a:solidFill>
                  <a:srgbClr val="222222"/>
                </a:solidFill>
              </a:rPr>
              <a:t>•  06:20: 코스콤 시세 수집 (가격 정보 업데이트).</a:t>
            </a:r>
          </a:p>
          <a:p>
            <a:r>
              <a:rPr sz="1100">
                <a:solidFill>
                  <a:srgbClr val="222222"/>
                </a:solidFill>
              </a:rPr>
              <a:t>•  06:30: 코스콤 수급 수집 (주체별 매매동향 업데이트).</a:t>
            </a:r>
          </a:p>
          <a:p>
            <a:r>
              <a:rPr sz="1100">
                <a:solidFill>
                  <a:srgbClr val="222222"/>
                </a:solidFill>
              </a:rPr>
              <a:t>•  07:00: 최종 분석 및 텔레그램 데일리 브리핑 발송. [출처: 187]</a:t>
            </a:r>
          </a:p>
          <a:p>
            <a:pPr>
              <a:spcBef>
                <a:spcPts val="600"/>
              </a:spcBef>
            </a:pPr>
            <a:r>
              <a:rPr sz="1300" b="1">
                <a:solidFill>
                  <a:srgbClr val="2E5984"/>
                </a:solidFill>
              </a:rPr>
              <a:t>3. 소스코드 (Source Code): main_scheduler.py 핵심 구현 명세 [출처: 164, 187]</a:t>
            </a:r>
          </a:p>
          <a:p>
            <a:r>
              <a:rPr sz="1100">
                <a:solidFill>
                  <a:srgbClr val="222222"/>
                </a:solidFill>
              </a:rPr>
              <a:t>•  핵심 로직: APScheduler 기반의 스케줄링 설정입니다.</a:t>
            </a:r>
          </a:p>
          <a:p>
            <a:pPr>
              <a:spcBef>
                <a:spcPts val="600"/>
              </a:spcBef>
            </a:pPr>
            <a:r>
              <a:rPr sz="1300" b="1">
                <a:solidFill>
                  <a:srgbClr val="2E5984"/>
                </a:solidFill>
              </a:rPr>
              <a:t>4. 실습 (Practice): 스케줄러 기동 및 '오전 7시' 작업 예약 확인</a:t>
            </a:r>
          </a:p>
          <a:p>
            <a:r>
              <a:rPr sz="1100">
                <a:solidFill>
                  <a:srgbClr val="222222"/>
                </a:solidFill>
              </a:rPr>
              <a:t>•  과제 1: python -m app.scheduler.main_scheduler 명령어를 실행하여 스케줄러가 터미널에서 상주하며 작동하는지 확인하십시오. [출처: 167, 187]</a:t>
            </a:r>
          </a:p>
          <a:p>
            <a:r>
              <a:rPr sz="1100">
                <a:solidFill>
                  <a:srgbClr val="222222"/>
                </a:solidFill>
              </a:rPr>
              <a:t>•  과제 2: 테스트를 위해 현재 시간에서 1분 뒤로 임시 작업을 추가하고, 해당 시간에 로그가 출력되거나 텔레그램 메시지가 오는지 점검하십시오. [출처: 163]</a:t>
            </a:r>
          </a:p>
          <a:p>
            <a:pPr>
              <a:spcBef>
                <a:spcPts val="600"/>
              </a:spcBef>
            </a:pPr>
            <a:r>
              <a:rPr sz="1300" b="1">
                <a:solidFill>
                  <a:srgbClr val="2E5984"/>
                </a:solidFill>
              </a:rPr>
              <a:t>5. 확장 (Expansion): 서버 레벨 서비스 등록 및 장애 모니터링</a:t>
            </a:r>
          </a:p>
          <a:p>
            <a:r>
              <a:rPr sz="1100">
                <a:solidFill>
                  <a:srgbClr val="222222"/>
                </a:solidFill>
              </a:rPr>
              <a:t>•  고도화 전략: 터미널을 꺼도 작동하도록 167번 슬라이드에서 배운 Ubuntu systemd에 서비스로 등록하고, Uptime Kuma를 연동하여 스케줄러가 중단될 경우 관리자에게 즉각 알림을 보냅니다. [출처: 167, 172]</a:t>
            </a:r>
          </a:p>
          <a:p>
            <a:r>
              <a:rPr sz="1100">
                <a:solidFill>
                  <a:srgbClr val="222222"/>
                </a:solidFill>
              </a:rPr>
              <a:t>•  기술적 지향점: 이로써 173번 슬라이드에서 정리한 8대 산출물 중 마지막인 '자동 브리핑 스케줄러'가 완성되었으며, 전체 시스템은 이제 인간의 개입 없이 스스로 진화하는 에이전틱 AI 금융 플랫폼의 면모를 갖추게 됩니다. [출처: 173, 187]</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187  ·  111/216</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[112] AI 금융정보단말 구축 실무 - 43부: 비개발자용 README 및 환경 구축 가이드 (1)</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설치부터 실행까지, 비개발자를 위한 '친절한 매뉴얼'</a:t>
            </a:r>
          </a:p>
          <a:p>
            <a:r>
              <a:rPr sz="1100">
                <a:solidFill>
                  <a:srgbClr val="222222"/>
                </a:solidFill>
              </a:rPr>
              <a:t>•  정의: 개발 지식이 부족한 사용자도 단계별 명령어를 복사·붙여넣기 하는 것만으로 전체 AI 금융 시스템을 로컬 PC에 완벽히 재현하도록 돕는 가이드라인입니다. [출처: 174, 188]</a:t>
            </a:r>
          </a:p>
          <a:p>
            <a:r>
              <a:rPr sz="1100">
                <a:solidFill>
                  <a:srgbClr val="222222"/>
                </a:solidFill>
              </a:rPr>
              <a:t>•  핵심 가치: "나의 코드가 남의 컴퓨터에서도 돌아가게 하는 것"이 배포의 본질이며, 이를 위해 설치 도구와 순서를 최적화하여 진입 장벽을 최소화합니다. [출처: 188]</a:t>
            </a:r>
          </a:p>
          <a:p>
            <a:pPr>
              <a:spcBef>
                <a:spcPts val="600"/>
              </a:spcBef>
            </a:pPr>
            <a:r>
              <a:rPr sz="1300" b="1">
                <a:solidFill>
                  <a:srgbClr val="2E5984"/>
                </a:solidFill>
              </a:rPr>
              <a:t>2. 아키텍처 (Architecture): 10단계 로컬 온보딩(On-boarding) 파이프라인 [출처: 188]</a:t>
            </a:r>
          </a:p>
          <a:p>
            <a:r>
              <a:rPr sz="1100">
                <a:solidFill>
                  <a:srgbClr val="222222"/>
                </a:solidFill>
              </a:rPr>
              <a:t>•  구조적 흐름:</a:t>
            </a:r>
          </a:p>
          <a:p>
            <a:r>
              <a:rPr sz="1100">
                <a:solidFill>
                  <a:srgbClr val="222222"/>
                </a:solidFill>
              </a:rPr>
              <a:t>•  [기초 도구 설치] → [가상환경 및 패키지 세팅] → [보안 설정(.env)] → [인프라(Docker) 가동] → [데이터베이스 초기화].</a:t>
            </a:r>
          </a:p>
          <a:p>
            <a:r>
              <a:rPr sz="1100">
                <a:solidFill>
                  <a:srgbClr val="222222"/>
                </a:solidFill>
              </a:rPr>
              <a:t>•  설계 특징: Docker를 활용하여 데이터베이스 설치 과정을 단순화하고, 가상환경(venv)을 통해 시스템 간 라이브러리 충돌을 방지합니다. [출처: 188]</a:t>
            </a:r>
          </a:p>
          <a:p>
            <a:pPr>
              <a:spcBef>
                <a:spcPts val="600"/>
              </a:spcBef>
            </a:pPr>
            <a:r>
              <a:rPr sz="1300" b="1">
                <a:solidFill>
                  <a:srgbClr val="2E5984"/>
                </a:solidFill>
              </a:rPr>
              <a:t>3. 소스코드 (Source Code): README.md 핵심 가이드 (Step 1~10) [출처: 188]</a:t>
            </a:r>
          </a:p>
          <a:p>
            <a:r>
              <a:rPr sz="1100">
                <a:solidFill>
                  <a:srgbClr val="222222"/>
                </a:solidFill>
              </a:rPr>
              <a:t>•  환경 구축 상세 명령: [출처: 188]</a:t>
            </a:r>
          </a:p>
          <a:p>
            <a:r>
              <a:rPr sz="1100">
                <a:solidFill>
                  <a:srgbClr val="222222"/>
                </a:solidFill>
              </a:rPr>
              <a:t>•  기초 도구 설치: Python 3.11, VS Code, Docker Desktop을 설치합니다.</a:t>
            </a:r>
          </a:p>
          <a:p>
            <a:r>
              <a:rPr sz="1100">
                <a:solidFill>
                  <a:srgbClr val="222222"/>
                </a:solidFill>
              </a:rPr>
              <a:t>•  가상환경 생성 및 활성화: python -m venv venv venv\Scripts\activate (Windows 기준)</a:t>
            </a:r>
          </a:p>
          <a:p>
            <a:r>
              <a:rPr sz="1100">
                <a:solidFill>
                  <a:srgbClr val="222222"/>
                </a:solidFill>
              </a:rPr>
              <a:t>•  패키지 일괄 설치: pip install -r requirements.txt</a:t>
            </a:r>
          </a:p>
          <a:p>
            <a:r>
              <a:rPr sz="1100">
                <a:solidFill>
                  <a:srgbClr val="222222"/>
                </a:solidFill>
              </a:rPr>
              <a:t>•  환경변수 설정: .env.example 파일을 복사하여 .env 생성 후 API Key 입력.</a:t>
            </a:r>
          </a:p>
          <a:p>
            <a:r>
              <a:rPr sz="1100">
                <a:solidFill>
                  <a:srgbClr val="222222"/>
                </a:solidFill>
              </a:rPr>
              <a:t>•  PostgreSQL 실행: docker compose up -d postgres</a:t>
            </a:r>
          </a:p>
          <a:p>
            <a:r>
              <a:rPr sz="1100">
                <a:solidFill>
                  <a:srgbClr val="222222"/>
                </a:solidFill>
              </a:rPr>
              <a:t>•  DB 테이블 생성: docker exec -i kostockcrewai_postgres psql -U postgres -d kostockcrewai &lt; app/db/schema.sql</a:t>
            </a:r>
          </a:p>
          <a:p>
            <a:pPr>
              <a:spcBef>
                <a:spcPts val="600"/>
              </a:spcBef>
            </a:pPr>
            <a:r>
              <a:rPr sz="1300" b="1">
                <a:solidFill>
                  <a:srgbClr val="2E5984"/>
                </a:solidFill>
              </a:rPr>
              <a:t>4. 실습 (Practice): 가상환경 활성화 및 Docker 컨테이너 상태 점검</a:t>
            </a:r>
          </a:p>
          <a:p>
            <a:r>
              <a:rPr sz="1100">
                <a:solidFill>
                  <a:srgbClr val="222222"/>
                </a:solidFill>
              </a:rPr>
              <a:t>•  과제 1: 본인의 터미널 앞에 (venv) 표시가 나타나는지 확인하고, pip list 명령을 통해 필수 패키지가 모두 설치되었는지 점검하십시오. [출처: 188]</a:t>
            </a:r>
          </a:p>
          <a:p>
            <a:r>
              <a:rPr sz="1100">
                <a:solidFill>
                  <a:srgbClr val="222222"/>
                </a:solidFill>
              </a:rPr>
              <a:t>•  과제 2: docker ps 명령어를 실행하여 kostockcrewai_postgres 컨테이너가 'Up' 상태로 정상 가동 중인지 최종 확인하십시오. [출처: 188]</a:t>
            </a:r>
          </a:p>
          <a:p>
            <a:pPr>
              <a:spcBef>
                <a:spcPts val="600"/>
              </a:spcBef>
            </a:pPr>
            <a:r>
              <a:rPr sz="1300" b="1">
                <a:solidFill>
                  <a:srgbClr val="2E5984"/>
                </a:solidFill>
              </a:rPr>
              <a:t>5. 확장 (Expansion): 서비스 가동 및 문제 해결(Troubleshooting) 준비</a:t>
            </a:r>
          </a:p>
          <a:p>
            <a:r>
              <a:rPr sz="1100">
                <a:solidFill>
                  <a:srgbClr val="222222"/>
                </a:solidFill>
              </a:rPr>
              <a:t>•  고도화 전략: 인프라 구축이 완료되면, 189번 슬라이드에서 다룰 서비스 가동(FastAPI, Streamlit, Telegram) 및 샘플 데이터 로드 단계를 수행하여 실제 분석 결과물을 확인합니다. [출처: 189, 190]</a:t>
            </a:r>
          </a:p>
          <a:p>
            <a:r>
              <a:rPr sz="1100">
                <a:solidFill>
                  <a:srgbClr val="222222"/>
                </a:solidFill>
              </a:rPr>
              <a:t>•  기술적 지향점: 특히 DATABASE_URL 설정 시 로컬 접속용 주소와 Docker 컨테이너 내부 주소(postgres:5432)의 차이점을 README에 명시하여 네트워크 오류를 사전에 예방합니다. [출처: 188]</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188  ·  112/216</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[113] AI 금융정보단말 구축 실무 - 43부: 비개발자용 README 및 서비스 가동 가이드 (2)</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구축된 엔진의 가동 및 '엔드 투 엔드(E2E)' 서비스 검증</a:t>
            </a:r>
          </a:p>
          <a:p>
            <a:r>
              <a:rPr sz="1100">
                <a:solidFill>
                  <a:srgbClr val="222222"/>
                </a:solidFill>
              </a:rPr>
              <a:t>•  정의: 188번 슬라이드에서 준비한 인프라(Python, Docker, DB) 위에서 FastAPI 서버와 UI 단말을 실제로 올리고, 샘플 데이터를 통해 시스템이 의도대로 작동하는지 최종 확인하는 단계입니다. [출처: 189]</a:t>
            </a:r>
          </a:p>
          <a:p>
            <a:r>
              <a:rPr sz="1100">
                <a:solidFill>
                  <a:srgbClr val="222222"/>
                </a:solidFill>
              </a:rPr>
              <a:t>•  핵심 가치: 개별적으로 구축된 모듈들이 하나의 통합된 금융 서비스로서 사용자에게 가치를 전달할 수 있는지 그 연결성을 검증합니다. [출처: 189]</a:t>
            </a:r>
          </a:p>
          <a:p>
            <a:pPr>
              <a:spcBef>
                <a:spcPts val="600"/>
              </a:spcBef>
            </a:pPr>
            <a:r>
              <a:rPr sz="1300" b="1">
                <a:solidFill>
                  <a:srgbClr val="2E5984"/>
                </a:solidFill>
              </a:rPr>
              <a:t>2. 아키텍처 (Architecture): 서비스 가동 및 검증 파이프라인 [출처: 189]</a:t>
            </a:r>
          </a:p>
          <a:p>
            <a:r>
              <a:rPr sz="1100">
                <a:solidFill>
                  <a:srgbClr val="222222"/>
                </a:solidFill>
              </a:rPr>
              <a:t>•  구동 순서: [FastAPI 서버 시작] → [Swagger API 테스트] → [샘플 데이터 주입] → [Streamlit/Telegram 단말 기동] → [결과물 확인].</a:t>
            </a:r>
          </a:p>
          <a:p>
            <a:r>
              <a:rPr sz="1100">
                <a:solidFill>
                  <a:srgbClr val="222222"/>
                </a:solidFill>
              </a:rPr>
              <a:t>•  작동 원리: 백엔드 서버가 먼저 살아나야 프론트엔드(웹/봇)가 데이터를 요청하고 PDF 리포트를 생성할 수 있습니다. [출처: 186, 189]</a:t>
            </a:r>
          </a:p>
          <a:p>
            <a:pPr>
              <a:spcBef>
                <a:spcPts val="600"/>
              </a:spcBef>
            </a:pPr>
            <a:r>
              <a:rPr sz="1300" b="1">
                <a:solidFill>
                  <a:srgbClr val="2E5984"/>
                </a:solidFill>
              </a:rPr>
              <a:t>3. 소스코드 (Source Code): README.md 핵심 가이드 (Step 11~20) [출처: 189]</a:t>
            </a:r>
          </a:p>
          <a:p>
            <a:r>
              <a:rPr sz="1100">
                <a:solidFill>
                  <a:srgbClr val="222222"/>
                </a:solidFill>
              </a:rPr>
              <a:t>•  서비스 실행 및 운영 수칙: [출처: 189] 11. FastAPI 실행: uvicorn main:app --reload 12. 브라우저 접속: http://127.0.0.1:8000/docs (Swagger UI 확인) 13. 샘플 데이터 로드: GET /sample/load/005930 호출 (UI 검증용 더미 데이터 생성) 14. 리포트 테스트: GET /report/005930 및 /pdf 엔드포인트 작동 확인 15. Streamlit 실행: streamlit run streamlit_app.py 16. Telegram 실행: python -m app.bots.telegram_bot 17. 트러블슈팅: ModuleNotFoundError, DB connection failed 등 자주 발생하는 6대 오류 대응법 숙지. 18. 보안/라이선스: .env 공유 금지 및 데이터 재배포 금지 규정 준수. 19. 투자자문 고지: 모든 리포트 하단에 면책 조항(Disclaimer) 필수 포함.</a:t>
            </a:r>
          </a:p>
          <a:p>
            <a:pPr>
              <a:spcBef>
                <a:spcPts val="600"/>
              </a:spcBef>
            </a:pPr>
            <a:r>
              <a:rPr sz="1300" b="1">
                <a:solidFill>
                  <a:srgbClr val="2E5984"/>
                </a:solidFill>
              </a:rPr>
              <a:t>4. 실습 (Practice): 샘플 데이터를 이용한 '무결성' 최종 테스트</a:t>
            </a:r>
          </a:p>
          <a:p>
            <a:r>
              <a:rPr sz="1100">
                <a:solidFill>
                  <a:srgbClr val="222222"/>
                </a:solidFill>
              </a:rPr>
              <a:t>•  과제 1: 브라우저에서 /docs에 접속하여 '삼성전자(005930)' 샘플 데이터를 로드하고, 실제 1페이지 PDF 리포트가 깨짐 없이 생성되는지 확인하십시오. [출처: 185, 189]</a:t>
            </a:r>
          </a:p>
          <a:p>
            <a:r>
              <a:rPr sz="1100">
                <a:solidFill>
                  <a:srgbClr val="222222"/>
                </a:solidFill>
              </a:rPr>
              <a:t>•  과제 2: Streamlit 화면에서 종목코드를 입력했을 때 4대 분석 점수 메트릭이 정상적으로 표시되는지 점검하십시오. [출처: 186, 189]</a:t>
            </a:r>
          </a:p>
          <a:p>
            <a:pPr>
              <a:spcBef>
                <a:spcPts val="600"/>
              </a:spcBef>
            </a:pPr>
            <a:r>
              <a:rPr sz="1300" b="1">
                <a:solidFill>
                  <a:srgbClr val="2E5984"/>
                </a:solidFill>
              </a:rPr>
              <a:t>5. 확장 (Expansion): '상용 수준'의 장애 대응 및 보안 고도화</a:t>
            </a:r>
          </a:p>
          <a:p>
            <a:r>
              <a:rPr sz="1100">
                <a:solidFill>
                  <a:srgbClr val="222222"/>
                </a:solidFill>
              </a:rPr>
              <a:t>•  고도화 전략: 단순히 기능을 돌리는 것을 넘어, API 키 누락이나 네트워크 단절 시에도 시스템이 죽지 않고 사용자에게 안내 메시지를 보내는 예외 처리(Exception Handling)를 강화합니다. [출처: 175, 189]</a:t>
            </a:r>
          </a:p>
          <a:p>
            <a:r>
              <a:rPr sz="1100">
                <a:solidFill>
                  <a:srgbClr val="222222"/>
                </a:solidFill>
              </a:rPr>
              <a:t>•  기술적 지향점: 이 가이드의 모든 단계를 통과하면, 여러분은 191번 슬라이드에서 정리할 최종 산출물 10개 항목을 모두 갖춘 완벽한 AI 금융정보단말의 주인이 됩니다. [출처: 171, 191]</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189  ·  113/216</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[114] AI 금융정보단말 구축 실무 - 44부: 프로젝트 보안 설정 및 샘플 데이터 운영</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안전한 개발 환경과 '키(Key) 없는' 기능 검증</a:t>
            </a:r>
          </a:p>
          <a:p>
            <a:r>
              <a:rPr sz="1100">
                <a:solidFill>
                  <a:srgbClr val="222222"/>
                </a:solidFill>
              </a:rPr>
              <a:t>•  보안 설정(.gitignore): API Key와 가상환경, 개인적인 로그 파일 등이 외부(GitHub 등)에 유출되지 않도록 차단하는 소스코드 보안의 필수 장치입니다. [출처: 190]</a:t>
            </a:r>
          </a:p>
          <a:p>
            <a:r>
              <a:rPr sz="1100">
                <a:solidFill>
                  <a:srgbClr val="222222"/>
                </a:solidFill>
              </a:rPr>
              <a:t>•  샘플 데이터 모드: 외부 API Key가 없거나 호출 한도에 도달했을 때도 UI와 파이프라인을 테스트할 수 있도록 가상의 금융 데이터(더미 데이터)를 DB에 주입하는 기능입니다. [출처: 190]</a:t>
            </a:r>
          </a:p>
          <a:p>
            <a:pPr>
              <a:spcBef>
                <a:spcPts val="600"/>
              </a:spcBef>
            </a:pPr>
            <a:r>
              <a:rPr sz="1300" b="1">
                <a:solidFill>
                  <a:srgbClr val="2E5984"/>
                </a:solidFill>
              </a:rPr>
              <a:t>2. 아키텍처 (Architecture): 샘플 데이터 기반의 파이프라인 검증 구조 [출처: 190]</a:t>
            </a:r>
          </a:p>
          <a:p>
            <a:r>
              <a:rPr sz="1100">
                <a:solidFill>
                  <a:srgbClr val="222222"/>
                </a:solidFill>
              </a:rPr>
              <a:t>•  검증 프로세스: [/sample/load/{ticker} 호출] → [90일치 OHLCV 및 20일치 수급 더미 생성] → [DB 저장] → [분석 엔진 가동] → [결과 확인].</a:t>
            </a:r>
          </a:p>
          <a:p>
            <a:r>
              <a:rPr sz="1100">
                <a:solidFill>
                  <a:srgbClr val="222222"/>
                </a:solidFill>
              </a:rPr>
              <a:t>•  목적: 실데이터는 아니지만, 전체 시스템의 로직(수집-분석-리포트)이 정상적으로 연결되어 있는지 확인하는 샌드박스(Sandbox) 역할을 수행합니다. [출처: 190]</a:t>
            </a:r>
          </a:p>
          <a:p>
            <a:pPr>
              <a:spcBef>
                <a:spcPts val="600"/>
              </a:spcBef>
            </a:pPr>
            <a:r>
              <a:rPr sz="1300" b="1">
                <a:solidFill>
                  <a:srgbClr val="2E5984"/>
                </a:solidFill>
              </a:rPr>
              <a:t>3. 소스코드 (Source Code): 보안 명세 및 샘플 데이터 요건 [출처: 190]</a:t>
            </a:r>
          </a:p>
          <a:p>
            <a:r>
              <a:rPr sz="1100">
                <a:solidFill>
                  <a:srgbClr val="222222"/>
                </a:solidFill>
              </a:rPr>
              <a:t>•  .gitignore 필수 제외 항목: [출처: 190]</a:t>
            </a:r>
          </a:p>
          <a:p>
            <a:r>
              <a:rPr sz="1100">
                <a:solidFill>
                  <a:srgbClr val="222222"/>
                </a:solidFill>
              </a:rPr>
              <a:t>•  샘플 데이터 구성 요소: [출처: 190]</a:t>
            </a:r>
          </a:p>
          <a:p>
            <a:r>
              <a:rPr sz="1100">
                <a:solidFill>
                  <a:srgbClr val="222222"/>
                </a:solidFill>
              </a:rPr>
              <a:t>•  삼성전자(005930) 기준 90일 OHLCV 더미 데이터.</a:t>
            </a:r>
          </a:p>
          <a:p>
            <a:r>
              <a:rPr sz="1100">
                <a:solidFill>
                  <a:srgbClr val="222222"/>
                </a:solidFill>
              </a:rPr>
              <a:t>•  최근 20일 수급 더미 데이터 및 간단한 재무 데이터.</a:t>
            </a:r>
          </a:p>
          <a:p>
            <a:r>
              <a:rPr sz="1100">
                <a:solidFill>
                  <a:srgbClr val="222222"/>
                </a:solidFill>
              </a:rPr>
              <a:t>•  README 명시: "샘플 데이터는 UI 및 파이프라인 검증용이며 실데이터가 아님" [출처: 190]</a:t>
            </a:r>
          </a:p>
          <a:p>
            <a:pPr>
              <a:spcBef>
                <a:spcPts val="600"/>
              </a:spcBef>
            </a:pPr>
            <a:r>
              <a:rPr sz="1300" b="1">
                <a:solidFill>
                  <a:srgbClr val="2E5984"/>
                </a:solidFill>
              </a:rPr>
              <a:t>4. 실습 (Practice): pytest 기반 단위 테스트 및 샘플 데이터 로드</a:t>
            </a:r>
          </a:p>
          <a:p>
            <a:r>
              <a:rPr sz="1100">
                <a:solidFill>
                  <a:srgbClr val="222222"/>
                </a:solidFill>
              </a:rPr>
              <a:t>•  과제 1: 터미널에서 pytest를 실행하여 헬스체크(Health Endpoint) 및 스코어링 함수가 외부 API 호출 없이도 정상 작동하는지 단위 테스트를 수행하십시오. [출처: 190]</a:t>
            </a:r>
          </a:p>
          <a:p>
            <a:r>
              <a:rPr sz="1100">
                <a:solidFill>
                  <a:srgbClr val="222222"/>
                </a:solidFill>
              </a:rPr>
              <a:t>•  과제 2: FastAPI 서버 가동 후 /sample/load/005930을 호출하여 DB에 데이터가 쌓이는지 확인하고, 이를 바탕으로 생성된 PDF 리포트의 레이아웃을 점검하십시오. [출처: 190]</a:t>
            </a:r>
          </a:p>
          <a:p>
            <a:pPr>
              <a:spcBef>
                <a:spcPts val="600"/>
              </a:spcBef>
            </a:pPr>
            <a:r>
              <a:rPr sz="1300" b="1">
                <a:solidFill>
                  <a:srgbClr val="2E5984"/>
                </a:solidFill>
              </a:rPr>
              <a:t>5. 확장 (Expansion): 실데이터 전환 및 투자자 보호 장치 강화</a:t>
            </a:r>
          </a:p>
          <a:p>
            <a:r>
              <a:rPr sz="1100">
                <a:solidFill>
                  <a:srgbClr val="222222"/>
                </a:solidFill>
              </a:rPr>
              <a:t>•  고도화 전략: 샘플 데이터로 검증이 완료되면 실제 API Key를 주입하여 실시간 시장 데이터를 수집하며, 리포트 하단에 투자자문 고지문(Disclaimer)을 배치하여 법적 보안까지 완성합니다. [출처: 183, 190]</a:t>
            </a:r>
          </a:p>
          <a:p>
            <a:r>
              <a:rPr sz="1100">
                <a:solidFill>
                  <a:srgbClr val="222222"/>
                </a:solidFill>
              </a:rPr>
              <a:t>•  기술적 지향점: 이로써 비개발자도 안전하게 시스템을 구축하고, 191번 슬라이드에서 제시될 최종 산출물 검수를 통해 나만의 완벽한 AI 금융정보단말을 세상에 내놓을 준비를 마치게 됩니다. [출처: 190, 191]</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190  ·  114/216</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[115] AI 금융정보단말 구축 실무 - 45부: 최종 산출물 검수 및 MVP 완성</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'설계-구현-운영'을 관통하는 금융 AI 아키텍처의 완성</a:t>
            </a:r>
          </a:p>
          <a:p>
            <a:r>
              <a:rPr sz="1100">
                <a:solidFill>
                  <a:srgbClr val="222222"/>
                </a:solidFill>
              </a:rPr>
              <a:t>•  정의: 개별적으로 구현된 데이터 수집기, 분석 엔진, GPT 에이전트, UI 및 봇 인터페이스가 하나의 통합된 시스템으로 유기적으로 작동함을 확증하는 최종 품질 보증(QA) 단계입니다. [출처: 191]</a:t>
            </a:r>
          </a:p>
          <a:p>
            <a:r>
              <a:rPr sz="1100">
                <a:solidFill>
                  <a:srgbClr val="222222"/>
                </a:solidFill>
              </a:rPr>
              <a:t>•  핵심 가치: 단순히 코드를 작성하는 것을 넘어, 비개발자도 실행 가능한 수준의 완성형 패키지를 확보함으로써 실무 투입이 가능한 'AI 아키텍트'로서의 역량을 증명합니다. [출처: 174, 191]</a:t>
            </a:r>
          </a:p>
          <a:p>
            <a:pPr>
              <a:spcBef>
                <a:spcPts val="600"/>
              </a:spcBef>
            </a:pPr>
            <a:r>
              <a:rPr sz="1300" b="1">
                <a:solidFill>
                  <a:srgbClr val="2E5984"/>
                </a:solidFill>
              </a:rPr>
              <a:t>2. 아키텍처 (Architecture): 10대 핵심 산출물 로드맵 [출처: 191]</a:t>
            </a:r>
          </a:p>
          <a:p>
            <a:r>
              <a:rPr sz="1100">
                <a:solidFill>
                  <a:srgbClr val="222222"/>
                </a:solidFill>
              </a:rPr>
              <a:t>•  구조적 특징: 모든 폴더와 하위 폴더에 __init__.py를 배치하여 패키지 구조를 정립하고, 긴 함수를 분리하여 가독성을 높인 모듈형 아키텍처를 지향합니다. [출처: 191]</a:t>
            </a:r>
          </a:p>
          <a:p>
            <a:r>
              <a:rPr sz="1100">
                <a:solidFill>
                  <a:srgbClr val="222222"/>
                </a:solidFill>
              </a:rPr>
              <a:t>•  데이터 정밀도: 날짜 형식을 한국 시장 기준(YYYY-MM-DD 또는 YYYYMMDD)으로 명확히 변환하여 데이터의 정합성을 보장합니다. [출처: 191]</a:t>
            </a:r>
          </a:p>
          <a:p>
            <a:pPr>
              <a:spcBef>
                <a:spcPts val="600"/>
              </a:spcBef>
            </a:pPr>
            <a:r>
              <a:rPr sz="1300" b="1">
                <a:solidFill>
                  <a:srgbClr val="2E5984"/>
                </a:solidFill>
              </a:rPr>
              <a:t>3. 체크리스트 (Deliverables): 최종 완성 기준 10대 항목 [출처: 173, 191]</a:t>
            </a:r>
          </a:p>
          <a:p>
            <a:r>
              <a:rPr sz="1100">
                <a:solidFill>
                  <a:srgbClr val="222222"/>
                </a:solidFill>
              </a:rPr>
              <a:t>•  전체 파일 생성: app/ 하위 모듈 및 실행 스크립트 일체 구축.</a:t>
            </a:r>
          </a:p>
          <a:p>
            <a:r>
              <a:rPr sz="1100">
                <a:solidFill>
                  <a:srgbClr val="222222"/>
                </a:solidFill>
              </a:rPr>
              <a:t>•  README 실행 순서: 비개발자용 환경 구축 가이드 완성.</a:t>
            </a:r>
          </a:p>
          <a:p>
            <a:r>
              <a:rPr sz="1100">
                <a:solidFill>
                  <a:srgbClr val="222222"/>
                </a:solidFill>
              </a:rPr>
              <a:t>•  환경 설정: .env.example 및 보안 설정(gitignore) 완료.</a:t>
            </a:r>
          </a:p>
          <a:p>
            <a:r>
              <a:rPr sz="1100">
                <a:solidFill>
                  <a:srgbClr val="222222"/>
                </a:solidFill>
              </a:rPr>
              <a:t>•  Docker 구동: 컨테이너 기반의 인프라 실행 가능 상태.</a:t>
            </a:r>
          </a:p>
          <a:p>
            <a:r>
              <a:rPr sz="1100">
                <a:solidFill>
                  <a:srgbClr val="222222"/>
                </a:solidFill>
              </a:rPr>
              <a:t>•  FastAPI 연동: /docs를 통한 API 기능의 정상 작동.</a:t>
            </a:r>
          </a:p>
          <a:p>
            <a:r>
              <a:rPr sz="1100">
                <a:solidFill>
                  <a:srgbClr val="222222"/>
                </a:solidFill>
              </a:rPr>
              <a:t>•  Streamlit 단말: 웹 화면을 통한 실시간 종목 분석 인터페이스.</a:t>
            </a:r>
          </a:p>
          <a:p>
            <a:r>
              <a:rPr sz="1100">
                <a:solidFill>
                  <a:srgbClr val="222222"/>
                </a:solidFill>
              </a:rPr>
              <a:t>•  Telegram Bot: 모바일 대화형 분석 요청 및 PDF 전송 기능.</a:t>
            </a:r>
          </a:p>
          <a:p>
            <a:r>
              <a:rPr sz="1100">
                <a:solidFill>
                  <a:srgbClr val="222222"/>
                </a:solidFill>
              </a:rPr>
              <a:t>•  PDF 리포트: 1페이지 요약형 전문가 보고서 자동 생성 능력.</a:t>
            </a:r>
          </a:p>
          <a:p>
            <a:r>
              <a:rPr sz="1100">
                <a:solidFill>
                  <a:srgbClr val="222222"/>
                </a:solidFill>
              </a:rPr>
              <a:t>•  샘플 데이터 테스트: API 키 없이도 /report/005930 검증 가능.</a:t>
            </a:r>
          </a:p>
          <a:p>
            <a:r>
              <a:rPr sz="1100">
                <a:solidFill>
                  <a:srgbClr val="222222"/>
                </a:solidFill>
              </a:rPr>
              <a:t>•  확장 가능 구조: 실제 API 키 입력 시 즉시 실데이터로 전환되는 유연성.</a:t>
            </a:r>
          </a:p>
          <a:p>
            <a:pPr>
              <a:spcBef>
                <a:spcPts val="600"/>
              </a:spcBef>
            </a:pPr>
            <a:r>
              <a:rPr sz="1300" b="1">
                <a:solidFill>
                  <a:srgbClr val="2E5984"/>
                </a:solidFill>
              </a:rPr>
              <a:t>4. 실습 (Practice): 엔드 투 엔드(E2E) 최종 통합 테스트</a:t>
            </a:r>
          </a:p>
          <a:p>
            <a:r>
              <a:rPr sz="1100">
                <a:solidFill>
                  <a:srgbClr val="222222"/>
                </a:solidFill>
              </a:rPr>
              <a:t>•  과제: 샘플 데이터 로드부터 시작하여 웹(Streamlit)과 모바일(Telegram)에서 동일한 종목에 대한 분석 등급(Rating)과 PDF 리포트를 추출하고, 모든 파일 경로와 주석이 표준 가이드를 준수하는지 최종 확인하십시오. [출처: 190, 191]</a:t>
            </a:r>
          </a:p>
          <a:p>
            <a:r>
              <a:rPr sz="1100">
                <a:solidFill>
                  <a:srgbClr val="222222"/>
                </a:solidFill>
              </a:rPr>
              <a:t>•  품질 기준: 실패 시 단순히 앱이 꺼지지 않고, 사용자 친화적인 오류 메시지가 출력되는지 반드시 점검하십시오. [출처: 175, 191]</a:t>
            </a:r>
          </a:p>
          <a:p>
            <a:pPr>
              <a:spcBef>
                <a:spcPts val="600"/>
              </a:spcBef>
            </a:pPr>
            <a:r>
              <a:rPr sz="1300" b="1">
                <a:solidFill>
                  <a:srgbClr val="2E5984"/>
                </a:solidFill>
              </a:rPr>
              <a:t>5. 확장 (Expansion): 'AI 금융 전문가 그룹'으로의 도약</a:t>
            </a:r>
          </a:p>
          <a:p>
            <a:r>
              <a:rPr sz="1100">
                <a:solidFill>
                  <a:srgbClr val="222222"/>
                </a:solidFill>
              </a:rPr>
              <a:t>•  고도화 전략: 구축된 MVP를 기반으로 183번 슬라이드에서 언급된 CrewAI 멀티 에이전트를 연동하여, 각 영역(거시, 재무, 차트 등)의 전문성을 극대화한 자율형 금융 리서치 플랫폼으로 진화시킵니다. [출처: 183, 191]</a:t>
            </a:r>
          </a:p>
          <a:p>
            <a:r>
              <a:rPr sz="1100">
                <a:solidFill>
                  <a:srgbClr val="222222"/>
                </a:solidFill>
              </a:rPr>
              <a:t>•  비전: 이 산출물은 단순한 연습용 코드가 아니라, 향후 여러분이 구축할 수많은 에이전틱 AI 서비스의 강력한 템플릿이자 든든한 포트폴리오 자산이 될 것입니다. [출처: 173, 191]</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191  ·  115/216</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A</a:t>
            </a:r>
          </a:p>
          <a:p>
            <a:r>
              <a:rPr sz="1900" b="1">
                <a:solidFill>
                  <a:srgbClr val="FFFFFF"/>
                </a:solidFill>
              </a:rPr>
              <a:t>[116] KOStockCrewAI 최종 완성 체크리스트 및 MVP 품질 검증</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'동작하는 코드'를 넘어 '신뢰할 수 있는 서비스'로의 검증</a:t>
            </a:r>
          </a:p>
          <a:p>
            <a:r>
              <a:rPr sz="1100">
                <a:solidFill>
                  <a:srgbClr val="222222"/>
                </a:solidFill>
              </a:rPr>
              <a:t>•  정의: 구축된 MVP가 설계 의도대로 13단계의 자동화 과정을 누락 없이 수행하는지 점검하고, 실제 투자 정보로서 가치가 있는지를 판단하는 최종 품질 보증(QA) 단계입니다. [출처: 136, 171]</a:t>
            </a:r>
          </a:p>
          <a:p>
            <a:r>
              <a:rPr sz="1100">
                <a:solidFill>
                  <a:srgbClr val="222222"/>
                </a:solidFill>
              </a:rPr>
              <a:t>•  핵심 가치: 개별 모듈의 성공이 아닌, '데이터-분석-추론-배포'로 이어지는 전체 파이프라인의 무결성(Integrity)을 확인하여 사용자에게 신뢰를 주는 시스템임을 증명합니다. [출처: 67, 171]</a:t>
            </a:r>
          </a:p>
          <a:p>
            <a:pPr>
              <a:spcBef>
                <a:spcPts val="600"/>
              </a:spcBef>
            </a:pPr>
            <a:r>
              <a:rPr sz="1300" b="1">
                <a:solidFill>
                  <a:srgbClr val="2E5984"/>
                </a:solidFill>
              </a:rPr>
              <a:t>2. 아키텍처 (Architecture): 13단계 자동화 가치 사슬 검증 [출처: 136]</a:t>
            </a:r>
          </a:p>
          <a:p>
            <a:r>
              <a:rPr sz="1100">
                <a:solidFill>
                  <a:srgbClr val="222222"/>
                </a:solidFill>
              </a:rPr>
              <a:t>•  통합 프로세스 점검: 사용자의 종목 입력(005930) 한 번으로 아래 과정이 막힘없이 실행되는지 확인합니다.</a:t>
            </a:r>
          </a:p>
          <a:p>
            <a:r>
              <a:rPr sz="1100">
                <a:solidFill>
                  <a:srgbClr val="222222"/>
                </a:solidFill>
              </a:rPr>
              <a:t>•  데이터 레이어: DART 재무, ECOS 지표, 코스콤 시세/수급 조회 및 PostgreSQL 저장.</a:t>
            </a:r>
          </a:p>
          <a:p>
            <a:r>
              <a:rPr sz="1100">
                <a:solidFill>
                  <a:srgbClr val="222222"/>
                </a:solidFill>
              </a:rPr>
              <a:t>•  분석 레이어: 기술적/기본적/수급/거시 분석 엔진 가동 및 리스크 스코어링.</a:t>
            </a:r>
          </a:p>
          <a:p>
            <a:r>
              <a:rPr sz="1100">
                <a:solidFill>
                  <a:srgbClr val="222222"/>
                </a:solidFill>
              </a:rPr>
              <a:t>•  지능 레이어: ChromaDB 과거 유사사례 검색 및 GPT 투자 브리프 생성.</a:t>
            </a:r>
          </a:p>
          <a:p>
            <a:r>
              <a:rPr sz="1100">
                <a:solidFill>
                  <a:srgbClr val="222222"/>
                </a:solidFill>
              </a:rPr>
              <a:t>•  배포 레이어: 1페이지 PDF 리포트 생성 및 텔레그램/웹 화면 결과 제공.</a:t>
            </a:r>
          </a:p>
          <a:p>
            <a:pPr>
              <a:spcBef>
                <a:spcPts val="600"/>
              </a:spcBef>
            </a:pPr>
            <a:r>
              <a:rPr sz="1300" b="1">
                <a:solidFill>
                  <a:srgbClr val="2E5984"/>
                </a:solidFill>
              </a:rPr>
              <a:t>3. 체크리스트 (Checklist): 10대 최종 완성 기준 [출처: 171]</a:t>
            </a:r>
          </a:p>
          <a:p>
            <a:r>
              <a:rPr sz="1100">
                <a:solidFill>
                  <a:srgbClr val="222222"/>
                </a:solidFill>
              </a:rPr>
              <a:t>•  운영 안정화 필수 점검 항목:</a:t>
            </a:r>
          </a:p>
          <a:p>
            <a:r>
              <a:rPr sz="1100">
                <a:solidFill>
                  <a:srgbClr val="222222"/>
                </a:solidFill>
              </a:rPr>
              <a:t>•  DB: PostgreSQL 테이블 생성 및 데이터 적재 완료 여부.</a:t>
            </a:r>
          </a:p>
          <a:p>
            <a:r>
              <a:rPr sz="1100">
                <a:solidFill>
                  <a:srgbClr val="222222"/>
                </a:solidFill>
              </a:rPr>
              <a:t>•  API: DART, ECOS, 코스콤 API 연동 및 데이터 수신 정상 여부.</a:t>
            </a:r>
          </a:p>
          <a:p>
            <a:r>
              <a:rPr sz="1100">
                <a:solidFill>
                  <a:srgbClr val="222222"/>
                </a:solidFill>
              </a:rPr>
              <a:t>•  엔진: 기본적/기술적 분석 점수 산출 로직 작동 여부.</a:t>
            </a:r>
          </a:p>
          <a:p>
            <a:r>
              <a:rPr sz="1100">
                <a:solidFill>
                  <a:srgbClr val="222222"/>
                </a:solidFill>
              </a:rPr>
              <a:t>•  AI: GPT 투자 브리프 생성 및 Structured Output 규격 일치 여부.</a:t>
            </a:r>
          </a:p>
          <a:p>
            <a:r>
              <a:rPr sz="1100">
                <a:solidFill>
                  <a:srgbClr val="222222"/>
                </a:solidFill>
              </a:rPr>
              <a:t>•  리포트: PDF 생성 및 로컬/클라우드 저장 경로 확인.</a:t>
            </a:r>
          </a:p>
          <a:p>
            <a:r>
              <a:rPr sz="1100">
                <a:solidFill>
                  <a:srgbClr val="222222"/>
                </a:solidFill>
              </a:rPr>
              <a:t>•  인터페이스: Streamlit 웹 화면 및 텔레그램 봇 조회 기능 작동 여부.</a:t>
            </a:r>
          </a:p>
          <a:p>
            <a:r>
              <a:rPr sz="1100">
                <a:solidFill>
                  <a:srgbClr val="222222"/>
                </a:solidFill>
              </a:rPr>
              <a:t>•  자동화: 오전 7시 데일리 브리핑 스케줄러 등록 및 작동 여부. [출처: 163]</a:t>
            </a:r>
          </a:p>
          <a:p>
            <a:pPr>
              <a:spcBef>
                <a:spcPts val="600"/>
              </a:spcBef>
            </a:pPr>
            <a:r>
              <a:rPr sz="1300" b="1">
                <a:solidFill>
                  <a:srgbClr val="2E5984"/>
                </a:solidFill>
              </a:rPr>
              <a:t>4. 실습 (Practice): E2E 통합 테스트 시나리오 수행 [출처: 170, 191]</a:t>
            </a:r>
          </a:p>
          <a:p>
            <a:r>
              <a:rPr sz="1100">
                <a:solidFill>
                  <a:srgbClr val="222222"/>
                </a:solidFill>
              </a:rPr>
              <a:t>•  과제 1: 텔레그램 봇에 "005930 분석"을 입력한 후, 60초 이내에 [스코어 요약 + GPT 브리프 + PDF 파일]이 모두 수신되는지 확인하십시오. [출처: 162, 170]</a:t>
            </a:r>
          </a:p>
          <a:p>
            <a:r>
              <a:rPr sz="1100">
                <a:solidFill>
                  <a:srgbClr val="222222"/>
                </a:solidFill>
              </a:rPr>
              <a:t>•  과제 2: 로그 시트(CommandLog) 또는 DB(generated_reports)를 확인하여 분석 시각과 결과값이 정확히 기록되었는지 점검하십시오. [출처: 51, 144]</a:t>
            </a:r>
          </a:p>
          <a:p>
            <a:pPr>
              <a:spcBef>
                <a:spcPts val="600"/>
              </a:spcBef>
            </a:pPr>
            <a:r>
              <a:rPr sz="1300" b="1">
                <a:solidFill>
                  <a:srgbClr val="2E5984"/>
                </a:solidFill>
              </a:rPr>
              <a:t>5. 확장 (Expansion): 'AI 아키텍트'로서의 차세대 로드맵 설계 [출처: 172, 173]</a:t>
            </a:r>
          </a:p>
          <a:p>
            <a:r>
              <a:rPr sz="1100">
                <a:solidFill>
                  <a:srgbClr val="222222"/>
                </a:solidFill>
              </a:rPr>
              <a:t>•  고도화 전략: 현재의 단일 종목 분석을 넘어, 214번 슬라이드에서 배운 10대 고도화 과제(전 종목 일괄 분석, 리스크 자동 탐지 등) 중 하나를 선택하여 본인만의 '킬러 피처(Killer Feature)'를 개발합니다. [출처: 172]</a:t>
            </a:r>
          </a:p>
          <a:p>
            <a:r>
              <a:rPr sz="1100">
                <a:solidFill>
                  <a:srgbClr val="222222"/>
                </a:solidFill>
              </a:rPr>
              <a:t>•  기술적 비전: 수집된 사용자 피드백(210번 슬라이드)을 바탕으로 분석 루브릭(218번 슬라이드)을 지속적으로 수정하며, 스스로 진화하는 '자율형 금융 리서치 에이전트'의 완성도를 높여 나갑니다. [출처: 173, 218]</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222  ·  116/216</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73152"/>
          </a:xfrm>
          <a:prstGeom prst="rect">
            <a:avLst/>
          </a:prstGeom>
          <a:solidFill>
            <a:srgbClr val="6E8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834640"/>
            <a:ext cx="10515600" cy="1463040"/>
          </a:xfrm>
          <a:prstGeom prst="rect">
            <a:avLst/>
          </a:prstGeom>
          <a:noFill/>
        </p:spPr>
        <p:txBody>
          <a:bodyPr wrap="square">
            <a:spAutoFit/>
          </a:bodyPr>
          <a:lstStyle/>
          <a:p>
            <a:r>
              <a:rPr sz="1600">
                <a:solidFill>
                  <a:srgbClr val="9FB4F5"/>
                </a:solidFill>
              </a:rPr>
              <a:t>[수료후·심화]</a:t>
            </a:r>
          </a:p>
          <a:p>
            <a:r>
              <a:rPr sz="2800" b="1">
                <a:solidFill>
                  <a:srgbClr val="FFFFFF"/>
                </a:solidFill>
              </a:rPr>
              <a:t>트랙 B — 로우코드 실전: GAS Action Framework 레퍼런스 구현</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[117] AI 금융정보 플랫폼 구축 실무 - 교육 목표 및 로드맵</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Action Framework 기반의 금융 지능화 플랫폼</a:t>
            </a:r>
          </a:p>
          <a:p>
            <a:r>
              <a:rPr sz="1100">
                <a:solidFill>
                  <a:srgbClr val="222222"/>
                </a:solidFill>
              </a:rPr>
              <a:t>•  정의: 텔레그램(Telegram), 구글 앱스 스크립트(GAS), OpenAI를 결합하여 사용자의 자연어 명령을 분석하고 금융 데이터를 처리하는 Action 기반 AI 서비스 플랫폼입니다.</a:t>
            </a:r>
          </a:p>
          <a:p>
            <a:r>
              <a:rPr sz="1100">
                <a:solidFill>
                  <a:srgbClr val="222222"/>
                </a:solidFill>
              </a:rPr>
              <a:t>•  핵심 가치: 단순한 챗봇을 넘어 GPT를 '의도 분류기(Intent Classifier)'로 활용하여, 실시간 금융 데이터 수집과 리포트 생성을 자동화하는 프레임워크를 구축하는 데 있습니다,.</a:t>
            </a:r>
          </a:p>
          <a:p>
            <a:pPr>
              <a:spcBef>
                <a:spcPts val="600"/>
              </a:spcBef>
            </a:pPr>
            <a:r>
              <a:rPr sz="1300" b="1">
                <a:solidFill>
                  <a:srgbClr val="2E5984"/>
                </a:solidFill>
              </a:rPr>
              <a:t>2. 아키텍처 (Architecture): 텔레그램-GAS-GPT 연동 다계층 구조</a:t>
            </a:r>
          </a:p>
          <a:p>
            <a:r>
              <a:rPr sz="1100">
                <a:solidFill>
                  <a:srgbClr val="222222"/>
                </a:solidFill>
              </a:rPr>
              <a:t>•  시스템 흐름: [사용자 질의] → [Telegram Webhook] → [GAS Gateway] → [GPT Classifier] → [Action Dispatcher] → [Data Layer] → [GPT Report] → [Telegram Return],.</a:t>
            </a:r>
          </a:p>
          <a:p>
            <a:r>
              <a:rPr sz="1100">
                <a:solidFill>
                  <a:srgbClr val="222222"/>
                </a:solidFill>
              </a:rPr>
              <a:t>•  계층 구조: Presentation(텔레그램), Action(분류 및 분기), Data(API 연동), GPT(분석), Delivery(결과 회신) 레이어로 구성된 기업형 서비스 권장 구조를 따릅니다.</a:t>
            </a:r>
          </a:p>
          <a:p>
            <a:pPr>
              <a:spcBef>
                <a:spcPts val="600"/>
              </a:spcBef>
            </a:pPr>
            <a:r>
              <a:rPr sz="1300" b="1">
                <a:solidFill>
                  <a:srgbClr val="2E5984"/>
                </a:solidFill>
              </a:rPr>
              <a:t>3. 소스코드 (Source Code): 전체 교육 모듈(M1~M12) 로드맵</a:t>
            </a:r>
          </a:p>
          <a:p>
            <a:r>
              <a:rPr sz="1100">
                <a:solidFill>
                  <a:srgbClr val="222222"/>
                </a:solidFill>
              </a:rPr>
              <a:t>•  핵심 로직: 기초 아키텍처 이해부터 최종 프로젝트까지 총 12개의 모듈로 구성됩니다.</a:t>
            </a:r>
          </a:p>
          <a:p>
            <a:r>
              <a:rPr sz="1100">
                <a:solidFill>
                  <a:srgbClr val="222222"/>
                </a:solidFill>
              </a:rPr>
              <a:t>•  M1~M3: 아키텍처 이해, 봇 구축 및 Webhook 구현.</a:t>
            </a:r>
          </a:p>
          <a:p>
            <a:r>
              <a:rPr sz="1100">
                <a:solidFill>
                  <a:srgbClr val="222222"/>
                </a:solidFill>
              </a:rPr>
              <a:t>•  M4~M5: GPT Action Classifier 설계 및 Dispatcher(Switch 구조) 구현.</a:t>
            </a:r>
          </a:p>
          <a:p>
            <a:r>
              <a:rPr sz="1100">
                <a:solidFill>
                  <a:srgbClr val="222222"/>
                </a:solidFill>
              </a:rPr>
              <a:t>•  M6~M8: 금융 데이터 연동(ECOS/DART/News) 및 리포트 생성 프로세스.</a:t>
            </a:r>
          </a:p>
          <a:p>
            <a:r>
              <a:rPr sz="1100">
                <a:solidFill>
                  <a:srgbClr val="222222"/>
                </a:solidFill>
              </a:rPr>
              <a:t>•  M9~M12: 권한 관리, 운영 환경 설계 및 최종 AI 금융 비서 프로젝트,.</a:t>
            </a:r>
          </a:p>
          <a:p>
            <a:pPr>
              <a:spcBef>
                <a:spcPts val="600"/>
              </a:spcBef>
            </a:pPr>
            <a:r>
              <a:rPr sz="1300" b="1">
                <a:solidFill>
                  <a:srgbClr val="2E5984"/>
                </a:solidFill>
              </a:rPr>
              <a:t>4. 실습 (Practice): AI 리포트 자동 생성 및 실시간 배포 역량 확보</a:t>
            </a:r>
          </a:p>
          <a:p>
            <a:r>
              <a:rPr sz="1100">
                <a:solidFill>
                  <a:srgbClr val="222222"/>
                </a:solidFill>
              </a:rPr>
              <a:t>•  과제: 교육 종료 후 개발자가 스스로 Action Layer를 설계하고, 신규 서비스(예: 환율 분석, 채권 분석)를 플랫폼에 확장할 수 있는 실무 능력을 배양합니다,.</a:t>
            </a:r>
          </a:p>
          <a:p>
            <a:r>
              <a:rPr sz="1100">
                <a:solidFill>
                  <a:srgbClr val="222222"/>
                </a:solidFill>
              </a:rPr>
              <a:t>•  확인 사항: 텔레그램 한 줄 명령으로 금융 데이터 분석 결과가 포함된 AI 리포트가 생성되고 채널로 자동 배포되는 전체 파이프라인의 정상 작동 여부를 검증합니다.</a:t>
            </a:r>
          </a:p>
          <a:p>
            <a:pPr>
              <a:spcBef>
                <a:spcPts val="600"/>
              </a:spcBef>
            </a:pPr>
            <a:r>
              <a:rPr sz="1300" b="1">
                <a:solidFill>
                  <a:srgbClr val="2E5984"/>
                </a:solidFill>
              </a:rPr>
              <a:t>5. 확장 (Expansion): RiskWatch 및 AI데이터맵 연계 운영 전략</a:t>
            </a:r>
          </a:p>
          <a:p>
            <a:r>
              <a:rPr sz="1100">
                <a:solidFill>
                  <a:srgbClr val="222222"/>
                </a:solidFill>
              </a:rPr>
              <a:t>•  고도화 전략: 구축된 플랫폼을 RiskWatch(리스크 모니터링) 및 AI데이터맵과 연계하여, 시장의 이상 징후를 스스로 탐지하고 알림을 보내는 지능형 관제 시스템으로 진화시킵니다,.</a:t>
            </a:r>
          </a:p>
          <a:p>
            <a:r>
              <a:rPr sz="1100">
                <a:solidFill>
                  <a:srgbClr val="222222"/>
                </a:solidFill>
              </a:rPr>
              <a:t>•  플랫폼 확장: 텔레그램을 넘어 Slack, Teams, Discord 등 다양한 협업 도구와 연동하여 기업 내 AI 워크포스(Workforce)의 핵심 인프라로 확장 운영합니다.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094  ·  117/216</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[118] AI 금융정보 플랫폼 구축 실무 - 전체 로드맵 및 Module 1</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12단계 모듈을 통한 AI 아키텍트 완성</a:t>
            </a:r>
          </a:p>
          <a:p>
            <a:r>
              <a:rPr sz="1100">
                <a:solidFill>
                  <a:srgbClr val="222222"/>
                </a:solidFill>
              </a:rPr>
              <a:t>•  정의: 단순한 코딩 교육을 넘어, 금융 데이터를 지배하고 AI 에이전트를 오케스트레이션하는 엔드 투 엔드(E2E) 플랫폼 구축 과정입니다.</a:t>
            </a:r>
          </a:p>
          <a:p>
            <a:r>
              <a:rPr sz="1100">
                <a:solidFill>
                  <a:srgbClr val="222222"/>
                </a:solidFill>
              </a:rPr>
              <a:t>•  핵심 가치: 12개의 모듈을 통해 자연어 기반의 의도 분류부터 데이터 수집, 분석, 리포트 생성 및 자동 배포까지의 전체 워크플로우를 체득하는 데 있습니다.</a:t>
            </a:r>
          </a:p>
          <a:p>
            <a:pPr>
              <a:spcBef>
                <a:spcPts val="600"/>
              </a:spcBef>
            </a:pPr>
            <a:r>
              <a:rPr sz="1300" b="1">
                <a:solidFill>
                  <a:srgbClr val="2E5984"/>
                </a:solidFill>
              </a:rPr>
              <a:t>2. 아키텍처 (Architecture): 전체 교육 로드맵 (M1 ~ M12)</a:t>
            </a:r>
          </a:p>
          <a:p>
            <a:r>
              <a:rPr sz="1100">
                <a:solidFill>
                  <a:srgbClr val="222222"/>
                </a:solidFill>
              </a:rPr>
              <a:t>•  기초 (M1~M3): 아키텍처 이해, 텔레그램 봇 구축 및 Webhook 연결.</a:t>
            </a:r>
          </a:p>
          <a:p>
            <a:r>
              <a:rPr sz="1100">
                <a:solidFill>
                  <a:srgbClr val="222222"/>
                </a:solidFill>
              </a:rPr>
              <a:t>•  핵심 엔진 (M4~M5): GPT Action Classifier(JSON 분류기) 및 Dispatcher(분기 구조) 설계.</a:t>
            </a:r>
          </a:p>
          <a:p>
            <a:r>
              <a:rPr sz="1100">
                <a:solidFill>
                  <a:srgbClr val="222222"/>
                </a:solidFill>
              </a:rPr>
              <a:t>•  데이터 및 분석 (M6~M8): ECOS/News/DART 연동, GPT 프롬프트 엔지니어링 및 리포트 자동 생성.</a:t>
            </a:r>
          </a:p>
          <a:p>
            <a:r>
              <a:rPr sz="1100">
                <a:solidFill>
                  <a:srgbClr val="222222"/>
                </a:solidFill>
              </a:rPr>
              <a:t>•  운영 및 심화 (M9~M12): 관리자 권한 제어, RiskWatch 확장 설계, 신규 액션 추가 및 최종 프로젝트 완성.</a:t>
            </a:r>
          </a:p>
          <a:p>
            <a:pPr>
              <a:spcBef>
                <a:spcPts val="600"/>
              </a:spcBef>
            </a:pPr>
            <a:r>
              <a:rPr sz="1300" b="1">
                <a:solidFill>
                  <a:srgbClr val="2E5984"/>
                </a:solidFill>
              </a:rPr>
              <a:t>3. 소스코드 (Source Code): Module 1 - 플랫폼 전체 흐름도 명세</a:t>
            </a:r>
          </a:p>
          <a:p>
            <a:r>
              <a:rPr sz="1100">
                <a:solidFill>
                  <a:srgbClr val="222222"/>
                </a:solidFill>
              </a:rPr>
              <a:t>•  핵심 데이터 파이프라인:</a:t>
            </a:r>
          </a:p>
          <a:p>
            <a:pPr>
              <a:spcBef>
                <a:spcPts val="600"/>
              </a:spcBef>
            </a:pPr>
            <a:r>
              <a:rPr sz="1300" b="1">
                <a:solidFill>
                  <a:srgbClr val="2E5984"/>
                </a:solidFill>
              </a:rPr>
              <a:t>4. 실습 (Practice): 플랫폼 흐름도 작성 및 기술 스택 확인</a:t>
            </a:r>
          </a:p>
          <a:p>
            <a:r>
              <a:rPr sz="1100">
                <a:solidFill>
                  <a:srgbClr val="222222"/>
                </a:solidFill>
              </a:rPr>
              <a:t>•  과제: 위의 흐름도를 본인의 연습장에 직접 그려보고, 각 단계에서 사용되는 기술(예: Telegram API, OpenAI API, GAS)이 어떻게 연결되는지 매핑해 보십시오.</a:t>
            </a:r>
          </a:p>
          <a:p>
            <a:r>
              <a:rPr sz="1100">
                <a:solidFill>
                  <a:srgbClr val="222222"/>
                </a:solidFill>
              </a:rPr>
              <a:t>•  확인 사항: 사용자가 "오늘 시장 브리핑 보여줘"라고 입력했을 때, 시스템 내부에서 어떤 순서로 데이터가 흐르는지 논리적으로 설명할 수 있어야 합니다.</a:t>
            </a:r>
          </a:p>
          <a:p>
            <a:pPr>
              <a:spcBef>
                <a:spcPts val="600"/>
              </a:spcBef>
            </a:pPr>
            <a:r>
              <a:rPr sz="1300" b="1">
                <a:solidFill>
                  <a:srgbClr val="2E5984"/>
                </a:solidFill>
              </a:rPr>
              <a:t>5. 확장 (Expansion): 'AI Router'로서의 GPT 활용 전략</a:t>
            </a:r>
          </a:p>
          <a:p>
            <a:r>
              <a:rPr sz="1100">
                <a:solidFill>
                  <a:srgbClr val="222222"/>
                </a:solidFill>
              </a:rPr>
              <a:t>•  고도화 전략: GPT를 단순한 챗봇이 아닌, 사용자의 자연어를 분석하여 특정 함수를 실행시키는 '인텐트 분류기(Intent Classifier)' 또는 'AI Router'로 정의하고 시스템을 설계합니다.</a:t>
            </a:r>
          </a:p>
          <a:p>
            <a:r>
              <a:rPr sz="1100">
                <a:solidFill>
                  <a:srgbClr val="222222"/>
                </a:solidFill>
              </a:rPr>
              <a:t>•  미래 로드맵: 이 아키텍처는 향후 Module 10의 운영환경 설계(RiskWatch 확장)와 연계되어, 시장의 리스크를 실시간으로 감시하고 대응하는 지능형 관제 플랫폼으로 진화하는 기초가 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095  ·  118/216</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[119] AI 금융정보 플랫폼 구축 실무 - Module 2: Telegram Bot 구축</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사용자-AI 간의 소통을 위한 인터페이스 확보</a:t>
            </a:r>
          </a:p>
          <a:p>
            <a:r>
              <a:rPr sz="1100">
                <a:solidFill>
                  <a:srgbClr val="222222"/>
                </a:solidFill>
              </a:rPr>
              <a:t>•  정의: 사용자가 자연어 명령을 입력하고 AI의 분석 결과(텍스트, PDF)를 수신하는 프레젠테이션 레이어(Presentation Layer)의 핵심 창구입니다,.</a:t>
            </a:r>
          </a:p>
          <a:p>
            <a:r>
              <a:rPr sz="1100">
                <a:solidFill>
                  <a:srgbClr val="222222"/>
                </a:solidFill>
              </a:rPr>
              <a:t>•  핵심 가치: 별도의 앱 개발 없이도 텔레그램이 제공하는 강력한 메시징 인프라와 봇 API를 활용하여, 즉각적으로 AI 금융 서비스를 실전 배포할 수 있는 환경을 마련하는 데 있습니다.</a:t>
            </a:r>
          </a:p>
          <a:p>
            <a:pPr>
              <a:spcBef>
                <a:spcPts val="600"/>
              </a:spcBef>
            </a:pPr>
            <a:r>
              <a:rPr sz="1300" b="1">
                <a:solidFill>
                  <a:srgbClr val="2E5984"/>
                </a:solidFill>
              </a:rPr>
              <a:t>2. 아키텍처 (Architecture): BotFather 기반의 봇 생성 및 인증 구조</a:t>
            </a:r>
          </a:p>
          <a:p>
            <a:r>
              <a:rPr sz="1100">
                <a:solidFill>
                  <a:srgbClr val="222222"/>
                </a:solidFill>
              </a:rPr>
              <a:t>•  생성 메커니즘: [Telegram 앱 실행] → [@BotFather 검색] → [/newbot 명령어 실행] → [봇 이름 및 Username 설정] → [API Token 발급],.</a:t>
            </a:r>
          </a:p>
          <a:p>
            <a:r>
              <a:rPr sz="1100">
                <a:solidFill>
                  <a:srgbClr val="222222"/>
                </a:solidFill>
              </a:rPr>
              <a:t>•  인증 보안: 발급받은 HTTP API Token은 시스템이 텔레그램 서버와 통신할 때 신원을 확인하는 유일한 열쇠이므로, 외부 노출 없이 엄격하게 관리되어야 합니다,.</a:t>
            </a:r>
          </a:p>
          <a:p>
            <a:pPr>
              <a:spcBef>
                <a:spcPts val="600"/>
              </a:spcBef>
            </a:pPr>
            <a:r>
              <a:rPr sz="1300" b="1">
                <a:solidFill>
                  <a:srgbClr val="2E5984"/>
                </a:solidFill>
              </a:rPr>
              <a:t>3. 소스코드 (Source Code): 텔레그램 봇 생성 명령어 및 토큰 명세</a:t>
            </a:r>
          </a:p>
          <a:p>
            <a:r>
              <a:rPr sz="1100">
                <a:solidFill>
                  <a:srgbClr val="222222"/>
                </a:solidFill>
              </a:rPr>
              <a:t>•  핵심 로직: 텔레그램 내에서 수행하는 봇 생성 대화 과정입니다,.</a:t>
            </a:r>
          </a:p>
          <a:p>
            <a:pPr>
              <a:spcBef>
                <a:spcPts val="600"/>
              </a:spcBef>
            </a:pPr>
            <a:r>
              <a:rPr sz="1300" b="1">
                <a:solidFill>
                  <a:srgbClr val="2E5984"/>
                </a:solidFill>
              </a:rPr>
              <a:t>4. 실습 (Practice): 나만의 AI 금융 비서 봇 생성 및 토큰 확보</a:t>
            </a:r>
          </a:p>
          <a:p>
            <a:r>
              <a:rPr sz="1100">
                <a:solidFill>
                  <a:srgbClr val="222222"/>
                </a:solidFill>
              </a:rPr>
              <a:t>•  과제: 텔레그램에서 @BotFather를 검색하여 본인만의 봇을 생성하고, 발급받은 토큰을 메모장이나 .env 파일의 TELEGRAM_BOT_TOKEN 항목에 기록하십시오,.</a:t>
            </a:r>
          </a:p>
          <a:p>
            <a:r>
              <a:rPr sz="1100">
                <a:solidFill>
                  <a:srgbClr val="222222"/>
                </a:solidFill>
              </a:rPr>
              <a:t>•  확인 사항: 생성된 봇의 링크(t.me/봇아이디)를 클릭하여 대화창에 입장한 뒤, START 버튼을 눌러 봇을 활성화 상태로 만드십시오,.</a:t>
            </a:r>
          </a:p>
          <a:p>
            <a:pPr>
              <a:spcBef>
                <a:spcPts val="600"/>
              </a:spcBef>
            </a:pPr>
            <a:r>
              <a:rPr sz="1300" b="1">
                <a:solidFill>
                  <a:srgbClr val="2E5984"/>
                </a:solidFill>
              </a:rPr>
              <a:t>5. 확장 (Expansion): 봇 프로필 고도화 및 명령어 메뉴 설정</a:t>
            </a:r>
          </a:p>
          <a:p>
            <a:r>
              <a:rPr sz="1100">
                <a:solidFill>
                  <a:srgbClr val="222222"/>
                </a:solidFill>
              </a:rPr>
              <a:t>•  고도화 전략: /setuserpic을 통해 금융 전문가 느낌의 프로필 이미지를 설정하고, /setdescription으로 봇의 기능을 사용자에게 소개합니다.</a:t>
            </a:r>
          </a:p>
          <a:p>
            <a:r>
              <a:rPr sz="1100">
                <a:solidFill>
                  <a:srgbClr val="222222"/>
                </a:solidFill>
              </a:rPr>
              <a:t>•  기능 확장: /setcommands를 사용하여 /market_briefing, /risk_check 등 자주 사용되는 핵심 기능을 메뉴화함으로써, 사용자가 텍스트 입력 없이도 원클릭으로 분석 리포트를 요청할 수 있는 편의성을 제공합니다.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096  ·  119/216</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[120] AI 금융정보 플랫폼 구축 실무 - Module 3: Webhook 이해 및 구현</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폴링(Polling)을 넘어 이벤트 기반(Event-Driven)으로</a:t>
            </a:r>
          </a:p>
          <a:p>
            <a:r>
              <a:rPr sz="1100">
                <a:solidFill>
                  <a:srgbClr val="222222"/>
                </a:solidFill>
              </a:rPr>
              <a:t>•  방식의 차이: 텔레그램 봇은 매번 서버에 새 메시지가 있는지 묻는 '폴링(Polling)' 방식이 아닌, 메시지가 발생하는 즉시 서버로 데이터를 밀어주는 '웹훅(Webhook) 푸시' 방식을 사용합니다.</a:t>
            </a:r>
          </a:p>
          <a:p>
            <a:r>
              <a:rPr sz="1100">
                <a:solidFill>
                  <a:srgbClr val="222222"/>
                </a:solidFill>
              </a:rPr>
              <a:t>•  핵심 가치: 서버 자원 소모를 최소화하고, 사용자가 채팅창에 글을 쓰는 순간 시스템이 즉각 반응하는 실시간성(Real-time)을 확보하는 데 필수적인 기술입니다.</a:t>
            </a:r>
          </a:p>
          <a:p>
            <a:pPr>
              <a:spcBef>
                <a:spcPts val="600"/>
              </a:spcBef>
            </a:pPr>
            <a:r>
              <a:rPr sz="1300" b="1">
                <a:solidFill>
                  <a:srgbClr val="2E5984"/>
                </a:solidFill>
              </a:rPr>
              <a:t>2. 아키텍처 (Architecture): 실시간 이벤트 트리거 및 자동 실행 구조</a:t>
            </a:r>
          </a:p>
          <a:p>
            <a:r>
              <a:rPr sz="1100">
                <a:solidFill>
                  <a:srgbClr val="222222"/>
                </a:solidFill>
              </a:rPr>
              <a:t>•  데이터 흐름: [사용자 입력] → [Telegram 서버] → [Webhook Push] → [Apps Script doPost(e) 함수 자동 호출].</a:t>
            </a:r>
          </a:p>
          <a:p>
            <a:r>
              <a:rPr sz="1100">
                <a:solidFill>
                  <a:srgbClr val="222222"/>
                </a:solidFill>
              </a:rPr>
              <a:t>•  연결 원리: 텔레그램 서버에 "내 봇 앞으로 메시지가 오면 이 URL(Apps Script 웹앱 주소)로 보내라"고 등록하는 과정이 웹훅의 본질입니다.</a:t>
            </a:r>
          </a:p>
          <a:p>
            <a:pPr>
              <a:spcBef>
                <a:spcPts val="600"/>
              </a:spcBef>
            </a:pPr>
            <a:r>
              <a:rPr sz="1300" b="1">
                <a:solidFill>
                  <a:srgbClr val="2E5984"/>
                </a:solidFill>
              </a:rPr>
              <a:t>3. 소스코드 (Source Code): Webhook 등록 및 상태 확인용 표준 URL</a:t>
            </a:r>
          </a:p>
          <a:p>
            <a:r>
              <a:rPr sz="1100">
                <a:solidFill>
                  <a:srgbClr val="222222"/>
                </a:solidFill>
              </a:rPr>
              <a:t>•  등록 및 조회 명령어: 브라우저 주소창에 아래 형식을 입력하여 텔레그램 서버와 연동합니다.</a:t>
            </a:r>
          </a:p>
          <a:p>
            <a:pPr>
              <a:spcBef>
                <a:spcPts val="600"/>
              </a:spcBef>
            </a:pPr>
            <a:r>
              <a:rPr sz="1300" b="1">
                <a:solidFill>
                  <a:srgbClr val="2E5984"/>
                </a:solidFill>
              </a:rPr>
              <a:t>4. 실습 (Practice): 웹앱 배포 및 Webhook 정상 연결 검증</a:t>
            </a:r>
          </a:p>
          <a:p>
            <a:r>
              <a:rPr sz="1100">
                <a:solidFill>
                  <a:srgbClr val="222222"/>
                </a:solidFill>
              </a:rPr>
              <a:t>•  과제: Apps Script에서 '새 배포(웹앱, 모든 사용자 액세스)'를 통해 얻은 URL을 본인의 봇 토큰과 결합하여 웹훅을 등록하십시오.</a:t>
            </a:r>
          </a:p>
          <a:p>
            <a:r>
              <a:rPr sz="1100">
                <a:solidFill>
                  <a:srgbClr val="222222"/>
                </a:solidFill>
              </a:rPr>
              <a:t>•  확인 사항: 실행 후 브라우저에 {"ok":true, "result":true, "description":"Webhook was set"}라는 응답이 나오는지, 그리고 getWebhookInfo 실행 시 pending_update_count가 '0'인지 확인합니다.</a:t>
            </a:r>
          </a:p>
          <a:p>
            <a:pPr>
              <a:spcBef>
                <a:spcPts val="600"/>
              </a:spcBef>
            </a:pPr>
            <a:r>
              <a:rPr sz="1300" b="1">
                <a:solidFill>
                  <a:srgbClr val="2E5984"/>
                </a:solidFill>
              </a:rPr>
              <a:t>5. 확장 (Expansion): URL 변경 관리 및 독립적 멀티 봇 운영</a:t>
            </a:r>
          </a:p>
          <a:p>
            <a:r>
              <a:rPr sz="1100">
                <a:solidFill>
                  <a:srgbClr val="222222"/>
                </a:solidFill>
              </a:rPr>
              <a:t>•  고도화 전략: 코드 수정 후 웹앱 URL이 변경되면 반드시 다시 setWebhook을 실행해야 하며, 보안을 위해 웹훅 삭제(deleteWebhook) 방법도 숙지해야 합니다.</a:t>
            </a:r>
          </a:p>
          <a:p>
            <a:r>
              <a:rPr sz="1100">
                <a:solidFill>
                  <a:srgbClr val="222222"/>
                </a:solidFill>
              </a:rPr>
              <a:t>•  멀티 채널 확장: 각기 다른 기능을 가진 여러 봇(예: 분석봇, 알림봇)을 운영할 경우, 각각 고유한 토큰과 전용 웹훅 URL을 매핑하여 독립적인 AI 에이전틱 워크포스를 구축할 수 있습니다.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097  ·  120/216</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[121] AI 금융정보 플랫폼 구축 실무 - Module 10: 운영환경 아키텍처 및 확장</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프로토타입에서 '실서비스' 환경으로의 전환</a:t>
            </a:r>
          </a:p>
          <a:p>
            <a:r>
              <a:rPr sz="1100">
                <a:solidFill>
                  <a:srgbClr val="222222"/>
                </a:solidFill>
              </a:rPr>
              <a:t>•  정의: 개발 단계의 코드를 안정적인 운영 인프라에 올리고, 단일 채널(텔레그램)을 넘어 기업용 협업 도구로 접점을 넓히는 엔터프라이즈 아키텍처 최적화 단계입니다.</a:t>
            </a:r>
          </a:p>
          <a:p>
            <a:r>
              <a:rPr sz="1100">
                <a:solidFill>
                  <a:srgbClr val="222222"/>
                </a:solidFill>
              </a:rPr>
              <a:t>•  핵심 가치: 단순 응답을 넘어 리스크 모니터링(RiskWatch) 및 데이터 맵(AI DataMap)과 결합하여, 업무 현장에서 즉시 활용 가능한 '금융 지능화 플랫폼'의 완성을 지향합니다.</a:t>
            </a:r>
          </a:p>
          <a:p>
            <a:pPr>
              <a:spcBef>
                <a:spcPts val="600"/>
              </a:spcBef>
            </a:pPr>
            <a:r>
              <a:rPr sz="1300" b="1">
                <a:solidFill>
                  <a:srgbClr val="2E5984"/>
                </a:solidFill>
              </a:rPr>
              <a:t>2. 아키텍처 (Architecture): 엔드-투-엔드(E2E) 서비스 통합 구조</a:t>
            </a:r>
          </a:p>
          <a:p>
            <a:r>
              <a:rPr sz="1100">
                <a:solidFill>
                  <a:srgbClr val="222222"/>
                </a:solidFill>
              </a:rPr>
              <a:t>•  최종 운영 워크플로우: 사용자 질의 → Telegram → Webhook → GAS Gateway → Action Layer → Data Layer → GPT Layer → RiskWatch / AI DataMap → Telegram 회신.</a:t>
            </a:r>
          </a:p>
          <a:p>
            <a:r>
              <a:rPr sz="1100">
                <a:solidFill>
                  <a:srgbClr val="222222"/>
                </a:solidFill>
              </a:rPr>
              <a:t>•  구조적 특징: 각 레이어가 모듈화되어 있어, 데이터 소스(Data Layer)를 추가하거나 분석 로직(GPT Layer)을 변경해도 전체 시스템의 안정성이 유지되는 유연한 아키텍처를 가집니다.</a:t>
            </a:r>
          </a:p>
          <a:p>
            <a:pPr>
              <a:spcBef>
                <a:spcPts val="600"/>
              </a:spcBef>
            </a:pPr>
            <a:r>
              <a:rPr sz="1300" b="1">
                <a:solidFill>
                  <a:srgbClr val="2E5984"/>
                </a:solidFill>
              </a:rPr>
              <a:t>3. 소스코드 (Source Code): 멀티 플랫폼 확장 및 운영 보안 로직</a:t>
            </a:r>
          </a:p>
          <a:p>
            <a:r>
              <a:rPr sz="1100">
                <a:solidFill>
                  <a:srgbClr val="222222"/>
                </a:solidFill>
              </a:rPr>
              <a:t>•  핵심 로직: 동일한 분석 엔진을 텔레그램뿐만 아니라 슬랙(Slack), 팀즈(Teams) 등 다양한 채널로 분산 전송하는 배포 로직을 포함합니다.</a:t>
            </a:r>
          </a:p>
          <a:p>
            <a:pPr>
              <a:spcBef>
                <a:spcPts val="600"/>
              </a:spcBef>
            </a:pPr>
            <a:r>
              <a:rPr sz="1300" b="1">
                <a:solidFill>
                  <a:srgbClr val="2E5984"/>
                </a:solidFill>
              </a:rPr>
              <a:t>4. 실습 (Practice): 운영 환경 아키텍처 분석 및 권한 제어 테스트</a:t>
            </a:r>
          </a:p>
          <a:p>
            <a:r>
              <a:rPr sz="1100">
                <a:solidFill>
                  <a:srgbClr val="222222"/>
                </a:solidFill>
              </a:rPr>
              <a:t>•  과제: 현재 구축된 시스템의 각 단계가 '실서비스 구조'에 맞게 유기적으로 연결되어 있는지 점검하고, 지정된 관리자만 명령을 실행할 수 있도록 화이트리스트(ALLOWED_USER_IDS) 보안 로직을 적용하십시오.</a:t>
            </a:r>
          </a:p>
          <a:p>
            <a:r>
              <a:rPr sz="1100">
                <a:solidFill>
                  <a:srgbClr val="222222"/>
                </a:solidFill>
              </a:rPr>
              <a:t>•  확인 사항: 텔레그램 채널과 그룹의 권한 설정(can_post_messages)을 확인하여, '명령은 운영그룹에서, 결과 배포는 채널로' 이루어지는 운영 체계를 검증합니다.</a:t>
            </a:r>
          </a:p>
          <a:p>
            <a:pPr>
              <a:spcBef>
                <a:spcPts val="600"/>
              </a:spcBef>
            </a:pPr>
            <a:r>
              <a:rPr sz="1300" b="1">
                <a:solidFill>
                  <a:srgbClr val="2E5984"/>
                </a:solidFill>
              </a:rPr>
              <a:t>5. 확장 (Expansion): 기업용 AI 워크포스(Workforce) 플랫폼으로의 진화</a:t>
            </a:r>
          </a:p>
          <a:p>
            <a:r>
              <a:rPr sz="1100">
                <a:solidFill>
                  <a:srgbClr val="222222"/>
                </a:solidFill>
              </a:rPr>
              <a:t>•  고도화 전략: 텔레그램을 넘어 Slack, Teams, Discord와 같은 기업용 메신저를 통합 인터페이스로 활용하여 전사적인 AI 워크포스 인프라로 확장합니다.</a:t>
            </a:r>
          </a:p>
          <a:p>
            <a:r>
              <a:rPr sz="1100">
                <a:solidFill>
                  <a:srgbClr val="222222"/>
                </a:solidFill>
              </a:rPr>
              <a:t>•  기술적 지향점: 금융 지표 이상 징후 발생 시 관리자에게 즉시 푸시 알림을 보내고, 대응 전략 리포트를 자동 생성하는 '자율형 금융 관제 시스템'으로 플랫폼을 업그레이드합니다.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098  ·  121/216</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[122] AI 금융정보 플랫폼 구축 실무 - 개발 표준 및 통합 로드맵</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왜 이 기술과 표준이 필요한가?</a:t>
            </a:r>
          </a:p>
          <a:p>
            <a:r>
              <a:rPr sz="1100">
                <a:solidFill>
                  <a:srgbClr val="222222"/>
                </a:solidFill>
              </a:rPr>
              <a:t>•  목적: 단순히 코드를 복사하는 것이 아니라, 금융 데이터의 흐름과 AI의 판단 로직을 설계-개발-활용-유지 단계에 걸쳐 일관되게 적용하기 위함입니다.</a:t>
            </a:r>
          </a:p>
          <a:p>
            <a:r>
              <a:rPr sz="1100">
                <a:solidFill>
                  <a:srgbClr val="222222"/>
                </a:solidFill>
              </a:rPr>
              <a:t>•  핵심 가치: 텔레그램-GAS-OpenAI 연동 체계를 표준화하여, 향후 RiskWatchGPT나 AI 데이터맵과 같은 복잡한 시스템으로 유연하게 확장할 수 있는 기초 체력을 확보합니다.</a:t>
            </a:r>
          </a:p>
          <a:p>
            <a:pPr>
              <a:spcBef>
                <a:spcPts val="600"/>
              </a:spcBef>
            </a:pPr>
            <a:r>
              <a:rPr sz="1300" b="1">
                <a:solidFill>
                  <a:srgbClr val="2E5984"/>
                </a:solidFill>
              </a:rPr>
              <a:t>2. 아키텍처 (Architecture): 기술이 시스템 내 어디에 위치하는가?</a:t>
            </a:r>
          </a:p>
          <a:p>
            <a:r>
              <a:rPr sz="1100">
                <a:solidFill>
                  <a:srgbClr val="222222"/>
                </a:solidFill>
              </a:rPr>
              <a:t>•  계층 구조: [사용자 접점: Telegram] → [제어 관문: Webhook/GAS] → [지능 분석: GPT Action Framework] → [데이터 저장/조회: Data Layer] → [결과 도출: AI Report Engine].</a:t>
            </a:r>
          </a:p>
          <a:p>
            <a:r>
              <a:rPr sz="1100">
                <a:solidFill>
                  <a:srgbClr val="222222"/>
                </a:solidFill>
              </a:rPr>
              <a:t>•  통합 구조: 각 레이어는 독립적인 모듈로 존재하며, 'AI Router'로서의 GPT가 사용자의 의도에 따라 각 모듈을 호출하는 오케스트레이션 구조를 가집니다.</a:t>
            </a:r>
          </a:p>
          <a:p>
            <a:pPr>
              <a:spcBef>
                <a:spcPts val="600"/>
              </a:spcBef>
            </a:pPr>
            <a:r>
              <a:rPr sz="1300" b="1">
                <a:solidFill>
                  <a:srgbClr val="2E5984"/>
                </a:solidFill>
              </a:rPr>
              <a:t>3. 소스코드 (Source Code): 표준 구현 방법론 (Development Standard)</a:t>
            </a:r>
          </a:p>
          <a:p>
            <a:r>
              <a:rPr sz="1100">
                <a:solidFill>
                  <a:srgbClr val="222222"/>
                </a:solidFill>
              </a:rPr>
              <a:t>•  표준 가이드: 모든 강의 콘텐츠는 다음의 5단계 형식을 강제로 적용하여 구현합니다,.</a:t>
            </a:r>
          </a:p>
          <a:p>
            <a:r>
              <a:rPr sz="1100">
                <a:solidFill>
                  <a:srgbClr val="222222"/>
                </a:solidFill>
              </a:rPr>
              <a:t>•  Logic: 구현 대상의 핵심 알고리즘 및 API 호출 방식 명세.</a:t>
            </a:r>
          </a:p>
          <a:p>
            <a:r>
              <a:rPr sz="1100">
                <a:solidFill>
                  <a:srgbClr val="222222"/>
                </a:solidFill>
              </a:rPr>
              <a:t>•  Structure: 변수 선언, 함수 분기(Switch Pattern), 보안 화이트리스트(ALLOWED_USER_IDS) 적용,.</a:t>
            </a:r>
          </a:p>
          <a:p>
            <a:pPr>
              <a:spcBef>
                <a:spcPts val="600"/>
              </a:spcBef>
            </a:pPr>
            <a:r>
              <a:rPr sz="1300" b="1">
                <a:solidFill>
                  <a:srgbClr val="2E5984"/>
                </a:solidFill>
              </a:rPr>
              <a:t>4. 실습 (Practice): 직접 구현 및 검증 프로세스</a:t>
            </a:r>
          </a:p>
          <a:p>
            <a:r>
              <a:rPr sz="1100">
                <a:solidFill>
                  <a:srgbClr val="222222"/>
                </a:solidFill>
              </a:rPr>
              <a:t>•  과제: 제시된 아키텍처에 따라 본인만의 'AI 금융비서'를 직접 구축하고, 텔레그램 한 줄 명령으로 분석 리포트가 정상 생성되는지 확인합니다,.</a:t>
            </a:r>
          </a:p>
          <a:p>
            <a:r>
              <a:rPr sz="1100">
                <a:solidFill>
                  <a:srgbClr val="222222"/>
                </a:solidFill>
              </a:rPr>
              <a:t>•  검증 항목: Webhook 연결 상태(getWebhookInfo), GPT 의도 분류 정확도, 금융 데이터 API 응답 정합성을 전수 점검합니다,.</a:t>
            </a:r>
          </a:p>
          <a:p>
            <a:pPr>
              <a:spcBef>
                <a:spcPts val="600"/>
              </a:spcBef>
            </a:pPr>
            <a:r>
              <a:rPr sz="1300" b="1">
                <a:solidFill>
                  <a:srgbClr val="2E5984"/>
                </a:solidFill>
              </a:rPr>
              <a:t>5. 확장 (Expansion): 실무 적용 및 최종 로드맵 (16시간)</a:t>
            </a:r>
          </a:p>
          <a:p>
            <a:r>
              <a:rPr sz="1100">
                <a:solidFill>
                  <a:srgbClr val="222222"/>
                </a:solidFill>
              </a:rPr>
              <a:t>•  로드맵 구성 (Part 1 ~ Part 6):</a:t>
            </a:r>
          </a:p>
          <a:p>
            <a:r>
              <a:rPr sz="1100">
                <a:solidFill>
                  <a:srgbClr val="222222"/>
                </a:solidFill>
              </a:rPr>
              <a:t>•  Part 1-2: 플랫폼 아키텍처 및 GPT Action Framework (Classifier, Dispatcher).</a:t>
            </a:r>
          </a:p>
          <a:p>
            <a:r>
              <a:rPr sz="1100">
                <a:solidFill>
                  <a:srgbClr val="222222"/>
                </a:solidFill>
              </a:rPr>
              <a:t>•  Part 3-4: Data Layer(ECOS, DART, News) 및 AI Report Engine 구축.</a:t>
            </a:r>
          </a:p>
          <a:p>
            <a:r>
              <a:rPr sz="1100">
                <a:solidFill>
                  <a:srgbClr val="222222"/>
                </a:solidFill>
              </a:rPr>
              <a:t>•  Part 5-6: 운영/보안(권한 및 장애대응) 및 최종 프로젝트(RiskWatch 연계).</a:t>
            </a:r>
          </a:p>
          <a:p>
            <a:r>
              <a:rPr sz="1100">
                <a:solidFill>
                  <a:srgbClr val="222222"/>
                </a:solidFill>
              </a:rPr>
              <a:t>•  고도화 전략: 구축된 표준 프레임워크에 ETF 분석, 채권 분석 등 신규 액션을 추가하여 기업형 AI 워크포스(Workforce)로 진화시킵니다,.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099  ·  122/216</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[123] AI 금융정보 플랫폼 구축 실무 - Action Framework 개요 및 목표</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자연어 기반의 지능형 금융 서비스 엔진 구축</a:t>
            </a:r>
          </a:p>
          <a:p>
            <a:r>
              <a:rPr sz="1100">
                <a:solidFill>
                  <a:srgbClr val="222222"/>
                </a:solidFill>
              </a:rPr>
              <a:t>•  정의: 단순한 명령어를 넘어 사용자의 자연어(의도)를 분석하고, 적절한 금융 데이터 액션(Action)을 매핑하여 실행하는 지능형 에이전트 프레임워크입니다,.</a:t>
            </a:r>
          </a:p>
          <a:p>
            <a:r>
              <a:rPr sz="1100">
                <a:solidFill>
                  <a:srgbClr val="222222"/>
                </a:solidFill>
              </a:rPr>
              <a:t>•  핵심 가치: GPT를 단순한 대화 상대가 아닌 'AI 라우터(Router)' 또는 '의도 분류기(Classifier)'로 정의하여, 실무 현장에서 즉시 활용 가능한 자동화된 금융 리서치 및 리포팅 환경을 제공합니다,.</a:t>
            </a:r>
          </a:p>
          <a:p>
            <a:pPr>
              <a:spcBef>
                <a:spcPts val="600"/>
              </a:spcBef>
            </a:pPr>
            <a:r>
              <a:rPr sz="1300" b="1">
                <a:solidFill>
                  <a:srgbClr val="2E5984"/>
                </a:solidFill>
              </a:rPr>
              <a:t>2. 아키텍처 (Architecture): 텔레그램-GAS-OpenAI 기반 7단계 프로세스</a:t>
            </a:r>
          </a:p>
          <a:p>
            <a:r>
              <a:rPr sz="1100">
                <a:solidFill>
                  <a:srgbClr val="222222"/>
                </a:solidFill>
              </a:rPr>
              <a:t>•  엔드 투 엔드(E2E) 흐름: [사용자 질의] → [Telegram Webhook] → [GAS Gateway] → [GPT Classifier] → [Action Dispatcher] → [Data Layer] → [GPT Report] → [Telegram Reply],,.</a:t>
            </a:r>
          </a:p>
          <a:p>
            <a:r>
              <a:rPr sz="1100">
                <a:solidFill>
                  <a:srgbClr val="222222"/>
                </a:solidFill>
              </a:rPr>
              <a:t>•  구조적 특징: 프레젠테이션(텔레그램), 액션(분류), 데이터(수집), 생성(분석) 레이어가 엄격히 분리된 모듈형 설계(Layered Architecture)를 따릅니다.</a:t>
            </a:r>
          </a:p>
          <a:p>
            <a:pPr>
              <a:spcBef>
                <a:spcPts val="600"/>
              </a:spcBef>
            </a:pPr>
            <a:r>
              <a:rPr sz="1300" b="1">
                <a:solidFill>
                  <a:srgbClr val="2E5984"/>
                </a:solidFill>
              </a:rPr>
              <a:t>3. 소스코드 (Source Code): 4대 핵심 교육 목표 및 구현 명세</a:t>
            </a:r>
          </a:p>
          <a:p>
            <a:r>
              <a:rPr sz="1100">
                <a:solidFill>
                  <a:srgbClr val="222222"/>
                </a:solidFill>
              </a:rPr>
              <a:t>•  핵심 구현 목표: 본 과정을 통해 개발자는 다음의 4대 핵심 역량을 확보합니다,.</a:t>
            </a:r>
          </a:p>
          <a:p>
            <a:r>
              <a:rPr sz="1100">
                <a:solidFill>
                  <a:srgbClr val="222222"/>
                </a:solidFill>
              </a:rPr>
              <a:t>•  자연어 기반 서비스: 텍스트 명령을 통한 실시간 금융 데이터 처리 역량.</a:t>
            </a:r>
          </a:p>
          <a:p>
            <a:r>
              <a:rPr sz="1100">
                <a:solidFill>
                  <a:srgbClr val="222222"/>
                </a:solidFill>
              </a:rPr>
              <a:t>•  Action Framework: GPT를 활용한 정교한 의도 분류 및 기능 분기 설계.</a:t>
            </a:r>
          </a:p>
          <a:p>
            <a:r>
              <a:rPr sz="1100">
                <a:solidFill>
                  <a:srgbClr val="222222"/>
                </a:solidFill>
              </a:rPr>
              <a:t>•  데이터 API 연동: ECOS, DART, 코스콤 등 멀티 소스 데이터 파이프라인 구축.</a:t>
            </a:r>
          </a:p>
          <a:p>
            <a:r>
              <a:rPr sz="1100">
                <a:solidFill>
                  <a:srgbClr val="222222"/>
                </a:solidFill>
              </a:rPr>
              <a:t>•  자동화 서비스: 텔레그램 채널 배포 및 24x365 무중단 운영 체계 확보.</a:t>
            </a:r>
          </a:p>
          <a:p>
            <a:pPr>
              <a:spcBef>
                <a:spcPts val="600"/>
              </a:spcBef>
            </a:pPr>
            <a:r>
              <a:rPr sz="1300" b="1">
                <a:solidFill>
                  <a:srgbClr val="2E5984"/>
                </a:solidFill>
              </a:rPr>
              <a:t>4. 실습 (Practice): 플랫폼 아키텍처 매핑 및 기술 스택 확인</a:t>
            </a:r>
          </a:p>
          <a:p>
            <a:r>
              <a:rPr sz="1100">
                <a:solidFill>
                  <a:srgbClr val="222222"/>
                </a:solidFill>
              </a:rPr>
              <a:t>•  과제: 제공된 전체 시스템 아키텍처 다이어그램(,)을 보고, 각 단계에서 어떤 기술(GAS doPost, OpenAI API, Telegram API)이 사용되는지 본인의 개발 환경과 대조하여 확인하십시오.</a:t>
            </a:r>
          </a:p>
          <a:p>
            <a:r>
              <a:rPr sz="1100">
                <a:solidFill>
                  <a:srgbClr val="222222"/>
                </a:solidFill>
              </a:rPr>
              <a:t>•  확인 사항: "오늘 시장 브리핑 보여줘"라는 입력이 들어왔을 때, 시스템이 이를 market_briefing이라는 JSON 액션으로 정상적으로 변환하는지 로직을 검증합니다.</a:t>
            </a:r>
          </a:p>
          <a:p>
            <a:pPr>
              <a:spcBef>
                <a:spcPts val="600"/>
              </a:spcBef>
            </a:pPr>
            <a:r>
              <a:rPr sz="1300" b="1">
                <a:solidFill>
                  <a:srgbClr val="2E5984"/>
                </a:solidFill>
              </a:rPr>
              <a:t>5. 확장 (Expansion): 'AI 워크포스(Workforce)'로의 진화 전략</a:t>
            </a:r>
          </a:p>
          <a:p>
            <a:r>
              <a:rPr sz="1100">
                <a:solidFill>
                  <a:srgbClr val="222222"/>
                </a:solidFill>
              </a:rPr>
              <a:t>•  고도화 전략: 구축된 프레임워크를 기반으로 리스크 감시용 RiskWatch와 데이터 시각화용 AI 데이터맵을 통합하여, 자율적으로 시장을 감시하고 보고하는 금융 지능화 플랫폼으로 확장합니다,.</a:t>
            </a:r>
          </a:p>
          <a:p>
            <a:r>
              <a:rPr sz="1100">
                <a:solidFill>
                  <a:srgbClr val="222222"/>
                </a:solidFill>
              </a:rPr>
              <a:t>•  실무 적용: 이 아키텍처는 향후 슬랙(Slack)이나 팀즈(Teams) 등 기업용 협업 도구와 연동되어, 전사적 데이터 리터러시를 높이는 기업형 AI 비서의 표준 모델이 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100  ·  123/216</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[124] AI 금융정보 플랫폼 구축 실무 - 전체 시스템 아키텍처 및 데이터 흐름</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챗봇을 넘어 'AI 라우터(Router)'로의 패러다임 전환</a:t>
            </a:r>
          </a:p>
          <a:p>
            <a:r>
              <a:rPr sz="1100">
                <a:solidFill>
                  <a:srgbClr val="222222"/>
                </a:solidFill>
              </a:rPr>
              <a:t>•  정의: 사용자의 자연어 입력을 단순히 텍스트로 응답하는 것이 아니라, 특정 기능을 실행하기 위한 명령(Action)으로 변환하고 분류하는 지능형 관문 시스템입니다.</a:t>
            </a:r>
          </a:p>
          <a:p>
            <a:r>
              <a:rPr sz="1100">
                <a:solidFill>
                  <a:srgbClr val="222222"/>
                </a:solidFill>
              </a:rPr>
              <a:t>•  핵심 가치: GPT를 '지능형 라우터'로 활용함으로써 사용자의 복잡한 의도를 구조화된 JSON 데이터로 추출하고, 이를 통해 적절한 데이터 소스와 분석 엔진을 오케스트레이션합니다.</a:t>
            </a:r>
          </a:p>
          <a:p>
            <a:pPr>
              <a:spcBef>
                <a:spcPts val="600"/>
              </a:spcBef>
            </a:pPr>
            <a:r>
              <a:rPr sz="1300" b="1">
                <a:solidFill>
                  <a:srgbClr val="2E5984"/>
                </a:solidFill>
              </a:rPr>
              <a:t>2. 아키텍처 (Architecture): 엔드-투-엔드(E2E) 7단계 작동 프로세스</a:t>
            </a:r>
          </a:p>
          <a:p>
            <a:r>
              <a:rPr sz="1100">
                <a:solidFill>
                  <a:srgbClr val="222222"/>
                </a:solidFill>
              </a:rPr>
              <a:t>•  데이터 파이프라인: [사용자 질의] → [Telegram Webhook] → [GAS Gateway] → [GPT Classifier] → [Action Dispatcher] → [Data Layer] → [GPT Report] → [Telegram Reply].</a:t>
            </a:r>
          </a:p>
          <a:p>
            <a:r>
              <a:rPr sz="1100">
                <a:solidFill>
                  <a:srgbClr val="222222"/>
                </a:solidFill>
              </a:rPr>
              <a:t>•  단계별 역할:</a:t>
            </a:r>
          </a:p>
          <a:p>
            <a:r>
              <a:rPr sz="1100">
                <a:solidFill>
                  <a:srgbClr val="222222"/>
                </a:solidFill>
              </a:rPr>
              <a:t>•  doPost(e): 텔레그램으로부터 JSON 형태의 요청 수신 및 파싱.</a:t>
            </a:r>
          </a:p>
          <a:p>
            <a:r>
              <a:rPr sz="1100">
                <a:solidFill>
                  <a:srgbClr val="222222"/>
                </a:solidFill>
              </a:rPr>
              <a:t>•  GPT 명령 분석: analyzeCommandWithGPT_() 함수를 통해 사용자의 텍스트에서 action과 params를 추출.</a:t>
            </a:r>
          </a:p>
          <a:p>
            <a:r>
              <a:rPr sz="1100">
                <a:solidFill>
                  <a:srgbClr val="222222"/>
                </a:solidFill>
              </a:rPr>
              <a:t>•  Action 분기: switch(action) 구조를 통해 market_briefing, risk_check 등 해당 함수를 실행.</a:t>
            </a:r>
          </a:p>
          <a:p>
            <a:pPr>
              <a:spcBef>
                <a:spcPts val="600"/>
              </a:spcBef>
            </a:pPr>
            <a:r>
              <a:rPr sz="1300" b="1">
                <a:solidFill>
                  <a:srgbClr val="2E5984"/>
                </a:solidFill>
              </a:rPr>
              <a:t>3. 소스코드 (Source Code): GPT 분석 응답 및 JSON 구조 명세</a:t>
            </a:r>
          </a:p>
          <a:p>
            <a:r>
              <a:rPr sz="1100">
                <a:solidFill>
                  <a:srgbClr val="222222"/>
                </a:solidFill>
              </a:rPr>
              <a:t>•  출력 명세: GPT는 반드시 약속된 JSON 형식으로만 응답하여 앱 연동의 안정성을 확보합니다.</a:t>
            </a:r>
          </a:p>
          <a:p>
            <a:pPr>
              <a:spcBef>
                <a:spcPts val="600"/>
              </a:spcBef>
            </a:pPr>
            <a:r>
              <a:rPr sz="1300" b="1">
                <a:solidFill>
                  <a:srgbClr val="2E5984"/>
                </a:solidFill>
              </a:rPr>
              <a:t>4. 실습 (Practice): 플랫폼 흐름도 매핑 및 Webhook 진입점 검증</a:t>
            </a:r>
          </a:p>
          <a:p>
            <a:r>
              <a:rPr sz="1100">
                <a:solidFill>
                  <a:srgbClr val="222222"/>
                </a:solidFill>
              </a:rPr>
              <a:t>•  과제: 사용자가 "오늘 시장 브리핑 보여줘"라고 입력했을 때, 텔레그램 서버가 Webhook URL로 POST 요청을 보내고 GAS의 doPost(e) 함수가 이를 정상 수신하는지 로그를 통해 확인하십시오.</a:t>
            </a:r>
          </a:p>
          <a:p>
            <a:r>
              <a:rPr sz="1100">
                <a:solidFill>
                  <a:srgbClr val="222222"/>
                </a:solidFill>
              </a:rPr>
              <a:t>•  확인 사항: logCommand_() 함수가 구글 시트(CommandLog)에 사용자 메시지와 분류된 액션을 정확히 기록하는지 점검합니다.</a:t>
            </a:r>
          </a:p>
          <a:p>
            <a:pPr>
              <a:spcBef>
                <a:spcPts val="600"/>
              </a:spcBef>
            </a:pPr>
            <a:r>
              <a:rPr sz="1300" b="1">
                <a:solidFill>
                  <a:srgbClr val="2E5984"/>
                </a:solidFill>
              </a:rPr>
              <a:t>5. 확장 (Expansion): 멀티 데이터 레이어 및 지능형 분석 엔진 통합</a:t>
            </a:r>
          </a:p>
          <a:p>
            <a:r>
              <a:rPr sz="1100">
                <a:solidFill>
                  <a:srgbClr val="222222"/>
                </a:solidFill>
              </a:rPr>
              <a:t>•  고도화 전략: 액션 분류기(Classifier)의 허용 범위를 확장하여 코스콤(시세), ECOS(거시), DART(공시), 뉴스(비정형) 등 다양한 데이터 레이어와 유기적으로 연동합니다.</a:t>
            </a:r>
          </a:p>
          <a:p>
            <a:r>
              <a:rPr sz="1100">
                <a:solidFill>
                  <a:srgbClr val="222222"/>
                </a:solidFill>
              </a:rPr>
              <a:t>•  기능 확장: 수집된 원천 데이터를 기반으로 GPT가 리포트를 생성하고, 이를 다시 사용자에게 텔레그램 메시지나 PDF 형태로 회신하는 완성형 지능형 워크플로우로 확장합니다.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101  ·  124/216</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[125] AI 금융정보 플랫폼 구축 실무 - Module 5: Action Dispatcher 구현</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의도를 실행으로 옮기는 '지능형 스위치보드'</a:t>
            </a:r>
          </a:p>
          <a:p>
            <a:r>
              <a:rPr sz="1100">
                <a:solidFill>
                  <a:srgbClr val="222222"/>
                </a:solidFill>
              </a:rPr>
              <a:t>•  정의: GPT Classifier가 분류한 action 값을 수신하여, 서버 내에 정의된 수십~수백 개의 기능 중 적절한 함수(Function)를 찾아 매핑하고 실행하는 기능 분기 제어부입니다,.</a:t>
            </a:r>
          </a:p>
          <a:p>
            <a:r>
              <a:rPr sz="1100">
                <a:solidFill>
                  <a:srgbClr val="222222"/>
                </a:solidFill>
              </a:rPr>
              <a:t>•  핵심 가치: 복잡한 if-else 문 대신 표준화된 분기 구조(Dispatcher Pattern)를 채택함으로써 코드의 가독성을 높이고, 새로운 금융 분석 기능을 중단 없이 즉시 추가할 수 있는 유연성을 확보합니다.</a:t>
            </a:r>
          </a:p>
          <a:p>
            <a:pPr>
              <a:spcBef>
                <a:spcPts val="600"/>
              </a:spcBef>
            </a:pPr>
            <a:r>
              <a:rPr sz="1300" b="1">
                <a:solidFill>
                  <a:srgbClr val="2E5984"/>
                </a:solidFill>
              </a:rPr>
              <a:t>2. 아키텍처 (Architecture): Action 기반의 모듈형 분기 구조</a:t>
            </a:r>
          </a:p>
          <a:p>
            <a:r>
              <a:rPr sz="1100">
                <a:solidFill>
                  <a:srgbClr val="222222"/>
                </a:solidFill>
              </a:rPr>
              <a:t>•  라우팅 프로세스: [GPT Action 수신] → [Action Dispatcher] → [해당 Case 매칭] → [관련 데이터 수집 및 분석 함수 호출] → [결과 반환],.</a:t>
            </a:r>
          </a:p>
          <a:p>
            <a:r>
              <a:rPr sz="1100">
                <a:solidFill>
                  <a:srgbClr val="222222"/>
                </a:solidFill>
              </a:rPr>
              <a:t>•  지원 범위: market_briefing, news_summary, risk_check, macro_report, stock_report, chart_analysis 등 교육 과정에서 다루는 모든 핵심 액션을 통합 관리합니다,,.</a:t>
            </a:r>
          </a:p>
          <a:p>
            <a:pPr>
              <a:spcBef>
                <a:spcPts val="600"/>
              </a:spcBef>
            </a:pPr>
            <a:r>
              <a:rPr sz="1300" b="1">
                <a:solidFill>
                  <a:srgbClr val="2E5984"/>
                </a:solidFill>
              </a:rPr>
              <a:t>3. 소스코드 (Source Code): switch(action) 패턴 기반의 라우팅 로직</a:t>
            </a:r>
          </a:p>
          <a:p>
            <a:r>
              <a:rPr sz="1100">
                <a:solidFill>
                  <a:srgbClr val="222222"/>
                </a:solidFill>
              </a:rPr>
              <a:t>•  핵심 로직: doPost(e) 함수 내에서 GPT가 판단한 액션에 따라 실행 함수를 결정하는 중추 코드입니다,.</a:t>
            </a:r>
          </a:p>
          <a:p>
            <a:pPr>
              <a:spcBef>
                <a:spcPts val="600"/>
              </a:spcBef>
            </a:pPr>
            <a:r>
              <a:rPr sz="1300" b="1">
                <a:solidFill>
                  <a:srgbClr val="2E5984"/>
                </a:solidFill>
              </a:rPr>
              <a:t>4. 실습 (Practice): 신규 액션 'economic_calendar' 추가 및 분기 테스트</a:t>
            </a:r>
          </a:p>
          <a:p>
            <a:r>
              <a:rPr sz="1100">
                <a:solidFill>
                  <a:srgbClr val="222222"/>
                </a:solidFill>
              </a:rPr>
              <a:t>•  과제: 경제 지표 일정을 조회하는 economic_calendar 액션을 신규로 정의하고, switch 문에 해당 케이스를 추가하여 "이번 주 경제 일정 알려줘"라는 입력이 정상적으로 라우팅되는지 확인하십시오,.</a:t>
            </a:r>
          </a:p>
          <a:p>
            <a:r>
              <a:rPr sz="1100">
                <a:solidFill>
                  <a:srgbClr val="222222"/>
                </a:solidFill>
              </a:rPr>
              <a:t>•  확인 사항: 새로운 액션 추가 시 기존의 market_briefing 등 다른 기능들이 간섭 없이 독립적으로 작동하는지 기능 격리 여부를 검증합니다.</a:t>
            </a:r>
          </a:p>
          <a:p>
            <a:pPr>
              <a:spcBef>
                <a:spcPts val="600"/>
              </a:spcBef>
            </a:pPr>
            <a:r>
              <a:rPr sz="1300" b="1">
                <a:solidFill>
                  <a:srgbClr val="2E5984"/>
                </a:solidFill>
              </a:rPr>
              <a:t>5. 확장 (Expansion): 유지보수 최적화 및 기업형 서비스 구조로의 진화</a:t>
            </a:r>
          </a:p>
          <a:p>
            <a:r>
              <a:rPr sz="1100">
                <a:solidFill>
                  <a:srgbClr val="222222"/>
                </a:solidFill>
              </a:rPr>
              <a:t>•  고도화 전략: 액션이 수백 개로 늘어날 경우, 단일 switch 문을 별도의 라우팅 객체(Routing Object)나 외부 모듈로 분리하여 코드의 유지보수 효율성을 극대화합니다.</a:t>
            </a:r>
          </a:p>
          <a:p>
            <a:r>
              <a:rPr sz="1100">
                <a:solidFill>
                  <a:srgbClr val="222222"/>
                </a:solidFill>
              </a:rPr>
              <a:t>•  실무 적용: 이 구조는 Presentation Layer(텔레그램)와 Business Logic(분석 함수)을 완벽히 분리하므로, 향후 슬랙(Slack)이나 팀즈(Teams)로 인터페이스를 확장하더라도 핵심 분석 엔진은 그대로 재사용할 수 있는 엔터프라이즈급 서비스 구조의 토대가 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102  ·  125/216</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[126] AI 금융정보 플랫폼 구축 실무 - Module 6: DART 연동 및 공시 데이터 확보</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기업의 '건강검진표', 전자공시 데이터의 이해</a:t>
            </a:r>
          </a:p>
          <a:p>
            <a:r>
              <a:rPr sz="1100">
                <a:solidFill>
                  <a:srgbClr val="222222"/>
                </a:solidFill>
              </a:rPr>
              <a:t>•  정의: 기업의 재무 상태, 경영 실적, 주요 의사결정 사항이 담긴 금융감독원 전자공시시스템(DART)의 데이터를 Open API를 통해 시스템으로 가져오는 과정입니다.</a:t>
            </a:r>
          </a:p>
          <a:p>
            <a:r>
              <a:rPr sz="1100">
                <a:solidFill>
                  <a:srgbClr val="222222"/>
                </a:solidFill>
              </a:rPr>
              <a:t>•  핵심 가치: 분석 엔진이 기업의 펀더멘털을 평가할 때 가장 신뢰할 수 있는 원천 데이터를 확보하여, AI가 '팩트' 기반의 투자 인사이트를 도출할 수 있게 합니다.</a:t>
            </a:r>
          </a:p>
          <a:p>
            <a:pPr>
              <a:spcBef>
                <a:spcPts val="600"/>
              </a:spcBef>
            </a:pPr>
            <a:r>
              <a:rPr sz="1300" b="1">
                <a:solidFill>
                  <a:srgbClr val="2E5984"/>
                </a:solidFill>
              </a:rPr>
              <a:t>2. 아키텍처 (Architecture): 공시 데이터 수집 및 분석 흐름</a:t>
            </a:r>
          </a:p>
          <a:p>
            <a:r>
              <a:rPr sz="1100">
                <a:solidFill>
                  <a:srgbClr val="222222"/>
                </a:solidFill>
              </a:rPr>
              <a:t>•  데이터 흐름: [사용자 요청] → [Action Dispatcher] → [DART Collector 호출] → [Open DART API] → [공시 데이터 수집] → [GPT 분석 엔진].</a:t>
            </a:r>
          </a:p>
          <a:p>
            <a:r>
              <a:rPr sz="1100">
                <a:solidFill>
                  <a:srgbClr val="222222"/>
                </a:solidFill>
              </a:rPr>
              <a:t>•  수집 대상: 분기/반기/사업보고서 및 유상증자, 전환사채 발행 등 기업의 주가에 중대한 영향을 미치는 주요사항보고서를 중점적으로 관리합니다.</a:t>
            </a:r>
          </a:p>
          <a:p>
            <a:pPr>
              <a:spcBef>
                <a:spcPts val="600"/>
              </a:spcBef>
            </a:pPr>
            <a:r>
              <a:rPr sz="1300" b="1">
                <a:solidFill>
                  <a:srgbClr val="2E5984"/>
                </a:solidFill>
              </a:rPr>
              <a:t>3. 소스코드 (Source Code): getDartData_()를 통한 공시 목록 수집</a:t>
            </a:r>
          </a:p>
          <a:p>
            <a:r>
              <a:rPr sz="1100">
                <a:solidFill>
                  <a:srgbClr val="222222"/>
                </a:solidFill>
              </a:rPr>
              <a:t>•  핵심 로직: 특정 종목코드(corp_code)를 기반으로 최근 20건의 공시 리스트를 JSON 형식으로 수신하는 로직입니다.</a:t>
            </a:r>
          </a:p>
          <a:p>
            <a:pPr>
              <a:spcBef>
                <a:spcPts val="600"/>
              </a:spcBef>
            </a:pPr>
            <a:r>
              <a:rPr sz="1300" b="1">
                <a:solidFill>
                  <a:srgbClr val="2E5984"/>
                </a:solidFill>
              </a:rPr>
              <a:t>4. 실습 (Practice): 삼성전자 최근 공시 조회 및 데이터 정합성 검증</a:t>
            </a:r>
          </a:p>
          <a:p>
            <a:r>
              <a:rPr sz="1100">
                <a:solidFill>
                  <a:srgbClr val="222222"/>
                </a:solidFill>
              </a:rPr>
              <a:t>•  과제: DART API Key를 등록한 후 getDartData_ 함수를 실행하여, 삼성전자(005930)의 최근 공시 목록이 보고서명(report_nm)과 접수번호(rcept_no)를 포함하여 정상 출력되는지 확인하십시오.</a:t>
            </a:r>
          </a:p>
          <a:p>
            <a:r>
              <a:rPr sz="1100">
                <a:solidFill>
                  <a:srgbClr val="222222"/>
                </a:solidFill>
              </a:rPr>
              <a:t>•  확인 사항: API 응답 데이터가 200 OK 상태인지, 그리고 수집된 목록이 시스템의 '기본적 분석' 모듈로 정상 전달되는지 로그를 통해 점검합니다.</a:t>
            </a:r>
          </a:p>
          <a:p>
            <a:pPr>
              <a:spcBef>
                <a:spcPts val="600"/>
              </a:spcBef>
            </a:pPr>
            <a:r>
              <a:rPr sz="1300" b="1">
                <a:solidFill>
                  <a:srgbClr val="2E5984"/>
                </a:solidFill>
              </a:rPr>
              <a:t>5. 확장 (Expansion): 지능형 공시 리스크 탐지 및 알림 시스템</a:t>
            </a:r>
          </a:p>
          <a:p>
            <a:r>
              <a:rPr sz="1100">
                <a:solidFill>
                  <a:srgbClr val="222222"/>
                </a:solidFill>
              </a:rPr>
              <a:t>•  고도화 전략: 단순히 목록을 보는 수준을 넘어, 수집된 보고서 제목과 내용을 GPT에게 전달하여 "투자자 관점에서 호재/악재 여부 및 리스크 등급"을 판별합니다.</a:t>
            </a:r>
          </a:p>
          <a:p>
            <a:r>
              <a:rPr sz="1100">
                <a:solidFill>
                  <a:srgbClr val="222222"/>
                </a:solidFill>
              </a:rPr>
              <a:t>•  실무 적용: 횡령, 배임, 감사의견 비적정 등 중대한 공시 리스크가 탐지될 경우, Module 12의 최종 프로젝트와 연계하여 텔레그램 채널에 'CRITICAL 리스크 경보'를 즉시 발송하는 자율 감시 시스템으로 진화시킵니다.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103  ·  126/216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[127] AI 금융정보 플랫폼 구축 실무 - Module 6: ECOS 및 뉴스 데이터 연동</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시장의 흐름(Macro)과 맥락(Context) 확보</a:t>
            </a:r>
          </a:p>
          <a:p>
            <a:r>
              <a:rPr sz="1100">
                <a:solidFill>
                  <a:srgbClr val="222222"/>
                </a:solidFill>
              </a:rPr>
              <a:t>•  ECOS 연동: 한국은행 경제통계시스템을 통해 기준금리, 환율, 통화량 등 거시 경제 지표를 수집하여 시장의 전반적인 환경을 진단합니다.</a:t>
            </a:r>
          </a:p>
          <a:p>
            <a:r>
              <a:rPr sz="1100">
                <a:solidFill>
                  <a:srgbClr val="222222"/>
                </a:solidFill>
              </a:rPr>
              <a:t>•  뉴스 연동: News API 등을 통해 특정 종목이나 경제 키워드에 대한 실시간 뉴스를 수집하여, 숫자로 표현되지 않는 시장의 '심리'와 '이벤트'를 파악합니다.</a:t>
            </a:r>
          </a:p>
          <a:p>
            <a:pPr>
              <a:spcBef>
                <a:spcPts val="600"/>
              </a:spcBef>
            </a:pPr>
            <a:r>
              <a:rPr sz="1300" b="1">
                <a:solidFill>
                  <a:srgbClr val="2E5984"/>
                </a:solidFill>
              </a:rPr>
              <a:t>2. 아키텍처 (Architecture): 정량·정성 데이터의 하이브리드 수집 구조</a:t>
            </a:r>
          </a:p>
          <a:p>
            <a:r>
              <a:rPr sz="1100">
                <a:solidFill>
                  <a:srgbClr val="222222"/>
                </a:solidFill>
              </a:rPr>
              <a:t>•  데이터 파이프라인: [Action Layer] → [Data Layer 호출] → [ECOS/News API] → [JSON 데이터 파싱] → [GPT 분석 엔진 전달].</a:t>
            </a:r>
          </a:p>
          <a:p>
            <a:r>
              <a:rPr sz="1100">
                <a:solidFill>
                  <a:srgbClr val="222222"/>
                </a:solidFill>
              </a:rPr>
              <a:t>•  구조적 이점: 재무 데이터(DART)에 거시(ECOS)와 뉴스(News) 데이터를 결합함으로써, GPT가 입체적인 투자 분석 리포트를 생성할 수 있는 원천 소스를 제공합니다.</a:t>
            </a:r>
          </a:p>
          <a:p>
            <a:pPr>
              <a:spcBef>
                <a:spcPts val="600"/>
              </a:spcBef>
            </a:pPr>
            <a:r>
              <a:rPr sz="1300" b="1">
                <a:solidFill>
                  <a:srgbClr val="2E5984"/>
                </a:solidFill>
              </a:rPr>
              <a:t>3. 소스코드 (Source Code): getEcosData_ 및 getNewsData_ 구현</a:t>
            </a:r>
          </a:p>
          <a:p>
            <a:r>
              <a:rPr sz="1100">
                <a:solidFill>
                  <a:srgbClr val="222222"/>
                </a:solidFill>
              </a:rPr>
              <a:t>•  핵심 로직: 외부 API로부터 경제 지표와 뉴스 기사를 가져와 문자열로 변환하는 함수입니다.</a:t>
            </a:r>
          </a:p>
          <a:p>
            <a:pPr>
              <a:spcBef>
                <a:spcPts val="600"/>
              </a:spcBef>
            </a:pPr>
            <a:r>
              <a:rPr sz="1300" b="1">
                <a:solidFill>
                  <a:srgbClr val="2E5984"/>
                </a:solidFill>
              </a:rPr>
              <a:t>4. 실습 (Practice): 기준금리 추이 및 종목별 최신 뉴스 수집 테스트</a:t>
            </a:r>
          </a:p>
          <a:p>
            <a:r>
              <a:rPr sz="1100">
                <a:solidFill>
                  <a:srgbClr val="222222"/>
                </a:solidFill>
              </a:rPr>
              <a:t>•  과제: 본인의 ECOS/News API 키를 등록하고, '삼성전자' 키워드로 최신 뉴스 10건과 최근 한국은행 기준금리 수치가 정상적으로 로그에 찍히는지 확인하십시오.</a:t>
            </a:r>
          </a:p>
          <a:p>
            <a:r>
              <a:rPr sz="1100">
                <a:solidFill>
                  <a:srgbClr val="222222"/>
                </a:solidFill>
              </a:rPr>
              <a:t>•  확인 사항: API 응답 결과가 2차원 리스트나 JSON 배열 형태를 유지하여, 이후 GPT 프롬프트의 ${ecosData} 자리에 정상적으로 삽입될 수 있는지 점검합니다.</a:t>
            </a:r>
          </a:p>
          <a:p>
            <a:pPr>
              <a:spcBef>
                <a:spcPts val="600"/>
              </a:spcBef>
            </a:pPr>
            <a:r>
              <a:rPr sz="1300" b="1">
                <a:solidFill>
                  <a:srgbClr val="2E5984"/>
                </a:solidFill>
              </a:rPr>
              <a:t>5. 확장 (Expansion): 리스크 시그널 엔진(Risk Signal Engine) 구축</a:t>
            </a:r>
          </a:p>
          <a:p>
            <a:r>
              <a:rPr sz="1100">
                <a:solidFill>
                  <a:srgbClr val="222222"/>
                </a:solidFill>
              </a:rPr>
              <a:t>•  고도화 전략: 수집된 금리, 환율, 뉴스 데이터를 기반으로 getRiskSignals_() 함수를 구축하여 시장의 이상 징후를 스스로 탐지합니다.</a:t>
            </a:r>
          </a:p>
          <a:p>
            <a:r>
              <a:rPr sz="1100">
                <a:solidFill>
                  <a:srgbClr val="222222"/>
                </a:solidFill>
              </a:rPr>
              <a:t>•  기술 적용: 예를 들어 "코스피 3% 하락" 또는 "환율 1,450원 돌파"와 같은 신호가 발생할 경우, 이를 GPT에게 전달하여 위험도(상/중/하)를 평가하고 즉시 알림을 발송하는 '자율형 리스크 가드'로 시스템을 진화시킵니다.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104  ·  127/216</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[128] AI 금융정보 플랫폼 구축 실무 - Module 7: 프롬프트 엔지니어링</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데이터에 '생명'을 불어넣는 지능형 변환 기술</a:t>
            </a:r>
          </a:p>
          <a:p>
            <a:r>
              <a:rPr sz="1100">
                <a:solidFill>
                  <a:srgbClr val="222222"/>
                </a:solidFill>
              </a:rPr>
              <a:t>•  정의: API를 통해 수집된 수치 데이터(Data)를 GPT의 추론 능력을 활용하여 전문가 수준의 언어적 통찰(Insight)로 변환하는 과정입니다.</a:t>
            </a:r>
          </a:p>
          <a:p>
            <a:r>
              <a:rPr sz="1100">
                <a:solidFill>
                  <a:srgbClr val="222222"/>
                </a:solidFill>
              </a:rPr>
              <a:t>•  핵심 가치: 단순히 데이터를 요약하는 것이 아니라, '글로벌 투자 전략가'나 '경제뉴스 편집장'과 같은 페르소나를 부여하여 차별화된 리포트 품질을 확보하는 데 있습니다.</a:t>
            </a:r>
          </a:p>
          <a:p>
            <a:pPr>
              <a:spcBef>
                <a:spcPts val="600"/>
              </a:spcBef>
            </a:pPr>
            <a:r>
              <a:rPr sz="1300" b="1">
                <a:solidFill>
                  <a:srgbClr val="2E5984"/>
                </a:solidFill>
              </a:rPr>
              <a:t>2. 아키텍처 (Architecture): [데이터 → 프롬프트 → 리포트] 변환 파이프라인</a:t>
            </a:r>
          </a:p>
          <a:p>
            <a:r>
              <a:rPr sz="1100">
                <a:solidFill>
                  <a:srgbClr val="222222"/>
                </a:solidFill>
              </a:rPr>
              <a:t>•  변환 프로세스: [Data Layer (ECOS/DART/News)] → [System/User Prompt 설계] → [GPT Engine] → [Investment Brief 생성].</a:t>
            </a:r>
          </a:p>
          <a:p>
            <a:r>
              <a:rPr sz="1100">
                <a:solidFill>
                  <a:srgbClr val="222222"/>
                </a:solidFill>
              </a:rPr>
              <a:t>•  프롬프트 패턴: SYSTEM(전문가 역할 부여) → USER(수집된 로우 데이터 주입) → OUTPUT(약속된 리포트 형식 도출)의 3단계 구조를 표준으로 합니다.</a:t>
            </a:r>
          </a:p>
          <a:p>
            <a:pPr>
              <a:spcBef>
                <a:spcPts val="600"/>
              </a:spcBef>
            </a:pPr>
            <a:r>
              <a:rPr sz="1300" b="1">
                <a:solidFill>
                  <a:srgbClr val="2E5984"/>
                </a:solidFill>
              </a:rPr>
              <a:t>3. 소스코드 (Source Code): askGPT_ 기반의 리포트 생성 로직</a:t>
            </a:r>
          </a:p>
          <a:p>
            <a:r>
              <a:rPr sz="1100">
                <a:solidFill>
                  <a:srgbClr val="222222"/>
                </a:solidFill>
              </a:rPr>
              <a:t>•  핵심 로직: 분석 목적에 맞는 페르소나를 설정하고 데이터를 전달하여 답변을 얻는 공통 함수입니다.</a:t>
            </a:r>
          </a:p>
          <a:p>
            <a:pPr>
              <a:spcBef>
                <a:spcPts val="600"/>
              </a:spcBef>
            </a:pPr>
            <a:r>
              <a:rPr sz="1300" b="1">
                <a:solidFill>
                  <a:srgbClr val="2E5984"/>
                </a:solidFill>
              </a:rPr>
              <a:t>4. 실습 (Practice): '글로벌 투자 전략가' 페르소나 적용 및 결과 검증</a:t>
            </a:r>
          </a:p>
          <a:p>
            <a:r>
              <a:rPr sz="1100">
                <a:solidFill>
                  <a:srgbClr val="222222"/>
                </a:solidFill>
              </a:rPr>
              <a:t>•  과제: 수집된 한국은행 기준금리(ECOS) 데이터를 활용하여, "당신은 글로벌 매크로 이코노미스트이다"라는 시스템 프롬프트를 적용한 시장 분석 리포트를 생성해 보십시오.</a:t>
            </a:r>
          </a:p>
          <a:p>
            <a:r>
              <a:rPr sz="1100">
                <a:solidFill>
                  <a:srgbClr val="222222"/>
                </a:solidFill>
              </a:rPr>
              <a:t>•  확인 사항: GPT가 단순히 금리 수치를 나열하지 않고, 해당 금리 수준이 시장의 유동성과 기업의 조달 비용에 미치는 영향을 논리적으로 서술하는지 검증합니다.</a:t>
            </a:r>
          </a:p>
          <a:p>
            <a:pPr>
              <a:spcBef>
                <a:spcPts val="600"/>
              </a:spcBef>
            </a:pPr>
            <a:r>
              <a:rPr sz="1300" b="1">
                <a:solidFill>
                  <a:srgbClr val="2E5984"/>
                </a:solidFill>
              </a:rPr>
              <a:t>5. 확장 (Expansion): 리포트 유형별 '프롬프트 라이브러리' 구축</a:t>
            </a:r>
          </a:p>
          <a:p>
            <a:r>
              <a:rPr sz="1100">
                <a:solidFill>
                  <a:srgbClr val="222222"/>
                </a:solidFill>
              </a:rPr>
              <a:t>•  고도화 전략: market_briefing, stock_report, sector_report 등 각 액션(Action)별로 최적화된 전문가 페르소나와 출력 가이드라인을 라이브러리화하여 관리합니다.</a:t>
            </a:r>
          </a:p>
          <a:p>
            <a:r>
              <a:rPr sz="1100">
                <a:solidFill>
                  <a:srgbClr val="222222"/>
                </a:solidFill>
              </a:rPr>
              <a:t>•  미래 로드맵: 이 단계에서 정교화된 프롬프트는 향후 Module 12(최종 프로젝트)의 핵심 엔진이 되며, 나아가 RiskWatch(리스크 모니터링) 시스템에서 위험 등급을 스스로 판별하는 지능형 판단 로직으로 확장됩니다.</a:t>
            </a:r>
          </a:p>
          <a:p>
            <a:r>
              <a:rPr sz="1100">
                <a:solidFill>
                  <a:srgbClr val="222222"/>
                </a:solidFill>
              </a:rPr>
              <a:t>•  ------------------------------------------------------------</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105  ·  128/216</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[129] AI 금융정보 플랫폼 구축 실무 - 자동화 워크플로우 및 Bot 생성 1단계</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한 줄의 명령으로 시작되는 'End-to-End' 자동화</a:t>
            </a:r>
          </a:p>
          <a:p>
            <a:r>
              <a:rPr sz="1100">
                <a:solidFill>
                  <a:srgbClr val="222222"/>
                </a:solidFill>
              </a:rPr>
              <a:t>•  정의: 사용자가 텔레그램에서 "오늘 시장 브리핑 보여줘"라고 한 줄만 입력해도 데이터 수집부터 분석, 회신까지 전 과정이 사람의 개입 없이 이루어지는 완전 자동화 파이프라인입니다.</a:t>
            </a:r>
          </a:p>
          <a:p>
            <a:r>
              <a:rPr sz="1100">
                <a:solidFill>
                  <a:srgbClr val="222222"/>
                </a:solidFill>
              </a:rPr>
              <a:t>•  핵심 가치: 개별적으로 구축된 데이터 레이어와 분석 엔진을 하나의 서비스로 묶어, 사용자가 복잡한 조작 없이 자연어 인터페이스만으로 고도화된 금융 지능을 활용하게 하는 데 있습니다.</a:t>
            </a:r>
          </a:p>
          <a:p>
            <a:pPr>
              <a:spcBef>
                <a:spcPts val="600"/>
              </a:spcBef>
            </a:pPr>
            <a:r>
              <a:rPr sz="1300" b="1">
                <a:solidFill>
                  <a:srgbClr val="2E5984"/>
                </a:solidFill>
              </a:rPr>
              <a:t>2. 아키텍처 (Architecture): 액션 레이어와 데이터 레이어의 매핑 구조</a:t>
            </a:r>
          </a:p>
          <a:p>
            <a:r>
              <a:rPr sz="1100">
                <a:solidFill>
                  <a:srgbClr val="222222"/>
                </a:solidFill>
              </a:rPr>
              <a:t>•  시스템 흐름: [사용자 질의] → [Action 분류] → [관련 데이터 수집] → [GPT Prompt 생성] → [OpenAI 호출] → [보고서 생성] → [결과 Return].</a:t>
            </a:r>
          </a:p>
          <a:p>
            <a:r>
              <a:rPr sz="1100">
                <a:solidFill>
                  <a:srgbClr val="222222"/>
                </a:solidFill>
              </a:rPr>
              <a:t>•  기능별 매핑 (Mapping):</a:t>
            </a:r>
          </a:p>
          <a:p>
            <a:r>
              <a:rPr sz="1100">
                <a:solidFill>
                  <a:srgbClr val="222222"/>
                </a:solidFill>
              </a:rPr>
              <a:t>•  market_briefing ↔ getKoscomMarketData_ (시장 개황 수집).</a:t>
            </a:r>
          </a:p>
          <a:p>
            <a:r>
              <a:rPr sz="1100">
                <a:solidFill>
                  <a:srgbClr val="222222"/>
                </a:solidFill>
              </a:rPr>
              <a:t>•  macro_report ↔ getEcosData_ (거시 경제 지표 수집).</a:t>
            </a:r>
          </a:p>
          <a:p>
            <a:r>
              <a:rPr sz="1100">
                <a:solidFill>
                  <a:srgbClr val="222222"/>
                </a:solidFill>
              </a:rPr>
              <a:t>•  dart_analysis ↔ getDartData_ (기업 공시 데이터 수집).</a:t>
            </a:r>
          </a:p>
          <a:p>
            <a:r>
              <a:rPr sz="1100">
                <a:solidFill>
                  <a:srgbClr val="222222"/>
                </a:solidFill>
              </a:rPr>
              <a:t>•  alert_generation ↔ Risk Signal Engine (이상 징후 탐지).</a:t>
            </a:r>
          </a:p>
          <a:p>
            <a:pPr>
              <a:spcBef>
                <a:spcPts val="600"/>
              </a:spcBef>
            </a:pPr>
            <a:r>
              <a:rPr sz="1300" b="1">
                <a:solidFill>
                  <a:srgbClr val="2E5984"/>
                </a:solidFill>
              </a:rPr>
              <a:t>3. 소스코드 (Source Code): Telegram Bot 생성 절차 1단계</a:t>
            </a:r>
          </a:p>
          <a:p>
            <a:r>
              <a:rPr sz="1100">
                <a:solidFill>
                  <a:srgbClr val="222222"/>
                </a:solidFill>
              </a:rPr>
              <a:t>•  봇 인터페이스 확보: 서비스의 첫 관문인 텔레그램 봇을 생성하기 위한 표준 절차입니다.</a:t>
            </a:r>
          </a:p>
          <a:p>
            <a:r>
              <a:rPr sz="1100">
                <a:solidFill>
                  <a:srgbClr val="222222"/>
                </a:solidFill>
              </a:rPr>
              <a:t>•  접속 채널: 텔레그램 공식 봇 관리자인 @BotFather를 통해 신규 봇을 생성합니다.</a:t>
            </a:r>
          </a:p>
          <a:p>
            <a:r>
              <a:rPr sz="1100">
                <a:solidFill>
                  <a:srgbClr val="222222"/>
                </a:solidFill>
              </a:rPr>
              <a:t>•  명령어: /newbot을 입력하여 생성 프로세스를 시작합니다.</a:t>
            </a:r>
          </a:p>
          <a:p>
            <a:pPr>
              <a:spcBef>
                <a:spcPts val="600"/>
              </a:spcBef>
            </a:pPr>
            <a:r>
              <a:rPr sz="1300" b="1">
                <a:solidFill>
                  <a:srgbClr val="2E5984"/>
                </a:solidFill>
              </a:rPr>
              <a:t>4. 실습 (Practice): @BotFather 검색 및 서비스 환경 설정</a:t>
            </a:r>
          </a:p>
          <a:p>
            <a:r>
              <a:rPr sz="1100">
                <a:solidFill>
                  <a:srgbClr val="222222"/>
                </a:solidFill>
              </a:rPr>
              <a:t>•  과제: 본인의 텔레그램 앱에서 @BotFather를 검색하여 대화창에 입장하고, /newbot 명령어를 전송한 뒤 시스템에서 사용할 봇의 이름(FnXpert)과 아이디(FnXpertbot)를 결정하십시오.</a:t>
            </a:r>
          </a:p>
          <a:p>
            <a:r>
              <a:rPr sz="1100">
                <a:solidFill>
                  <a:srgbClr val="222222"/>
                </a:solidFill>
              </a:rPr>
              <a:t>•  확인 사항: 봇 아이디는 반드시 'bot'으로 끝나야 하며, 전 세계에서 유일한 고유 명칭이어야 함을 숙지합니다.</a:t>
            </a:r>
          </a:p>
          <a:p>
            <a:pPr>
              <a:spcBef>
                <a:spcPts val="600"/>
              </a:spcBef>
            </a:pPr>
            <a:r>
              <a:rPr sz="1300" b="1">
                <a:solidFill>
                  <a:srgbClr val="2E5984"/>
                </a:solidFill>
              </a:rPr>
              <a:t>5. 확장 (Expansion): 멀티 에이전트 및 하이브리드 데이터 파이프라인</a:t>
            </a:r>
          </a:p>
          <a:p>
            <a:r>
              <a:rPr sz="1100">
                <a:solidFill>
                  <a:srgbClr val="222222"/>
                </a:solidFill>
              </a:rPr>
              <a:t>•  고도화 전략: 단순 텍스트 응답을 넘어, 수집된 데이터를 Google Sheets Portfolio와 연동하여 사용자의 실제 보유 종목에 최적화된 맞춤형 브리핑을 생성하도록 확장합니다.</a:t>
            </a:r>
          </a:p>
          <a:p>
            <a:r>
              <a:rPr sz="1100">
                <a:solidFill>
                  <a:srgbClr val="222222"/>
                </a:solidFill>
              </a:rPr>
              <a:t>•  기능 확장: 뉴스(getNewsData_)와 수급 분석(chart_analysis) 기능을 결합하여, 특정 이슈 발생 시 기술적 분석과 뉴스 해석을 동시에 제공하는 하이브리드 분석 에이전트로 진화시킵니다.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106  ·  129/216</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[130] AI 금융정보 플랫폼 구축 실무 - 봇 생성 마무리 및 Webhook 등록</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봇의 '신분증' 발급과 '통신 선로' 개통</a:t>
            </a:r>
          </a:p>
          <a:p>
            <a:r>
              <a:rPr sz="1100">
                <a:solidFill>
                  <a:srgbClr val="222222"/>
                </a:solidFill>
              </a:rPr>
              <a:t>•  봇 생성 마무리: @BotFather를 통해 봇의 이름을 확정하고, 시스템 인증의 핵심인 API 토큰(Token)을 획득하는 과정입니다.</a:t>
            </a:r>
          </a:p>
          <a:p>
            <a:r>
              <a:rPr sz="1100">
                <a:solidFill>
                  <a:srgbClr val="222222"/>
                </a:solidFill>
              </a:rPr>
              <a:t>•  Webhook 등록: 텔레그램 서버에 "메시지가 수신되면 이 URL(Apps Script)로 데이터를 즉시 보내라"고 명령하여 실시간 통신망을 개통하는 작업입니다.</a:t>
            </a:r>
          </a:p>
          <a:p>
            <a:pPr>
              <a:spcBef>
                <a:spcPts val="600"/>
              </a:spcBef>
            </a:pPr>
            <a:r>
              <a:rPr sz="1300" b="1">
                <a:solidFill>
                  <a:srgbClr val="2E5984"/>
                </a:solidFill>
              </a:rPr>
              <a:t>2. 아키텍처 (Architecture): Webhook 기반 이벤트 트리거 구조</a:t>
            </a:r>
          </a:p>
          <a:p>
            <a:r>
              <a:rPr sz="1100">
                <a:solidFill>
                  <a:srgbClr val="222222"/>
                </a:solidFill>
              </a:rPr>
              <a:t>•  이벤트 흐름: [사용자 메시지] → [Telegram 서버] → [Webhook Push] → [Apps Script 배포 URL] → [doPost(e) 함수 실행].</a:t>
            </a:r>
          </a:p>
          <a:p>
            <a:r>
              <a:rPr sz="1100">
                <a:solidFill>
                  <a:srgbClr val="222222"/>
                </a:solidFill>
              </a:rPr>
              <a:t>•  실행 원리: 사용자가 채팅창에 글을 쓰는 순간 텔레그램 서버가 Webhook URL로 POST 요청을 보내어 Apps Script를 자동 실행시키는 이벤트 기반 아키텍처입니다.</a:t>
            </a:r>
          </a:p>
          <a:p>
            <a:pPr>
              <a:spcBef>
                <a:spcPts val="600"/>
              </a:spcBef>
            </a:pPr>
            <a:r>
              <a:rPr sz="1300" b="1">
                <a:solidFill>
                  <a:srgbClr val="2E5984"/>
                </a:solidFill>
              </a:rPr>
              <a:t>3. 소스코드 (Source Code): Webhook 등록 URL 및 doPost 진입점</a:t>
            </a:r>
          </a:p>
          <a:p>
            <a:r>
              <a:rPr sz="1100">
                <a:solidFill>
                  <a:srgbClr val="222222"/>
                </a:solidFill>
              </a:rPr>
              <a:t>•  Webhook 등록 주소 형식: 브라우저 주소창에 직접 입력하여 서버 간 연결을 승인합니다.</a:t>
            </a:r>
          </a:p>
          <a:p>
            <a:r>
              <a:rPr sz="1100">
                <a:solidFill>
                  <a:srgbClr val="222222"/>
                </a:solidFill>
              </a:rPr>
              <a:t>•  GAS 수신 진입점: 텔레그램의 데이터를 받는 핵심 함수입니다.</a:t>
            </a:r>
          </a:p>
          <a:p>
            <a:pPr>
              <a:spcBef>
                <a:spcPts val="600"/>
              </a:spcBef>
            </a:pPr>
            <a:r>
              <a:rPr sz="1300" b="1">
                <a:solidFill>
                  <a:srgbClr val="2E5984"/>
                </a:solidFill>
              </a:rPr>
              <a:t>4. 실습 (Practice): 봇 토큰 획득 및 Webhook 연결 성공 검증</a:t>
            </a:r>
          </a:p>
          <a:p>
            <a:r>
              <a:rPr sz="1100">
                <a:solidFill>
                  <a:srgbClr val="222222"/>
                </a:solidFill>
              </a:rPr>
              <a:t>•  과제 1: @BotFather로부터 발급받은 토큰(예: 8501135943:...)을 안전한 곳에 저장하십시오.</a:t>
            </a:r>
          </a:p>
          <a:p>
            <a:r>
              <a:rPr sz="1100">
                <a:solidFill>
                  <a:srgbClr val="222222"/>
                </a:solidFill>
              </a:rPr>
              <a:t>•  과제 2: 본인의 Apps Script 웹앱 URL과 토큰을 결합한 setWebhook 주소를 브라우저에서 실행하고 {"ok":true, "result":true, ...} 응답이 나오는지 확인하십시오.</a:t>
            </a:r>
          </a:p>
          <a:p>
            <a:pPr>
              <a:spcBef>
                <a:spcPts val="600"/>
              </a:spcBef>
            </a:pPr>
            <a:r>
              <a:rPr sz="1300" b="1">
                <a:solidFill>
                  <a:srgbClr val="2E5984"/>
                </a:solidFill>
              </a:rPr>
              <a:t>5. 확장 (Expansion): GPT 분류기를 통한 의도 파악(Intent Classification)</a:t>
            </a:r>
          </a:p>
          <a:p>
            <a:r>
              <a:rPr sz="1100">
                <a:solidFill>
                  <a:srgbClr val="222222"/>
                </a:solidFill>
              </a:rPr>
              <a:t>•  고도화 전략: 수신된 메시지(userText)를 단순히 출력하는 것을 넘어, GPT 분류기(analyzeCommandWithGPT_)에게 전달하여 사용자의 의도가 '시장 브리핑'인지 '리스크 점검'인지 파악합니다.</a:t>
            </a:r>
          </a:p>
          <a:p>
            <a:r>
              <a:rPr sz="1100">
                <a:solidFill>
                  <a:srgbClr val="222222"/>
                </a:solidFill>
              </a:rPr>
              <a:t>•  기능 확장: 텔레그램 봇이 단순한 응답기(Chatbot)가 아니라, 수천 명의 사용자가 동시에 요청해도 정해진 로직에 따라 데이터를 처리하는 지능형 금융 서비스 게이트웨이로 작동하게 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107  ·  130/216</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[131] AI 금융정보 플랫폼 구축 실무 - Module 4: GPT Action Classifier 프롬프트 설계</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챗봇을 넘어 '지능형 라우터(AI Router)'로의 진화</a:t>
            </a:r>
          </a:p>
          <a:p>
            <a:r>
              <a:rPr sz="1100">
                <a:solidFill>
                  <a:srgbClr val="222222"/>
                </a:solidFill>
              </a:rPr>
              <a:t>•  정의: GPT를 단순한 대화 상대가 아닌, 사용자의 자연어 입력에서 실행 의도를 추출하여 시스템 명령어(JSON)로 변환하는 '의도 분류기(Intent Classifier)'로 정의하는 단계입니다,.</a:t>
            </a:r>
          </a:p>
          <a:p>
            <a:r>
              <a:rPr sz="1100">
                <a:solidFill>
                  <a:srgbClr val="222222"/>
                </a:solidFill>
              </a:rPr>
              <a:t>•  핵심 가치: "오늘 시장 브리핑 보여줘"와 같은 일상 언어를 시스템 내부 함수인 market_briefing으로 정확히 매핑하여 자율형 금융 서비스를 가능하게 합니다,.</a:t>
            </a:r>
          </a:p>
          <a:p>
            <a:pPr>
              <a:spcBef>
                <a:spcPts val="600"/>
              </a:spcBef>
            </a:pPr>
            <a:r>
              <a:rPr sz="1300" b="1">
                <a:solidFill>
                  <a:srgbClr val="2E5984"/>
                </a:solidFill>
              </a:rPr>
              <a:t>2. 아키텍처 (Architecture): 자연어-액션 매핑 및 추론 구조</a:t>
            </a:r>
          </a:p>
          <a:p>
            <a:r>
              <a:rPr sz="1100">
                <a:solidFill>
                  <a:srgbClr val="222222"/>
                </a:solidFill>
              </a:rPr>
              <a:t>•  작동 원리: GPT는 학습된 언어 지식을 통해 사용자의 문장(예: 오늘/시장/브리핑)을 해석하고, 시스템이 정의한 허용 액션(Allowed Actions) 중 가장 유사한 항목을 찾아 JSON으로 출력합니다,.</a:t>
            </a:r>
          </a:p>
          <a:p>
            <a:r>
              <a:rPr sz="1100">
                <a:solidFill>
                  <a:srgbClr val="222222"/>
                </a:solidFill>
              </a:rPr>
              <a:t>•  데이터 흐름: [사용자 입력] → [GPT Classifier 프롬프트 주입] → [추론] → [JSON 액션 결정].</a:t>
            </a:r>
          </a:p>
          <a:p>
            <a:pPr>
              <a:spcBef>
                <a:spcPts val="600"/>
              </a:spcBef>
            </a:pPr>
            <a:r>
              <a:rPr sz="1300" b="1">
                <a:solidFill>
                  <a:srgbClr val="2E5984"/>
                </a:solidFill>
              </a:rPr>
              <a:t>3. 소스코드 (Source Code): GPT에게 보내는 실제 시스템 프롬프트(System Prompt)</a:t>
            </a:r>
          </a:p>
          <a:p>
            <a:r>
              <a:rPr sz="1100">
                <a:solidFill>
                  <a:srgbClr val="222222"/>
                </a:solidFill>
              </a:rPr>
              <a:t>•  핵심 로직: GPT의 응답을 엄격히 통제하여 프로그램이 즉시 처리할 수 있는 형식으로 출력하게 합니다,.</a:t>
            </a:r>
          </a:p>
          <a:p>
            <a:pPr>
              <a:spcBef>
                <a:spcPts val="600"/>
              </a:spcBef>
            </a:pPr>
            <a:r>
              <a:rPr sz="1300" b="1">
                <a:solidFill>
                  <a:srgbClr val="2E5984"/>
                </a:solidFill>
              </a:rPr>
              <a:t>4. 실습 (Practice): '삼성전자 분석해줘' 입력 시의 분류 결과 검증</a:t>
            </a:r>
          </a:p>
          <a:p>
            <a:r>
              <a:rPr sz="1100">
                <a:solidFill>
                  <a:srgbClr val="222222"/>
                </a:solidFill>
              </a:rPr>
              <a:t>•  과제: 사용자가 "삼성전자 분석해줘"라고 입력했을 때, GPT가 어떤 액션을 선택할지 예측하고 실제 analyzeCommandWithGPT_ 함수를 통해 반환되는 JSON 값을 확인하십시오.</a:t>
            </a:r>
          </a:p>
          <a:p>
            <a:r>
              <a:rPr sz="1100">
                <a:solidFill>
                  <a:srgbClr val="222222"/>
                </a:solidFill>
              </a:rPr>
              <a:t>•  확인 사항: 1) action 값이 stock_report로 정확히 매핑되는지, 2) params 내의 keyword에 "삼성전자"가 포함되어 추출되는지 점검합니다.</a:t>
            </a:r>
          </a:p>
          <a:p>
            <a:pPr>
              <a:spcBef>
                <a:spcPts val="600"/>
              </a:spcBef>
            </a:pPr>
            <a:r>
              <a:rPr sz="1300" b="1">
                <a:solidFill>
                  <a:srgbClr val="2E5984"/>
                </a:solidFill>
              </a:rPr>
              <a:t>5. 확장 (Expansion): 무한한 기능 확장이 가능한 '액션 레이어(Action Layer)'</a:t>
            </a:r>
          </a:p>
          <a:p>
            <a:r>
              <a:rPr sz="1100">
                <a:solidFill>
                  <a:srgbClr val="222222"/>
                </a:solidFill>
              </a:rPr>
              <a:t>•  고도화 전략: 새로운 금융 서비스(예: 금리 인상 분석, 배당주 추천)가 추가될 때, 코드 로직을 대대적으로 수정하는 대신 프롬프트의 '허용 action' 목록에 추가하는 것만으로 기능을 확장할 수 있습니다.</a:t>
            </a:r>
          </a:p>
          <a:p>
            <a:r>
              <a:rPr sz="1100">
                <a:solidFill>
                  <a:srgbClr val="222222"/>
                </a:solidFill>
              </a:rPr>
              <a:t>•  플랫폼 진화: 이 구조를 통해 텔레그램 한 줄 명령만으로 수백 가지의 복잡한 금융 데이터 처리를 수행하는 에이전틱 AI 워크포스(Agentic AI Workforce)를 구축할 수 있습니다.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108  ·  131/216</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[132] AI 금융정보 플랫폼 구축 실무 - Module 3: Webhook 작동 원리 및 데이터 수신(JSON)</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서버를 깨우는 실시간 '자동 호출' 메커니즘</a:t>
            </a:r>
          </a:p>
          <a:p>
            <a:r>
              <a:rPr sz="1100">
                <a:solidFill>
                  <a:srgbClr val="222222"/>
                </a:solidFill>
              </a:rPr>
              <a:t>•  정의: 사용자가 텔레그램 채팅창에 글을 쓰는 순간, 텔레그램 서버가 우리 서버의 doPost(e) 함수를 자동으로 호출하여 데이터를 전달하는 구조입니다,.</a:t>
            </a:r>
          </a:p>
          <a:p>
            <a:r>
              <a:rPr sz="1100">
                <a:solidFill>
                  <a:srgbClr val="222222"/>
                </a:solidFill>
              </a:rPr>
              <a:t>•  핵심 가치: 개발자가 매번 데이터를 확인하러 갈 필요 없이, 이벤트(메시지 수신)가 발생할 때만 시스템이 작동하므로 효율적이고 즉각적인 응답이 가능해집니다,.</a:t>
            </a:r>
          </a:p>
          <a:p>
            <a:pPr>
              <a:spcBef>
                <a:spcPts val="600"/>
              </a:spcBef>
            </a:pPr>
            <a:r>
              <a:rPr sz="1300" b="1">
                <a:solidFill>
                  <a:srgbClr val="2E5984"/>
                </a:solidFill>
              </a:rPr>
              <a:t>2. 아키텍처 (Architecture): 텔레그램 서버의 '메시지 배달' 원리</a:t>
            </a:r>
          </a:p>
          <a:p>
            <a:r>
              <a:rPr sz="1100">
                <a:solidFill>
                  <a:srgbClr val="222222"/>
                </a:solidFill>
              </a:rPr>
              <a:t>•  서버 내부 등록: setWebhook을 실행하면 텔레그램 서버 내부에는 "내 봇 앞으로 메시지가 오면 이 URL(Apps Script)로 보내라"는 정보가 기록됩니다,.</a:t>
            </a:r>
          </a:p>
          <a:p>
            <a:r>
              <a:rPr sz="1100">
                <a:solidFill>
                  <a:srgbClr val="222222"/>
                </a:solidFill>
              </a:rPr>
              <a:t>•  작동 흐름: 사용자가 "오늘 시장 브리핑 보여줘" 입력 → 텔레그램 서버 수신 → POST 방식으로 웹훅 URL에 JSON 데이터 전달 → Apps Script 실행,.</a:t>
            </a:r>
          </a:p>
          <a:p>
            <a:pPr>
              <a:spcBef>
                <a:spcPts val="600"/>
              </a:spcBef>
            </a:pPr>
            <a:r>
              <a:rPr sz="1300" b="1">
                <a:solidFill>
                  <a:srgbClr val="2E5984"/>
                </a:solidFill>
              </a:rPr>
              <a:t>3. 소스코드 (Source Code): 텔레그램이 전달하는 표준 JSON 데이터 구조</a:t>
            </a:r>
          </a:p>
          <a:p>
            <a:r>
              <a:rPr sz="1100">
                <a:solidFill>
                  <a:srgbClr val="222222"/>
                </a:solidFill>
              </a:rPr>
              <a:t>•  데이터 명세: 텔레그램 서버는 메시지 텍스트뿐만 아니라 보낸 사람의 ID, 채팅방 정보 등을 포함한 구조화된 데이터를 전송합니다,.</a:t>
            </a:r>
          </a:p>
          <a:p>
            <a:pPr>
              <a:spcBef>
                <a:spcPts val="600"/>
              </a:spcBef>
            </a:pPr>
            <a:r>
              <a:rPr sz="1300" b="1">
                <a:solidFill>
                  <a:srgbClr val="2E5984"/>
                </a:solidFill>
              </a:rPr>
              <a:t>4. 실습 (Practice): doPost(e)를 통한 사용자 텍스트 추출 테스트</a:t>
            </a:r>
          </a:p>
          <a:p>
            <a:r>
              <a:rPr sz="1100">
                <a:solidFill>
                  <a:srgbClr val="222222"/>
                </a:solidFill>
              </a:rPr>
              <a:t>•  과제: Apps Script의 doPost(e) 함수 내에서 JSON.parse(e.postData.contents)를 통해 수신된 객체에서 사용자가 입력한 순수 텍스트(text)만 정확히 추출하는지 로그를 통해 확인하십시오,.</a:t>
            </a:r>
          </a:p>
          <a:p>
            <a:r>
              <a:rPr sz="1100">
                <a:solidFill>
                  <a:srgbClr val="222222"/>
                </a:solidFill>
              </a:rPr>
              <a:t>•  확인 사항: const userText = update.message.text; 코드가 "오늘 시장 브리핑 보여줘"라는 문자열을 정상적으로 담아내는지 점검합니다,.</a:t>
            </a:r>
          </a:p>
          <a:p>
            <a:pPr>
              <a:spcBef>
                <a:spcPts val="600"/>
              </a:spcBef>
            </a:pPr>
            <a:r>
              <a:rPr sz="1300" b="1">
                <a:solidFill>
                  <a:srgbClr val="2E5984"/>
                </a:solidFill>
              </a:rPr>
              <a:t>5. 확장 (Expansion): 채널(Channel) 포스트 대응 및 멀티 봇 운영 설계</a:t>
            </a:r>
          </a:p>
          <a:p>
            <a:r>
              <a:rPr sz="1100">
                <a:solidFill>
                  <a:srgbClr val="222222"/>
                </a:solidFill>
              </a:rPr>
              <a:t>•  고도화 전략: 일반 채팅(message) 외에도 공지 채널(channel_post)에서 발생하는 메시지를 수집하기 위해 update.channel_post.text를 처리하는 예외 로직을 추가합니다,.</a:t>
            </a:r>
          </a:p>
          <a:p>
            <a:r>
              <a:rPr sz="1100">
                <a:solidFill>
                  <a:srgbClr val="222222"/>
                </a:solidFill>
              </a:rPr>
              <a:t>•  기술 적용: 각 봇은 고유한 토큰과 독립된 웹훅 URL을 가지므로, 용도에 따라(예: 분석봇, 알림봇) 여러 개의 자동화 통로를 병렬로 구축하여 전문화된 AI 워크포스를 구현할 수 있습니다,.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109  ·  132/216</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[133] AI 금융정보 플랫폼 구축 실무 - Module 3: Webhook 등록 확인 및 관리</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통신망의 '개통 확인' 및 유지보수</a:t>
            </a:r>
          </a:p>
          <a:p>
            <a:r>
              <a:rPr sz="1100">
                <a:solidFill>
                  <a:srgbClr val="222222"/>
                </a:solidFill>
              </a:rPr>
              <a:t>•  정의: setWebhook 명령으로 등록된 텔레그램 서버와 Apps Script 간의 연결 상태를 조회하고, 필요에 따라 연결을 수정하거나 삭제하는 통신망 진단 과정입니다.</a:t>
            </a:r>
          </a:p>
          <a:p>
            <a:r>
              <a:rPr sz="1100">
                <a:solidFill>
                  <a:srgbClr val="222222"/>
                </a:solidFill>
              </a:rPr>
              <a:t>•  핵심 가치: 메시지가 전달되지 않을 때 원인이 URL 오타인지, 인증 토큰 문제인지, 아니면 서버의 처리 지연인지 등을 명확히 파악하여 시스템의 가동성을 유지하는 데 있습니다.</a:t>
            </a:r>
          </a:p>
          <a:p>
            <a:pPr>
              <a:spcBef>
                <a:spcPts val="600"/>
              </a:spcBef>
            </a:pPr>
            <a:r>
              <a:rPr sz="1300" b="1">
                <a:solidFill>
                  <a:srgbClr val="2E5984"/>
                </a:solidFill>
              </a:rPr>
              <a:t>2. 아키텍처 (Architecture): Webhook 상태 조회 및 실무 운용 흐름</a:t>
            </a:r>
          </a:p>
          <a:p>
            <a:r>
              <a:rPr sz="1100">
                <a:solidFill>
                  <a:srgbClr val="222222"/>
                </a:solidFill>
              </a:rPr>
              <a:t>•  조회 구조: [개발자 브라우저] → [Telegram API 서버] → [등록된 Webhook 정보 반환].</a:t>
            </a:r>
          </a:p>
          <a:p>
            <a:r>
              <a:rPr sz="1100">
                <a:solidFill>
                  <a:srgbClr val="222222"/>
                </a:solidFill>
              </a:rPr>
              <a:t>•  실무 워크플로우: 사용자 명령 → Webhook → GAS Gateway → GPT → Google Sheets/RiskWatch → 결과 회신으로 이어지는 전체 흐름에서 Webhook은 가장 먼저 확인해야 할 '신경망 입구'입니다.</a:t>
            </a:r>
          </a:p>
          <a:p>
            <a:pPr>
              <a:spcBef>
                <a:spcPts val="600"/>
              </a:spcBef>
            </a:pPr>
            <a:r>
              <a:rPr sz="1300" b="1">
                <a:solidFill>
                  <a:srgbClr val="2E5984"/>
                </a:solidFill>
              </a:rPr>
              <a:t>3. 소스코드 (Source Code): 상태 확인 및 관리용 핵심 API 명령어</a:t>
            </a:r>
          </a:p>
          <a:p>
            <a:r>
              <a:rPr sz="1100">
                <a:solidFill>
                  <a:srgbClr val="222222"/>
                </a:solidFill>
              </a:rPr>
              <a:t>•  핵심 로직: 브라우저 주소창에 아래 URL을 입력하여 각각의 기능을 수행합니다.</a:t>
            </a:r>
          </a:p>
          <a:p>
            <a:pPr>
              <a:spcBef>
                <a:spcPts val="600"/>
              </a:spcBef>
            </a:pPr>
            <a:r>
              <a:rPr sz="1300" b="1">
                <a:solidFill>
                  <a:srgbClr val="2E5984"/>
                </a:solidFill>
              </a:rPr>
              <a:t>4. 실습 (Practice): JSON 응답 분석 및 'Pending Update' 체크</a:t>
            </a:r>
          </a:p>
          <a:p>
            <a:r>
              <a:rPr sz="1100">
                <a:solidFill>
                  <a:srgbClr val="222222"/>
                </a:solidFill>
              </a:rPr>
              <a:t>•  과제: getWebhookInfo를 실행하고 결과로 나오는 JSON 데이터를 분석하십시오.</a:t>
            </a:r>
          </a:p>
          <a:p>
            <a:r>
              <a:rPr sz="1100">
                <a:solidFill>
                  <a:srgbClr val="222222"/>
                </a:solidFill>
              </a:rPr>
              <a:t>•  확인 사항:</a:t>
            </a:r>
          </a:p>
          <a:p>
            <a:r>
              <a:rPr sz="1100">
                <a:solidFill>
                  <a:srgbClr val="222222"/>
                </a:solidFill>
              </a:rPr>
              <a:t>•  url 항목이 본인의 Apps Script 주소와 정확히 일치하는지 확인합니다.</a:t>
            </a:r>
          </a:p>
          <a:p>
            <a:r>
              <a:rPr sz="1100">
                <a:solidFill>
                  <a:srgbClr val="222222"/>
                </a:solidFill>
              </a:rPr>
              <a:t>•  pending_update_count가 0인지 체크합니다. 이 숫자가 높다면 우리 서버(Apps Script)가 메시지를 처리하지 못하고 정체되어 있다는 시그널입니다.</a:t>
            </a:r>
          </a:p>
          <a:p>
            <a:pPr>
              <a:spcBef>
                <a:spcPts val="600"/>
              </a:spcBef>
            </a:pPr>
            <a:r>
              <a:rPr sz="1300" b="1">
                <a:solidFill>
                  <a:srgbClr val="2E5984"/>
                </a:solidFill>
              </a:rPr>
              <a:t>5. 확장 (Expansion): URL 변경 관리 및 'Switch' 분기 로직으로의 진입</a:t>
            </a:r>
          </a:p>
          <a:p>
            <a:r>
              <a:rPr sz="1100">
                <a:solidFill>
                  <a:srgbClr val="222222"/>
                </a:solidFill>
              </a:rPr>
              <a:t>•  고도화 전략: 소스 코드 수정 후 Apps Script를 '새 배포' 할 때마다 URL이 변경되므로, 이때마다 setWebhook을 다시 실행하는 관리 루틴을 습관화해야 합니다.</a:t>
            </a:r>
          </a:p>
          <a:p>
            <a:r>
              <a:rPr sz="1100">
                <a:solidFill>
                  <a:srgbClr val="222222"/>
                </a:solidFill>
              </a:rPr>
              <a:t>•  실무 적용: 일단 Webhook이 정상화되면, 이후의 모든 처리는 Apps Script 내부의 switch(action) 로직에 맡겨 수십~수백 개의 금융 분석 기능을 자율적으로 수행하는 '지능형 게이트웨이'로 확장 운영합니다.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110  ·  133/216</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[134] AI 금융정보 플랫폼 구축 실무 - Case 1: Telegram 채널(Channel) 운영</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일대다(1:N) 지식 배포를 위한 기업형 서비스 모델</a:t>
            </a:r>
          </a:p>
          <a:p>
            <a:r>
              <a:rPr sz="1100">
                <a:solidFill>
                  <a:srgbClr val="222222"/>
                </a:solidFill>
              </a:rPr>
              <a:t>•  정의: 개별 채팅이 아닌 '채널'이라는 공간을 통해, 관리자(AI 아키텍트)가 명령을 내리면 AI가 분석한 결과를 수백 명의 구독자에게 동시에 전송하는 방송형 서비스 구조입니다.</a:t>
            </a:r>
          </a:p>
          <a:p>
            <a:r>
              <a:rPr sz="1100">
                <a:solidFill>
                  <a:srgbClr val="222222"/>
                </a:solidFill>
              </a:rPr>
              <a:t>•  핵심 가치: 정보의 비대칭성을 해소하고, 조직 내 모든 구성원에게 동일한 수준의 고도화된 AI 금융 인사이트를 실시간으로 공유하는 데 목적이 있습니다.</a:t>
            </a:r>
          </a:p>
          <a:p>
            <a:pPr>
              <a:spcBef>
                <a:spcPts val="600"/>
              </a:spcBef>
            </a:pPr>
            <a:r>
              <a:rPr sz="1300" b="1">
                <a:solidFill>
                  <a:srgbClr val="2E5984"/>
                </a:solidFill>
              </a:rPr>
              <a:t>2. 아키텍처 (Architecture): 채널 게시물 발생 및 봇 관리자 권한 구조</a:t>
            </a:r>
          </a:p>
          <a:p>
            <a:r>
              <a:rPr sz="1100">
                <a:solidFill>
                  <a:srgbClr val="222222"/>
                </a:solidFill>
              </a:rPr>
              <a:t>•  시스템 흐름: [관리자 채널 게시] → [채널 게시물 발생] → [봇(C)의 Webhook 발생] → [Apps Script doPost(e) 실행].</a:t>
            </a:r>
          </a:p>
          <a:p>
            <a:r>
              <a:rPr sz="1100">
                <a:solidFill>
                  <a:srgbClr val="222222"/>
                </a:solidFill>
              </a:rPr>
              <a:t>•  필수 조건: 봇이 채널의 관리자(Admin)로 등록되어 있어야 하며, 특히 메시지를 읽고 쓸 수 있는 can_post_messages 권한이 반드시 활성화되어 있어야 합니다.</a:t>
            </a:r>
          </a:p>
          <a:p>
            <a:pPr>
              <a:spcBef>
                <a:spcPts val="600"/>
              </a:spcBef>
            </a:pPr>
            <a:r>
              <a:rPr sz="1300" b="1">
                <a:solidFill>
                  <a:srgbClr val="2E5984"/>
                </a:solidFill>
              </a:rPr>
              <a:t>3. 소스코드 (Source Code): channel_post 대응을 위한 doPost(e) 수정</a:t>
            </a:r>
          </a:p>
          <a:p>
            <a:r>
              <a:rPr sz="1100">
                <a:solidFill>
                  <a:srgbClr val="222222"/>
                </a:solidFill>
              </a:rPr>
              <a:t>•  핵심 로직: 기존의 개인 메시지(update.message)뿐만 아니라 채널 게시물(update.channel_post)까지 인식하도록 진입점 코드를 확장합니다.</a:t>
            </a:r>
          </a:p>
          <a:p>
            <a:pPr>
              <a:spcBef>
                <a:spcPts val="600"/>
              </a:spcBef>
            </a:pPr>
            <a:r>
              <a:rPr sz="1300" b="1">
                <a:solidFill>
                  <a:srgbClr val="2E5984"/>
                </a:solidFill>
              </a:rPr>
              <a:t>4. 실습 (Practice): '가나다' 채널 생성 및 AI 자동 재게시 테스트</a:t>
            </a:r>
          </a:p>
          <a:p>
            <a:r>
              <a:rPr sz="1100">
                <a:solidFill>
                  <a:srgbClr val="222222"/>
                </a:solidFill>
              </a:rPr>
              <a:t>•  과제: 텔레그램에서 '가나다' 채널을 생성하고 본인의 봇을 관리자로 추가한 뒤, 채널에 "오늘 시장 브리핑 보여줘"라고 입력하십시오.</a:t>
            </a:r>
          </a:p>
          <a:p>
            <a:r>
              <a:rPr sz="1100">
                <a:solidFill>
                  <a:srgbClr val="222222"/>
                </a:solidFill>
              </a:rPr>
              <a:t>•  확인 사항: 1) 봇이 해당 명령을 인식하여 { "action": "market_briefing" }을 실행하는지, 2) 분석 결과가 다시 채널에 '재게시(Republish)'되어 100명의 구독자가 모두 확인할 수 있는지 검증합니다.</a:t>
            </a:r>
          </a:p>
          <a:p>
            <a:pPr>
              <a:spcBef>
                <a:spcPts val="600"/>
              </a:spcBef>
            </a:pPr>
            <a:r>
              <a:rPr sz="1300" b="1">
                <a:solidFill>
                  <a:srgbClr val="2E5984"/>
                </a:solidFill>
              </a:rPr>
              <a:t>5. 확장 (Expansion): 권한 관리(ACL) 및 멀티 봇 오케스트레이션</a:t>
            </a:r>
          </a:p>
          <a:p>
            <a:r>
              <a:rPr sz="1100">
                <a:solidFill>
                  <a:srgbClr val="222222"/>
                </a:solidFill>
              </a:rPr>
              <a:t>•  고도화 전략: 채널 내 누구나 명령을 내리는 것을 방지하기 위해, 특정 관리자 ID만 명령을 실행할 수 있도록 권한 체크(ADMINS 화이트리스트) 로직을 강화합니다.</a:t>
            </a:r>
          </a:p>
          <a:p>
            <a:r>
              <a:rPr sz="1100">
                <a:solidFill>
                  <a:srgbClr val="222222"/>
                </a:solidFill>
              </a:rPr>
              <a:t>•  운영 설계: 112번 슬라이드에서 다룰 '그룹(Group)' 사례와 연계하여, "명령은 폐쇄형 그룹에서, 결과 배포는 공개형 채널로" 분리 운영함으로써 시스템의 보안성과 정보 전파력을 동시에 확보합니다.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111  ·  134/216</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[135] AI 금융정보 플랫폼 구축 실무 - Case 2: Telegram 그룹(Group) 운영</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협업 환경에서의 효율적인 시스템 통제</a:t>
            </a:r>
          </a:p>
          <a:p>
            <a:r>
              <a:rPr sz="1100">
                <a:solidFill>
                  <a:srgbClr val="222222"/>
                </a:solidFill>
              </a:rPr>
              <a:t>•  정의: 관리자와 다수의 구성원이 포함된 '그룹' 방에서 봇을 운영하며, 누구나 명령을 내려 발생하는 중복 실행과 비용 낭비를 방지하는 운영 모델입니다.</a:t>
            </a:r>
          </a:p>
          <a:p>
            <a:r>
              <a:rPr sz="1100">
                <a:solidFill>
                  <a:srgbClr val="222222"/>
                </a:solidFill>
              </a:rPr>
              <a:t>•  핵심 문제: 여러 명의 관리자가 동시에 "오늘 시장 브리핑 보여줘"라고 입력할 경우, 시스템이 중복 실행되어 OpenAI 비용 증가, 구글 시트 중복 기록, 텔레그램 스팸 발생 등의 문제가 발생할 수 있습니다.</a:t>
            </a:r>
          </a:p>
          <a:p>
            <a:pPr>
              <a:spcBef>
                <a:spcPts val="600"/>
              </a:spcBef>
            </a:pPr>
            <a:r>
              <a:rPr sz="1300" b="1">
                <a:solidFill>
                  <a:srgbClr val="2E5984"/>
                </a:solidFill>
              </a:rPr>
              <a:t>2. 아키텍처 (Architecture): 그룹 내 명령 수신 및 처리 프로세스</a:t>
            </a:r>
          </a:p>
          <a:p>
            <a:r>
              <a:rPr sz="1100">
                <a:solidFill>
                  <a:srgbClr val="222222"/>
                </a:solidFill>
              </a:rPr>
              <a:t>•  시스템 흐름: [그룹 멤버 A 입력] → [봇 메시지 수신] → [Webhook] → [Apps Script] → [권한 검사] → [GPT 실행] → [그룹 내 결과 응답].</a:t>
            </a:r>
          </a:p>
          <a:p>
            <a:r>
              <a:rPr sz="1100">
                <a:solidFill>
                  <a:srgbClr val="222222"/>
                </a:solidFill>
              </a:rPr>
              <a:t>•  작동 원리: 봇이 그룹 전체의 메시지를 수신하지만, 사전에 정의된 관리자 ID(ADMINS)와 일치하는 사용자의 명령만 선택적으로 처리하는 필터링 구조를 가집니다.</a:t>
            </a:r>
          </a:p>
          <a:p>
            <a:pPr>
              <a:spcBef>
                <a:spcPts val="600"/>
              </a:spcBef>
            </a:pPr>
            <a:r>
              <a:rPr sz="1300" b="1">
                <a:solidFill>
                  <a:srgbClr val="2E5984"/>
                </a:solidFill>
              </a:rPr>
              <a:t>3. 소스코드 (Source Code): 사용자 ID 식별 및 권한 체크 로직</a:t>
            </a:r>
          </a:p>
          <a:p>
            <a:r>
              <a:rPr sz="1100">
                <a:solidFill>
                  <a:srgbClr val="222222"/>
                </a:solidFill>
              </a:rPr>
              <a:t>•  핵심 로직: update.message.from.id를 통해 발신자를 식별하고 화이트리스트와 대조합니다.</a:t>
            </a:r>
          </a:p>
          <a:p>
            <a:pPr>
              <a:spcBef>
                <a:spcPts val="600"/>
              </a:spcBef>
            </a:pPr>
            <a:r>
              <a:rPr sz="1300" b="1">
                <a:solidFill>
                  <a:srgbClr val="2E5984"/>
                </a:solidFill>
              </a:rPr>
              <a:t>4. 실습 (Practice): 그룹방 생성 및 권한 차단 테스트</a:t>
            </a:r>
          </a:p>
          <a:p>
            <a:r>
              <a:rPr sz="1100">
                <a:solidFill>
                  <a:srgbClr val="222222"/>
                </a:solidFill>
              </a:rPr>
              <a:t>•  과제: 본인의 봇이 포함된 '운영그룹'을 생성하고, 관리자 리스트(ADMINS)에 포함되지 않은 다른 계정으로 명령을 입력하여 "관리자만 실행 가능합니다"라는 메시지가 정상적으로 출력되는지 확인하십시오.</a:t>
            </a:r>
          </a:p>
          <a:p>
            <a:r>
              <a:rPr sz="1100">
                <a:solidFill>
                  <a:srgbClr val="222222"/>
                </a:solidFill>
              </a:rPr>
              <a:t>•  확인 사항: 승인된 관리자가 입력했을 때만 market_briefing 등의 액션이 실행되고 구글 시트에 로그가 기록되는지 점검합니다.</a:t>
            </a:r>
          </a:p>
          <a:p>
            <a:pPr>
              <a:spcBef>
                <a:spcPts val="600"/>
              </a:spcBef>
            </a:pPr>
            <a:r>
              <a:rPr sz="1300" b="1">
                <a:solidFill>
                  <a:srgbClr val="2E5984"/>
                </a:solidFill>
              </a:rPr>
              <a:t>5. 확장 (Expansion): '명령은 그룹에서, 결과는 채널로' 하이브리드 운영</a:t>
            </a:r>
          </a:p>
          <a:p>
            <a:r>
              <a:rPr sz="1100">
                <a:solidFill>
                  <a:srgbClr val="222222"/>
                </a:solidFill>
              </a:rPr>
              <a:t>•  고도화 전략: 실무적으로는 보안과 효율성을 위해 "명령 입력은 소수 관리자만 있는 그룹방"에서 수행하고, "최종 분석 결과는 전사 공지용 채널"로 자동 배포하는 방식을 권장합니다.</a:t>
            </a:r>
          </a:p>
          <a:p>
            <a:r>
              <a:rPr sz="1100">
                <a:solidFill>
                  <a:srgbClr val="222222"/>
                </a:solidFill>
              </a:rPr>
              <a:t>•  기술적 이점: 이 구조를 통해 시스템 오작동이나 중복 명령을 원천적으로 차단하면서도, 검증된 고품질의 금융 인사이트를 조직 전체에 안정적으로 공급할 수 있습니다.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112  ·  135/216</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[136] AI 금융정보 플랫폼 구축 실무 - 실무 하이브리드 운영 및 구현 메커니즘</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보안과 전파력을 동시에 잡는 하이브리드 전략</a:t>
            </a:r>
          </a:p>
          <a:p>
            <a:r>
              <a:rPr sz="1100">
                <a:solidFill>
                  <a:srgbClr val="222222"/>
                </a:solidFill>
              </a:rPr>
              <a:t>•  정의: 명령 입력은 보안이 유지되는 '소수 관리자 그룹'에서 수행하고, 분석 결과는 전사 구성원이 있는 '공개 채널'로 자동 배포하는 이원화 운영 모델입니다,.</a:t>
            </a:r>
          </a:p>
          <a:p>
            <a:r>
              <a:rPr sz="1100">
                <a:solidFill>
                  <a:srgbClr val="222222"/>
                </a:solidFill>
              </a:rPr>
              <a:t>•  핵심 가치: 불필요한 중복 실행 비용을 원천 차단하면서도, 검증된 고품질의 금융 인사이트를 조직 전체에 안정적으로 공급하는 데 목적이 있습니다.</a:t>
            </a:r>
          </a:p>
          <a:p>
            <a:pPr>
              <a:spcBef>
                <a:spcPts val="600"/>
              </a:spcBef>
            </a:pPr>
            <a:r>
              <a:rPr sz="1300" b="1">
                <a:solidFill>
                  <a:srgbClr val="2E5984"/>
                </a:solidFill>
              </a:rPr>
              <a:t>2. 아키텍처 (Architecture): 명령-배포 분리형 인터페이스 구조</a:t>
            </a:r>
          </a:p>
          <a:p>
            <a:r>
              <a:rPr sz="1100">
                <a:solidFill>
                  <a:srgbClr val="222222"/>
                </a:solidFill>
              </a:rPr>
              <a:t>•  운영 워크플로우: [관리자 그룹방 명령] → [Apps Script 권한 체크] → [GPT 분석] → [Telegram 채널로 결과 발송],.</a:t>
            </a:r>
          </a:p>
          <a:p>
            <a:r>
              <a:rPr sz="1100">
                <a:solidFill>
                  <a:srgbClr val="222222"/>
                </a:solidFill>
              </a:rPr>
              <a:t>•  구현 원리: 봇이 특정 채널의 관리자(Admin)로 등록되어 있다면, 명령을 받은 곳(그룹)이 아닌 전혀 다른 곳(채널)으로 sendMessage API를 호출하여 결과를 게시할 수 있습니다,.</a:t>
            </a:r>
          </a:p>
          <a:p>
            <a:pPr>
              <a:spcBef>
                <a:spcPts val="600"/>
              </a:spcBef>
            </a:pPr>
            <a:r>
              <a:rPr sz="1300" b="1">
                <a:solidFill>
                  <a:srgbClr val="2E5984"/>
                </a:solidFill>
              </a:rPr>
              <a:t>3. 소스코드 (Source Code): ALLOWED_USER_IDS 기반의 엄격한 실행 통제</a:t>
            </a:r>
          </a:p>
          <a:p>
            <a:r>
              <a:rPr sz="1100">
                <a:solidFill>
                  <a:srgbClr val="222222"/>
                </a:solidFill>
              </a:rPr>
              <a:t>•  핵심 로직: 허가된 사용자만 시스템을 가동할 수 있도록 화이트리스트를 적용합니다,.</a:t>
            </a:r>
          </a:p>
          <a:p>
            <a:pPr>
              <a:spcBef>
                <a:spcPts val="600"/>
              </a:spcBef>
            </a:pPr>
            <a:r>
              <a:rPr sz="1300" b="1">
                <a:solidFill>
                  <a:srgbClr val="2E5984"/>
                </a:solidFill>
              </a:rPr>
              <a:t>4. 실습 (Practice): 그룹 명령 및 채널 배포 엔드-투-엔드(E2E) 테스트</a:t>
            </a:r>
          </a:p>
          <a:p>
            <a:r>
              <a:rPr sz="1100">
                <a:solidFill>
                  <a:srgbClr val="222222"/>
                </a:solidFill>
              </a:rPr>
              <a:t>•  과제: 봇을 그룹과 채널 양쪽에 모두 관리자로 추가한 뒤, 그룹방에서 "오늘 시장 브리핑 보여줘"라고 입력하여 결과 메시지가 본인이 아닌 채널 구독자들에게 정상 배포되는지 확인하십시오,.</a:t>
            </a:r>
          </a:p>
          <a:p>
            <a:r>
              <a:rPr sz="1100">
                <a:solidFill>
                  <a:srgbClr val="222222"/>
                </a:solidFill>
              </a:rPr>
              <a:t>•  확인 사항: 승인되지 않은 사용자가 그룹에서 명령을 내렸을 때 시스템이 작동하지 않고 거부 메시지를 보내는지 반드시 검증합니다.</a:t>
            </a:r>
          </a:p>
          <a:p>
            <a:pPr>
              <a:spcBef>
                <a:spcPts val="600"/>
              </a:spcBef>
            </a:pPr>
            <a:r>
              <a:rPr sz="1300" b="1">
                <a:solidFill>
                  <a:srgbClr val="2E5984"/>
                </a:solidFill>
              </a:rPr>
              <a:t>5. 확장 (Expansion): 멀티 봇 오케스트레이션 및 독립 채널 운영</a:t>
            </a:r>
          </a:p>
          <a:p>
            <a:r>
              <a:rPr sz="1100">
                <a:solidFill>
                  <a:srgbClr val="222222"/>
                </a:solidFill>
              </a:rPr>
              <a:t>•  고도화 전략: 하나의 채널에 여러 봇(예: 시황봇, 공시봇)을 운영할 수 있으며, 각 봇은 고유한 토큰과 전용 Webhook URL을 통해 독립적인 Apps Script로 제어됩니다,.</a:t>
            </a:r>
          </a:p>
          <a:p>
            <a:r>
              <a:rPr sz="1100">
                <a:solidFill>
                  <a:srgbClr val="222222"/>
                </a:solidFill>
              </a:rPr>
              <a:t>•  기술적 지향점: 이 구조는 향후 CrewAI 멀티 에이전트 시스템과 결합하여, 각 에이전트가 분석한 전문 리포트를 텔레그램의 각기 다른 전문 채널로 자동 라우팅하는 자율형 금융 리서치 센터의 토대가 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113  ·  136/216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[137] AI 금융정보 플랫폼 구축 실무 - 구현 1~3단계: 환경 설정</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시스템의 '블랙박스', CommandLog의 역할</a:t>
            </a:r>
          </a:p>
          <a:p>
            <a:r>
              <a:rPr sz="1100">
                <a:solidFill>
                  <a:srgbClr val="222222"/>
                </a:solidFill>
              </a:rPr>
              <a:t>•  정의: 사용자의 모든 명령과 AI의 분석 결과, 처리 과정에서의 오류 등을 기록하는 운영 로그 데이터베이스(DB)를 준비하는 단계입니다.</a:t>
            </a:r>
          </a:p>
          <a:p>
            <a:r>
              <a:rPr sz="1100">
                <a:solidFill>
                  <a:srgbClr val="222222"/>
                </a:solidFill>
              </a:rPr>
              <a:t>•  핵심 가치: 금융 서비스의 특성상 발생할 수 있는 분석 오류나 API 호출 실패를 추적하고, 사용자별 사용량(비용)을 모니터링하기 위한 시스템 가시성을 확보하는 데 있습니다.</a:t>
            </a:r>
          </a:p>
          <a:p>
            <a:pPr>
              <a:spcBef>
                <a:spcPts val="600"/>
              </a:spcBef>
            </a:pPr>
            <a:r>
              <a:rPr sz="1300" b="1">
                <a:solidFill>
                  <a:srgbClr val="2E5984"/>
                </a:solidFill>
              </a:rPr>
              <a:t>2. 아키텍처 (Architecture): 구글 시트 기반의 서버리스 데이터 레이크</a:t>
            </a:r>
          </a:p>
          <a:p>
            <a:r>
              <a:rPr sz="1100">
                <a:solidFill>
                  <a:srgbClr val="222222"/>
                </a:solidFill>
              </a:rPr>
              <a:t>•  구조: [사용자 명령] → [GAS 분석] → [Google Sheets 저장] ↔ [결과 회신].</a:t>
            </a:r>
          </a:p>
          <a:p>
            <a:r>
              <a:rPr sz="1100">
                <a:solidFill>
                  <a:srgbClr val="222222"/>
                </a:solidFill>
              </a:rPr>
              <a:t>•  연결 원리: 별도의 고비용 DB를 구축하는 대신, 구글 시트를 메인 로그 저장소로 활용하여 데이터 적재와 모니터링을 동시에 수행하는 경량화된 아키텍처를 채택합니다.</a:t>
            </a:r>
          </a:p>
          <a:p>
            <a:pPr>
              <a:spcBef>
                <a:spcPts val="600"/>
              </a:spcBef>
            </a:pPr>
            <a:r>
              <a:rPr sz="1300" b="1">
                <a:solidFill>
                  <a:srgbClr val="2E5984"/>
                </a:solidFill>
              </a:rPr>
              <a:t>3. 소스코드 (Source Code): 로그 헤더 구성 및 3대 핵심 상수 설정</a:t>
            </a:r>
          </a:p>
          <a:p>
            <a:r>
              <a:rPr sz="1100">
                <a:solidFill>
                  <a:srgbClr val="222222"/>
                </a:solidFill>
              </a:rPr>
              <a:t>•  로그 시트(CommandLog) 헤더 구성: 시트의 첫 번째 행에 아래 항목을 순서대로 배치합니다.</a:t>
            </a:r>
          </a:p>
          <a:p>
            <a:r>
              <a:rPr sz="1100">
                <a:solidFill>
                  <a:srgbClr val="222222"/>
                </a:solidFill>
              </a:rPr>
              <a:t>•  시간 | 채팅ID | 사용자메시지 | ACTION | 분류방법 | 파라미터 | 처리결과</a:t>
            </a:r>
          </a:p>
          <a:p>
            <a:r>
              <a:rPr sz="1100">
                <a:solidFill>
                  <a:srgbClr val="222222"/>
                </a:solidFill>
              </a:rPr>
              <a:t>•  핵심 상수 초기화: Apps Script 상단에 시스템 구동을 위한 3개 값을 정의합니다.</a:t>
            </a:r>
          </a:p>
          <a:p>
            <a:pPr>
              <a:spcBef>
                <a:spcPts val="600"/>
              </a:spcBef>
            </a:pPr>
            <a:r>
              <a:rPr sz="1300" b="1">
                <a:solidFill>
                  <a:srgbClr val="2E5984"/>
                </a:solidFill>
              </a:rPr>
              <a:t>4. 실습 (Practice): 시트 생성 및 Apps Script 개발 환경 활성화</a:t>
            </a:r>
          </a:p>
          <a:p>
            <a:r>
              <a:rPr sz="1100">
                <a:solidFill>
                  <a:srgbClr val="222222"/>
                </a:solidFill>
              </a:rPr>
              <a:t>•  과제 1: 새로운 구글 시트를 생성하고 탭 이름을 CommandLog로 변경한 뒤, 1행에 위에서 정의한 헤더를 정확히 입력하십시오.</a:t>
            </a:r>
          </a:p>
          <a:p>
            <a:r>
              <a:rPr sz="1100">
                <a:solidFill>
                  <a:srgbClr val="222222"/>
                </a:solidFill>
              </a:rPr>
              <a:t>•  과제 2: 시트 메뉴의 [확장 프로그램] → [Apps Script]를 클릭하여 개발창을 열고, 기존 코드를 모두 삭제한 뒤 Main Script 작성을 위한 준비를 마칩니다.</a:t>
            </a:r>
          </a:p>
          <a:p>
            <a:pPr>
              <a:spcBef>
                <a:spcPts val="600"/>
              </a:spcBef>
            </a:pPr>
            <a:r>
              <a:rPr sz="1300" b="1">
                <a:solidFill>
                  <a:srgbClr val="2E5984"/>
                </a:solidFill>
              </a:rPr>
              <a:t>5. 확장 (Expansion): 보안 강화를 위한 환경변수(.env) 관리 전략</a:t>
            </a:r>
          </a:p>
          <a:p>
            <a:r>
              <a:rPr sz="1100">
                <a:solidFill>
                  <a:srgbClr val="222222"/>
                </a:solidFill>
              </a:rPr>
              <a:t>•  고도화 전략: 실전 운영 환경에서는 API Key 노출을 방지하기 위해 코드가 아닌 Apps Script의 [설정] → [스크립트 속성]에 키 값을 저장하여 보안을 강화합니다.</a:t>
            </a:r>
          </a:p>
          <a:p>
            <a:r>
              <a:rPr sz="1100">
                <a:solidFill>
                  <a:srgbClr val="222222"/>
                </a:solidFill>
              </a:rPr>
              <a:t>•  운영 설계: 시트 ID가 변경되더라도 코드 수정 없이 유연하게 대응할 수 있도록, 향후 04_CONFIG와 같은 설정 전용 시트를 별도로 운영하여 시스템의 유지보수성을 극대화합니다.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114  ·  137/216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[138] AI 금융정보 플랫폼 구축 실무 - 구현 4~5단계: 배포 및 Webhook 등록</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서버리스 엔드포인트 생성 및 통신망 개통</a:t>
            </a:r>
          </a:p>
          <a:p>
            <a:r>
              <a:rPr sz="1100">
                <a:solidFill>
                  <a:srgbClr val="222222"/>
                </a:solidFill>
              </a:rPr>
              <a:t>•  GAS 배포: 작성된 코드를 외부에서 접근 가능한 '웹앱(Web App)' 형태로 발행하여, 텔레그램 서버가 데이터를 보낼 수 있는 고유 주소(URL)를 생성하는 과정입니다.</a:t>
            </a:r>
          </a:p>
          <a:p>
            <a:r>
              <a:rPr sz="1100">
                <a:solidFill>
                  <a:srgbClr val="222222"/>
                </a:solidFill>
              </a:rPr>
              <a:t>•  Webhook 등록: 텔레그램 서버에 생성된 웹앱 URL을 등록하여, 봇으로 들어오는 모든 메시지를 우리 서버로 실시간 전달하도록 '신경망'을 연결하는 작업입니다.</a:t>
            </a:r>
          </a:p>
          <a:p>
            <a:pPr>
              <a:spcBef>
                <a:spcPts val="600"/>
              </a:spcBef>
            </a:pPr>
            <a:r>
              <a:rPr sz="1300" b="1">
                <a:solidFill>
                  <a:srgbClr val="2E5984"/>
                </a:solidFill>
              </a:rPr>
              <a:t>2. 아키텍처 (Architecture): 실시간 메시지 수신을 위한 서버-클라이언트 구조</a:t>
            </a:r>
          </a:p>
          <a:p>
            <a:r>
              <a:rPr sz="1100">
                <a:solidFill>
                  <a:srgbClr val="222222"/>
                </a:solidFill>
              </a:rPr>
              <a:t>•  데이터 흐름: [사용자] → [Telegram 서버] → [POST Request (JSON)] → [Apps Script Web App URL] → [doPost(e) 실행].</a:t>
            </a:r>
          </a:p>
          <a:p>
            <a:r>
              <a:rPr sz="1100">
                <a:solidFill>
                  <a:srgbClr val="222222"/>
                </a:solidFill>
              </a:rPr>
              <a:t>•  배포 설정: 보안과 통신을 위해 실행 사용자는 '나(Me)', 액세스 권한은 '모든 사용자(Anyone)'로 설정하여 텔레그램 서버의 접근을 허용해야 합니다.</a:t>
            </a:r>
          </a:p>
          <a:p>
            <a:pPr>
              <a:spcBef>
                <a:spcPts val="600"/>
              </a:spcBef>
            </a:pPr>
            <a:r>
              <a:rPr sz="1300" b="1">
                <a:solidFill>
                  <a:srgbClr val="2E5984"/>
                </a:solidFill>
              </a:rPr>
              <a:t>3. 소스코드 (Source Code): Webhook 등록 및 성공 응답 명세</a:t>
            </a:r>
          </a:p>
          <a:p>
            <a:r>
              <a:rPr sz="1100">
                <a:solidFill>
                  <a:srgbClr val="222222"/>
                </a:solidFill>
              </a:rPr>
              <a:t>•  등록 URL 형식: 브라우저 주소창에 아래와 같은 형식으로 입력하여 실행합니다.</a:t>
            </a:r>
          </a:p>
          <a:p>
            <a:pPr>
              <a:spcBef>
                <a:spcPts val="600"/>
              </a:spcBef>
            </a:pPr>
            <a:r>
              <a:rPr sz="1300" b="1">
                <a:solidFill>
                  <a:srgbClr val="2E5984"/>
                </a:solidFill>
              </a:rPr>
              <a:t>4. 실습 (Practice): 웹앱 URL 확보 및 브라우저 기반 등록 수행</a:t>
            </a:r>
          </a:p>
          <a:p>
            <a:r>
              <a:rPr sz="1100">
                <a:solidFill>
                  <a:srgbClr val="222222"/>
                </a:solidFill>
              </a:rPr>
              <a:t>•  과제 1: Apps Script에서 [배포] → [새 배포]를 선택하고 유형을 '웹앱'으로 설정한 후, 생성된 https://script.google.com/macros/s/.../exec 주소를 복사하십시오.</a:t>
            </a:r>
          </a:p>
          <a:p>
            <a:r>
              <a:rPr sz="1100">
                <a:solidFill>
                  <a:srgbClr val="222222"/>
                </a:solidFill>
              </a:rPr>
              <a:t>•  과제 2: 복사한 URL과 본인의 봇 토큰을 결합하여 브라우저에서 실행하고, 결과값이 "ok": true로 나오는지 확인하십시오.</a:t>
            </a:r>
          </a:p>
          <a:p>
            <a:pPr>
              <a:spcBef>
                <a:spcPts val="600"/>
              </a:spcBef>
            </a:pPr>
            <a:r>
              <a:rPr sz="1300" b="1">
                <a:solidFill>
                  <a:srgbClr val="2E5984"/>
                </a:solidFill>
              </a:rPr>
              <a:t>5. 확장 (Expansion): 통신 상태 진단 및 'OK' 응답 반환의 중요성</a:t>
            </a:r>
          </a:p>
          <a:p>
            <a:r>
              <a:rPr sz="1100">
                <a:solidFill>
                  <a:srgbClr val="222222"/>
                </a:solidFill>
              </a:rPr>
              <a:t>•  진단 기술: 등록 후 getWebhookInfo를 실행하여 url 항목이 정상인지, pending_update_count가 쌓이지 않고 즉시 처리되는지 모니터링합니다.</a:t>
            </a:r>
          </a:p>
          <a:p>
            <a:r>
              <a:rPr sz="1100">
                <a:solidFill>
                  <a:srgbClr val="222222"/>
                </a:solidFill>
              </a:rPr>
              <a:t>•  운영 규칙: Apps Script의 doPost(e) 함수는 텔레그램 서버에 항상 ok_() (200 OK) 응답을 반환해야 합니다. 그렇지 않으면 텔레그램은 메시지 전달에 실패한 것으로 간주하여 동일한 데이터를 계속 재전송하게 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115  ·  138/216</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[139] AI 금융정보 플랫폼 구축 실무 - 선행 확인 및 테스트(1~5단계)</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'End-to-End' 연결성 최종 점검</a:t>
            </a:r>
          </a:p>
          <a:p>
            <a:r>
              <a:rPr sz="1100">
                <a:solidFill>
                  <a:srgbClr val="222222"/>
                </a:solidFill>
              </a:rPr>
              <a:t>•  정의: 텔레그램 봇 생성부터 웹훅 등록까지의 모든 인프라가 유기적으로 결합되어 실제 사용자의 메시지를 처리할 수 있는지 검증하는 최종 시운전 단계입니다.</a:t>
            </a:r>
          </a:p>
          <a:p>
            <a:r>
              <a:rPr sz="1100">
                <a:solidFill>
                  <a:srgbClr val="222222"/>
                </a:solidFill>
              </a:rPr>
              <a:t>•  핵심 가치: 실제 금융 데이터를 분석하기 전, 데이터의 수신-해석-기록-회신이라는 기본 파이프라인의 무결성을 확보하는 데 목적이 있습니다.</a:t>
            </a:r>
          </a:p>
          <a:p>
            <a:pPr>
              <a:spcBef>
                <a:spcPts val="600"/>
              </a:spcBef>
            </a:pPr>
            <a:r>
              <a:rPr sz="1300" b="1">
                <a:solidFill>
                  <a:srgbClr val="2E5984"/>
                </a:solidFill>
              </a:rPr>
              <a:t>2. 아키텍처 (Architecture): 0단계 선행 확인 및 데이터 흐름</a:t>
            </a:r>
          </a:p>
          <a:p>
            <a:r>
              <a:rPr sz="1100">
                <a:solidFill>
                  <a:srgbClr val="222222"/>
                </a:solidFill>
              </a:rPr>
              <a:t>•  0단계 상태 확인: 테스트 전 반드시 아래 5가지 항목이 완료되었는지 체크하십시오.</a:t>
            </a:r>
          </a:p>
          <a:p>
            <a:r>
              <a:rPr sz="1100">
                <a:solidFill>
                  <a:srgbClr val="222222"/>
                </a:solidFill>
              </a:rPr>
              <a:t>•  BotFather 봇 생성, 2) Token 발급, 3) Apps Script 작성, 4) 웹앱 배포, 5) Webhook 등록.</a:t>
            </a:r>
          </a:p>
          <a:p>
            <a:r>
              <a:rPr sz="1100">
                <a:solidFill>
                  <a:srgbClr val="222222"/>
                </a:solidFill>
              </a:rPr>
              <a:t>•  테스트 흐름: [사용자] → [Telegram Bot] → [Webhook] → [Apps Script] → [doPost(e) 실행].</a:t>
            </a:r>
          </a:p>
          <a:p>
            <a:pPr>
              <a:spcBef>
                <a:spcPts val="600"/>
              </a:spcBef>
            </a:pPr>
            <a:r>
              <a:rPr sz="1300" b="1">
                <a:solidFill>
                  <a:srgbClr val="2E5984"/>
                </a:solidFill>
              </a:rPr>
              <a:t>3. 소스코드 (Source Code): CommandLog 기록 예시 및 데이터 구조</a:t>
            </a:r>
          </a:p>
          <a:p>
            <a:r>
              <a:rPr sz="1100">
                <a:solidFill>
                  <a:srgbClr val="222222"/>
                </a:solidFill>
              </a:rPr>
              <a:t>•  데이터 적재 확인: 성공적인 테스트 시 구글 시트의 CommandLog에는 다음과 같은 데이터가 기록되어야 합니다.</a:t>
            </a:r>
          </a:p>
          <a:p>
            <a:pPr>
              <a:spcBef>
                <a:spcPts val="600"/>
              </a:spcBef>
            </a:pPr>
            <a:r>
              <a:rPr sz="1300" b="1">
                <a:solidFill>
                  <a:srgbClr val="2E5984"/>
                </a:solidFill>
              </a:rPr>
              <a:t>4. 실습 (Practice): 5단계 실전 테스트 프로세스 수행</a:t>
            </a:r>
          </a:p>
          <a:p>
            <a:r>
              <a:rPr sz="1100">
                <a:solidFill>
                  <a:srgbClr val="222222"/>
                </a:solidFill>
              </a:rPr>
              <a:t>•  1단계(검색): 텔레그램 검색창에 본인의 봇 아이디(예: @FnXpertbot)를 입력하고 선택합니다.</a:t>
            </a:r>
          </a:p>
          <a:p>
            <a:r>
              <a:rPr sz="1100">
                <a:solidFill>
                  <a:srgbClr val="222222"/>
                </a:solidFill>
              </a:rPr>
              <a:t>•  2단계(활성화): START 버튼을 누르거나 /start를 입력하여 봇을 활성화합니다.</a:t>
            </a:r>
          </a:p>
          <a:p>
            <a:r>
              <a:rPr sz="1100">
                <a:solidFill>
                  <a:srgbClr val="222222"/>
                </a:solidFill>
              </a:rPr>
              <a:t>•  3단계(입력): "오늘 시장 브리핑 보여줘"라는 테스트 문장을 전송합니다.</a:t>
            </a:r>
          </a:p>
          <a:p>
            <a:r>
              <a:rPr sz="1100">
                <a:solidFill>
                  <a:srgbClr val="222222"/>
                </a:solidFill>
              </a:rPr>
              <a:t>•  4단계(로그): Apps Script의 실행 로그 또는 구글 시트의 CommandLog에 기록이 남는지 확인합니다.</a:t>
            </a:r>
          </a:p>
          <a:p>
            <a:r>
              <a:rPr sz="1100">
                <a:solidFill>
                  <a:srgbClr val="222222"/>
                </a:solidFill>
              </a:rPr>
              <a:t>•  5단계(응답): 봇이 "시장 브리핑을 실행했습니다. 키워드: 전체 시장"이라고 정상 회신하는지 점검합니다.</a:t>
            </a:r>
          </a:p>
          <a:p>
            <a:pPr>
              <a:spcBef>
                <a:spcPts val="600"/>
              </a:spcBef>
            </a:pPr>
            <a:r>
              <a:rPr sz="1300" b="1">
                <a:solidFill>
                  <a:srgbClr val="2E5984"/>
                </a:solidFill>
              </a:rPr>
              <a:t>5. 확장 (Expansion): 1:1 채팅을 넘어 '운영그룹' 테스트로의 전환</a:t>
            </a:r>
          </a:p>
          <a:p>
            <a:r>
              <a:rPr sz="1100">
                <a:solidFill>
                  <a:srgbClr val="222222"/>
                </a:solidFill>
              </a:rPr>
              <a:t>•  고도화 전략: 많은 초보 개발자가 봇과의 1:1 채팅창에서만 테스트하지만, 실제 실무 환경에서는 '운영그룹방'을 생성하여 테스트하는 것이 훨씬 효과적입니다.</a:t>
            </a:r>
          </a:p>
          <a:p>
            <a:r>
              <a:rPr sz="1100">
                <a:solidFill>
                  <a:srgbClr val="222222"/>
                </a:solidFill>
              </a:rPr>
              <a:t>•  운영 설계: 관리자 그룹방에 봇을 추가한 뒤 명령을 입력하고, 그 결과가 성공적으로 채널(Channel)에 게시되어 구독자들이 열람할 수 있는지를 확인하는 과정으로 확장하여 시스템의 실전성을 높입니다.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116  ·  139/216</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[140] AI 금융정보 플랫폼 구축 실무 - Webhook 상세 진단 및 운영그룹 테스트</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통신망의 '신경 반사' 확인 및 프로토타입 검증</a:t>
            </a:r>
          </a:p>
          <a:p>
            <a:r>
              <a:rPr sz="1100">
                <a:solidFill>
                  <a:srgbClr val="222222"/>
                </a:solidFill>
              </a:rPr>
              <a:t>•  Webhook 진단: 단순히 URL을 등록하는 것을 넘어, 텔레그램 서버가 보낸 메시지가 우리 서버(Apps Script)에 도달했는지, 그리고 서버가 '200 OK' 응답을 정상적으로 돌려주었는지 확인하는 과정입니다.</a:t>
            </a:r>
          </a:p>
          <a:p>
            <a:r>
              <a:rPr sz="1100">
                <a:solidFill>
                  <a:srgbClr val="222222"/>
                </a:solidFill>
              </a:rPr>
              <a:t>•  핵심 가치: 봇이 응답하지 않을 때 막연히 코드를 수정하는 대신, getWebhookInfo를 통해 통신 구간의 병목 현상이나 인증 오류를 즉시 찾아내어 개발 시간을 단축합니다.</a:t>
            </a:r>
          </a:p>
          <a:p>
            <a:pPr>
              <a:spcBef>
                <a:spcPts val="600"/>
              </a:spcBef>
            </a:pPr>
            <a:r>
              <a:rPr sz="1300" b="1">
                <a:solidFill>
                  <a:srgbClr val="2E5984"/>
                </a:solidFill>
              </a:rPr>
              <a:t>2. 아키텍처 (Architecture): 1:1 채팅을 넘어선 '운영 그룹' 테스트 구조</a:t>
            </a:r>
          </a:p>
          <a:p>
            <a:r>
              <a:rPr sz="1100">
                <a:solidFill>
                  <a:srgbClr val="222222"/>
                </a:solidFill>
              </a:rPr>
              <a:t>•  권장 테스트 환경: [관리자] → [운영그룹방(Group)] → [봇(Bot)] → [Webhook] → [Apps Script] → [분석 결과] → [배포채널(Channel)].</a:t>
            </a:r>
          </a:p>
          <a:p>
            <a:r>
              <a:rPr sz="1100">
                <a:solidFill>
                  <a:srgbClr val="222222"/>
                </a:solidFill>
              </a:rPr>
              <a:t>•  구조적 특징: 많은 초보자가 봇과의 1:1 채팅에서만 테스트하지만, 실무 아키텍트는 '명령은 그룹에서, 결과는 채널로' 흐르는 전체 서비스 파이프라인 상에서 기능을 검증합니다.</a:t>
            </a:r>
          </a:p>
          <a:p>
            <a:pPr>
              <a:spcBef>
                <a:spcPts val="600"/>
              </a:spcBef>
            </a:pPr>
            <a:r>
              <a:rPr sz="1300" b="1">
                <a:solidFill>
                  <a:srgbClr val="2E5984"/>
                </a:solidFill>
              </a:rPr>
              <a:t>3. 소스코드 (Source Code): Webhook 상세 상태 조회를 위한 JSON 분석</a:t>
            </a:r>
          </a:p>
          <a:p>
            <a:r>
              <a:rPr sz="1100">
                <a:solidFill>
                  <a:srgbClr val="222222"/>
                </a:solidFill>
              </a:rPr>
              <a:t>•  진단 명령어: 브라우저 주소창에 아래 URL을 실행하여 통신 로그를 조회합니다.</a:t>
            </a:r>
          </a:p>
          <a:p>
            <a:pPr>
              <a:spcBef>
                <a:spcPts val="600"/>
              </a:spcBef>
            </a:pPr>
            <a:r>
              <a:rPr sz="1300" b="1">
                <a:solidFill>
                  <a:srgbClr val="2E5984"/>
                </a:solidFill>
              </a:rPr>
              <a:t>4. 실습 (Practice): 'AI데이터맵' 운영그룹 생성 및 봇 추가</a:t>
            </a:r>
          </a:p>
          <a:p>
            <a:r>
              <a:rPr sz="1100">
                <a:solidFill>
                  <a:srgbClr val="222222"/>
                </a:solidFill>
              </a:rPr>
              <a:t>•  과제: 텔레그램에서 '[AI데이터맵] 운영그룹방'을 생성하고, 본인의 봇을 멤버로 추가한 뒤 "오늘 시장 브리핑 보여줘"라고 입력하십시오.</a:t>
            </a:r>
          </a:p>
          <a:p>
            <a:r>
              <a:rPr sz="1100">
                <a:solidFill>
                  <a:srgbClr val="222222"/>
                </a:solidFill>
              </a:rPr>
              <a:t>•  확인 사항: 봇이 그룹 메시지를 수신하여 Webhook을 발생시키고, 분석 결과(미국증시, 금리, 환율 등)를 생성하여 지정된 채널에 정상적으로 게시하는지 전 과정을 모니터링합니다.</a:t>
            </a:r>
          </a:p>
          <a:p>
            <a:pPr>
              <a:spcBef>
                <a:spcPts val="600"/>
              </a:spcBef>
            </a:pPr>
            <a:r>
              <a:rPr sz="1300" b="1">
                <a:solidFill>
                  <a:srgbClr val="2E5984"/>
                </a:solidFill>
              </a:rPr>
              <a:t>5. 확장 (Expansion): 'Pending Update' 해결 및 장애 대응 프로세스</a:t>
            </a:r>
          </a:p>
          <a:p>
            <a:r>
              <a:rPr sz="1100">
                <a:solidFill>
                  <a:srgbClr val="222222"/>
                </a:solidFill>
              </a:rPr>
              <a:t>•  고도화 전략: pending_update_count가 쌓여 있다면 deleteWebhook 후 다시 setWebhook을 실행하여 텔레그램 서버의 큐(Queue)를 초기화합니다.</a:t>
            </a:r>
          </a:p>
          <a:p>
            <a:r>
              <a:rPr sz="1100">
                <a:solidFill>
                  <a:srgbClr val="222222"/>
                </a:solidFill>
              </a:rPr>
              <a:t>•  기술 적용: 장애 발생 시 last_error_message 필드를 분석하여 Apps Script의 할당량 초과(Quota Exceeded)나 타임아웃 문제를 진단하고, 이를 logCommand_() 함수와 연계하여 시스템의 복원력을 높입니다.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117  ·  140/216</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[141] AI 금융정보 플랫폼 구축 실무 - 구현 7단계: 실제 함수 연결</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프로토타입에서 '실전 업무 지능'으로의 전환</a:t>
            </a:r>
          </a:p>
          <a:p>
            <a:r>
              <a:rPr sz="1100">
                <a:solidFill>
                  <a:srgbClr val="222222"/>
                </a:solidFill>
              </a:rPr>
              <a:t>•  정의: GPT가 분류한 액션(action)에 대응하는 테스트용 리턴 메시지 대신, 실제로 데이터를 수집하고 분석하는 비즈니스 로직 함수를 결합하는 단계입니다.</a:t>
            </a:r>
          </a:p>
          <a:p>
            <a:r>
              <a:rPr sz="1100">
                <a:solidFill>
                  <a:srgbClr val="222222"/>
                </a:solidFill>
              </a:rPr>
              <a:t>•  핵심 가치: /report와 같은 딱딱한 고정 명령어 대신, 사용자의 일상적인 자연어(예: "오늘 시장 브리핑 보여줘")가 실제 시스템의 복잡한 함수를 가동시키는 '에이전틱(Agentic)' 환경을 구현합니다.</a:t>
            </a:r>
          </a:p>
          <a:p>
            <a:pPr>
              <a:spcBef>
                <a:spcPts val="600"/>
              </a:spcBef>
            </a:pPr>
            <a:r>
              <a:rPr sz="1300" b="1">
                <a:solidFill>
                  <a:srgbClr val="2E5984"/>
                </a:solidFill>
              </a:rPr>
              <a:t>2. 아키텍처 (Architecture): 자연어-함수 매핑 및 실행 구조</a:t>
            </a:r>
          </a:p>
          <a:p>
            <a:r>
              <a:rPr sz="1100">
                <a:solidFill>
                  <a:srgbClr val="222222"/>
                </a:solidFill>
              </a:rPr>
              <a:t>•  동작 원리: [자연어 입력] → [GPT Classifier] → [Action 결정] → )]* → [결과 문자열 반환] → [텔레그램 회신].</a:t>
            </a:r>
          </a:p>
          <a:p>
            <a:r>
              <a:rPr sz="1100">
                <a:solidFill>
                  <a:srgbClr val="222222"/>
                </a:solidFill>
              </a:rPr>
              <a:t>•  유연한 설계: 기존에 이미 작성해둔 Apps Script 함수가 있다면, 이를 Action Framework의 명세에 맞게 래핑(Wrapping)하여 즉시 서비스화할 수 있습니다.</a:t>
            </a:r>
          </a:p>
          <a:p>
            <a:pPr>
              <a:spcBef>
                <a:spcPts val="600"/>
              </a:spcBef>
            </a:pPr>
            <a:r>
              <a:rPr sz="1300" b="1">
                <a:solidFill>
                  <a:srgbClr val="2E5984"/>
                </a:solidFill>
              </a:rPr>
              <a:t>3. 소스코드 (Source Code): 실제 함수 연결 및 래핑(Wrapping) 로직</a:t>
            </a:r>
          </a:p>
          <a:p>
            <a:r>
              <a:rPr sz="1100">
                <a:solidFill>
                  <a:srgbClr val="222222"/>
                </a:solidFill>
              </a:rPr>
              <a:t>•  핵심 구현: 테스트용으로 작성된 함수 내부에 실제 로직을 호출하는 코드를 삽입합니다.</a:t>
            </a:r>
          </a:p>
          <a:p>
            <a:pPr>
              <a:spcBef>
                <a:spcPts val="600"/>
              </a:spcBef>
            </a:pPr>
            <a:r>
              <a:rPr sz="1300" b="1">
                <a:solidFill>
                  <a:srgbClr val="2E5984"/>
                </a:solidFill>
              </a:rPr>
              <a:t>4. 실습 (Practice): 스프레드시트 ID 검증 및 함수 연결 테스트</a:t>
            </a:r>
          </a:p>
          <a:p>
            <a:r>
              <a:rPr sz="1100">
                <a:solidFill>
                  <a:srgbClr val="222222"/>
                </a:solidFill>
              </a:rPr>
              <a:t>•  과제 1 (선행 확인): 시스템 가동 전 SPREADSHEET_ID가 정확한지, 시트 탭 이름이 대소문자까지 일치하는 CommandLog인지 반드시 확인하십시오.</a:t>
            </a:r>
          </a:p>
          <a:p>
            <a:r>
              <a:rPr sz="1100">
                <a:solidFill>
                  <a:srgbClr val="222222"/>
                </a:solidFill>
              </a:rPr>
              <a:t>•  과제 2 (함수 교체): 현재 테스트용으로 작성된 runMorningPatrol_ 함수를 본인이 가진 실제 금융 분석 로직과 연결하고, 텔레그램에서 "모닝패트롤 실행"이라고 입력하여 결과가 정상 출력되는지 확인하십시오.</a:t>
            </a:r>
          </a:p>
          <a:p>
            <a:pPr>
              <a:spcBef>
                <a:spcPts val="600"/>
              </a:spcBef>
            </a:pPr>
            <a:r>
              <a:rPr sz="1300" b="1">
                <a:solidFill>
                  <a:srgbClr val="2E5984"/>
                </a:solidFill>
              </a:rPr>
              <a:t>5. 확장 (Expansion): 고정 명령어가 필요 없는 '자율형 금융 비서' 완성</a:t>
            </a:r>
          </a:p>
          <a:p>
            <a:r>
              <a:rPr sz="1100">
                <a:solidFill>
                  <a:srgbClr val="222222"/>
                </a:solidFill>
              </a:rPr>
              <a:t>•  자연어 인터페이스의 완성: 이 단계를 거치면 다음과 같은 자연어가 별도의 명령 형식 없이도 모두 작동하게 됩니다.</a:t>
            </a:r>
          </a:p>
          <a:p>
            <a:r>
              <a:rPr sz="1100">
                <a:solidFill>
                  <a:srgbClr val="222222"/>
                </a:solidFill>
              </a:rPr>
              <a:t>•  "오늘 시장 브리핑 보여줘", "리스크 점검해줘", "삼성전자 차트 분석해줘", "환율과 금리 상황 알려줘", "데이터 업데이트해줘" 등.</a:t>
            </a:r>
          </a:p>
          <a:p>
            <a:r>
              <a:rPr sz="1100">
                <a:solidFill>
                  <a:srgbClr val="222222"/>
                </a:solidFill>
              </a:rPr>
              <a:t>•  기술적 지향점: 사용자는 시스템의 내부 구조를 몰라도 대화하듯 정보를 얻을 수 있으며, 아키텍트는 새로운 분석 함수를 추가하고 GPT 프롬프트의 허용 액션 목록만 갱신함으로써 무한히 서비스를 확장할 수 있습니다.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118  ·  141/216</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[142] AI 금융정보 플랫폼 구축 실무 - Main Script 구현 (1): 상수 및 doPost</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시스템의 '심장'이자 모든 데이터의 '입구'</a:t>
            </a:r>
          </a:p>
          <a:p>
            <a:r>
              <a:rPr sz="1100">
                <a:solidFill>
                  <a:srgbClr val="222222"/>
                </a:solidFill>
              </a:rPr>
              <a:t>•  상수 정의: 텔레그램, OpenAI, 구글 시트라는 세 가지 핵심 인프라를 하나로 묶어주는 인증 정보를 설정하는 단계입니다,.</a:t>
            </a:r>
          </a:p>
          <a:p>
            <a:r>
              <a:rPr sz="1100">
                <a:solidFill>
                  <a:srgbClr val="222222"/>
                </a:solidFill>
              </a:rPr>
              <a:t>•  doPost(e): 텔레그램 서버가 보낸 Webhook 데이터를 가장 먼저 받아내어 해석하고, 시스템의 다음 단계(GPT 분류기 등)로 전달하는 수신 전담 함수입니다,,.</a:t>
            </a:r>
          </a:p>
          <a:p>
            <a:pPr>
              <a:spcBef>
                <a:spcPts val="600"/>
              </a:spcBef>
            </a:pPr>
            <a:r>
              <a:rPr sz="1300" b="1">
                <a:solidFill>
                  <a:srgbClr val="2E5984"/>
                </a:solidFill>
              </a:rPr>
              <a:t>2. 아키텍처 (Architecture): 게이트웨이(Gateway) 기반의 서버리스 처리 구조</a:t>
            </a:r>
          </a:p>
          <a:p>
            <a:r>
              <a:rPr sz="1100">
                <a:solidFill>
                  <a:srgbClr val="222222"/>
                </a:solidFill>
              </a:rPr>
              <a:t>•  데이터 흐름: [Telegram Webhook] → [doPost(e) 수신] → [JSON 파싱] → [사용자 ID/메시지 추출] → [GPT Action Classifier 호출],,.</a:t>
            </a:r>
          </a:p>
          <a:p>
            <a:r>
              <a:rPr sz="1100">
                <a:solidFill>
                  <a:srgbClr val="222222"/>
                </a:solidFill>
              </a:rPr>
              <a:t>•  구조적 특징: 별도의 서버 관리 없이 Google Apps Script 환경에서 24시간 대기하며, 메시지가 올 때만 작동하는 이벤트 기반(Event-driven) 아키텍처를 가집니다,.</a:t>
            </a:r>
          </a:p>
          <a:p>
            <a:pPr>
              <a:spcBef>
                <a:spcPts val="600"/>
              </a:spcBef>
            </a:pPr>
            <a:r>
              <a:rPr sz="1300" b="1">
                <a:solidFill>
                  <a:srgbClr val="2E5984"/>
                </a:solidFill>
              </a:rPr>
              <a:t>3. 소스코드 (Source Code): 3대 핵심 상수 및 doPost(e) 기본 골격</a:t>
            </a:r>
          </a:p>
          <a:p>
            <a:r>
              <a:rPr sz="1100">
                <a:solidFill>
                  <a:srgbClr val="222222"/>
                </a:solidFill>
              </a:rPr>
              <a:t>•  핵심 로직: 시스템 구동을 위한 필수 정보를 상단에 배치하고 수신 로직을 구현합니다,.</a:t>
            </a:r>
          </a:p>
          <a:p>
            <a:pPr>
              <a:spcBef>
                <a:spcPts val="600"/>
              </a:spcBef>
            </a:pPr>
            <a:r>
              <a:rPr sz="1300" b="1">
                <a:solidFill>
                  <a:srgbClr val="2E5984"/>
                </a:solidFill>
              </a:rPr>
              <a:t>4. 실습 (Practice): 개인 인증 키 반영 및 doPost 예외 처리 테스트</a:t>
            </a:r>
          </a:p>
          <a:p>
            <a:r>
              <a:rPr sz="1100">
                <a:solidFill>
                  <a:srgbClr val="222222"/>
                </a:solidFill>
              </a:rPr>
              <a:t>•  과제: 본인의 봇 토큰과 OpenAI 키, 그리고 CommandLog 탭이 포함된 스프레드시트 ID를 코드 상단에 정확히 입력하십시오,.</a:t>
            </a:r>
          </a:p>
          <a:p>
            <a:r>
              <a:rPr sz="1100">
                <a:solidFill>
                  <a:srgbClr val="222222"/>
                </a:solidFill>
              </a:rPr>
              <a:t>•  확인 사항: 텍스트가 없는 메시지(사진, 이모티콘 등)가 들어왔을 때, 시스템이 오류로 중단되지 않고 if (!update.message.text) 조건에 의해 정상적으로 ok_()를 반환하는지 검증합니다,.</a:t>
            </a:r>
          </a:p>
          <a:p>
            <a:pPr>
              <a:spcBef>
                <a:spcPts val="600"/>
              </a:spcBef>
            </a:pPr>
            <a:r>
              <a:rPr sz="1300" b="1">
                <a:solidFill>
                  <a:srgbClr val="2E5984"/>
                </a:solidFill>
              </a:rPr>
              <a:t>5. 확장 (Expansion): 전역 예외 처리 및 통신 안정성 고도화</a:t>
            </a:r>
          </a:p>
          <a:p>
            <a:r>
              <a:rPr sz="1100">
                <a:solidFill>
                  <a:srgbClr val="222222"/>
                </a:solidFill>
              </a:rPr>
              <a:t>•  고도화 전략: try-catch 블록을 활용하여 어떠한 예외 상황(API 장애, 네트워크 오류 등)에서도 텔레그램 서버에 ok_() (200 OK) 응답을 주도록 설계함으로써 메시지 무한 재전송 현상을 방지합니다,.</a:t>
            </a:r>
          </a:p>
          <a:p>
            <a:r>
              <a:rPr sz="1100">
                <a:solidFill>
                  <a:srgbClr val="222222"/>
                </a:solidFill>
              </a:rPr>
              <a:t>•  실무 적용: 이 기본 골격 위에 120번 슬라이드에서 다룰 switch(action) 분기 시스템을 결합하여, 한 줄의 코드가 수십 개의 금융 분석 기능을 통제하는 지능형 워크플로우의 중추 역할을 수행하게 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119  ·  142/216</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[143] AI 금융정보 플랫폼 구축 실무 - Main Script 구현 (2): switch(action) 분기</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지능형 명령을 실행 함수로 연결하는 '중추 신경계'</a:t>
            </a:r>
          </a:p>
          <a:p>
            <a:r>
              <a:rPr sz="1100">
                <a:solidFill>
                  <a:srgbClr val="222222"/>
                </a:solidFill>
              </a:rPr>
              <a:t>•  정의: GPT Classifier로부터 전달받은 구조화된 액션(action) 값을 판별하여, 해당 업무를 수행할 하위 분석 함수(run*)를 호출하고 결과를 수집하는 함수 라우팅 로직입니다,.</a:t>
            </a:r>
          </a:p>
          <a:p>
            <a:r>
              <a:rPr sz="1100">
                <a:solidFill>
                  <a:srgbClr val="222222"/>
                </a:solidFill>
              </a:rPr>
              <a:t>•  핵심 가치: 텔레그램-GAS-OpenAI 연동 아키텍처(,)에서 'Action Dispatcher' 역할을 수행하며, 시스템의 확장성과 유지보수성을 결정짓는 핵심 제어 레이어입니다.</a:t>
            </a:r>
          </a:p>
          <a:p>
            <a:pPr>
              <a:spcBef>
                <a:spcPts val="600"/>
              </a:spcBef>
            </a:pPr>
            <a:r>
              <a:rPr sz="1300" b="1">
                <a:solidFill>
                  <a:srgbClr val="2E5984"/>
                </a:solidFill>
              </a:rPr>
              <a:t>2. 아키텍처 (Architecture): 액션 기반의 모듈형 기능 분기 구조</a:t>
            </a:r>
          </a:p>
          <a:p>
            <a:r>
              <a:rPr sz="1100">
                <a:solidFill>
                  <a:srgbClr val="222222"/>
                </a:solidFill>
              </a:rPr>
              <a:t>•  제어 흐름: [GPT Result] → [Action 추출] → [switch(action) 분기] → [전용 분석 함수 실행] → [메시지 생성] → [회신 및 로그 기록],.</a:t>
            </a:r>
          </a:p>
          <a:p>
            <a:r>
              <a:rPr sz="1100">
                <a:solidFill>
                  <a:srgbClr val="222222"/>
                </a:solidFill>
              </a:rPr>
              <a:t>•  매핑 구조: market_briefing은 runMorningPatrol_로, news_summary는 runNewsSummary_로 연결되는 등 자연어 의도가 실제 코드로 치환되는 물리적 접점입니다,.</a:t>
            </a:r>
          </a:p>
          <a:p>
            <a:pPr>
              <a:spcBef>
                <a:spcPts val="600"/>
              </a:spcBef>
            </a:pPr>
            <a:r>
              <a:rPr sz="1300" b="1">
                <a:solidFill>
                  <a:srgbClr val="2E5984"/>
                </a:solidFill>
              </a:rPr>
              <a:t>3. 소스코드 (Source Code): switch-case 기반의 핵심 제어문 구현</a:t>
            </a:r>
          </a:p>
          <a:p>
            <a:r>
              <a:rPr sz="1100">
                <a:solidFill>
                  <a:srgbClr val="222222"/>
                </a:solidFill>
              </a:rPr>
              <a:t>•  핵심 로직: doPost(e) 내부에서 액션별로 실행할 함수를 지정하고 결과 메시지를 확보합니다,.</a:t>
            </a:r>
          </a:p>
          <a:p>
            <a:pPr>
              <a:spcBef>
                <a:spcPts val="600"/>
              </a:spcBef>
            </a:pPr>
            <a:r>
              <a:rPr sz="1300" b="1">
                <a:solidFill>
                  <a:srgbClr val="2E5984"/>
                </a:solidFill>
              </a:rPr>
              <a:t>4. 실습 (Practice): 'news_summary' 호출 테스트 및 파라미터 전달 검증</a:t>
            </a:r>
          </a:p>
          <a:p>
            <a:r>
              <a:rPr sz="1100">
                <a:solidFill>
                  <a:srgbClr val="222222"/>
                </a:solidFill>
              </a:rPr>
              <a:t>•  과제: 사용자가 "삼성전자 뉴스 요약해줘"라고 입력했을 때, GPT가 추출한 keyword: "삼성전자"가 runNewsSummary_(params) 함수로 정상 전달되어 분기되는지 로그를 통해 확인하십시오,.</a:t>
            </a:r>
          </a:p>
          <a:p>
            <a:r>
              <a:rPr sz="1100">
                <a:solidFill>
                  <a:srgbClr val="222222"/>
                </a:solidFill>
              </a:rPr>
              <a:t>•  확인 사항: default 케이스가 작동하여 "명령을 인식하지 못했습니다"라는 메시지가 나올 경우, GPT Classifier의 프롬프트 내 '허용 action' 목록에 해당 항목이 누락되었는지 점검합니다.</a:t>
            </a:r>
          </a:p>
          <a:p>
            <a:pPr>
              <a:spcBef>
                <a:spcPts val="600"/>
              </a:spcBef>
            </a:pPr>
            <a:r>
              <a:rPr sz="1300" b="1">
                <a:solidFill>
                  <a:srgbClr val="2E5984"/>
                </a:solidFill>
              </a:rPr>
              <a:t>5. 확장 (Expansion): 'AI 워크포스' 확장을 위한 함수 래핑(Wrapping) 전략</a:t>
            </a:r>
          </a:p>
          <a:p>
            <a:r>
              <a:rPr sz="1100">
                <a:solidFill>
                  <a:srgbClr val="222222"/>
                </a:solidFill>
              </a:rPr>
              <a:t>•  고도화 전략: 향후 DART 공시 분석(dart_analysis)이나 포트폴리오 리뷰(portfolio_review) 기능이 추가될 때, switch 문에 새로운 case를 추가하고 해당 분석 모듈을 호출하는 것만으로 시스템을 무한히 확장할 수 있습니다,.</a:t>
            </a:r>
          </a:p>
          <a:p>
            <a:r>
              <a:rPr sz="1100">
                <a:solidFill>
                  <a:srgbClr val="222222"/>
                </a:solidFill>
              </a:rPr>
              <a:t>•  실무 적용: 이 구조는 Presentation Layer와 Business Logic을 완벽히 분리하므로, 실무 현장에서의 지능화 플랫폼 구축 표준 모델로 활용됩니다.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120  ·  143/216</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[144] AI 금융정보 플랫폼 구축 실무 - Module 4: GPT Action Classifier 구현</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유연한 자연어와 엄격한 시스템 코드의 가교</a:t>
            </a:r>
          </a:p>
          <a:p>
            <a:r>
              <a:rPr sz="1100">
                <a:solidFill>
                  <a:srgbClr val="222222"/>
                </a:solidFill>
              </a:rPr>
              <a:t>•  정의: 사용자의 자유로운 자연어 입력을 OpenAI API(gpt-4.1-mini 등)를 통해 분석하여, 시스템이 즉시 실행 가능한 구조화된 JSON 데이터로 변환하는 함수입니다.</a:t>
            </a:r>
          </a:p>
          <a:p>
            <a:r>
              <a:rPr sz="1100">
                <a:solidFill>
                  <a:srgbClr val="222222"/>
                </a:solidFill>
              </a:rPr>
              <a:t>•  핵심 가치: 텍스트에서 단순 키워드 매칭이 아닌 문맥(Context)을 파악하여 action과 params를 추출함으로써, 오타나 다양한 표현 방식에도 견고하게 작동하는 인터페이스를 완성합니다.</a:t>
            </a:r>
          </a:p>
          <a:p>
            <a:pPr>
              <a:spcBef>
                <a:spcPts val="600"/>
              </a:spcBef>
            </a:pPr>
            <a:r>
              <a:rPr sz="1300" b="1">
                <a:solidFill>
                  <a:srgbClr val="2E5984"/>
                </a:solidFill>
              </a:rPr>
              <a:t>2. 아키텍처 (Architecture): 예외 상황에 대비한 'Fail-Safe' 로깅 구조</a:t>
            </a:r>
          </a:p>
          <a:p>
            <a:r>
              <a:rPr sz="1100">
                <a:solidFill>
                  <a:srgbClr val="222222"/>
                </a:solidFill>
              </a:rPr>
              <a:t>•  프로세스: [자연어 수신] → [GPT 분석 요청] → [응답 수신 및 파싱] → [실패 시 Error 로깅].</a:t>
            </a:r>
          </a:p>
          <a:p>
            <a:r>
              <a:rPr sz="1100">
                <a:solidFill>
                  <a:srgbClr val="222222"/>
                </a:solidFill>
              </a:rPr>
              <a:t>•  에러 핸들링: 분석 과정에서 오류 발생 시 try-catch 문을 통해 시스템 중단을 방지하고, CommandLog 시트에 에러 메시지를 기록하여 관리자가 즉시 사후 조치할 수 있도록 설계합니다.</a:t>
            </a:r>
          </a:p>
          <a:p>
            <a:pPr>
              <a:spcBef>
                <a:spcPts val="600"/>
              </a:spcBef>
            </a:pPr>
            <a:r>
              <a:rPr sz="1300" b="1">
                <a:solidFill>
                  <a:srgbClr val="2E5984"/>
                </a:solidFill>
              </a:rPr>
              <a:t>3. 소스코드 (Source Code): analyzeCommandWithGPT_ 및 에러 로깅 구현</a:t>
            </a:r>
          </a:p>
          <a:p>
            <a:r>
              <a:rPr sz="1100">
                <a:solidFill>
                  <a:srgbClr val="222222"/>
                </a:solidFill>
              </a:rPr>
              <a:t>•  핵심 로직: GPT의 응답을 JSON 객체로 변환하여 반환하며, 모든 처리 과정을 로그로 남깁니다.</a:t>
            </a:r>
          </a:p>
          <a:p>
            <a:pPr>
              <a:spcBef>
                <a:spcPts val="600"/>
              </a:spcBef>
            </a:pPr>
            <a:r>
              <a:rPr sz="1300" b="1">
                <a:solidFill>
                  <a:srgbClr val="2E5984"/>
                </a:solidFill>
              </a:rPr>
              <a:t>4. 실습 (Practice): 'CommandLog'를 통한 에러 추적 및 데이터 정합성 검증</a:t>
            </a:r>
          </a:p>
          <a:p>
            <a:r>
              <a:rPr sz="1100">
                <a:solidFill>
                  <a:srgbClr val="222222"/>
                </a:solidFill>
              </a:rPr>
              <a:t>•  과제: 의도적으로 API 키를 잘못 입력하거나 잘못된 JSON 형식을 유도하여, catch 블록 내의 logCommand_('ERROR', ...) 함수가 구글 시트에 에러 원인을 정확히 기록하는지 확인하십시오.</a:t>
            </a:r>
          </a:p>
          <a:p>
            <a:r>
              <a:rPr sz="1100">
                <a:solidFill>
                  <a:srgbClr val="222222"/>
                </a:solidFill>
              </a:rPr>
              <a:t>•  확인 사항: userText가 정상적으로 기록되는지, 그리고 action 필드에 'error'라는 표시가 남는지 시트에서 실시간 모니터링합니다.</a:t>
            </a:r>
          </a:p>
          <a:p>
            <a:pPr>
              <a:spcBef>
                <a:spcPts val="600"/>
              </a:spcBef>
            </a:pPr>
            <a:r>
              <a:rPr sz="1300" b="1">
                <a:solidFill>
                  <a:srgbClr val="2E5984"/>
                </a:solidFill>
              </a:rPr>
              <a:t>5. 확장 (Expansion): tAnalyzer MVP 및 고도화된 기술적 분석으로의 진입</a:t>
            </a:r>
          </a:p>
          <a:p>
            <a:r>
              <a:rPr sz="1100">
                <a:solidFill>
                  <a:srgbClr val="222222"/>
                </a:solidFill>
              </a:rPr>
              <a:t>•  고도화 전략: 이 분류기 구조는 향후 Module 4(tAnalyzer)의 차트 분석 엔진과 연결되며, 사용자가 "삼성전자 차트 그려줘"라고 했을 때 chart_analysis 액션을 정확히 포착하여 코스콤 데이터를 호출하는 기반이 됩니다.</a:t>
            </a:r>
          </a:p>
          <a:p>
            <a:r>
              <a:rPr sz="1100">
                <a:solidFill>
                  <a:srgbClr val="222222"/>
                </a:solidFill>
              </a:rPr>
              <a:t>•  기술적 지향점: 단순 분류를 넘어, 수집된 데이터를 바탕으로 GPT가 직접 리스크 스코어링(Risk Scoring)을 수행하고 이를 시각화하는 에이전틱 AI 시스템으로 진화시킵니다.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121  ·  144/216</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[145] AI 금융정보 플랫폼 구축 실무 - Module 4: GPT Action Classifier (2)</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'말'이 아닌 '데이터(JSON)'로 대화하는 AI</a:t>
            </a:r>
          </a:p>
          <a:p>
            <a:r>
              <a:rPr sz="1100">
                <a:solidFill>
                  <a:srgbClr val="222222"/>
                </a:solidFill>
              </a:rPr>
              <a:t>•  정의: GPT의 응답 형식을 자유로운 텍스트가 아닌, 프로그램이 즉시 파싱할 수 있는 JSON 객체(JSON Object)로 고정하는 기술입니다(,).</a:t>
            </a:r>
          </a:p>
          <a:p>
            <a:r>
              <a:rPr sz="1100">
                <a:solidFill>
                  <a:srgbClr val="222222"/>
                </a:solidFill>
              </a:rPr>
              <a:t>•  핵심 가치: "네, 시장 브리핑을 준비하겠습니다"와 같은 불필요한 서술어를 제거하고, 오직 { "action": "..." } 형태의 데이터만 수신함으로써 시스템의 연동 안정성을 극대화합니다(,).</a:t>
            </a:r>
          </a:p>
          <a:p>
            <a:pPr>
              <a:spcBef>
                <a:spcPts val="600"/>
              </a:spcBef>
            </a:pPr>
            <a:r>
              <a:rPr sz="1300" b="1">
                <a:solidFill>
                  <a:srgbClr val="2E5984"/>
                </a:solidFill>
              </a:rPr>
              <a:t>2. 아키텍처 (Architecture): JSON 스키마를 활용한 출력 통제 구조</a:t>
            </a:r>
          </a:p>
          <a:p>
            <a:r>
              <a:rPr sz="1100">
                <a:solidFill>
                  <a:srgbClr val="222222"/>
                </a:solidFill>
              </a:rPr>
              <a:t>•  데이터 명세: GPT에게 전달할 '출력 형식(Output Format)'을 프롬프트와 API 파라미터에 명시하여 응답의 구조를 강제합니다(,).</a:t>
            </a:r>
          </a:p>
          <a:p>
            <a:r>
              <a:rPr sz="1100">
                <a:solidFill>
                  <a:srgbClr val="222222"/>
                </a:solidFill>
              </a:rPr>
              <a:t>•  통신 레이어: [Apps Script UrlFetchApp] → [OpenAI API (POST)] → [JSON Response] → [JSON.parse] → [Action Dispatcher 전달](,).</a:t>
            </a:r>
          </a:p>
          <a:p>
            <a:pPr>
              <a:spcBef>
                <a:spcPts val="600"/>
              </a:spcBef>
            </a:pPr>
            <a:r>
              <a:rPr sz="1300" b="1">
                <a:solidFill>
                  <a:srgbClr val="2E5984"/>
                </a:solidFill>
              </a:rPr>
              <a:t>3. 소스코드 (Source Code): JSON 스키마 정의 및 API 호출 로직</a:t>
            </a:r>
          </a:p>
          <a:p>
            <a:r>
              <a:rPr sz="1100">
                <a:solidFill>
                  <a:srgbClr val="222222"/>
                </a:solidFill>
              </a:rPr>
              <a:t>•  핵심 로직: json_object 포맷을 지정하고, 수신된 텍스트를 객체로 변환하여 반환합니다(,).</a:t>
            </a:r>
          </a:p>
          <a:p>
            <a:pPr>
              <a:spcBef>
                <a:spcPts val="600"/>
              </a:spcBef>
            </a:pPr>
            <a:r>
              <a:rPr sz="1300" b="1">
                <a:solidFill>
                  <a:srgbClr val="2E5984"/>
                </a:solidFill>
              </a:rPr>
              <a:t>4. 실습 (Practice): 'JSON 모드' 활성화 및 응답 데이터 무결성 테스트</a:t>
            </a:r>
          </a:p>
          <a:p>
            <a:r>
              <a:rPr sz="1100">
                <a:solidFill>
                  <a:srgbClr val="222222"/>
                </a:solidFill>
              </a:rPr>
              <a:t>•  과제: API 호출 시 response_format: { type: "json_object" } 옵션을 적용하고, "환율 리스크 점검해줘"라고 입력했을 때 반환되는 값이 정확한 JSON 구조를 유지하는지 로그를 통해 확인하십시오(,).</a:t>
            </a:r>
          </a:p>
          <a:p>
            <a:r>
              <a:rPr sz="1100">
                <a:solidFill>
                  <a:srgbClr val="222222"/>
                </a:solidFill>
              </a:rPr>
              <a:t>•  확인 사항: GPT가 반환한 jsonText에 따옴표 누락이나 형식 오류가 없어 JSON.parse() 과정에서 에러가 발생하지 않는지 점검합니다.</a:t>
            </a:r>
          </a:p>
          <a:p>
            <a:pPr>
              <a:spcBef>
                <a:spcPts val="600"/>
              </a:spcBef>
            </a:pPr>
            <a:r>
              <a:rPr sz="1300" b="1">
                <a:solidFill>
                  <a:srgbClr val="2E5984"/>
                </a:solidFill>
              </a:rPr>
              <a:t>5. 확장 (Expansion): 복합 파라미터 추출을 통한 '멀티 태스킹' 지원</a:t>
            </a:r>
          </a:p>
          <a:p>
            <a:r>
              <a:rPr sz="1100">
                <a:solidFill>
                  <a:srgbClr val="222222"/>
                </a:solidFill>
              </a:rPr>
              <a:t>•  고도화 전략: params 내에 start_date, end_date, indicator 등 상세 필드를 추가하여, "지난주부터 오늘까지 삼성전자 차트와 뉴스 요약해줘"와 같은 복합 명령에서 여러 개의 변수를 동시에 추출하도록 확장합니다(,).</a:t>
            </a:r>
          </a:p>
          <a:p>
            <a:r>
              <a:rPr sz="1100">
                <a:solidFill>
                  <a:srgbClr val="222222"/>
                </a:solidFill>
              </a:rPr>
              <a:t>•  기술적 지향점: 이 정교한 분류 체계는 향후 Module 12(AI 금융비서)에서 사용자의 사소한 뉘앙스 변화까지 읽어내어 적절한 금융 도구를 호출하는 '에이전틱 지능'의 기초가 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122  ·  145/216</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[146] AI 금융정보 플랫폼 구축 실무 - Module 8: Action별 래퍼 함수 구현</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액션과 비즈니스 로직을 잇는 '서비스 레이어'</a:t>
            </a:r>
          </a:p>
          <a:p>
            <a:r>
              <a:rPr sz="1100">
                <a:solidFill>
                  <a:srgbClr val="222222"/>
                </a:solidFill>
              </a:rPr>
              <a:t>•  정의: GPT가 결정한 action에 따라 실제 데이터 수집 함수와 분석 프롬프트를 호출하고, 그 결과물을 텔레그램 메시지 형식으로 가공하여 반환하는 실행 전담 함수들입니다.</a:t>
            </a:r>
          </a:p>
          <a:p>
            <a:r>
              <a:rPr sz="1100">
                <a:solidFill>
                  <a:srgbClr val="222222"/>
                </a:solidFill>
              </a:rPr>
              <a:t>•  핵심 가치: 복잡한 내부 로직(데이터베이스 조회, API 호출 등)을 캡슐화하여, 메인 엔진(doPost)은 어떤 액션이든 동일한 방식으로 결과를 받아볼 수 있게 합니다.</a:t>
            </a:r>
          </a:p>
          <a:p>
            <a:pPr>
              <a:spcBef>
                <a:spcPts val="600"/>
              </a:spcBef>
            </a:pPr>
            <a:r>
              <a:rPr sz="1300" b="1">
                <a:solidFill>
                  <a:srgbClr val="2E5984"/>
                </a:solidFill>
              </a:rPr>
              <a:t>2. 아키텍처 (Architecture): 모듈형 실행 및 결과 반환 구조</a:t>
            </a:r>
          </a:p>
          <a:p>
            <a:r>
              <a:rPr sz="1100">
                <a:solidFill>
                  <a:srgbClr val="222222"/>
                </a:solidFill>
              </a:rPr>
              <a:t>•  제어 흐름: [switch(action) 분기] → [Action별 래퍼 함수(run*)] → [데이터 확보 및 GPT 분석] → [최종 메시지 문자열(String) 반환].</a:t>
            </a:r>
          </a:p>
          <a:p>
            <a:r>
              <a:rPr sz="1100">
                <a:solidFill>
                  <a:srgbClr val="222222"/>
                </a:solidFill>
              </a:rPr>
              <a:t>•  구조적 특징: 각 함수는 params 객체를 인자로 받아 사용자가 입력한 특정 종목이나 키워드에 맞춤화된 결과를 생성합니다.</a:t>
            </a:r>
          </a:p>
          <a:p>
            <a:pPr>
              <a:spcBef>
                <a:spcPts val="600"/>
              </a:spcBef>
            </a:pPr>
            <a:r>
              <a:rPr sz="1300" b="1">
                <a:solidFill>
                  <a:srgbClr val="2E5984"/>
                </a:solidFill>
              </a:rPr>
              <a:t>3. 소스코드 (Source Code): 주요 액션별 실행 함수 정의</a:t>
            </a:r>
          </a:p>
          <a:p>
            <a:r>
              <a:rPr sz="1100">
                <a:solidFill>
                  <a:srgbClr val="222222"/>
                </a:solidFill>
              </a:rPr>
              <a:t>•  핵심 로직: 각 액션에 대응하는 표준 래퍼 함수들의 초기 구현 형태입니다.</a:t>
            </a:r>
          </a:p>
          <a:p>
            <a:pPr>
              <a:spcBef>
                <a:spcPts val="600"/>
              </a:spcBef>
            </a:pPr>
            <a:r>
              <a:rPr sz="1300" b="1">
                <a:solidFill>
                  <a:srgbClr val="2E5984"/>
                </a:solidFill>
              </a:rPr>
              <a:t>4. 실습 (Practice): 개별 래퍼 함수 수동 실행 및 리턴값 확인</a:t>
            </a:r>
          </a:p>
          <a:p>
            <a:r>
              <a:rPr sz="1100">
                <a:solidFill>
                  <a:srgbClr val="222222"/>
                </a:solidFill>
              </a:rPr>
              <a:t>•  과제: Apps Script 편집기 상단에서 runMorningPatrol_ 함수를 선택하고 실행한 뒤, 로그창에 "시장 브리핑을 실행했습니다. 키워드: 전체 시장"이라는 메시지가 정상적으로 출력되는지 확인하십시오.</a:t>
            </a:r>
          </a:p>
          <a:p>
            <a:r>
              <a:rPr sz="1100">
                <a:solidFill>
                  <a:srgbClr val="222222"/>
                </a:solidFill>
              </a:rPr>
              <a:t>•  확인 사항: params에 { keyword: "삼성전자" }를 전달했을 때 리턴 메시지의 키워드 부분이 동적으로 변경되는지 점검합니다.</a:t>
            </a:r>
          </a:p>
          <a:p>
            <a:pPr>
              <a:spcBef>
                <a:spcPts val="600"/>
              </a:spcBef>
            </a:pPr>
            <a:r>
              <a:rPr sz="1300" b="1">
                <a:solidFill>
                  <a:srgbClr val="2E5984"/>
                </a:solidFill>
              </a:rPr>
              <a:t>5. 확장 (Expansion): 'Mock' 응답에서 '데이터 기반' 지능형 리포트로의 진화</a:t>
            </a:r>
          </a:p>
          <a:p>
            <a:r>
              <a:rPr sz="1100">
                <a:solidFill>
                  <a:srgbClr val="222222"/>
                </a:solidFill>
              </a:rPr>
              <a:t>•  고도화 전략: 현재의 단순 문자열 반환(Mock) 형태를 넘어, 내부에서 getKoscomMarketData_()나 getEcosData_()를 호출하고 이를 askGPT_()에 전달하는 실제 분석 파이프라인으로 교체합니다.</a:t>
            </a:r>
          </a:p>
          <a:p>
            <a:r>
              <a:rPr sz="1100">
                <a:solidFill>
                  <a:srgbClr val="222222"/>
                </a:solidFill>
              </a:rPr>
              <a:t>•  실무 적용: 이 단계가 완료되면 사용자는 텔레그램 한 줄 명령만으로 "미국증시, 금리, 환율, 원자재"를 종합 분석한 고품질의 에이전틱 AI 리포트를 실시간으로 받아볼 수 있게 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123  ·  146/216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[147] AI 금융정보 플랫폼 구축 실무 - Module 5: 유틸리티 함수 구현</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시스템의 '친절함'과 '기억력'을 담당하는 지원 도구</a:t>
            </a:r>
          </a:p>
          <a:p>
            <a:r>
              <a:rPr sz="1100">
                <a:solidFill>
                  <a:srgbClr val="222222"/>
                </a:solidFill>
              </a:rPr>
              <a:t>•  도움말(Help): 사용자가 어떤 명령을 내릴 수 있는지 안내하여 시스템 활용도를 높이는 가이드 기능입니다.</a:t>
            </a:r>
          </a:p>
          <a:p>
            <a:r>
              <a:rPr sz="1100">
                <a:solidFill>
                  <a:srgbClr val="222222"/>
                </a:solidFill>
              </a:rPr>
              <a:t>•  메시지 발송(Send): 분석 결과를 텔레그램 API 규격에 맞춰 사용자에게 안전하게 전달하는 통신 수단입니다.</a:t>
            </a:r>
          </a:p>
          <a:p>
            <a:r>
              <a:rPr sz="1100">
                <a:solidFill>
                  <a:srgbClr val="222222"/>
                </a:solidFill>
              </a:rPr>
              <a:t>•  로그 기록(Log): 모든 명령과 처리 결과를 구글 시트에 적재하여 시스템 운영 상태를 모니터링하고 사후 진단을 가능케 하는 '블랙박스'입니다.</a:t>
            </a:r>
          </a:p>
          <a:p>
            <a:pPr>
              <a:spcBef>
                <a:spcPts val="600"/>
              </a:spcBef>
            </a:pPr>
            <a:r>
              <a:rPr sz="1300" b="1">
                <a:solidFill>
                  <a:srgbClr val="2E5984"/>
                </a:solidFill>
              </a:rPr>
              <a:t>2. 아키텍처 (Architecture): 피드백 및 모니터링 레이어 구조</a:t>
            </a:r>
          </a:p>
          <a:p>
            <a:r>
              <a:rPr sz="1100">
                <a:solidFill>
                  <a:srgbClr val="222222"/>
                </a:solidFill>
              </a:rPr>
              <a:t>•  통신 흐름: [분석 결과 생성] → [sendTelegramMessage_ 호출] → [Telegram API 전송] → [사용자 확인].</a:t>
            </a:r>
          </a:p>
          <a:p>
            <a:r>
              <a:rPr sz="1100">
                <a:solidFill>
                  <a:srgbClr val="222222"/>
                </a:solidFill>
              </a:rPr>
              <a:t>•  데이터 적재: [Action 실행 완료] → [logCommand_ 호출] → [CommandLog 시트 행 추가] → [운영자 모니터링].</a:t>
            </a:r>
          </a:p>
          <a:p>
            <a:pPr>
              <a:spcBef>
                <a:spcPts val="600"/>
              </a:spcBef>
            </a:pPr>
            <a:r>
              <a:rPr sz="1300" b="1">
                <a:solidFill>
                  <a:srgbClr val="2E5984"/>
                </a:solidFill>
              </a:rPr>
              <a:t>3. 소스코드 (Source Code): getHelpMessage_, sendTelegramMessage_, logCommand_</a:t>
            </a:r>
          </a:p>
          <a:p>
            <a:r>
              <a:rPr sz="1100">
                <a:solidFill>
                  <a:srgbClr val="222222"/>
                </a:solidFill>
              </a:rPr>
              <a:t>•  핵심 로직: 시스템의 안정적 운영을 위한 표준 지원 함수들입니다.</a:t>
            </a:r>
          </a:p>
          <a:p>
            <a:pPr>
              <a:spcBef>
                <a:spcPts val="600"/>
              </a:spcBef>
            </a:pPr>
            <a:r>
              <a:rPr sz="1300" b="1">
                <a:solidFill>
                  <a:srgbClr val="2E5984"/>
                </a:solidFill>
              </a:rPr>
              <a:t>4. 실습 (Practice): '도움말' 호출 및 'CommandLog' 기록 정합성 테스트</a:t>
            </a:r>
          </a:p>
          <a:p>
            <a:r>
              <a:rPr sz="1100">
                <a:solidFill>
                  <a:srgbClr val="222222"/>
                </a:solidFill>
              </a:rPr>
              <a:t>•  과제 1: 텔레그램에서 "도움말" 또는 "help"를 입력하여 시스템이 미리 정의된 가이드 메시지를 정상적으로 회신하는지 확인하십시오.</a:t>
            </a:r>
          </a:p>
          <a:p>
            <a:r>
              <a:rPr sz="1100">
                <a:solidFill>
                  <a:srgbClr val="222222"/>
                </a:solidFill>
              </a:rPr>
              <a:t>•  과제 2: 구글 시트의 CommandLog 탭을 열고, 방금 수행한 '도움말' 요청이 시간 | 사용자메시지 | help | {} | 도움말 메시지 내용 순으로 정확히 기록되었는지 점검하십시오.</a:t>
            </a:r>
          </a:p>
          <a:p>
            <a:pPr>
              <a:spcBef>
                <a:spcPts val="600"/>
              </a:spcBef>
            </a:pPr>
            <a:r>
              <a:rPr sz="1300" b="1">
                <a:solidFill>
                  <a:srgbClr val="2E5984"/>
                </a:solidFill>
              </a:rPr>
              <a:t>5. 확장 (Expansion): 리스크 알림(Alert) 및 데이터베이스(DB) 확장</a:t>
            </a:r>
          </a:p>
          <a:p>
            <a:r>
              <a:rPr sz="1100">
                <a:solidFill>
                  <a:srgbClr val="222222"/>
                </a:solidFill>
              </a:rPr>
              <a:t>•  고도화 전략: 단순히 로그를 남기는 것을 넘어, logCommand_ 함수에 리스크 등급 필터를 추가하여 HIGH 등급 이상의 결과가 기록될 때 관리자에게 즉시 '긴급 알림'을 발송하도록 확장합니다.</a:t>
            </a:r>
          </a:p>
          <a:p>
            <a:r>
              <a:rPr sz="1100">
                <a:solidFill>
                  <a:srgbClr val="222222"/>
                </a:solidFill>
              </a:rPr>
              <a:t>•  기술 적용: 향후 데이터가 방대해질 경우 구글 시트의 행 제한을 극복하기 위해 PostgreSQL과 같은 관계형 데이터베이스로 로그 레이어를 교체하여 대규모 AI 금융정보 플랫폼 운영 인프라를 구축합니다.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124  ·  147/216</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[148] AI 금융정보 플랫폼 구축 실무 - Module 8: 공통 GPT 호출 함수 askGPT_</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분석 엔진의 '표준화'와 코드 재사용성 극대화</a:t>
            </a:r>
          </a:p>
          <a:p>
            <a:r>
              <a:rPr sz="1100">
                <a:solidFill>
                  <a:srgbClr val="222222"/>
                </a:solidFill>
              </a:rPr>
              <a:t>•  정의: 시장 브리핑, 뉴스 요약, 리스크 점검 등 다양한 분석 액션에서 공통으로 사용되는 OpenAI API 호출 로직을 하나의 함수로 모듈화한 핵심 엔진입니다.</a:t>
            </a:r>
          </a:p>
          <a:p>
            <a:r>
              <a:rPr sz="1100">
                <a:solidFill>
                  <a:srgbClr val="222222"/>
                </a:solidFill>
              </a:rPr>
              <a:t>•  핵심 가치: 개별 함수마다 복잡한 API 호출 코드를 중복 작성할 필요 없이, '시스템 프롬프트'와 '사용자 데이터'만 전달하면 즉시 분석 결과가 반환되는 간결한 개발 환경을 제공합니다.</a:t>
            </a:r>
          </a:p>
          <a:p>
            <a:pPr>
              <a:spcBef>
                <a:spcPts val="600"/>
              </a:spcBef>
            </a:pPr>
            <a:r>
              <a:rPr sz="1300" b="1">
                <a:solidFill>
                  <a:srgbClr val="2E5984"/>
                </a:solidFill>
              </a:rPr>
              <a:t>2. 아키텍처 (Architecture): 중앙 집중형 분석 파이프라인 구조</a:t>
            </a:r>
          </a:p>
          <a:p>
            <a:r>
              <a:rPr sz="1100">
                <a:solidFill>
                  <a:srgbClr val="222222"/>
                </a:solidFill>
              </a:rPr>
              <a:t>•  제어 흐름: [Action Wrapper] → [askGPT_ 호출] → [UrlFetchApp 통신] → [OpenAI API] → [JSON 응답 파싱] → [텍스트 결과 반환].</a:t>
            </a:r>
          </a:p>
          <a:p>
            <a:r>
              <a:rPr sz="1100">
                <a:solidFill>
                  <a:srgbClr val="222222"/>
                </a:solidFill>
              </a:rPr>
              <a:t>•  구성 요소: API 인증 헤더(Bearer Token), 모델 설정(gpt-4o-mini), 창의성 제어(Temperature: 0.3) 등 안정적인 금융 분석에 최적화된 파라미터를 고정하여 운영합니다.</a:t>
            </a:r>
          </a:p>
          <a:p>
            <a:pPr>
              <a:spcBef>
                <a:spcPts val="600"/>
              </a:spcBef>
            </a:pPr>
            <a:r>
              <a:rPr sz="1300" b="1">
                <a:solidFill>
                  <a:srgbClr val="2E5984"/>
                </a:solidFill>
              </a:rPr>
              <a:t>3. 소스코드 (Source Code): 표준 askGPT_ 엔진 구현</a:t>
            </a:r>
          </a:p>
          <a:p>
            <a:r>
              <a:rPr sz="1100">
                <a:solidFill>
                  <a:srgbClr val="222222"/>
                </a:solidFill>
              </a:rPr>
              <a:t>•  핵심 로직: UrlFetchApp을 사용하여 OpenAI의 채팅 컴플리션 API와 통신합니다.</a:t>
            </a:r>
          </a:p>
          <a:p>
            <a:pPr>
              <a:spcBef>
                <a:spcPts val="600"/>
              </a:spcBef>
            </a:pPr>
            <a:r>
              <a:rPr sz="1300" b="1">
                <a:solidFill>
                  <a:srgbClr val="2E5984"/>
                </a:solidFill>
              </a:rPr>
              <a:t>4. 실습 (Practice): '전문가 페르소나' 주입 및 응답 결과 검증</a:t>
            </a:r>
          </a:p>
          <a:p>
            <a:r>
              <a:rPr sz="1100">
                <a:solidFill>
                  <a:srgbClr val="222222"/>
                </a:solidFill>
              </a:rPr>
              <a:t>•  과제: Apps Script 실행창에서 askGPT_("당신은 전문 애널리스트이다.", "삼성전자의 미래 전망을 한 줄로 요약하라.")를 실행하고 로그창에 결과가 출력되는지 확인하십시오.</a:t>
            </a:r>
          </a:p>
          <a:p>
            <a:r>
              <a:rPr sz="1100">
                <a:solidFill>
                  <a:srgbClr val="222222"/>
                </a:solidFill>
              </a:rPr>
              <a:t>•  확인 사항: API 키가 정상적으로 연동되어 오류 없이 텍스트 응답이 수신되는지, temperature 설정에 따라 답변이 얼마나 일관성 있게 나오는지 점검합니다.</a:t>
            </a:r>
          </a:p>
          <a:p>
            <a:pPr>
              <a:spcBef>
                <a:spcPts val="600"/>
              </a:spcBef>
            </a:pPr>
            <a:r>
              <a:rPr sz="1300" b="1">
                <a:solidFill>
                  <a:srgbClr val="2E5984"/>
                </a:solidFill>
              </a:rPr>
              <a:t>5. 확장 (Expansion): 모델 오케스트레이션 및 동적 파라미터 제어</a:t>
            </a:r>
          </a:p>
          <a:p>
            <a:r>
              <a:rPr sz="1100">
                <a:solidFill>
                  <a:srgbClr val="222222"/>
                </a:solidFill>
              </a:rPr>
              <a:t>•  고도화 전략: 분석의 복잡도에 따라 gpt-4o-mini(속도 중시)와 gpt-4o(품질 중시)를 자동으로 전환하는 모델 라우팅 로직을 추가할 수 있습니다.</a:t>
            </a:r>
          </a:p>
          <a:p>
            <a:r>
              <a:rPr sz="1100">
                <a:solidFill>
                  <a:srgbClr val="222222"/>
                </a:solidFill>
              </a:rPr>
              <a:t>•  실무 적용: 이 공통 함수는 향후 Module 12(최종 프로젝트)에서 수십 개의 분석 에이전트들이 동시에 호출하는 '두뇌' 역할을 수행하며, logCommand_와 결합하여 API 사용량과 비용을 통합 관리하는 기반이 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125  ·  148/216</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[149] AI 금융정보 플랫폼 구축 실무 - market_briefing 및 코스콤 데이터 수집</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글로벌 투자 전략가의 시각으로 시장을 읽다</a:t>
            </a:r>
          </a:p>
          <a:p>
            <a:r>
              <a:rPr sz="1100">
                <a:solidFill>
                  <a:srgbClr val="222222"/>
                </a:solidFill>
              </a:rPr>
              <a:t>•  market_briefing: GPT에게 '글로벌 투자 전략가'라는 전문 페르소나를 부여하고, 수집된 거시 지표를 바탕으로 시장의 흐름을 요약하는 핵심 액션입니다.</a:t>
            </a:r>
          </a:p>
          <a:p>
            <a:r>
              <a:rPr sz="1100">
                <a:solidFill>
                  <a:srgbClr val="222222"/>
                </a:solidFill>
              </a:rPr>
              <a:t>•  데이터 확보: 코스콤 API(getKoscomMarketData_)를 통해 코스피, 코스닥, 환율, 채권 등 실시간 시장 개황 데이터를 확보하여 분석의 객관성을 담보합니다.</a:t>
            </a:r>
          </a:p>
          <a:p>
            <a:pPr>
              <a:spcBef>
                <a:spcPts val="600"/>
              </a:spcBef>
            </a:pPr>
            <a:r>
              <a:rPr sz="1300" b="1">
                <a:solidFill>
                  <a:srgbClr val="2E5984"/>
                </a:solidFill>
              </a:rPr>
              <a:t>2. 아키텍처 (Architecture): 액션 실행 및 외부 데이터 통합 구조</a:t>
            </a:r>
          </a:p>
          <a:p>
            <a:r>
              <a:rPr sz="1100">
                <a:solidFill>
                  <a:srgbClr val="222222"/>
                </a:solidFill>
              </a:rPr>
              <a:t>•  분석 워크플로우: [사용자 명령] → [runMarketBriefing_ 호출] → [코스콤 데이터 수집] → [askGPT_ 분석] → [종합 리포트 생성].</a:t>
            </a:r>
          </a:p>
          <a:p>
            <a:r>
              <a:rPr sz="1100">
                <a:solidFill>
                  <a:srgbClr val="222222"/>
                </a:solidFill>
              </a:rPr>
              <a:t>•  데이터 매핑: 코스콤 API 응답(KOSPI, Change 등)이 GPT 프롬프트 내에 데이터로 주입되어, 단순한 텍스트 생성이 아닌 '팩트 기반의 금융 브리핑'을 수행합니다.</a:t>
            </a:r>
          </a:p>
          <a:p>
            <a:pPr>
              <a:spcBef>
                <a:spcPts val="600"/>
              </a:spcBef>
            </a:pPr>
            <a:r>
              <a:rPr sz="1300" b="1">
                <a:solidFill>
                  <a:srgbClr val="2E5984"/>
                </a:solidFill>
              </a:rPr>
              <a:t>3. 소스코드 (Source Code): 시장 브리핑 함수 및 코스콤 데이터 수집 로직</a:t>
            </a:r>
          </a:p>
          <a:p>
            <a:r>
              <a:rPr sz="1100">
                <a:solidFill>
                  <a:srgbClr val="222222"/>
                </a:solidFill>
              </a:rPr>
              <a:t>•  핵심 로직: 페르소나 설정과 외부 API 호출부의 결합입니다.</a:t>
            </a:r>
          </a:p>
          <a:p>
            <a:pPr>
              <a:spcBef>
                <a:spcPts val="600"/>
              </a:spcBef>
            </a:pPr>
            <a:r>
              <a:rPr sz="1300" b="1">
                <a:solidFill>
                  <a:srgbClr val="2E5984"/>
                </a:solidFill>
              </a:rPr>
              <a:t>4. 실습 (Practice): 코스콤 데이터 수신 및 JSON 반환값 확인</a:t>
            </a:r>
          </a:p>
          <a:p>
            <a:r>
              <a:rPr sz="1100">
                <a:solidFill>
                  <a:srgbClr val="222222"/>
                </a:solidFill>
              </a:rPr>
              <a:t>•  과제: getKoscomMarketData_() 함수를 단독 실행하고, 로그창에 {"kospi": 2950.25, "change": 0.85, ...}와 같은 실제 시장 지수가 정상적으로 수신되는지 확인하십시오.</a:t>
            </a:r>
          </a:p>
          <a:p>
            <a:r>
              <a:rPr sz="1100">
                <a:solidFill>
                  <a:srgbClr val="222222"/>
                </a:solidFill>
              </a:rPr>
              <a:t>•  확인 사항: API 호출 시 헤더에 Authorization 정보가 정확히 전달되어 '401 Unauthorized' 에러 없이 데이터를 가져오는지 점검합니다.</a:t>
            </a:r>
          </a:p>
          <a:p>
            <a:pPr>
              <a:spcBef>
                <a:spcPts val="600"/>
              </a:spcBef>
            </a:pPr>
            <a:r>
              <a:rPr sz="1300" b="1">
                <a:solidFill>
                  <a:srgbClr val="2E5984"/>
                </a:solidFill>
              </a:rPr>
              <a:t>5. 확장 (Expansion): 실시간 모니터링 및 멀티 소스 분석 고도화</a:t>
            </a:r>
          </a:p>
          <a:p>
            <a:r>
              <a:rPr sz="1100">
                <a:solidFill>
                  <a:srgbClr val="222222"/>
                </a:solidFill>
              </a:rPr>
              <a:t>•  고도화 전략: 단순히 요청 시에만 데이터를 가져오는 것을 넘어, APScheduler와 연계하여 오전 7시마다 코스콤 데이터를 수집하고 GPT 브리핑을 생성하여 자동 알림을 보내도록 확장합니다.</a:t>
            </a:r>
          </a:p>
          <a:p>
            <a:r>
              <a:rPr sz="1100">
                <a:solidFill>
                  <a:srgbClr val="222222"/>
                </a:solidFill>
              </a:rPr>
              <a:t>•  기술 적용: 코스콤 지수 외에도 뉴스(getNewsData_)와 ECOS 지표(getEcosData_)를 하나의 프롬프트에 결합함으로써, 거시 경제 상황과 뉴스 이슈가 반영된 '입체적 시장 리포트'로 진화시킵니다.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126  ·  149/216</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[150] AI 금융정보 플랫폼 구축 실무 - news_summary 및 뉴스 데이터 수집</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정보의 홍수 속에서 핵심만 짚어내는 'AI 편집장'</a:t>
            </a:r>
          </a:p>
          <a:p>
            <a:r>
              <a:rPr sz="1100">
                <a:solidFill>
                  <a:srgbClr val="222222"/>
                </a:solidFill>
              </a:rPr>
              <a:t>•  news_summary: GPT에게 '경제뉴스 편집장'이라는 페르소나를 부여하여, 방대한 뉴스 데이터 중 사용자가 원하는 주제의 핵심을 3줄 요약하고 투자 영향을 분석하는 기능입니다.</a:t>
            </a:r>
          </a:p>
          <a:p>
            <a:r>
              <a:rPr sz="1100">
                <a:solidFill>
                  <a:srgbClr val="222222"/>
                </a:solidFill>
              </a:rPr>
              <a:t>•  뉴스 데이터 확보: NewsAPI와 같은 외부 서비스를 통해 실시간 뉴스를 수집하며, 검색 키워드(params.keyword)를 동적으로 반영하여 맞춤형 정보를 제공합니다.</a:t>
            </a:r>
          </a:p>
          <a:p>
            <a:pPr>
              <a:spcBef>
                <a:spcPts val="600"/>
              </a:spcBef>
            </a:pPr>
            <a:r>
              <a:rPr sz="1300" b="1">
                <a:solidFill>
                  <a:srgbClr val="2E5984"/>
                </a:solidFill>
              </a:rPr>
              <a:t>2. 아키텍처 (Architecture): 키워드 기반 뉴스 필터링 및 요약 구조</a:t>
            </a:r>
          </a:p>
          <a:p>
            <a:r>
              <a:rPr sz="1100">
                <a:solidFill>
                  <a:srgbClr val="222222"/>
                </a:solidFill>
              </a:rPr>
              <a:t>•  데이터 흐름: [사용자 키워드 입력] → [runNewsSummary_ 실행] → [getNewsData_(keyword) 호출] → [JSON 데이터 수신] → [GPT 3단계 요약] → [최종 브리핑 결과 반환].</a:t>
            </a:r>
          </a:p>
          <a:p>
            <a:r>
              <a:rPr sz="1100">
                <a:solidFill>
                  <a:srgbClr val="222222"/>
                </a:solidFill>
              </a:rPr>
              <a:t>•  요약 형식: GPT는 단순히 내용을 줄이는 것이 아니라 '3줄 요약 - 핵심 이슈 - 투자 영향'이라는 정해진 형식을 엄격히 준수하여 리포트의 가독성을 높입니다.</a:t>
            </a:r>
          </a:p>
          <a:p>
            <a:pPr>
              <a:spcBef>
                <a:spcPts val="600"/>
              </a:spcBef>
            </a:pPr>
            <a:r>
              <a:rPr sz="1300" b="1">
                <a:solidFill>
                  <a:srgbClr val="2E5984"/>
                </a:solidFill>
              </a:rPr>
              <a:t>3. 소스코드 (Source Code): 뉴스 요약 및 API 연동 핵심 로직</a:t>
            </a:r>
          </a:p>
          <a:p>
            <a:r>
              <a:rPr sz="1100">
                <a:solidFill>
                  <a:srgbClr val="222222"/>
                </a:solidFill>
              </a:rPr>
              <a:t>•  핵심 로직: 뉴스 데이터를 가져와 GPT 엔진(askGPT_)에게 전달하는 구조입니다.</a:t>
            </a:r>
          </a:p>
          <a:p>
            <a:pPr>
              <a:spcBef>
                <a:spcPts val="600"/>
              </a:spcBef>
            </a:pPr>
            <a:r>
              <a:rPr sz="1300" b="1">
                <a:solidFill>
                  <a:srgbClr val="2E5984"/>
                </a:solidFill>
              </a:rPr>
              <a:t>4. 실습 (Practice): '삼성전자' 키워드 전달 및 JSON 파싱 결과 검증</a:t>
            </a:r>
          </a:p>
          <a:p>
            <a:r>
              <a:rPr sz="1100">
                <a:solidFill>
                  <a:srgbClr val="222222"/>
                </a:solidFill>
              </a:rPr>
              <a:t>•  과제: 사용자가 "삼성전자 뉴스 요약해줘"라고 입력했을 때, getNewsData_("삼성전자") 함수가 반환하는 데이터가 [{ "title": "...", "source": "..." }, ...]와 같은 배열 형태인지 확인하십시오.</a:t>
            </a:r>
          </a:p>
          <a:p>
            <a:r>
              <a:rPr sz="1100">
                <a:solidFill>
                  <a:srgbClr val="222222"/>
                </a:solidFill>
              </a:rPr>
              <a:t>•  확인 사항: encodeURIComponent를 통해 한글 키워드가 API URL 내에서 깨지지 않고 정상적으로 전달되는지 점검합니다.</a:t>
            </a:r>
          </a:p>
          <a:p>
            <a:pPr>
              <a:spcBef>
                <a:spcPts val="600"/>
              </a:spcBef>
            </a:pPr>
            <a:r>
              <a:rPr sz="1300" b="1">
                <a:solidFill>
                  <a:srgbClr val="2E5984"/>
                </a:solidFill>
              </a:rPr>
              <a:t>5. 확장 (Expansion): 뉴스 메모리(RAG) 구축 및 감성 분석(Sentiment)</a:t>
            </a:r>
          </a:p>
          <a:p>
            <a:r>
              <a:rPr sz="1100">
                <a:solidFill>
                  <a:srgbClr val="222222"/>
                </a:solidFill>
              </a:rPr>
              <a:t>•  고도화 전략: 수집된 뉴스를 단순히 요약하는 데 그치지 않고, ChromaDB 기반의 뉴스 메모리(news_memory)에 저장하여 과거 유사 사례와 비교 분석하는 RAG(검색 증강 생성) 시스템으로 확장합니다.</a:t>
            </a:r>
          </a:p>
          <a:p>
            <a:r>
              <a:rPr sz="1100">
                <a:solidFill>
                  <a:srgbClr val="222222"/>
                </a:solidFill>
              </a:rPr>
              <a:t>•  기술 적용: 각 뉴스 제목에 대해 GPT가 긍정/부정/중립 점수를 매기게 하여, 해당 종목이나 섹터의 현재 심리 지수(Sentiment Index)를 리포트에 추가함으로써 데이터의 입체감을 더합니다.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127  ·  150/216</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[151] AI 금융정보 플랫폼 구축 실무 - risk_check, macro_report 및 ECOS 연동</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거시적 위협 진단과 Top-Down 투자 전략</a:t>
            </a:r>
          </a:p>
          <a:p>
            <a:r>
              <a:rPr sz="1100">
                <a:solidFill>
                  <a:srgbClr val="222222"/>
                </a:solidFill>
              </a:rPr>
              <a:t>•  risk_check: GPT에게 '금융 리스크 분석가' 페르소나를 부여하여 금리, 환율, 유동성, 지정학적 리스크를 종합 진단하는 기능입니다.</a:t>
            </a:r>
          </a:p>
          <a:p>
            <a:r>
              <a:rPr sz="1100">
                <a:solidFill>
                  <a:srgbClr val="222222"/>
                </a:solidFill>
              </a:rPr>
              <a:t>•  macro_report: '매크로 이코노미스트'의 시각에서 경기 흐름과 정책 시사점을 도출하며, 한국은행 ECOS API를 통해 신뢰할 수 있는 통계 데이터를 확보합니다.</a:t>
            </a:r>
          </a:p>
          <a:p>
            <a:pPr>
              <a:spcBef>
                <a:spcPts val="600"/>
              </a:spcBef>
            </a:pPr>
            <a:r>
              <a:rPr sz="1300" b="1">
                <a:solidFill>
                  <a:srgbClr val="2E5984"/>
                </a:solidFill>
              </a:rPr>
              <a:t>2. 아키텍처 (Architecture): 거시 지표 기반의 하향식(Top-Down) 분석 체계</a:t>
            </a:r>
          </a:p>
          <a:p>
            <a:r>
              <a:rPr sz="1100">
                <a:solidFill>
                  <a:srgbClr val="222222"/>
                </a:solidFill>
              </a:rPr>
              <a:t>•  데이터 흐름: [사용자 요청] → [ECOS API 호출] → [거시 경제 데이터 수집] → [GPT 엔진 주입] → [리스크 등급 및 경제 리포트 생성].</a:t>
            </a:r>
          </a:p>
          <a:p>
            <a:r>
              <a:rPr sz="1100">
                <a:solidFill>
                  <a:srgbClr val="222222"/>
                </a:solidFill>
              </a:rPr>
              <a:t>•  연동 구조: 한국은행의 표준 통계 코드(예: 기준금리 817Y002)를 활용하여 실시간 지표를 JSON 형태로 수신하고 이를 분석의 근거 자료로 활용합니다.</a:t>
            </a:r>
          </a:p>
          <a:p>
            <a:pPr>
              <a:spcBef>
                <a:spcPts val="600"/>
              </a:spcBef>
            </a:pPr>
            <a:r>
              <a:rPr sz="1300" b="1">
                <a:solidFill>
                  <a:srgbClr val="2E5984"/>
                </a:solidFill>
              </a:rPr>
              <a:t>3. 소스코드 (Source Code): 리스크 진단 및 ECOS 데이터 수집 로직</a:t>
            </a:r>
          </a:p>
          <a:p>
            <a:r>
              <a:rPr sz="1100">
                <a:solidFill>
                  <a:srgbClr val="222222"/>
                </a:solidFill>
              </a:rPr>
              <a:t>•  핵심 로직: 분석 액션별 페르소나 설정과 통계 API 연동 코드입니다.</a:t>
            </a:r>
          </a:p>
          <a:p>
            <a:pPr>
              <a:spcBef>
                <a:spcPts val="600"/>
              </a:spcBef>
            </a:pPr>
            <a:r>
              <a:rPr sz="1300" b="1">
                <a:solidFill>
                  <a:srgbClr val="2E5984"/>
                </a:solidFill>
              </a:rPr>
              <a:t>4. 실습 (Practice): 기준금리 데이터 수신 및 GPT 리스크 분석 테스트</a:t>
            </a:r>
          </a:p>
          <a:p>
            <a:r>
              <a:rPr sz="1100">
                <a:solidFill>
                  <a:srgbClr val="222222"/>
                </a:solidFill>
              </a:rPr>
              <a:t>•  과제: getEcosData_()를 실행하여 {"TIME":"202505", "DATA_VALUE":"2.75"}와 같은 실제 금리 데이터가 수집되는지 확인하고, 이를 바탕으로 GPT가 "현재 고금리 상황에 따른 리스크"를 논리적으로 설명하는지 검증하십시오.</a:t>
            </a:r>
          </a:p>
          <a:p>
            <a:r>
              <a:rPr sz="1100">
                <a:solidFill>
                  <a:srgbClr val="222222"/>
                </a:solidFill>
              </a:rPr>
              <a:t>•  확인 사항: ECOS API 응답값이 GPT 프롬프트 내에 ${ecosData} 형태로 정상 삽입되어 분석 결과에 반영되는지 점검합니다.</a:t>
            </a:r>
          </a:p>
          <a:p>
            <a:pPr>
              <a:spcBef>
                <a:spcPts val="600"/>
              </a:spcBef>
            </a:pPr>
            <a:r>
              <a:rPr sz="1300" b="1">
                <a:solidFill>
                  <a:srgbClr val="2E5984"/>
                </a:solidFill>
              </a:rPr>
              <a:t>5. 확장 (Expansion): 실시간 매크로 대시보드 및 조기 경보 시스템(EWS)</a:t>
            </a:r>
          </a:p>
          <a:p>
            <a:r>
              <a:rPr sz="1100">
                <a:solidFill>
                  <a:srgbClr val="222222"/>
                </a:solidFill>
              </a:rPr>
              <a:t>•  고도화 전략: 수집된 거시 데이터를 구글 시트 대시보드와 연동하여 시각화하고, 특정 지표(예: 원/달러 환율 1,450원 돌파) 임계치 도달 시 텔레그램으로 긴급 리스크 알림을 자동 발송하도록 확장합니다.</a:t>
            </a:r>
          </a:p>
          <a:p>
            <a:r>
              <a:rPr sz="1100">
                <a:solidFill>
                  <a:srgbClr val="222222"/>
                </a:solidFill>
              </a:rPr>
              <a:t>•  기술 적용: 향후 Module 10(RiskWatch)과 결합하여 환율, VIX, 코스피 변동성을 결합한 복합 리스크 스코어링 시스템을 구축함으로써 자율형 금융 방어 체계를 완성합니다.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128  ·  151/216</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[152] AI 금융정보 플랫폼 구축 실무 - stock_report 및 데이터 주입</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로우 데이터(Raw Data)를 지능형 인사이트로 변환</a:t>
            </a:r>
          </a:p>
          <a:p>
            <a:r>
              <a:rPr sz="1100">
                <a:solidFill>
                  <a:srgbClr val="222222"/>
                </a:solidFill>
              </a:rPr>
              <a:t>•  데이터 주입: API를 통해 수집된 JSON 형태의 수치 데이터를 GPT가 이해할 수 있는 자연어 문맥으로 변환하여 프롬프트에 결합하는 과정입니다.</a:t>
            </a:r>
          </a:p>
          <a:p>
            <a:r>
              <a:rPr sz="1100">
                <a:solidFill>
                  <a:srgbClr val="222222"/>
                </a:solidFill>
              </a:rPr>
              <a:t>•  stock_report: 특정 종목에 대해 사업 개요, 실적, 밸류에이션, 투자 포인트, 리스크를 종합적으로 분석하는 개별 기업 분석 에이전트의 핵심 기능입니다.</a:t>
            </a:r>
          </a:p>
          <a:p>
            <a:pPr>
              <a:spcBef>
                <a:spcPts val="600"/>
              </a:spcBef>
            </a:pPr>
            <a:r>
              <a:rPr sz="1300" b="1">
                <a:solidFill>
                  <a:srgbClr val="2E5984"/>
                </a:solidFill>
              </a:rPr>
              <a:t>2. 아키텍처 (Architecture): 데이터 컨텍스트 기반의 종목 분석 흐름</a:t>
            </a:r>
          </a:p>
          <a:p>
            <a:r>
              <a:rPr sz="1100">
                <a:solidFill>
                  <a:srgbClr val="222222"/>
                </a:solidFill>
              </a:rPr>
              <a:t>•  분석 워크플로우: [종목코드 입력] → [runStockReport_ 실행] → [DART/코스콤 데이터 확보] → [데이터 문자열 변환] → [GPT 주입] → [5단계 분석 리포트 생성].</a:t>
            </a:r>
          </a:p>
          <a:p>
            <a:r>
              <a:rPr sz="1100">
                <a:solidFill>
                  <a:srgbClr val="222222"/>
                </a:solidFill>
              </a:rPr>
              <a:t>•  지능형 매핑: 수집된 DATA_VALUE: "2.75"를 GPT에게 "현재 한국 기준금리는 2.75%입니다"라는 의미 있는 정보로 전달하여 분석의 정확도를 높입니다.</a:t>
            </a:r>
          </a:p>
          <a:p>
            <a:pPr>
              <a:spcBef>
                <a:spcPts val="600"/>
              </a:spcBef>
            </a:pPr>
            <a:r>
              <a:rPr sz="1300" b="1">
                <a:solidFill>
                  <a:srgbClr val="2E5984"/>
                </a:solidFill>
              </a:rPr>
              <a:t>3. 소스코드 (Source Code): 종목 리포트 함수 및 데이터 전달 규격</a:t>
            </a:r>
          </a:p>
          <a:p>
            <a:r>
              <a:rPr sz="1100">
                <a:solidFill>
                  <a:srgbClr val="222222"/>
                </a:solidFill>
              </a:rPr>
              <a:t>•  핵심 로직: 분석 항목을 명시하고 동적으로 종목명을 반영하는 프롬프트 구조입니다.</a:t>
            </a:r>
          </a:p>
          <a:p>
            <a:pPr>
              <a:spcBef>
                <a:spcPts val="600"/>
              </a:spcBef>
            </a:pPr>
            <a:r>
              <a:rPr sz="1300" b="1">
                <a:solidFill>
                  <a:srgbClr val="2E5984"/>
                </a:solidFill>
              </a:rPr>
              <a:t>4. 실습 (Practice): '삼성전자' 분석 명령 및 5대 항목 응답 확인</a:t>
            </a:r>
          </a:p>
          <a:p>
            <a:r>
              <a:rPr sz="1100">
                <a:solidFill>
                  <a:srgbClr val="222222"/>
                </a:solidFill>
              </a:rPr>
              <a:t>•  과제: 텔레그램에서 "삼성전자 분석해줘"라고 입력하여 GPT가 사업개요부터 리스크까지 5가지 섹션을 빠짐없이 구성하여 답변하는지 확인하십시오.</a:t>
            </a:r>
          </a:p>
          <a:p>
            <a:r>
              <a:rPr sz="1100">
                <a:solidFill>
                  <a:srgbClr val="222222"/>
                </a:solidFill>
              </a:rPr>
              <a:t>•  확인 사항: params.keyword가 "삼성전자"로 정확히 파싱되어 리포트 제목과 본문에 반영되는지 점검합니다.</a:t>
            </a:r>
          </a:p>
          <a:p>
            <a:pPr>
              <a:spcBef>
                <a:spcPts val="600"/>
              </a:spcBef>
            </a:pPr>
            <a:r>
              <a:rPr sz="1300" b="1">
                <a:solidFill>
                  <a:srgbClr val="2E5984"/>
                </a:solidFill>
              </a:rPr>
              <a:t>5. 확장 (Expansion): 섹터 및 기술적 분석으로의 지능 확장</a:t>
            </a:r>
          </a:p>
          <a:p>
            <a:r>
              <a:rPr sz="1100">
                <a:solidFill>
                  <a:srgbClr val="222222"/>
                </a:solidFill>
              </a:rPr>
              <a:t>•  고도화 전략: 130번 슬라이드에서 다룰 sector_report와 연계하여, 개별 종목 분석 시 해당 종목이 속한 업황 데이터(수요, 공급, 수혜기업)를 함께 고려하도록 프롬프트를 고도화합니다.</a:t>
            </a:r>
          </a:p>
          <a:p>
            <a:r>
              <a:rPr sz="1100">
                <a:solidFill>
                  <a:srgbClr val="222222"/>
                </a:solidFill>
              </a:rPr>
              <a:t>•  기술적 지향점: 향후 Module 12(AI 금융비서)에서는 사용자가 종목명만 입력해도 stock_report, technical_analysis, fundamental_analysis가 동시에 가동되어 하나의 완벽한 PDF 리포트를 자동 생성하는 멀티 에이전트 오케스트레이션으로 발전합니다.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129  ·  152/216</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[153] AI 금융정보 플랫폼 구축 실무 - Module 8: sector_report 및 심층 분석</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Top-Down에서 Bottom-Up을 잇는 산업의 맥락 파악</a:t>
            </a:r>
          </a:p>
          <a:p>
            <a:r>
              <a:rPr sz="1100">
                <a:solidFill>
                  <a:srgbClr val="222222"/>
                </a:solidFill>
              </a:rPr>
              <a:t>•  sector_report: GPT에게 '산업전문 애널리스트' 페르소나를 부여하여, 특정 산업 섹터의 업황, 수요, 공급, 수혜기업을 종합 분석하는 기능입니다.</a:t>
            </a:r>
          </a:p>
          <a:p>
            <a:r>
              <a:rPr sz="1100">
                <a:solidFill>
                  <a:srgbClr val="222222"/>
                </a:solidFill>
              </a:rPr>
              <a:t>•  심층 분석의 시작: 개별 종목 분석을 넘어 기술적 지표(추세, 지지/저항)와 기본적 지표(PER, PBR, ROE)를 전문가 수준으로 해석하는 전문 분석 에이전트 레이어로 진입합니다.</a:t>
            </a:r>
          </a:p>
          <a:p>
            <a:pPr>
              <a:spcBef>
                <a:spcPts val="600"/>
              </a:spcBef>
            </a:pPr>
            <a:r>
              <a:rPr sz="1300" b="1">
                <a:solidFill>
                  <a:srgbClr val="2E5984"/>
                </a:solidFill>
              </a:rPr>
              <a:t>2. 아키텍처 (Architecture): 도메인 전문가 페르소나 기반의 분석 분기</a:t>
            </a:r>
          </a:p>
          <a:p>
            <a:r>
              <a:rPr sz="1100">
                <a:solidFill>
                  <a:srgbClr val="222222"/>
                </a:solidFill>
              </a:rPr>
              <a:t>•  분석 워크플로우: [섹터/종목 입력] → [Action Dispatcher] → [전문 분석 래퍼 함수 실행] → [GPT 전문 페르소나 주입] → [특화 리포트 생성].</a:t>
            </a:r>
          </a:p>
          <a:p>
            <a:r>
              <a:rPr sz="1100">
                <a:solidFill>
                  <a:srgbClr val="222222"/>
                </a:solidFill>
              </a:rPr>
              <a:t>•  구조적 특징: 동일한 종목이라도 사용자가 "기술적 분석"을 요청하느냐 "가치 분석"을 요청하느냐에 따라 GPT가 각기 다른 금융 논리(기술적 분석가 vs 가치투자자)를 적용하여 답변을 생성합니다.</a:t>
            </a:r>
          </a:p>
          <a:p>
            <a:pPr>
              <a:spcBef>
                <a:spcPts val="600"/>
              </a:spcBef>
            </a:pPr>
            <a:r>
              <a:rPr sz="1300" b="1">
                <a:solidFill>
                  <a:srgbClr val="2E5984"/>
                </a:solidFill>
              </a:rPr>
              <a:t>3. 소스코드 (Source Code): 섹터 및 전문 분석 핵심 함수 구현</a:t>
            </a:r>
          </a:p>
          <a:p>
            <a:r>
              <a:rPr sz="1100">
                <a:solidFill>
                  <a:srgbClr val="222222"/>
                </a:solidFill>
              </a:rPr>
              <a:t>•  핵심 로직: 분석 목적에 최적화된 시스템 프롬프트와 항목 설정입니다.</a:t>
            </a:r>
          </a:p>
          <a:p>
            <a:pPr>
              <a:spcBef>
                <a:spcPts val="600"/>
              </a:spcBef>
            </a:pPr>
            <a:r>
              <a:rPr sz="1300" b="1">
                <a:solidFill>
                  <a:srgbClr val="2E5984"/>
                </a:solidFill>
              </a:rPr>
              <a:t>4. 실습 (Practice): 섹터 리포트 및 투자지표 해석 테스트</a:t>
            </a:r>
          </a:p>
          <a:p>
            <a:r>
              <a:rPr sz="1100">
                <a:solidFill>
                  <a:srgbClr val="222222"/>
                </a:solidFill>
              </a:rPr>
              <a:t>•  과제: 텔레그램에서 "2차전지 산업 분석해줘" 또는 "에코프로 기술적 분석해줘"라고 입력하여 GPT가 섹터 전반의 수혜 구조와 차트상의 지지/저항점을 논리적으로 도출하는지 확인하십시오.</a:t>
            </a:r>
          </a:p>
          <a:p>
            <a:r>
              <a:rPr sz="1100">
                <a:solidFill>
                  <a:srgbClr val="222222"/>
                </a:solidFill>
              </a:rPr>
              <a:t>•  확인 사항: runFundamentalAnalysis_ 실행 시 GPT가 PER, PBR 등 재무 지표를 단순 나열하는 것이 아니라, 해당 산업 평균 대비 저평가/고평가 여부를 판단하는지 점검합니다.</a:t>
            </a:r>
          </a:p>
          <a:p>
            <a:pPr>
              <a:spcBef>
                <a:spcPts val="600"/>
              </a:spcBef>
            </a:pPr>
            <a:r>
              <a:rPr sz="1300" b="1">
                <a:solidFill>
                  <a:srgbClr val="2E5984"/>
                </a:solidFill>
              </a:rPr>
              <a:t>5. 확장 (Expansion): '멀티 에이전트' 협업 및 RAG 통합</a:t>
            </a:r>
          </a:p>
          <a:p>
            <a:r>
              <a:rPr sz="1100">
                <a:solidFill>
                  <a:srgbClr val="222222"/>
                </a:solidFill>
              </a:rPr>
              <a:t>•  고도화 전략: 사용자가 "종목 정밀 분석"을 요청하면 섹터, 기술, 기본 분석 에이전트가 동시에 가동되어 각각의 결과물을 하나의 통합 리서치 리포트로 합치는 'CrewAI' 방식의 오케스트레이션을 구현합니다.</a:t>
            </a:r>
          </a:p>
          <a:p>
            <a:r>
              <a:rPr sz="1100">
                <a:solidFill>
                  <a:srgbClr val="222222"/>
                </a:solidFill>
              </a:rPr>
              <a:t>•  기술적 지향점: 향후 Module 12(AI 금융비서)에서는 이러한 전문 분석 기능이 실시간 공시(dart_analysis) 및 뉴스 감성 분석과 결합되어, 인간 애널리스트의 리포트를 대체할 수 있는 수준의 자율형 리서치 자동화를 완성합니다.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130  ·  153/216</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[154] AI 금융정보 플랫폼 구축 실무 - ecos_analysis 및 dart_analysis</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공신력 있는 공공 데이터를 지능형 인사이트로 전환</a:t>
            </a:r>
          </a:p>
          <a:p>
            <a:r>
              <a:rPr sz="1100">
                <a:solidFill>
                  <a:srgbClr val="222222"/>
                </a:solidFill>
              </a:rPr>
              <a:t>•  ecos_analysis: 한국은행 ECOS API로 수집한 거시 경제 통계(금리, 통화량 등)를 GPT가 분석하여 현재의 경제 국면과 시사점을 도출하는 기능입니다.</a:t>
            </a:r>
          </a:p>
          <a:p>
            <a:r>
              <a:rPr sz="1100">
                <a:solidFill>
                  <a:srgbClr val="222222"/>
                </a:solidFill>
              </a:rPr>
              <a:t>•  dart_analysis: 금융감독원 DART API를 통해 기업의 최신 공시 현황을 파악하고, 이를 투자자의 관점(기회와 위기)에서 비판적으로 해석하는 전문 에이전트 서비스입니다.</a:t>
            </a:r>
          </a:p>
          <a:p>
            <a:pPr>
              <a:spcBef>
                <a:spcPts val="600"/>
              </a:spcBef>
            </a:pPr>
            <a:r>
              <a:rPr sz="1300" b="1">
                <a:solidFill>
                  <a:srgbClr val="2E5984"/>
                </a:solidFill>
              </a:rPr>
              <a:t>2. 아키텍처 (Architecture): 외부 API 연동 및 컨텍스트 주입 구조</a:t>
            </a:r>
          </a:p>
          <a:p>
            <a:r>
              <a:rPr sz="1100">
                <a:solidFill>
                  <a:srgbClr val="222222"/>
                </a:solidFill>
              </a:rPr>
              <a:t>•  데이터 흐름: [사용자 입력] → [API 호출(get*Data_)] → [JSON 수집] → [${data} 자리표시자 주입] → [GPT 전문 분석].</a:t>
            </a:r>
          </a:p>
          <a:p>
            <a:r>
              <a:rPr sz="1100">
                <a:solidFill>
                  <a:srgbClr val="222222"/>
                </a:solidFill>
              </a:rPr>
              <a:t>•  핵심 원리: 단순히 숫자를 보여주는 것이 아니라, GPT 프롬프트 내에 수집된 데이터를 직접 삽입하여 AI가 데이터의 전후 맥락을 고려해 답변하도록 설계합니다.</a:t>
            </a:r>
          </a:p>
          <a:p>
            <a:pPr>
              <a:spcBef>
                <a:spcPts val="600"/>
              </a:spcBef>
            </a:pPr>
            <a:r>
              <a:rPr sz="1300" b="1">
                <a:solidFill>
                  <a:srgbClr val="2E5984"/>
                </a:solidFill>
              </a:rPr>
              <a:t>3. 소스코드 (Source Code): ECOS/DART 분석 및 공시 수집 로직</a:t>
            </a:r>
          </a:p>
          <a:p>
            <a:r>
              <a:rPr sz="1100">
                <a:solidFill>
                  <a:srgbClr val="222222"/>
                </a:solidFill>
              </a:rPr>
              <a:t>•  핵심 구현: 전문 페르소나 설정과 데이터 주입 매커니즘입니다.</a:t>
            </a:r>
          </a:p>
          <a:p>
            <a:pPr>
              <a:spcBef>
                <a:spcPts val="600"/>
              </a:spcBef>
            </a:pPr>
            <a:r>
              <a:rPr sz="1300" b="1">
                <a:solidFill>
                  <a:srgbClr val="2E5984"/>
                </a:solidFill>
              </a:rPr>
              <a:t>4. 실습 (Practice): 공시 기반 투자 영향 분석 테스트</a:t>
            </a:r>
          </a:p>
          <a:p>
            <a:r>
              <a:rPr sz="1100">
                <a:solidFill>
                  <a:srgbClr val="222222"/>
                </a:solidFill>
              </a:rPr>
              <a:t>•  과제: 텔레그램에서 "삼성전자 공시 분석해줘"라고 입력하여, GPT가 최근 보고서(분기보고서, 주요사항보고서 등) 목록을 바탕으로 현재 기업의 주요 이벤트를 요약하는지 확인하십시오.</a:t>
            </a:r>
          </a:p>
          <a:p>
            <a:r>
              <a:rPr sz="1100">
                <a:solidFill>
                  <a:srgbClr val="222222"/>
                </a:solidFill>
              </a:rPr>
              <a:t>•  확인 사항: getDartData_ 실행 시 json.list가 정상적으로 수신되어 [{"report_nm":"..."}] 형태의 데이터가 GPT 분석에 반영되는지 점검합니다.</a:t>
            </a:r>
          </a:p>
          <a:p>
            <a:pPr>
              <a:spcBef>
                <a:spcPts val="600"/>
              </a:spcBef>
            </a:pPr>
            <a:r>
              <a:rPr sz="1300" b="1">
                <a:solidFill>
                  <a:srgbClr val="2E5984"/>
                </a:solidFill>
              </a:rPr>
              <a:t>5. 확장 (Expansion): '통합 온톨로지' 기반의 자율형 분석 센터</a:t>
            </a:r>
          </a:p>
          <a:p>
            <a:r>
              <a:rPr sz="1100">
                <a:solidFill>
                  <a:srgbClr val="222222"/>
                </a:solidFill>
              </a:rPr>
              <a:t>•  고도화 전략: ECOS의 거시 데이터와 DART의 미시 데이터를 동시에 주입하여, "금리 인상기(ECOS)에 해당 종목의 부채 비율과 상환 계획(DART)은 적절한가?"를 판단하는 복합 추론 에이전트로 확장합니다.</a:t>
            </a:r>
          </a:p>
          <a:p>
            <a:r>
              <a:rPr sz="1100">
                <a:solidFill>
                  <a:srgbClr val="222222"/>
                </a:solidFill>
              </a:rPr>
              <a:t>•  기술적 지향점: 향후 Module 12(AI 금융비서)에서는 이 모든 공공 데이터가 PostgreSQL DB에 적재되고, APScheduler를 통해 24x365 자동 모니터링되어 이상 징후 발생 시 즉시 텔레그램 알림을 발송하는 체계를 완성합니다.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131  ·  154/216</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[155] AI 금융정보 플랫폼 구축 실무 - portfolio_review 및 시트 연동</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데이터 기반의 개인 맞춤형 자산 관리 서비스</a:t>
            </a:r>
          </a:p>
          <a:p>
            <a:r>
              <a:rPr sz="1100">
                <a:solidFill>
                  <a:srgbClr val="222222"/>
                </a:solidFill>
              </a:rPr>
              <a:t>•  portfolio_review: GPT에게 '포트폴리오 매니저' 페르소나를 부여하여, 사용자가 보유한 종목과 비중을 분석하고 위험도 평가 및 포트폴리오 개선안을 작성하는 기능입니다.</a:t>
            </a:r>
          </a:p>
          <a:p>
            <a:r>
              <a:rPr sz="1100">
                <a:solidFill>
                  <a:srgbClr val="222222"/>
                </a:solidFill>
              </a:rPr>
              <a:t>•  구글 시트 연동: 별도의 DB를 구축하기 어려운 실무 환경에서, 구글 시트의 'Portfolio' 탭을 데이터 소스로 활용하여 가장 쉽고 빠르게 자산 현황을 업데이트하고 분석에 반영합니다.</a:t>
            </a:r>
          </a:p>
          <a:p>
            <a:pPr>
              <a:spcBef>
                <a:spcPts val="600"/>
              </a:spcBef>
            </a:pPr>
            <a:r>
              <a:rPr sz="1300" b="1">
                <a:solidFill>
                  <a:srgbClr val="2E5984"/>
                </a:solidFill>
              </a:rPr>
              <a:t>2. 아키텍처 (Architecture): 시트 기반의 자산 분석 파이프라인</a:t>
            </a:r>
          </a:p>
          <a:p>
            <a:r>
              <a:rPr sz="1100">
                <a:solidFill>
                  <a:srgbClr val="222222"/>
                </a:solidFill>
              </a:rPr>
              <a:t>•  데이터 흐름: [Portfolio 시트 데이터] → [getPortfolioData_ 호출] → [JSON 변환] → [GPT 엔진 주입] → [자산 배분 및 리스크 평가 리포트 생성].</a:t>
            </a:r>
          </a:p>
          <a:p>
            <a:r>
              <a:rPr sz="1100">
                <a:solidFill>
                  <a:srgbClr val="222222"/>
                </a:solidFill>
              </a:rPr>
              <a:t>•  구조적 특징: 사용자가 텔레그램에서 "내 포트폴리오 점검해줘"라고 명령하면, 시스템은 즉시 구글 시트의 최신 자산 현황을 읽어와 GPT 분석을 수행합니다.</a:t>
            </a:r>
          </a:p>
          <a:p>
            <a:pPr>
              <a:spcBef>
                <a:spcPts val="600"/>
              </a:spcBef>
            </a:pPr>
            <a:r>
              <a:rPr sz="1300" b="1">
                <a:solidFill>
                  <a:srgbClr val="2E5984"/>
                </a:solidFill>
              </a:rPr>
              <a:t>3. 소스코드 (Source Code): 포트폴리오 검토 및 시트 데이터 추출</a:t>
            </a:r>
          </a:p>
          <a:p>
            <a:r>
              <a:rPr sz="1100">
                <a:solidFill>
                  <a:srgbClr val="222222"/>
                </a:solidFill>
              </a:rPr>
              <a:t>•  핵심 로직: 시트 내 자산 정보를 수집하여 전문가 페르소나에게 전달하는 구조입니다.</a:t>
            </a:r>
          </a:p>
          <a:p>
            <a:pPr>
              <a:spcBef>
                <a:spcPts val="600"/>
              </a:spcBef>
            </a:pPr>
            <a:r>
              <a:rPr sz="1300" b="1">
                <a:solidFill>
                  <a:srgbClr val="2E5984"/>
                </a:solidFill>
              </a:rPr>
              <a:t>4. 실습 (Practice): 'Portfolio' 탭 생성 및 GPT 리스크 평가 테스트</a:t>
            </a:r>
          </a:p>
          <a:p>
            <a:r>
              <a:rPr sz="1100">
                <a:solidFill>
                  <a:srgbClr val="222222"/>
                </a:solidFill>
              </a:rPr>
              <a:t>•  과제 1: 구글 시트에 'Portfolio'라는 이름의 탭을 만들고, 첫 행에 종목명 | 비중을 입력한 뒤 삼성전자 | 20, SK하이닉스 | 15 등의 테스트 데이터를 넣으십시오.</a:t>
            </a:r>
          </a:p>
          <a:p>
            <a:r>
              <a:rPr sz="1100">
                <a:solidFill>
                  <a:srgbClr val="222222"/>
                </a:solidFill>
              </a:rPr>
              <a:t>•  과제 2: 텔레그램에서 "포트폴리오 점검"을 입력하여 GPT가 보유 종목 간의 상관관계나 특정 섹터 쏠림 현상을 정확히 짚어내는지 확인하십시오.</a:t>
            </a:r>
          </a:p>
          <a:p>
            <a:pPr>
              <a:spcBef>
                <a:spcPts val="600"/>
              </a:spcBef>
            </a:pPr>
            <a:r>
              <a:rPr sz="1300" b="1">
                <a:solidFill>
                  <a:srgbClr val="2E5984"/>
                </a:solidFill>
              </a:rPr>
              <a:t>5. 확장 (Expansion): 'VaR' 기반 리스크 분석 및 실시간 모니터링</a:t>
            </a:r>
          </a:p>
          <a:p>
            <a:r>
              <a:rPr sz="1100">
                <a:solidFill>
                  <a:srgbClr val="222222"/>
                </a:solidFill>
              </a:rPr>
              <a:t>•  고도화 전략: 단순 요약을 넘어 향후 VaR(Value at Risk) 지표를 계산하여 포트폴리오의 최대 손실 가능액을 산출하고, 이를 GPT 분석에 포함하는 고도화된 리서치 시스템으로 확장합니다.</a:t>
            </a:r>
          </a:p>
          <a:p>
            <a:r>
              <a:rPr sz="1100">
                <a:solidFill>
                  <a:srgbClr val="222222"/>
                </a:solidFill>
              </a:rPr>
              <a:t>•  기술적 지향점: 이 시스템은 Module 10(RiskWatch)과 연계되어, 시장 급락 시 사용자의 포트폴리오 내 종목들이 받는 충격도를 시뮬레이션하고 즉각적인 대응 전략을 제시하는 자율형 개인 자산관리사(Robo-Advisor)로 진화합니다.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132  ·  155/216</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[156] AI 금융정보 플랫폼 구축 실무 - alert_generation 및 Risk Signal Engine</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24x365 잠들지 않는 '금융 이상징후 파수꾼'</a:t>
            </a:r>
          </a:p>
          <a:p>
            <a:r>
              <a:rPr sz="1100">
                <a:solidFill>
                  <a:srgbClr val="222222"/>
                </a:solidFill>
              </a:rPr>
              <a:t>•  alert_generation: GPT에게 '위험경보 시스템'이라는 페르소나를 부여하여, 포착된 시장의 이상징후 데이터(${alertData})를 분석하고 위험도를 '상, 중, 하'로 평가하는 기능입니다.</a:t>
            </a:r>
          </a:p>
          <a:p>
            <a:r>
              <a:rPr sz="1100">
                <a:solidFill>
                  <a:srgbClr val="222222"/>
                </a:solidFill>
              </a:rPr>
              <a:t>•  Risk Signal Engine: 단순한 뉴스 요약을 넘어, 주요 금융 지표(KOSPI, 환율, VIX 등)가 미리 설정한 임계치를 벗어날 때 이를 '리스크 신호'로 변환하는 시스템의 핵심 구동부입니다.</a:t>
            </a:r>
          </a:p>
          <a:p>
            <a:pPr>
              <a:spcBef>
                <a:spcPts val="600"/>
              </a:spcBef>
            </a:pPr>
            <a:r>
              <a:rPr sz="1300" b="1">
                <a:solidFill>
                  <a:srgbClr val="2E5984"/>
                </a:solidFill>
              </a:rPr>
              <a:t>2. 아키텍처 (Architecture): 임계치 기반 리스크 신호 생성 및 평가 구조</a:t>
            </a:r>
          </a:p>
          <a:p>
            <a:r>
              <a:rPr sz="1100">
                <a:solidFill>
                  <a:srgbClr val="222222"/>
                </a:solidFill>
              </a:rPr>
              <a:t>•  데이터 흐름: [지표 모니터링] → [Risk Signal Engine 작동] → [JSON 리스트 생성] → [GPT 페르소나 주입] → [위험도 등급 및 대응 방안 도출].</a:t>
            </a:r>
          </a:p>
          <a:p>
            <a:r>
              <a:rPr sz="1100">
                <a:solidFill>
                  <a:srgbClr val="222222"/>
                </a:solidFill>
              </a:rPr>
              <a:t>•  자리표시자(Placeholder) 활용: ${alertData}는 특별한 금융 객체가 아니라, getRiskSignals_()가 반환한 원천 데이터를 GPT 프롬프트 내에 동적으로 삽입하는 가교 역할을 합니다.</a:t>
            </a:r>
          </a:p>
          <a:p>
            <a:pPr>
              <a:spcBef>
                <a:spcPts val="600"/>
              </a:spcBef>
            </a:pPr>
            <a:r>
              <a:rPr sz="1300" b="1">
                <a:solidFill>
                  <a:srgbClr val="2E5984"/>
                </a:solidFill>
              </a:rPr>
              <a:t>3. 소스코드 (Source Code): alert_generation 및 리스크 판단 로직</a:t>
            </a:r>
          </a:p>
          <a:p>
            <a:r>
              <a:rPr sz="1100">
                <a:solidFill>
                  <a:srgbClr val="222222"/>
                </a:solidFill>
              </a:rPr>
              <a:t>•  핵심 로직: 엔진이 추출한 리스크 목록을 GPT 엔진(askGPT_)에게 전달하여 최종 평가를 내립니다.</a:t>
            </a:r>
          </a:p>
          <a:p>
            <a:pPr>
              <a:spcBef>
                <a:spcPts val="600"/>
              </a:spcBef>
            </a:pPr>
            <a:r>
              <a:rPr sz="1300" b="1">
                <a:solidFill>
                  <a:srgbClr val="2E5984"/>
                </a:solidFill>
              </a:rPr>
              <a:t>4. 실습 (Practice): 가상 리스크 발생 및 GPT 위험도 평가 검증</a:t>
            </a:r>
          </a:p>
          <a:p>
            <a:r>
              <a:rPr sz="1100">
                <a:solidFill>
                  <a:srgbClr val="222222"/>
                </a:solidFill>
              </a:rPr>
              <a:t>•  과제: getRiskSignals_ 함수에서 KOSPI 변동률을 강제로 -4%로 설정한 후 runAlertGeneration_을 실행하여, GPT가 "위험도: 상"이라는 결과와 함께 환율 및 주식시장 상황을 종합 분석하는지 확인하십시오.</a:t>
            </a:r>
          </a:p>
          <a:p>
            <a:r>
              <a:rPr sz="1100">
                <a:solidFill>
                  <a:srgbClr val="222222"/>
                </a:solidFill>
              </a:rPr>
              <a:t>•  확인 사항: GPT가 반환하는 메시지에 원인(환율, VIX 등)과 투자자 주의사항이 논리적으로 포함되어 있는지 점검합니다.</a:t>
            </a:r>
          </a:p>
          <a:p>
            <a:pPr>
              <a:spcBef>
                <a:spcPts val="600"/>
              </a:spcBef>
            </a:pPr>
            <a:r>
              <a:rPr sz="1300" b="1">
                <a:solidFill>
                  <a:srgbClr val="2E5984"/>
                </a:solidFill>
              </a:rPr>
              <a:t>5. 확장 (Expansion): 'RiskWatchGPT' 기반의 지능형 에이전틱 AI</a:t>
            </a:r>
          </a:p>
          <a:p>
            <a:r>
              <a:rPr sz="1100">
                <a:solidFill>
                  <a:srgbClr val="222222"/>
                </a:solidFill>
              </a:rPr>
              <a:t>•  고도화 전략: 이 시스템은 황Q랩이 구축 중인 'RiskWatchGPT'의 핵심 모듈로 확장되며, 단순 수치 비교를 넘어 뉴스 감성 분석과 결합된 '복합 리스크 스코어링'을 수행합니다.</a:t>
            </a:r>
          </a:p>
          <a:p>
            <a:r>
              <a:rPr sz="1100">
                <a:solidFill>
                  <a:srgbClr val="222222"/>
                </a:solidFill>
              </a:rPr>
              <a:t>•  기술적 지향점: 향후 Module 10(RiskWatch)에서는 리스크 발생 시 관리자 그룹에 명령을 기다리지 않고, 사전에 정의된 시나리오에 따라 전사 채널에 '긴급 투자 브리핑'을 자동 게시하는 자율형 에이전트 시스템으로 진화합니다.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133  ·  156/216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[157] AI 금융정보 플랫폼 구축 실무 - chart_analysis 및 데이터 시합</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숫자의 궤적을 투자 언어로 번역하는 'AI 기술적 분석가'</a:t>
            </a:r>
          </a:p>
          <a:p>
            <a:r>
              <a:rPr sz="1100">
                <a:solidFill>
                  <a:srgbClr val="222222"/>
                </a:solidFill>
              </a:rPr>
              <a:t>•  chart_analysis: GPT에게 '차트 분석 전문가' 페르소나를 부여하여, 수집된 시계열 차트 데이터(${chartData})를 바탕으로 추세, 지지/저항, 주요 패턴을 분석하고 리포트를 작성하는 기능입니다.</a:t>
            </a:r>
          </a:p>
          <a:p>
            <a:r>
              <a:rPr sz="1100">
                <a:solidFill>
                  <a:srgbClr val="222222"/>
                </a:solidFill>
              </a:rPr>
              <a:t>•  핵심 가치: 인간이 차트를 눈으로 보고 판단하는 과정을 GPT가 데이터의 변동률과 가격 위치를 계산하여 정성적인 투자 의견으로 치환하는 데 있습니다.</a:t>
            </a:r>
          </a:p>
          <a:p>
            <a:pPr>
              <a:spcBef>
                <a:spcPts val="600"/>
              </a:spcBef>
            </a:pPr>
            <a:r>
              <a:rPr sz="1300" b="1">
                <a:solidFill>
                  <a:srgbClr val="2E5984"/>
                </a:solidFill>
              </a:rPr>
              <a:t>2. 아키텍처 (Architecture): 시계열 데이터와 지능형 엔진의 결합</a:t>
            </a:r>
          </a:p>
          <a:p>
            <a:r>
              <a:rPr sz="1100">
                <a:solidFill>
                  <a:srgbClr val="222222"/>
                </a:solidFill>
              </a:rPr>
              <a:t>•  분석 워크플로우: [종목 입력] → [runChartAnalysis_ 실행] → [getChartData_ 호출] → [OHLCV 데이터 확보] → [GPT 주입] → [차트 분석 리포트 생성].</a:t>
            </a:r>
          </a:p>
          <a:p>
            <a:r>
              <a:rPr sz="1100">
                <a:solidFill>
                  <a:srgbClr val="222222"/>
                </a:solidFill>
              </a:rPr>
              <a:t>•  데이터 융합: 단순한 현재가 정보가 아닌, 일정 기간의 시가·고가·저가·종가 데이터를 텍스트 형태로 GPT에게 전달하여 분석의 시간적 맥락을 확보합니다.</a:t>
            </a:r>
          </a:p>
          <a:p>
            <a:pPr>
              <a:spcBef>
                <a:spcPts val="600"/>
              </a:spcBef>
            </a:pPr>
            <a:r>
              <a:rPr sz="1300" b="1">
                <a:solidFill>
                  <a:srgbClr val="2E5984"/>
                </a:solidFill>
              </a:rPr>
              <a:t>3. 소스코드 (Source Code): runChartAnalysis_ 및 분석 엔진 연동</a:t>
            </a:r>
          </a:p>
          <a:p>
            <a:r>
              <a:rPr sz="1100">
                <a:solidFill>
                  <a:srgbClr val="222222"/>
                </a:solidFill>
              </a:rPr>
              <a:t>•  핵심 로직: 차트 데이터를 확보하여 전문 페르소나 엔진(askGPT_)에 전달합니다.</a:t>
            </a:r>
          </a:p>
          <a:p>
            <a:pPr>
              <a:spcBef>
                <a:spcPts val="600"/>
              </a:spcBef>
            </a:pPr>
            <a:r>
              <a:rPr sz="1300" b="1">
                <a:solidFill>
                  <a:srgbClr val="2E5984"/>
                </a:solidFill>
              </a:rPr>
              <a:t>4. 실습 (Practice): '삼성전자' 차트 데이터 주입 및 분석 결과 검증</a:t>
            </a:r>
          </a:p>
          <a:p>
            <a:r>
              <a:rPr sz="1100">
                <a:solidFill>
                  <a:srgbClr val="222222"/>
                </a:solidFill>
              </a:rPr>
              <a:t>•  과제: 텔레그램에서 "삼성전자 차트 분석해줘"라고 입력하여 GPT가 추세 분석, 지지선/저항선 도출, 향후 전략 등을 포함한 전문적인 기술적 분석 리포트를 생성하는지 확인하십시오.</a:t>
            </a:r>
          </a:p>
          <a:p>
            <a:r>
              <a:rPr sz="1100">
                <a:solidFill>
                  <a:srgbClr val="222222"/>
                </a:solidFill>
              </a:rPr>
              <a:t>•  확인 사항: getChartData_를 통해 전달된 데이터가 GPT 프롬프트 내의 ${chartData} 자리표시자에 정확히 치환되어 응답에 반영되는지 점검합니다.</a:t>
            </a:r>
          </a:p>
          <a:p>
            <a:pPr>
              <a:spcBef>
                <a:spcPts val="600"/>
              </a:spcBef>
            </a:pPr>
            <a:r>
              <a:rPr sz="1300" b="1">
                <a:solidFill>
                  <a:srgbClr val="2E5984"/>
                </a:solidFill>
              </a:rPr>
              <a:t>5. 확장 (Expansion): 보조지표 결합 및 'data_update'와의 연계</a:t>
            </a:r>
          </a:p>
          <a:p>
            <a:r>
              <a:rPr sz="1100">
                <a:solidFill>
                  <a:srgbClr val="222222"/>
                </a:solidFill>
              </a:rPr>
              <a:t>•  고도화 전략: 단순히 가격 데이터만 보내는 대신, RSI, MACD, 볼린저 밴드와 같은 기술적 보조지표 수치를 함께 데이터 세트에 포함시켜 GPT가 더욱 다각적인 결론을 내리도록 확장합니다.</a:t>
            </a:r>
          </a:p>
          <a:p>
            <a:r>
              <a:rPr sz="1100">
                <a:solidFill>
                  <a:srgbClr val="222222"/>
                </a:solidFill>
              </a:rPr>
              <a:t>•  기술적 지향점: 이 단계 이후 135번 슬라이드에서 다룰 data_update 기능과 결합하여, 매일 아침 최신 차트 데이터를 자동으로 갱신하고 분석 리포트를 생성하는 자율형 리서치 파이프라인을 완성합니다.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134  ·  157/216</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B</a:t>
            </a:r>
          </a:p>
          <a:p>
            <a:r>
              <a:rPr sz="1900" b="1">
                <a:solidFill>
                  <a:srgbClr val="FFFFFF"/>
                </a:solidFill>
              </a:rPr>
              <a:t>[158] AI 금융정보 플랫폼 구축 실무 - 데이터 업데이트 및 가이드 시스템</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분석의 '신선도' 유지와 사용자 경험(UX) 최적화</a:t>
            </a:r>
          </a:p>
          <a:p>
            <a:r>
              <a:rPr sz="1100">
                <a:solidFill>
                  <a:srgbClr val="222222"/>
                </a:solidFill>
              </a:rPr>
              <a:t>•  data_update: 분석의 근거가 되는 코스콤, ECOS, 뉴스 데이터를 최신 상태로 동기화하여 AI가 '죽은 데이터'가 아닌 '살아있는 팩트'에 기반해 답변하게 하는 절차입니다.</a:t>
            </a:r>
          </a:p>
          <a:p>
            <a:r>
              <a:rPr sz="1100">
                <a:solidFill>
                  <a:srgbClr val="222222"/>
                </a:solidFill>
              </a:rPr>
              <a:t>•  help &amp; unknown: 시스템의 기능을 안내하고, 인식할 수 없는 명령이 들어왔을 때 친절한 가이드를 제공함으로써 서비스의 완성도와 사용자 신뢰를 높입니다.</a:t>
            </a:r>
          </a:p>
          <a:p>
            <a:pPr>
              <a:spcBef>
                <a:spcPts val="600"/>
              </a:spcBef>
            </a:pPr>
            <a:r>
              <a:rPr sz="1300" b="1">
                <a:solidFill>
                  <a:srgbClr val="2E5984"/>
                </a:solidFill>
              </a:rPr>
              <a:t>2. 아키텍처 (Architecture): 자동화된 갱신 파이프라인 및 응답 라우팅</a:t>
            </a:r>
          </a:p>
          <a:p>
            <a:r>
              <a:rPr sz="1100">
                <a:solidFill>
                  <a:srgbClr val="222222"/>
                </a:solidFill>
              </a:rPr>
              <a:t>•  데이터 갱신 흐름: [사용자 명령/트리거] → [runDataUpdate_] → [API별 개별 수집 엔진 가동] → [DB/시트 적재] → [완료 보고].</a:t>
            </a:r>
          </a:p>
          <a:p>
            <a:r>
              <a:rPr sz="1100">
                <a:solidFill>
                  <a:srgbClr val="222222"/>
                </a:solidFill>
              </a:rPr>
              <a:t>•  가이드 제어: GPT 분류기에서 'help' 또는 'unknown' 액션이 판별되면, 불필요한 추론 없이 즉시 미리 정의된 표준 응답 템플릿을 반환하여 시스템 리소스를 절약합니다.</a:t>
            </a:r>
          </a:p>
          <a:p>
            <a:pPr>
              <a:spcBef>
                <a:spcPts val="600"/>
              </a:spcBef>
            </a:pPr>
            <a:r>
              <a:rPr sz="1300" b="1">
                <a:solidFill>
                  <a:srgbClr val="2E5984"/>
                </a:solidFill>
              </a:rPr>
              <a:t>3. 소스코드 (Source Code): 데이터 업데이트 및 도움말/예외 처리 로직</a:t>
            </a:r>
          </a:p>
          <a:p>
            <a:r>
              <a:rPr sz="1100">
                <a:solidFill>
                  <a:srgbClr val="222222"/>
                </a:solidFill>
              </a:rPr>
              <a:t>•  핵심 구현: 각 데이터 소스의 갱신 함수를 일괄 실행하거나 가이드 문구를 출력합니다.</a:t>
            </a:r>
          </a:p>
          <a:p>
            <a:pPr>
              <a:spcBef>
                <a:spcPts val="600"/>
              </a:spcBef>
            </a:pPr>
            <a:r>
              <a:rPr sz="1300" b="1">
                <a:solidFill>
                  <a:srgbClr val="2E5984"/>
                </a:solidFill>
              </a:rPr>
              <a:t>4. 실습 (Practice): '데이터 업데이트' 가동 및 예외 처리 검증</a:t>
            </a:r>
          </a:p>
          <a:p>
            <a:r>
              <a:rPr sz="1100">
                <a:solidFill>
                  <a:srgbClr val="222222"/>
                </a:solidFill>
              </a:rPr>
              <a:t>•  과제 1: 텔레그램에서 "데이터 업데이트해줘"라고 입력하여 시스템이 코스콤, ECOS, 뉴스DB의 갱신 완료 메시지를 회신하는지 확인하십시오.</a:t>
            </a:r>
          </a:p>
          <a:p>
            <a:r>
              <a:rPr sz="1100">
                <a:solidFill>
                  <a:srgbClr val="222222"/>
                </a:solidFill>
              </a:rPr>
              <a:t>•  과제 2: "점심 메뉴 추천해줘"와 같은 금융 외 명령을 입력했을 때, runUnknown_ 함수가 작동하여 올바른 금융 분석 명령 예시를 안내하는지 점검합니다.</a:t>
            </a:r>
          </a:p>
          <a:p>
            <a:pPr>
              <a:spcBef>
                <a:spcPts val="600"/>
              </a:spcBef>
            </a:pPr>
            <a:r>
              <a:rPr sz="1300" b="1">
                <a:solidFill>
                  <a:srgbClr val="2E5984"/>
                </a:solidFill>
              </a:rPr>
              <a:t>5. 확장 (Expansion): 24x365 자율 업데이트 및 지능형 에이전트 완성</a:t>
            </a:r>
          </a:p>
          <a:p>
            <a:r>
              <a:rPr sz="1100">
                <a:solidFill>
                  <a:srgbClr val="222222"/>
                </a:solidFill>
              </a:rPr>
              <a:t>•  고도화 전략: 사용자의 수동 명령 외에도 APScheduler 또는 GAS 시간 기반 트리거와 연계하여 매일 아침 특정 시간(예: 오전 7시)에 자동으로 데이터를 갱신하도록 설정합니다.</a:t>
            </a:r>
          </a:p>
          <a:p>
            <a:r>
              <a:rPr sz="1100">
                <a:solidFill>
                  <a:srgbClr val="222222"/>
                </a:solidFill>
              </a:rPr>
              <a:t>•  기술 적용: runUnknown_으로 수집된 실패 로그를 분석하여 사용자가 자주 사용하는 표현을 GPT Classifier의 허용 action 매핑 리스트에 추가함으로써 시스템의 자연어 이해도를 지속적으로 강화합니다.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135  ·  158/216</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73152"/>
          </a:xfrm>
          <a:prstGeom prst="rect">
            <a:avLst/>
          </a:prstGeom>
          <a:solidFill>
            <a:srgbClr val="6E8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834640"/>
            <a:ext cx="10515600" cy="1463040"/>
          </a:xfrm>
          <a:prstGeom prst="rect">
            <a:avLst/>
          </a:prstGeom>
          <a:noFill/>
        </p:spPr>
        <p:txBody>
          <a:bodyPr wrap="square">
            <a:spAutoFit/>
          </a:bodyPr>
          <a:lstStyle/>
          <a:p>
            <a:r>
              <a:rPr sz="1600">
                <a:solidFill>
                  <a:srgbClr val="9FB4F5"/>
                </a:solidFill>
              </a:rPr>
              <a:t>[수료후·심화]</a:t>
            </a:r>
          </a:p>
          <a:p>
            <a:r>
              <a:rPr sz="2800" b="1">
                <a:solidFill>
                  <a:srgbClr val="FFFFFF"/>
                </a:solidFill>
              </a:rPr>
              <a:t>트랙 C — 에이전틱 &amp; RAG 심화: CrewAI + FnRiskWatch</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C</a:t>
            </a:r>
          </a:p>
          <a:p>
            <a:r>
              <a:rPr sz="1900" b="1">
                <a:solidFill>
                  <a:srgbClr val="FFFFFF"/>
                </a:solidFill>
              </a:rPr>
              <a:t>[159] CrewAI - 멀티 에이전트 협업 프레임워크 및 시스템 설계</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개별 AI를 넘어선 '팀' 단위의 지능형 워크포스</a:t>
            </a:r>
          </a:p>
          <a:p>
            <a:r>
              <a:rPr sz="1100">
                <a:solidFill>
                  <a:srgbClr val="222222"/>
                </a:solidFill>
              </a:rPr>
              <a:t>•  정의: 여러 개의 AI 에이전트가 각각 고유한 역할(Role)을 맡아 복잡한 업무를 분담하고 협업(Crew)하여 완수하는 오픈소스 프레임워크입니다.</a:t>
            </a:r>
          </a:p>
          <a:p>
            <a:r>
              <a:rPr sz="1100">
                <a:solidFill>
                  <a:srgbClr val="222222"/>
                </a:solidFill>
              </a:rPr>
              <a:t>•  핵심 가치: 단일 LLM이 해결하기 어려운 다단계 추론과 도구 활용(Tool Calling)을 자율적으로 수행하며, 기업 내 전문 인력들의 업무 프로세스를 코드로 복제한 AI 워크포스(AI Workforce)를 실현합니다.</a:t>
            </a:r>
          </a:p>
          <a:p>
            <a:pPr>
              <a:spcBef>
                <a:spcPts val="600"/>
              </a:spcBef>
            </a:pPr>
            <a:r>
              <a:rPr sz="1300" b="1">
                <a:solidFill>
                  <a:srgbClr val="2E5984"/>
                </a:solidFill>
              </a:rPr>
              <a:t>2. 아키텍처 (Architecture): 역할 기반의 5단계 에이전틱 구조</a:t>
            </a:r>
          </a:p>
          <a:p>
            <a:r>
              <a:rPr sz="1100">
                <a:solidFill>
                  <a:srgbClr val="222222"/>
                </a:solidFill>
              </a:rPr>
              <a:t>•  협업 메커니즘: [역할(Role) 정의] → [작업(Task) 정의] → [도구(Tools) 할당] → [크루(Crew) 생성] → [순차/병렬 실행 및 통합].</a:t>
            </a:r>
          </a:p>
          <a:p>
            <a:r>
              <a:rPr sz="1100">
                <a:solidFill>
                  <a:srgbClr val="222222"/>
                </a:solidFill>
              </a:rPr>
              <a:t>•  에이전틱 특성: 에이전트는 목표 지향적(Task-oriented)이며, 스스로 API/DB 도구를 호출하고, 메모리를 관리하며 다단계 추론을 반복하여 최종 결과물을 도출합니다.</a:t>
            </a:r>
          </a:p>
          <a:p>
            <a:pPr>
              <a:spcBef>
                <a:spcPts val="600"/>
              </a:spcBef>
            </a:pPr>
            <a:r>
              <a:rPr sz="1300" b="1">
                <a:solidFill>
                  <a:srgbClr val="2E5984"/>
                </a:solidFill>
              </a:rPr>
              <a:t>3. 소스코드 (Source Code): crew.py 핵심 에이전트 정의</a:t>
            </a:r>
          </a:p>
          <a:p>
            <a:r>
              <a:rPr sz="1100">
                <a:solidFill>
                  <a:srgbClr val="222222"/>
                </a:solidFill>
              </a:rPr>
              <a:t>•  핵심 로직: 분석가와 작성자의 역할을 분리하여 전문성을 극대화합니다.</a:t>
            </a:r>
          </a:p>
          <a:p>
            <a:pPr>
              <a:spcBef>
                <a:spcPts val="600"/>
              </a:spcBef>
            </a:pPr>
            <a:r>
              <a:rPr sz="1300" b="1">
                <a:solidFill>
                  <a:srgbClr val="2E5984"/>
                </a:solidFill>
              </a:rPr>
              <a:t>4. 실습 (Practice): 에이전트 간 '작업 위임' 및 결과물 통합</a:t>
            </a:r>
          </a:p>
          <a:p>
            <a:r>
              <a:rPr sz="1100">
                <a:solidFill>
                  <a:srgbClr val="222222"/>
                </a:solidFill>
              </a:rPr>
              <a:t>•  과제: 분석 에이전트가 도출한 원천 데이터를 작성 에이전트에게 전달(Delegation)하여, 사람이 개입하지 않고도 "삼성전자 투자 전략 보고서"가 자동 생성되는 과정을 터미널 로그로 관찰하십시오.</a:t>
            </a:r>
          </a:p>
          <a:p>
            <a:r>
              <a:rPr sz="1100">
                <a:solidFill>
                  <a:srgbClr val="222222"/>
                </a:solidFill>
              </a:rPr>
              <a:t>•  확인 사항: 에이전트가 작업 도중 스스로 도구를 호출(Tool Use)하는지, 그리고 에이전트 간에 정보가 누락 없이 전달되는지 체크합니다.</a:t>
            </a:r>
          </a:p>
          <a:p>
            <a:pPr>
              <a:spcBef>
                <a:spcPts val="600"/>
              </a:spcBef>
            </a:pPr>
            <a:r>
              <a:rPr sz="1300" b="1">
                <a:solidFill>
                  <a:srgbClr val="2E5984"/>
                </a:solidFill>
              </a:rPr>
              <a:t>5. 확장 (Expansion): 자율 반복(Plan-Act-Reflect) 기반의 고도화</a:t>
            </a:r>
          </a:p>
          <a:p>
            <a:r>
              <a:rPr sz="1100">
                <a:solidFill>
                  <a:srgbClr val="222222"/>
                </a:solidFill>
              </a:rPr>
              <a:t>•  고도화 전략: 에이전트가 결과를 도출한 후 스스로 오류를 검토하고 수정하는 자기 반성(Reflect) 루프를 추가하여 분석의 정밀도를 높입니다.</a:t>
            </a:r>
          </a:p>
          <a:p>
            <a:r>
              <a:rPr sz="1100">
                <a:solidFill>
                  <a:srgbClr val="222222"/>
                </a:solidFill>
              </a:rPr>
              <a:t>•  시스템 통합: 구축된 CrewAI 엔진을 FastAPI와 연동하여, 텔레그램 한 줄 명령으로 5명의 AI 전문가가 동시 가동되는 '지능형 자율 리서치 센터'로 플랫폼을 확장합니다.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079  ·  159/216</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C</a:t>
            </a:r>
          </a:p>
          <a:p>
            <a:r>
              <a:rPr sz="1900" b="1">
                <a:solidFill>
                  <a:srgbClr val="FFFFFF"/>
                </a:solidFill>
              </a:rPr>
              <a:t>[160] FnRiskWatch RAG MVP 구축 실무 - 8단계: Apps Script 핵심 코드 구현</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구글 생태계와 AI를 잇는 '지능형 제어 엔진'</a:t>
            </a:r>
          </a:p>
          <a:p>
            <a:r>
              <a:rPr sz="1100">
                <a:solidFill>
                  <a:srgbClr val="222222"/>
                </a:solidFill>
              </a:rPr>
              <a:t>•  정의: 구글 시트(데이터), Gemini API(두뇌), 텔레그램(인터페이스)을 유기적으로 연결하여 리스크 분석 자동화를 수행하는 Apps Script(GAS) 엔진을 구현하는 단계입니다.</a:t>
            </a:r>
          </a:p>
          <a:p>
            <a:r>
              <a:rPr sz="1100">
                <a:solidFill>
                  <a:srgbClr val="222222"/>
                </a:solidFill>
              </a:rPr>
              <a:t>•  핵심 가치: 별도의 서버 구축 없이 구글의 인프라를 활용하여 이벤트 기반의 리스크 모니터링 시스템을 저비용·고효율로 구축하는 데 목적이 있습니다.</a:t>
            </a:r>
          </a:p>
          <a:p>
            <a:pPr>
              <a:spcBef>
                <a:spcPts val="600"/>
              </a:spcBef>
            </a:pPr>
            <a:r>
              <a:rPr sz="1300" b="1">
                <a:solidFill>
                  <a:srgbClr val="2E5984"/>
                </a:solidFill>
              </a:rPr>
              <a:t>2. 아키텍처 (Architecture): UrlFetchApp 기반의 외부 API 통신 구조</a:t>
            </a:r>
          </a:p>
          <a:p>
            <a:r>
              <a:rPr sz="1100">
                <a:solidFill>
                  <a:srgbClr val="222222"/>
                </a:solidFill>
              </a:rPr>
              <a:t>•  통신 메커니즘: Apps Script의 내장 클래스인 UrlFetchApp을 사용하여 HTTP/HTTPS 요청을 생성하고, Gemini API와 텔레그램 API에 데이터를 전송 및 수신합니다.</a:t>
            </a:r>
          </a:p>
          <a:p>
            <a:r>
              <a:rPr sz="1100">
                <a:solidFill>
                  <a:srgbClr val="222222"/>
                </a:solidFill>
              </a:rPr>
              <a:t>•  데이터 흐름:</a:t>
            </a:r>
          </a:p>
          <a:p>
            <a:r>
              <a:rPr sz="1100">
                <a:solidFill>
                  <a:srgbClr val="222222"/>
                </a:solidFill>
              </a:rPr>
              <a:t>•  01_INPUT 시트의 뉴스/공시 감지.</a:t>
            </a:r>
          </a:p>
          <a:p>
            <a:r>
              <a:rPr sz="1100">
                <a:solidFill>
                  <a:srgbClr val="222222"/>
                </a:solidFill>
              </a:rPr>
              <a:t>•  02_KNOWLEDGE_INDEX에서 관련 지식 검색(준RAG).</a:t>
            </a:r>
          </a:p>
          <a:p>
            <a:r>
              <a:rPr sz="1100">
                <a:solidFill>
                  <a:srgbClr val="222222"/>
                </a:solidFill>
              </a:rPr>
              <a:t>•  UrlFetchApp을 통한 Gemini API 분석 요청.</a:t>
            </a:r>
          </a:p>
          <a:p>
            <a:r>
              <a:rPr sz="1100">
                <a:solidFill>
                  <a:srgbClr val="222222"/>
                </a:solidFill>
              </a:rPr>
              <a:t>•  분석 결과를 03_RESULT에 저장 및 텔레그램 발송.</a:t>
            </a:r>
          </a:p>
          <a:p>
            <a:pPr>
              <a:spcBef>
                <a:spcPts val="600"/>
              </a:spcBef>
            </a:pPr>
            <a:r>
              <a:rPr sz="1300" b="1">
                <a:solidFill>
                  <a:srgbClr val="2E5984"/>
                </a:solidFill>
              </a:rPr>
              <a:t>3. 소스코드 (Source Code): runFnRiskWatchRAG 핵심 로직 명세</a:t>
            </a:r>
          </a:p>
          <a:p>
            <a:r>
              <a:rPr sz="1100">
                <a:solidFill>
                  <a:srgbClr val="222222"/>
                </a:solidFill>
              </a:rPr>
              <a:t>•  핵심 기능: 지식 검색과 AI 추론의 통합 파이프라인입니다.</a:t>
            </a:r>
          </a:p>
          <a:p>
            <a:pPr>
              <a:spcBef>
                <a:spcPts val="600"/>
              </a:spcBef>
            </a:pPr>
            <a:r>
              <a:rPr sz="1300" b="1">
                <a:solidFill>
                  <a:srgbClr val="2E5984"/>
                </a:solidFill>
              </a:rPr>
              <a:t>4. 실습 (Practice): 스크립트 에디터 주입 및 권한 승인</a:t>
            </a:r>
          </a:p>
          <a:p>
            <a:r>
              <a:rPr sz="1100">
                <a:solidFill>
                  <a:srgbClr val="222222"/>
                </a:solidFill>
              </a:rPr>
              <a:t>•  과제 1: 구글 시트의 [확장 프로그램] → [Apps Script]를 열고, 기존 코드를 모두 삭제한 뒤 ID: 192에 해당하는 전체 소스코드를 복사하여 붙여넣으십시오.</a:t>
            </a:r>
          </a:p>
          <a:p>
            <a:r>
              <a:rPr sz="1100">
                <a:solidFill>
                  <a:srgbClr val="222222"/>
                </a:solidFill>
              </a:rPr>
              <a:t>•  과제 2: 상단의 runFnRiskWatchRAG 함수를 선택하고 [실행] 버튼을 누른 뒤, 최초 1회 나타나는 '권한 검토(OAuth)' 창에서 구글 계정 액세스를 허용하십시오.</a:t>
            </a:r>
          </a:p>
          <a:p>
            <a:pPr>
              <a:spcBef>
                <a:spcPts val="600"/>
              </a:spcBef>
            </a:pPr>
            <a:r>
              <a:rPr sz="1300" b="1">
                <a:solidFill>
                  <a:srgbClr val="2E5984"/>
                </a:solidFill>
              </a:rPr>
              <a:t>5. 확장 (Expansion): 시간 기반 트리거를 통한 무인 운영 체제</a:t>
            </a:r>
          </a:p>
          <a:p>
            <a:r>
              <a:rPr sz="1100">
                <a:solidFill>
                  <a:srgbClr val="222222"/>
                </a:solidFill>
              </a:rPr>
              <a:t>•  고도화 전략: 수동 실행을 넘어, Apps Script의 '트리거' 메뉴를 통해 10분마다 해당 함수가 자동 실행되도록 설정함으로써 24시간 리스크 감시 체계를 완성합니다.</a:t>
            </a:r>
          </a:p>
          <a:p>
            <a:r>
              <a:rPr sz="1100">
                <a:solidFill>
                  <a:srgbClr val="222222"/>
                </a:solidFill>
              </a:rPr>
              <a:t>•  기술적 지향점: 현재의 키워드 검색(준RAG) 방식이 데이터가 100개 이상으로 늘어나 성능 한계에 부딪힐 경우, 193번 슬라이드에서 다룰 Vector DB(ChromaDB)로의 확장을 준비합니다.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192  ·  160/216</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C</a:t>
            </a:r>
          </a:p>
          <a:p>
            <a:r>
              <a:rPr sz="1900" b="1">
                <a:solidFill>
                  <a:srgbClr val="FFFFFF"/>
                </a:solidFill>
              </a:rPr>
              <a:t>[161] FnRiskWatch RAG MVP 구축 실무 - 9~11단계: 실행 권한 승인 및 RAG 작동 검증</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구글-AI-시트 간의 '신뢰 체계' 구축 및 결과 확인</a:t>
            </a:r>
          </a:p>
          <a:p>
            <a:r>
              <a:rPr sz="1100">
                <a:solidFill>
                  <a:srgbClr val="222222"/>
                </a:solidFill>
              </a:rPr>
              <a:t>•  권한 승인 (Step 9): Apps Script가 사용자의 구글 시트 데이터에 접근하고 외부 Gemini API와 통신하기 위해 필요한 OAuth 인증 절차입니다.</a:t>
            </a:r>
          </a:p>
          <a:p>
            <a:r>
              <a:rPr sz="1100">
                <a:solidFill>
                  <a:srgbClr val="222222"/>
                </a:solidFill>
              </a:rPr>
              <a:t>•  작동 검증 (Step 10): 스크립트 실행 후 01_INPUT의 상태가 '대기'에서 '완료'로 변경되고, 03_RESULT에 AI의 분석값이 정상적으로 기록되는지 확인하는 데이터 정합성 테스트입니다.</a:t>
            </a:r>
          </a:p>
          <a:p>
            <a:pPr>
              <a:spcBef>
                <a:spcPts val="600"/>
              </a:spcBef>
            </a:pPr>
            <a:r>
              <a:rPr sz="1300" b="1">
                <a:solidFill>
                  <a:srgbClr val="2E5984"/>
                </a:solidFill>
              </a:rPr>
              <a:t>2. 아키텍처 (Architecture): 지능형 컨텍스트 기반 RAG 워크플로우 [출처: 15, 25]</a:t>
            </a:r>
          </a:p>
          <a:p>
            <a:r>
              <a:rPr sz="1100">
                <a:solidFill>
                  <a:srgbClr val="222222"/>
                </a:solidFill>
              </a:rPr>
              <a:t>•  RAG 메커니즘: [뉴스 입력] → [키워드 매핑] → [지식 문서(txt) 추출] → [프롬프트 합성] → [Gemini 추론].</a:t>
            </a:r>
          </a:p>
          <a:p>
            <a:r>
              <a:rPr sz="1100">
                <a:solidFill>
                  <a:srgbClr val="222222"/>
                </a:solidFill>
              </a:rPr>
              <a:t>•  검증 지표: 분석 결과의 '검색문서' 컬럼에 입력된 뉴스 주제와 관련된 지식 파일(예: 03_반도체리스크.txt)이 포함되어 있는지가 RAG 정상 작동의 핵심 척도입니다.</a:t>
            </a:r>
          </a:p>
          <a:p>
            <a:pPr>
              <a:spcBef>
                <a:spcPts val="600"/>
              </a:spcBef>
            </a:pPr>
            <a:r>
              <a:rPr sz="1300" b="1">
                <a:solidFill>
                  <a:srgbClr val="2E5984"/>
                </a:solidFill>
              </a:rPr>
              <a:t>3. 소스코드 (Source Code): Gemini API 호출 및 RAG 검색 엔진의 핵심 [출처: 22, 23]</a:t>
            </a:r>
          </a:p>
          <a:p>
            <a:r>
              <a:rPr sz="1100">
                <a:solidFill>
                  <a:srgbClr val="222222"/>
                </a:solidFill>
              </a:rPr>
              <a:t>•  핵심 도구: UrlFetchApp을 통해 Gemini API의 generateContent 엔드포인트로 데이터를 전송하며, JSON 구조화 출력(Structured Output)을 강제합니다.</a:t>
            </a:r>
          </a:p>
          <a:p>
            <a:r>
              <a:rPr sz="1100">
                <a:solidFill>
                  <a:srgbClr val="222222"/>
                </a:solidFill>
              </a:rPr>
              <a:t>•  검색 로직: searchKnowledge 함수는 입력된 제목에서 키워드를 추출하여 02_KNOWLEDGE_INDEX 시트의 본문과 대조하는 준RAG(Pseudo-RAG) 방식을 채택합니다.</a:t>
            </a:r>
          </a:p>
          <a:p>
            <a:pPr>
              <a:spcBef>
                <a:spcPts val="600"/>
              </a:spcBef>
            </a:pPr>
            <a:r>
              <a:rPr sz="1300" b="1">
                <a:solidFill>
                  <a:srgbClr val="2E5984"/>
                </a:solidFill>
              </a:rPr>
              <a:t>4. 실습 (Practice): 첫 실행 권한 승인 및 SK하이닉스 사례 테스트 [출처: 24, 25]</a:t>
            </a:r>
          </a:p>
          <a:p>
            <a:r>
              <a:rPr sz="1100">
                <a:solidFill>
                  <a:srgbClr val="222222"/>
                </a:solidFill>
              </a:rPr>
              <a:t>•  과제 1 (Step 9): runFnRiskWatchRAG 함수 실행 시 나타나는 '권한 검토' 창에서 구글 계정을 선택하고 [고급] → [프로젝트로 이동] → [허용] 순으로 인증을 완료하십시오.</a:t>
            </a:r>
          </a:p>
          <a:p>
            <a:r>
              <a:rPr sz="1100">
                <a:solidFill>
                  <a:srgbClr val="222222"/>
                </a:solidFill>
              </a:rPr>
              <a:t>•  과제 2 (Step 11): 01_INPUT 시트에 'SK하이닉스' 관련 금리 급등 뉴스를 추가하고 재실행하여, '금리리스크'와 '반도체리스크' 문서가 동시에 검색되는지 확인하십시오.</a:t>
            </a:r>
          </a:p>
          <a:p>
            <a:pPr>
              <a:spcBef>
                <a:spcPts val="600"/>
              </a:spcBef>
            </a:pPr>
            <a:r>
              <a:rPr sz="1300" b="1">
                <a:solidFill>
                  <a:srgbClr val="2E5984"/>
                </a:solidFill>
              </a:rPr>
              <a:t>5. 확장 (Expansion): 키워드 검색의 한계를 넘는 Vector DB 도입 시점 [출처: 26]</a:t>
            </a:r>
          </a:p>
          <a:p>
            <a:r>
              <a:rPr sz="1100">
                <a:solidFill>
                  <a:srgbClr val="222222"/>
                </a:solidFill>
              </a:rPr>
              <a:t>•  고도화 전략 (Step 15): 현재의 구글 시트 기반 준RAG 방식은 지식 문서가 100개 이상이거나 키워드만으로 검색 누락이 많아질 때 Vector DB(ChromaDB)로 전환해야 합니다.</a:t>
            </a:r>
          </a:p>
          <a:p>
            <a:r>
              <a:rPr sz="1100">
                <a:solidFill>
                  <a:srgbClr val="222222"/>
                </a:solidFill>
              </a:rPr>
              <a:t>•  기술적 지향점: 194번 슬라이드에서 다룰 자동 실행 설정(트리거)을 통해 사람이 없는 시간에도 이 모든 검증 과정이 자율적으로 반복되는 무중단 리스크 감시 시스템을 완성합니다.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193  ·  161/216</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C</a:t>
            </a:r>
          </a:p>
          <a:p>
            <a:r>
              <a:rPr sz="1900" b="1">
                <a:solidFill>
                  <a:srgbClr val="FFFFFF"/>
                </a:solidFill>
              </a:rPr>
              <a:t>[162] FnRiskWatch RAG MVP 구축 실무 - 12~14단계: 자동 실행 설정 및 운영 최적화</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잠들지 않는 리스크 감시를 위한 '시간 기반 자동화'</a:t>
            </a:r>
          </a:p>
          <a:p>
            <a:r>
              <a:rPr sz="1100">
                <a:solidFill>
                  <a:srgbClr val="222222"/>
                </a:solidFill>
              </a:rPr>
              <a:t>•  자동 실행(Step 12): 구글 앱스 스크립트(GAS)의 트리거 기능을 활용하여 10분마다 자동으로 뉴스를 체크하고 분석하는 무인 운영 체계를 구축합니다.</a:t>
            </a:r>
          </a:p>
          <a:p>
            <a:r>
              <a:rPr sz="1100">
                <a:solidFill>
                  <a:srgbClr val="222222"/>
                </a:solidFill>
              </a:rPr>
              <a:t>•  운영 최적화(Step 13~14): 분석 품질을 결정하는 키워드를 확장하고, 비개발자 운영진이 직관적으로 시스템 상태를 파악할 수 있도록 시트 레이아웃을 컬러로 구분하여 가독성을 높입니다.</a:t>
            </a:r>
          </a:p>
          <a:p>
            <a:pPr>
              <a:spcBef>
                <a:spcPts val="600"/>
              </a:spcBef>
            </a:pPr>
            <a:r>
              <a:rPr sz="1300" b="1">
                <a:solidFill>
                  <a:srgbClr val="2E5984"/>
                </a:solidFill>
              </a:rPr>
              <a:t>2. 아키텍처 (Architecture): 타임 드리븐(Time-driven) 이벤트 트리거 구조</a:t>
            </a:r>
          </a:p>
          <a:p>
            <a:r>
              <a:rPr sz="1100">
                <a:solidFill>
                  <a:srgbClr val="222222"/>
                </a:solidFill>
              </a:rPr>
              <a:t>•  작업 흐름: [구글 인프라] → [10분 간격 이벤트 발생] → [runFnRiskWatchRAG 호출] → [01_INPUT 내 '대기' 데이터 탐색] → [분석 및 알림].</a:t>
            </a:r>
          </a:p>
          <a:p>
            <a:r>
              <a:rPr sz="1100">
                <a:solidFill>
                  <a:srgbClr val="222222"/>
                </a:solidFill>
              </a:rPr>
              <a:t>•  효율성: 데이터가 있을 때만 처리하고 없을 때는 즉시 종료하여 구글의 실행 쿼터(Quota)를 효율적으로 관리합니다.</a:t>
            </a:r>
          </a:p>
          <a:p>
            <a:pPr>
              <a:spcBef>
                <a:spcPts val="600"/>
              </a:spcBef>
            </a:pPr>
            <a:r>
              <a:rPr sz="1300" b="1">
                <a:solidFill>
                  <a:srgbClr val="2E5984"/>
                </a:solidFill>
              </a:rPr>
              <a:t>3. 설정 가이드 (Settings): 트리거 구성 및 키워드 확장 전략</a:t>
            </a:r>
          </a:p>
          <a:p>
            <a:r>
              <a:rPr sz="1100">
                <a:solidFill>
                  <a:srgbClr val="222222"/>
                </a:solidFill>
              </a:rPr>
              <a:t>•  트리거 설정: [출처: 25]</a:t>
            </a:r>
          </a:p>
          <a:p>
            <a:r>
              <a:rPr sz="1100">
                <a:solidFill>
                  <a:srgbClr val="222222"/>
                </a:solidFill>
              </a:rPr>
              <a:t>•  메뉴: Apps Script 왼쪽 '트리거(시계 아이콘)' → [트리거 추가] 버튼 클릭.</a:t>
            </a:r>
          </a:p>
          <a:p>
            <a:r>
              <a:rPr sz="1100">
                <a:solidFill>
                  <a:srgbClr val="222222"/>
                </a:solidFill>
              </a:rPr>
              <a:t>•  옵션: 실행 함수(runFnRiskWatchRAG), 이벤트 소스(시간 기반), 간격(10분마다).</a:t>
            </a:r>
          </a:p>
          <a:p>
            <a:r>
              <a:rPr sz="1100">
                <a:solidFill>
                  <a:srgbClr val="222222"/>
                </a:solidFill>
              </a:rPr>
              <a:t>•  검색 품질 개선: 02_KNOWLEDGE_INDEX의 키워드를 맥락 중심으로 확장합니다. [출처: 26]</a:t>
            </a:r>
          </a:p>
          <a:p>
            <a:r>
              <a:rPr sz="1100">
                <a:solidFill>
                  <a:srgbClr val="222222"/>
                </a:solidFill>
              </a:rPr>
              <a:t>•  반도체: 삼성전자, SK하이닉스, 나스닥, 엔비디아, HBM 등 추가.</a:t>
            </a:r>
          </a:p>
          <a:p>
            <a:r>
              <a:rPr sz="1100">
                <a:solidFill>
                  <a:srgbClr val="222222"/>
                </a:solidFill>
              </a:rPr>
              <a:t>•  환율: 달러강세, 원화약세, 외환, USD/KRW 등 추가.</a:t>
            </a:r>
          </a:p>
          <a:p>
            <a:pPr>
              <a:spcBef>
                <a:spcPts val="600"/>
              </a:spcBef>
            </a:pPr>
            <a:r>
              <a:rPr sz="1300" b="1">
                <a:solidFill>
                  <a:srgbClr val="2E5984"/>
                </a:solidFill>
              </a:rPr>
              <a:t>4. 실습 (Practice): 트리거 등록 및 운영 시트 색상 관리</a:t>
            </a:r>
          </a:p>
          <a:p>
            <a:r>
              <a:rPr sz="1100">
                <a:solidFill>
                  <a:srgbClr val="222222"/>
                </a:solidFill>
              </a:rPr>
              <a:t>•  과제 1: 제시된 설정값에 따라 10분 단위 트리거를 생성하고, 01_INPUT에 데이터를 넣은 뒤 실제로 10분 뒤에 자동 처리되는지 확인하십시오.</a:t>
            </a:r>
          </a:p>
          <a:p>
            <a:r>
              <a:rPr sz="1100">
                <a:solidFill>
                  <a:srgbClr val="222222"/>
                </a:solidFill>
              </a:rPr>
              <a:t>•  과제 2: 운영의 편의를 위해 시트 탭 색상을 다음 규칙에 따라 변경하십시오: [출처: 26]</a:t>
            </a:r>
          </a:p>
          <a:p>
            <a:r>
              <a:rPr sz="1100">
                <a:solidFill>
                  <a:srgbClr val="222222"/>
                </a:solidFill>
              </a:rPr>
              <a:t>•  INPUT(노란색), KNOWLEDGE(파란색), RESULT(초록색), LOG(빨간색).</a:t>
            </a:r>
          </a:p>
          <a:p>
            <a:pPr>
              <a:spcBef>
                <a:spcPts val="600"/>
              </a:spcBef>
            </a:pPr>
            <a:r>
              <a:rPr sz="1300" b="1">
                <a:solidFill>
                  <a:srgbClr val="2E5984"/>
                </a:solidFill>
              </a:rPr>
              <a:t>5. 확장 (Expansion): 에이전트 플랫폼(Agent Platform)으로의 진화 준비</a:t>
            </a:r>
          </a:p>
          <a:p>
            <a:r>
              <a:rPr sz="1100">
                <a:solidFill>
                  <a:srgbClr val="222222"/>
                </a:solidFill>
              </a:rPr>
              <a:t>•  고도화 전략: 현재의 단일 스크립트 구조가 다수의 에이전트 역할 분담이나 사용자별 세션 관리가 필요한 시점에 도달하면 Google Agent Platform으로의 확장을 검토합니다.</a:t>
            </a:r>
          </a:p>
          <a:p>
            <a:r>
              <a:rPr sz="1100">
                <a:solidFill>
                  <a:srgbClr val="222222"/>
                </a:solidFill>
              </a:rPr>
              <a:t>•  기술적 지향점: 195번 슬라이드에서 다룰 Vector DB 확장 전 확인사항을 통해, 단순 키워드 검색(준RAG)을 넘어선 본격적인 시맨틱 검색(Semantic Search) 체계로의 업그레이드 기준을 정립합니다.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194  ·  162/216</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C</a:t>
            </a:r>
          </a:p>
          <a:p>
            <a:r>
              <a:rPr sz="1900" b="1">
                <a:solidFill>
                  <a:srgbClr val="FFFFFF"/>
                </a:solidFill>
              </a:rPr>
              <a:t>[163] FnRiskWatch RAG MVP 구축 실무 - 15~16단계: Vector DB 확장 및 최종 결론</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효율적인 기술 스택 전환을 위한 '확장 트리거' 정의</a:t>
            </a:r>
          </a:p>
          <a:p>
            <a:r>
              <a:rPr sz="1100">
                <a:solidFill>
                  <a:srgbClr val="222222"/>
                </a:solidFill>
              </a:rPr>
              <a:t>•  Vector DB 전환(Step 15): 단순 키워드 매칭의 한계를 넘어, 문맥적 의미를 파악하는 시맨틱 검색(Semantic Search)이 필요한 시점을 정의합니다. [출처: 26]</a:t>
            </a:r>
          </a:p>
          <a:p>
            <a:r>
              <a:rPr sz="1100">
                <a:solidFill>
                  <a:srgbClr val="222222"/>
                </a:solidFill>
              </a:rPr>
              <a:t>•  에이전트 플랫폼 진화(Step 16): 단일 스크립트 제어를 넘어, 다수의 AI 에이전트가 자율적으로 협업하는 멀티 에이전트 시스템으로의 전환 기준을 설정합니다. [출처: 27]</a:t>
            </a:r>
          </a:p>
          <a:p>
            <a:pPr>
              <a:spcBef>
                <a:spcPts val="600"/>
              </a:spcBef>
            </a:pPr>
            <a:r>
              <a:rPr sz="1300" b="1">
                <a:solidFill>
                  <a:srgbClr val="2E5984"/>
                </a:solidFill>
              </a:rPr>
              <a:t>2. 아키텍처 (Architecture): 구글 시트 RAG에서 엔터프라이즈 에이전트까지의 로드맵 [출처: 15, 27]</a:t>
            </a:r>
          </a:p>
          <a:p>
            <a:r>
              <a:rPr sz="1100">
                <a:solidFill>
                  <a:srgbClr val="222222"/>
                </a:solidFill>
              </a:rPr>
              <a:t>•  1단계 (현재): Google Sheets + Apps Script + 준RAG (소규모 지식 관리 최적).</a:t>
            </a:r>
          </a:p>
          <a:p>
            <a:r>
              <a:rPr sz="1100">
                <a:solidFill>
                  <a:srgbClr val="222222"/>
                </a:solidFill>
              </a:rPr>
              <a:t>•  2단계 (확장): Python + ChromaDB(Vector DB) + OpenAI Embedding (대규모·복합 지식 검색).</a:t>
            </a:r>
          </a:p>
          <a:p>
            <a:r>
              <a:rPr sz="1100">
                <a:solidFill>
                  <a:srgbClr val="222222"/>
                </a:solidFill>
              </a:rPr>
              <a:t>•  3단계 (완성): Google Agent Platform 또는 CrewAI 연동 (보안·권한·다단계 추론·도구 연동 최적화).</a:t>
            </a:r>
          </a:p>
          <a:p>
            <a:pPr>
              <a:spcBef>
                <a:spcPts val="600"/>
              </a:spcBef>
            </a:pPr>
            <a:r>
              <a:rPr sz="1300" b="1">
                <a:solidFill>
                  <a:srgbClr val="2E5984"/>
                </a:solidFill>
              </a:rPr>
              <a:t>3. 체크리스트 (Guidelines): 기술 고도화 결정을 위한 5대 필요조건 [출처: 26, 27]</a:t>
            </a:r>
          </a:p>
          <a:p>
            <a:r>
              <a:rPr sz="1100">
                <a:solidFill>
                  <a:srgbClr val="222222"/>
                </a:solidFill>
              </a:rPr>
              <a:t>•  Vector DB 도입이 필요한 경우 (Step 15): [출처: 26]</a:t>
            </a:r>
          </a:p>
          <a:p>
            <a:r>
              <a:rPr sz="1100">
                <a:solidFill>
                  <a:srgbClr val="222222"/>
                </a:solidFill>
              </a:rPr>
              <a:t>•  지식 문서가 100개 이상으로 증가할 때.</a:t>
            </a:r>
          </a:p>
          <a:p>
            <a:r>
              <a:rPr sz="1100">
                <a:solidFill>
                  <a:srgbClr val="222222"/>
                </a:solidFill>
              </a:rPr>
              <a:t>•  키워드 검색만으로 리스크 감지 누락이 빈번할 때.</a:t>
            </a:r>
          </a:p>
          <a:p>
            <a:r>
              <a:rPr sz="1100">
                <a:solidFill>
                  <a:srgbClr val="222222"/>
                </a:solidFill>
              </a:rPr>
              <a:t>•  문서의 내용이 길고 구조가 복잡할 때.</a:t>
            </a:r>
          </a:p>
          <a:p>
            <a:r>
              <a:rPr sz="1100">
                <a:solidFill>
                  <a:srgbClr val="222222"/>
                </a:solidFill>
              </a:rPr>
              <a:t>•  에이전트 플랫폼 도입이 필요한 경우 (Step 16): [출처: 27]</a:t>
            </a:r>
          </a:p>
          <a:p>
            <a:r>
              <a:rPr sz="1100">
                <a:solidFill>
                  <a:srgbClr val="222222"/>
                </a:solidFill>
              </a:rPr>
              <a:t>•  사용자별 세션과 메모리 관리가 필수적일 때.</a:t>
            </a:r>
          </a:p>
          <a:p>
            <a:r>
              <a:rPr sz="1100">
                <a:solidFill>
                  <a:srgbClr val="222222"/>
                </a:solidFill>
              </a:rPr>
              <a:t>•  사내 시스템 API 및 다수의 외부 도구와 복합적으로 연결해야 할 때.</a:t>
            </a:r>
          </a:p>
          <a:p>
            <a:r>
              <a:rPr sz="1100">
                <a:solidFill>
                  <a:srgbClr val="222222"/>
                </a:solidFill>
              </a:rPr>
              <a:t>•  실행 로그 기록, 품질 평가, 보안 감사가 중요해질 때.</a:t>
            </a:r>
          </a:p>
          <a:p>
            <a:pPr>
              <a:spcBef>
                <a:spcPts val="600"/>
              </a:spcBef>
            </a:pPr>
            <a:r>
              <a:rPr sz="1300" b="1">
                <a:solidFill>
                  <a:srgbClr val="2E5984"/>
                </a:solidFill>
              </a:rPr>
              <a:t>4. 실습 (Practice): 10대 항목 최종 점검표(Final Checklist) 확인 [출처: 27]</a:t>
            </a:r>
          </a:p>
          <a:p>
            <a:r>
              <a:rPr sz="1100">
                <a:solidFill>
                  <a:srgbClr val="222222"/>
                </a:solidFill>
              </a:rPr>
              <a:t>•  과제: 구축한 FnRiskWatch 시스템이 다음 10가지 항목을 모두 충족하는지 최종 전수 점검하십시오.</a:t>
            </a:r>
          </a:p>
          <a:p>
            <a:r>
              <a:rPr sz="1100">
                <a:solidFill>
                  <a:srgbClr val="222222"/>
                </a:solidFill>
              </a:rPr>
              <a:t>•  드라이브 내 지식파일 5개 생성 2. 시트 6개 탭 구성 3. 지식 색인 입력 4. 테스트 뉴스 입력 5. API Key 설정 6. 코드 주입 7. 수동 실행 성공 8. 결과 기록 확인 9. 검색문서 매칭 확인 10. 텔레그램 알림 확인.</a:t>
            </a:r>
          </a:p>
          <a:p>
            <a:pPr>
              <a:spcBef>
                <a:spcPts val="600"/>
              </a:spcBef>
            </a:pPr>
            <a:r>
              <a:rPr sz="1300" b="1">
                <a:solidFill>
                  <a:srgbClr val="2E5984"/>
                </a:solidFill>
              </a:rPr>
              <a:t>5. 확장 (Expansion): '지능형 리스크 관제 센터'로의 도약</a:t>
            </a:r>
          </a:p>
          <a:p>
            <a:r>
              <a:rPr sz="1100">
                <a:solidFill>
                  <a:srgbClr val="222222"/>
                </a:solidFill>
              </a:rPr>
              <a:t>•  고도화 전략: 현재의 MVP를 기반으로 실시간 뉴스 RSS 피드를 연동하여 데이터 수집을 자동화하고, 183번 슬라이드에서 구현한 PDF 리포트 생성 엔진을 결합하여 분석 보고서까지 자동으로 발행하는 완성형 리서치 파이프라인으로 확장합니다. [출처: 136, 139]</a:t>
            </a:r>
          </a:p>
          <a:p>
            <a:r>
              <a:rPr sz="1100">
                <a:solidFill>
                  <a:srgbClr val="222222"/>
                </a:solidFill>
              </a:rPr>
              <a:t>•  기술적 비전: 이 과정에서 습득한 [구글 생태계 + AI + 외부 API] 연동 기술은 금융을 넘어 모든 산업 분야의 에이전틱 워크플로우(Agentic Workflow) 구축에 핵심 자산이 될 것입니다. [출처: 100, 191]</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195  ·  163/216</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C</a:t>
            </a:r>
          </a:p>
          <a:p>
            <a:r>
              <a:rPr sz="1900" b="1">
                <a:solidFill>
                  <a:srgbClr val="FFFFFF"/>
                </a:solidFill>
              </a:rPr>
              <a:t>[164] AI 아키텍처의 정점 - CrewAI 기반 멀티 에이전트 오케스트레이션</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역할 분담과 협업을 통해 목표를 달성하는 '자율형 AI 조직'</a:t>
            </a:r>
          </a:p>
          <a:p>
            <a:r>
              <a:rPr sz="1100">
                <a:solidFill>
                  <a:srgbClr val="222222"/>
                </a:solidFill>
              </a:rPr>
              <a:t>•  정의: 복잡한 투자 분석 업무를 수행하기 위해 데이터 수집, 재무 분석, 차트 해석 등 각 분야의 전문 에이전트들이 서로 협력하고 역할을 분담하는 오픈소스 멀티 에이전트 프레임워크입니다,.</a:t>
            </a:r>
          </a:p>
          <a:p>
            <a:r>
              <a:rPr sz="1100">
                <a:solidFill>
                  <a:srgbClr val="222222"/>
                </a:solidFill>
              </a:rPr>
              <a:t>•  핵심 가치: 단순한 순차적 실행(Pipeline)을 넘어, 에이전트들이 스스로 도구(Tool)를 사용하고 다단계 추론을 거쳐 결과를 통합하는 에이전틱 워크플로우(Agentic Workflow)를 실현합니다.</a:t>
            </a:r>
          </a:p>
          <a:p>
            <a:pPr>
              <a:spcBef>
                <a:spcPts val="600"/>
              </a:spcBef>
            </a:pPr>
            <a:r>
              <a:rPr sz="1300" b="1">
                <a:solidFill>
                  <a:srgbClr val="2E5984"/>
                </a:solidFill>
              </a:rPr>
              <a:t>2. 아키텍처 (Architecture): CrewAI의 5대 핵심 구성 요소 및 흐름,</a:t>
            </a:r>
          </a:p>
          <a:p>
            <a:r>
              <a:rPr sz="1100">
                <a:solidFill>
                  <a:srgbClr val="222222"/>
                </a:solidFill>
              </a:rPr>
              <a:t>•  프로세스 흐름: [역할(Role) 정의] → [작업(Task) 정의] → [도구(Tool) 연결] → [크루(Crew) 편성] → [자율 협업 및 결과 도출].</a:t>
            </a:r>
          </a:p>
          <a:p>
            <a:r>
              <a:rPr sz="1100">
                <a:solidFill>
                  <a:srgbClr val="222222"/>
                </a:solidFill>
              </a:rPr>
              <a:t>•  운영 원칙: 목표 기반(Task-oriented)으로 움직이며, 각 에이전트는 고유의 메모리와 상태를 관리하여 복잡한 금융 데이터를 입체적으로 해석합니다.</a:t>
            </a:r>
          </a:p>
          <a:p>
            <a:pPr>
              <a:spcBef>
                <a:spcPts val="600"/>
              </a:spcBef>
            </a:pPr>
            <a:r>
              <a:rPr sz="1300" b="1">
                <a:solidFill>
                  <a:srgbClr val="2E5984"/>
                </a:solidFill>
              </a:rPr>
              <a:t>3. 소스코드 (Source Code): 6대 전문 에이전트 설계 및 연동 구조</a:t>
            </a:r>
          </a:p>
          <a:p>
            <a:r>
              <a:rPr sz="1100">
                <a:solidFill>
                  <a:srgbClr val="222222"/>
                </a:solidFill>
              </a:rPr>
              <a:t>•  에이전트 역할 정의 (Role Definition):</a:t>
            </a:r>
          </a:p>
          <a:p>
            <a:r>
              <a:rPr sz="1100">
                <a:solidFill>
                  <a:srgbClr val="222222"/>
                </a:solidFill>
              </a:rPr>
              <a:t>•  DataCollectorAgent: 외부 API를 통한 원천 데이터 수집.</a:t>
            </a:r>
          </a:p>
          <a:p>
            <a:r>
              <a:rPr sz="1100">
                <a:solidFill>
                  <a:srgbClr val="222222"/>
                </a:solidFill>
              </a:rPr>
              <a:t>•  FundamentalAnalystAgent: 재무제표 기반 가치 및 수익성 분석.</a:t>
            </a:r>
          </a:p>
          <a:p>
            <a:r>
              <a:rPr sz="1100">
                <a:solidFill>
                  <a:srgbClr val="222222"/>
                </a:solidFill>
              </a:rPr>
              <a:t>•  TechnicalAnalystAgent: 캔들 및 기술적 지표 기반 추세 분석.</a:t>
            </a:r>
          </a:p>
          <a:p>
            <a:r>
              <a:rPr sz="1100">
                <a:solidFill>
                  <a:srgbClr val="222222"/>
                </a:solidFill>
              </a:rPr>
              <a:t>•  FlowAnalystAgent: 수급 주체별 매매 동향 및 에너지 분석.</a:t>
            </a:r>
          </a:p>
          <a:p>
            <a:r>
              <a:rPr sz="1100">
                <a:solidFill>
                  <a:srgbClr val="222222"/>
                </a:solidFill>
              </a:rPr>
              <a:t>•  MacroRiskAgent: 거시 경제 변수와 시장 전이 위험 분석.</a:t>
            </a:r>
          </a:p>
          <a:p>
            <a:r>
              <a:rPr sz="1100">
                <a:solidFill>
                  <a:srgbClr val="222222"/>
                </a:solidFill>
              </a:rPr>
              <a:t>•  ReportWriterAgent: 각 에이전트의 결과물을 통합하여 리포트 작성.</a:t>
            </a:r>
          </a:p>
          <a:p>
            <a:r>
              <a:rPr sz="1100">
                <a:solidFill>
                  <a:srgbClr val="222222"/>
                </a:solidFill>
              </a:rPr>
              <a:t>•  구현 가이드: MVP의 안정성을 위해 기존의 결정론적 파이프라인(investment_agent.py)을 유지하되, CrewAI는 고도화된 추론이 필요한 시점에 확장 옵션으로 호출하도록 설계합니다.</a:t>
            </a:r>
          </a:p>
          <a:p>
            <a:pPr>
              <a:spcBef>
                <a:spcPts val="600"/>
              </a:spcBef>
            </a:pPr>
            <a:r>
              <a:rPr sz="1300" b="1">
                <a:solidFill>
                  <a:srgbClr val="2E5984"/>
                </a:solidFill>
              </a:rPr>
              <a:t>4. 실습 (Practice): 에이전틱 AI 협업 시나리오 및 도구(Tool) 할당</a:t>
            </a:r>
          </a:p>
          <a:p>
            <a:r>
              <a:rPr sz="1100">
                <a:solidFill>
                  <a:srgbClr val="222222"/>
                </a:solidFill>
              </a:rPr>
              <a:t>•  과제 1: DataCollectorAgent에게 180번 슬라이드에서 구축한 코스콤 API 수집 모듈을 도구(Tool)로 등록하고, 에이전트가 스스로 필요한 시점에 데이터를 호출하는지 로그를 통해 확인하십시오,.</a:t>
            </a:r>
          </a:p>
          <a:p>
            <a:r>
              <a:rPr sz="1100">
                <a:solidFill>
                  <a:srgbClr val="222222"/>
                </a:solidFill>
              </a:rPr>
              <a:t>•  과제 2: ReportWriterAgent에게 최종 PDF 생성 도구(pdf_report.py)를 할당하여, 5명의 에이전트가 도출한 결론을 하나의 브리프로 취합하는 워크플로우를 시뮬레이션하십시오,.</a:t>
            </a:r>
          </a:p>
          <a:p>
            <a:pPr>
              <a:spcBef>
                <a:spcPts val="600"/>
              </a:spcBef>
            </a:pPr>
            <a:r>
              <a:rPr sz="1300" b="1">
                <a:solidFill>
                  <a:srgbClr val="2E5984"/>
                </a:solidFill>
              </a:rPr>
              <a:t>5. 확장 (Expansion): 초개인화 AI 투자 비서 및 'AI 워크포스(Workforce)' 완성,</a:t>
            </a:r>
          </a:p>
          <a:p>
            <a:r>
              <a:rPr sz="1100">
                <a:solidFill>
                  <a:srgbClr val="222222"/>
                </a:solidFill>
              </a:rPr>
              <a:t>•  고도화 전략: 현재의 종목 분석을 넘어 포트폴리오 리스크 관리, 실시간 뉴스 RSS 피드 분석, VaR 기반 손실 위험 탐지 등 10대 확장 과제를 각각의 에이전트 태스크로 할당합니다,.</a:t>
            </a:r>
          </a:p>
          <a:p>
            <a:r>
              <a:rPr sz="1100">
                <a:solidFill>
                  <a:srgbClr val="222222"/>
                </a:solidFill>
              </a:rPr>
              <a:t>•  기술적 비전: 이를 통해 단순한 분석 도구를 넘어 사용자의 투자 성향과 시장 상황을 스스로 학습하고 대응하는 초개인화된 AI 금융 워크포스 시스템으로 진화시킵니다.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199  ·  164/216</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C</a:t>
            </a:r>
          </a:p>
          <a:p>
            <a:r>
              <a:rPr sz="1900" b="1">
                <a:solidFill>
                  <a:srgbClr val="FFFFFF"/>
                </a:solidFill>
              </a:rPr>
              <a:t>[165] 교육 수료 및 향후 성장 가이드 - 데이터와 지능으로 시장을 설계하라</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코더(Coder)를 넘어 오케스트레이터(Orchestrator)로의 진화</a:t>
            </a:r>
          </a:p>
          <a:p>
            <a:r>
              <a:rPr sz="1100">
                <a:solidFill>
                  <a:srgbClr val="222222"/>
                </a:solidFill>
              </a:rPr>
              <a:t>•  정의: 16시간 동안 습득한 것은 단순한 '기술'이 아니라, 파편화된 금융 데이터에 지능을 부여하여 시스템을 구축하는 '설계자의 사고방식'입니다. [출처: 100]</a:t>
            </a:r>
          </a:p>
          <a:p>
            <a:r>
              <a:rPr sz="1100">
                <a:solidFill>
                  <a:srgbClr val="222222"/>
                </a:solidFill>
              </a:rPr>
              <a:t>•  핵심 가치: 이제 여러분은 AI에게 무엇을 시킬지 아는 아키텍트입니다. 기술적 복잡성을 비즈니스의 단순함으로 전환하는 능력이 여러분의 가장 큰 자산입니다. [출처: 64, 101]</a:t>
            </a:r>
          </a:p>
          <a:p>
            <a:pPr>
              <a:spcBef>
                <a:spcPts val="600"/>
              </a:spcBef>
            </a:pPr>
            <a:r>
              <a:rPr sz="1300" b="1">
                <a:solidFill>
                  <a:srgbClr val="2E5984"/>
                </a:solidFill>
              </a:rPr>
              <a:t>2. 아키텍처 (Architecture): 지속 가능한 성장을 위한 지식 에코시스템 [출처: 139, 171]</a:t>
            </a:r>
          </a:p>
          <a:p>
            <a:r>
              <a:rPr sz="1100">
                <a:solidFill>
                  <a:srgbClr val="222222"/>
                </a:solidFill>
              </a:rPr>
              <a:t>•  학습 파이프라인: [MVP 구축] → [실무 피드백 수집] → [모델/프롬프트 고도화] → [신규 Action 확장]. [출처: 67, 173]</a:t>
            </a:r>
          </a:p>
          <a:p>
            <a:r>
              <a:rPr sz="1100">
                <a:solidFill>
                  <a:srgbClr val="222222"/>
                </a:solidFill>
              </a:rPr>
              <a:t>•  커뮤니티 연동: 교육 종료 후에도 GitHub 저장소와 기술 지원 채널을 통해 최신 API 명세 및 지능형 프롬프트 업데이트를 지속적으로 공유받는 구조를 유지합니다. [출처: 100, 139]</a:t>
            </a:r>
          </a:p>
          <a:p>
            <a:pPr>
              <a:spcBef>
                <a:spcPts val="600"/>
              </a:spcBef>
            </a:pPr>
            <a:r>
              <a:rPr sz="1300" b="1">
                <a:solidFill>
                  <a:srgbClr val="2E5984"/>
                </a:solidFill>
              </a:rPr>
              <a:t>3. 핵심 리소스 (Resources): 실전 아키텍트의 '치트 시트'와 도구함 [출처: 139, 173]</a:t>
            </a:r>
          </a:p>
          <a:p>
            <a:r>
              <a:rPr sz="1100">
                <a:solidFill>
                  <a:srgbClr val="222222"/>
                </a:solidFill>
              </a:rPr>
              <a:t>•  소스코드 저장소: 본 교육에서 구축한 KOStockCrewAI 및 tAnalyzer 전체 소스코드와 환경 설정 파일(.env.example). [출처: 174, 188]</a:t>
            </a:r>
          </a:p>
          <a:p>
            <a:r>
              <a:rPr sz="1100">
                <a:solidFill>
                  <a:srgbClr val="222222"/>
                </a:solidFill>
              </a:rPr>
              <a:t>•  기술 문서 맵: 코스콤 API 가이드, DART/ECOS 연동 규격서, 그리고 AI 네이티브 용어 50선 요약본. [출처: 72, 148]</a:t>
            </a:r>
          </a:p>
          <a:p>
            <a:r>
              <a:rPr sz="1100">
                <a:solidFill>
                  <a:srgbClr val="222222"/>
                </a:solidFill>
              </a:rPr>
              <a:t>•  운영 툴셋: Docker 배포 스크립트, systemd 서비스 설정 파일, Streamlit 대시보드 템플릿. [출처: 161, 166, 187]</a:t>
            </a:r>
          </a:p>
          <a:p>
            <a:pPr>
              <a:spcBef>
                <a:spcPts val="600"/>
              </a:spcBef>
            </a:pPr>
            <a:r>
              <a:rPr sz="1300" b="1">
                <a:solidFill>
                  <a:srgbClr val="2E5984"/>
                </a:solidFill>
              </a:rPr>
              <a:t>4. 실습 (Practice): 16시간의 결실, '나만의 AI 금융 비서' 최종 점검</a:t>
            </a:r>
          </a:p>
          <a:p>
            <a:r>
              <a:rPr sz="1100">
                <a:solidFill>
                  <a:srgbClr val="222222"/>
                </a:solidFill>
              </a:rPr>
              <a:t>•  최종 미션: 171번 슬라이드의 '운영 안정화 체크리스트' 10개 항목을 모두 통과했는지 확인하고, 본인의 텔레그램 봇이 보낸 첫 번째 분석 리포트를 캡처하여 포트폴리오로 저장하십시오. [출처: 171, 173]</a:t>
            </a:r>
          </a:p>
          <a:p>
            <a:r>
              <a:rPr sz="1100">
                <a:solidFill>
                  <a:srgbClr val="222222"/>
                </a:solidFill>
              </a:rPr>
              <a:t>•  성공 지표: "내 시스템이 실제 시장 데이터를 읽어와 스스로 리스크를 판단하고 대안을 제시하는가?"라는 질문에 'YES'라고 답할 수 있다면 여러분은 수료 자격이 충분합니다. [출처: 191]</a:t>
            </a:r>
          </a:p>
          <a:p>
            <a:pPr>
              <a:spcBef>
                <a:spcPts val="600"/>
              </a:spcBef>
            </a:pPr>
            <a:r>
              <a:rPr sz="1300" b="1">
                <a:solidFill>
                  <a:srgbClr val="2E5984"/>
                </a:solidFill>
              </a:rPr>
              <a:t>5. 확장 (Expansion): 초개인화 AI 자산관리 및 'AI 워크포스'의 주인공으로</a:t>
            </a:r>
          </a:p>
          <a:p>
            <a:r>
              <a:rPr sz="1100">
                <a:solidFill>
                  <a:srgbClr val="222222"/>
                </a:solidFill>
              </a:rPr>
              <a:t>•  미래 비전: 여러분이 구축한 에이전트는 향후 CrewAI 멀티 에이전트로 확장되어, 수만 개의 데이터를 동시에 분석하는 여러분만의 '디지털 직원(Workforce)'이 될 것입니다. [출처: 79, 199]</a:t>
            </a:r>
          </a:p>
          <a:p>
            <a:r>
              <a:rPr sz="1100">
                <a:solidFill>
                  <a:srgbClr val="222222"/>
                </a:solidFill>
              </a:rPr>
              <a:t>•  맺음말: 증권 데이터를 지배하는 아키텍트로서, 인공지능과 함께 금융의 미래를 멋지게 설계하시길 응원합니다. 16시간 동안 대단히 수고 많으셨습니다! [출처: 28, 64]</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217  ·  165/216</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C</a:t>
            </a:r>
          </a:p>
          <a:p>
            <a:r>
              <a:rPr sz="1900" b="1">
                <a:solidFill>
                  <a:srgbClr val="FFFFFF"/>
                </a:solidFill>
              </a:rPr>
              <a:t>[166] 실전 리스크 스코어링 루브릭 및 가중치 최적화 가이드</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데이터의 파편을 '정량적 지능'으로 변환하는 평가 잣대</a:t>
            </a:r>
          </a:p>
          <a:p>
            <a:r>
              <a:rPr sz="1100">
                <a:solidFill>
                  <a:srgbClr val="222222"/>
                </a:solidFill>
              </a:rPr>
              <a:t>•  정의: 수집된 재무, 기술, 수급, 거시 지표들에 대해 정해진 규칙(Rubric)에 따라 점수를 부여하고, 이를 종합하여 최종 투자 등급을 산출하는 의사결정 모델링입니다. [출처: 90, 154]</a:t>
            </a:r>
          </a:p>
          <a:p>
            <a:r>
              <a:rPr sz="1100">
                <a:solidFill>
                  <a:srgbClr val="222222"/>
                </a:solidFill>
              </a:rPr>
              <a:t>•  핵심 가치: "좋다/나쁘다"는 주관적 판단을 배제하고, 모든 종목에 동일한 객관적 평가 기준을 적용하여 시스템의 신뢰도를 확보합니다. [출처: 151, 182]</a:t>
            </a:r>
          </a:p>
          <a:p>
            <a:pPr>
              <a:spcBef>
                <a:spcPts val="600"/>
              </a:spcBef>
            </a:pPr>
            <a:r>
              <a:rPr sz="1300" b="1">
                <a:solidFill>
                  <a:srgbClr val="2E5984"/>
                </a:solidFill>
              </a:rPr>
              <a:t>2. 아키텍처 (Architecture): 4대 분석 계층별 가중치 설계 [출처: 154, 182]</a:t>
            </a:r>
          </a:p>
          <a:p>
            <a:r>
              <a:rPr sz="1100">
                <a:solidFill>
                  <a:srgbClr val="222222"/>
                </a:solidFill>
              </a:rPr>
              <a:t>•  종합 스코어링 엔진:</a:t>
            </a:r>
          </a:p>
          <a:p>
            <a:r>
              <a:rPr sz="1100">
                <a:solidFill>
                  <a:srgbClr val="222222"/>
                </a:solidFill>
              </a:rPr>
              <a:t>•  기본적 분석(Fundamental, 35%): ROE, 부채비율 등 기업의 체력 평가. [출처: 151]</a:t>
            </a:r>
          </a:p>
          <a:p>
            <a:r>
              <a:rPr sz="1100">
                <a:solidFill>
                  <a:srgbClr val="222222"/>
                </a:solidFill>
              </a:rPr>
              <a:t>•  기술적 분석(Technical, 30%): 추세, 모멘텀, 변동성 등 가격 에너지 평가. [출처: 150]</a:t>
            </a:r>
          </a:p>
          <a:p>
            <a:r>
              <a:rPr sz="1100">
                <a:solidFill>
                  <a:srgbClr val="222222"/>
                </a:solidFill>
              </a:rPr>
              <a:t>•  수급 분석(Flow, 20%): 외국인 및 기관의 매집 강도 평가. [출처: 152]</a:t>
            </a:r>
          </a:p>
          <a:p>
            <a:r>
              <a:rPr sz="1100">
                <a:solidFill>
                  <a:srgbClr val="222222"/>
                </a:solidFill>
              </a:rPr>
              <a:t>•  거시 분석(Macro, 15%): 금리, 환율 등 외부 환경 적합도 평가. [출처: 153]</a:t>
            </a:r>
          </a:p>
          <a:p>
            <a:pPr>
              <a:spcBef>
                <a:spcPts val="600"/>
              </a:spcBef>
            </a:pPr>
            <a:r>
              <a:rPr sz="1300" b="1">
                <a:solidFill>
                  <a:srgbClr val="2E5984"/>
                </a:solidFill>
              </a:rPr>
              <a:t>3. 스코어링 로직 (Source Code): 항목별 점수 부여 예시 [출처: 90, 151, 154]</a:t>
            </a:r>
          </a:p>
          <a:p>
            <a:r>
              <a:rPr sz="1100">
                <a:solidFill>
                  <a:srgbClr val="222222"/>
                </a:solidFill>
              </a:rPr>
              <a:t>•  기본적 분석 루브릭 (50점 기준 시작): [출처: 151]</a:t>
            </a:r>
          </a:p>
          <a:p>
            <a:r>
              <a:rPr sz="1100">
                <a:solidFill>
                  <a:srgbClr val="222222"/>
                </a:solidFill>
              </a:rPr>
              <a:t>•  ROE &gt;= 15%: +15점 (우수)</a:t>
            </a:r>
          </a:p>
          <a:p>
            <a:r>
              <a:rPr sz="1100">
                <a:solidFill>
                  <a:srgbClr val="222222"/>
                </a:solidFill>
              </a:rPr>
              <a:t>•  부채비율 &lt;= 100%: +15점 (안정)</a:t>
            </a:r>
          </a:p>
          <a:p>
            <a:r>
              <a:rPr sz="1100">
                <a:solidFill>
                  <a:srgbClr val="222222"/>
                </a:solidFill>
              </a:rPr>
              <a:t>•  영업이익 증가율 &gt; 0: +20점 (성장)</a:t>
            </a:r>
          </a:p>
          <a:p>
            <a:r>
              <a:rPr sz="1100">
                <a:solidFill>
                  <a:srgbClr val="222222"/>
                </a:solidFill>
              </a:rPr>
              <a:t>•  최종 등급 매핑(Rating): [출처: 154, 182]</a:t>
            </a:r>
          </a:p>
          <a:p>
            <a:r>
              <a:rPr sz="1100">
                <a:solidFill>
                  <a:srgbClr val="222222"/>
                </a:solidFill>
              </a:rPr>
              <a:t>•  80점 이상: STRONG_BUY (강력 매수)</a:t>
            </a:r>
          </a:p>
          <a:p>
            <a:r>
              <a:rPr sz="1100">
                <a:solidFill>
                  <a:srgbClr val="222222"/>
                </a:solidFill>
              </a:rPr>
              <a:t>•  65~79점: BUY (매수)</a:t>
            </a:r>
          </a:p>
          <a:p>
            <a:r>
              <a:rPr sz="1100">
                <a:solidFill>
                  <a:srgbClr val="222222"/>
                </a:solidFill>
              </a:rPr>
              <a:t>•  50~64점: HOLD (보유)</a:t>
            </a:r>
          </a:p>
          <a:p>
            <a:r>
              <a:rPr sz="1100">
                <a:solidFill>
                  <a:srgbClr val="222222"/>
                </a:solidFill>
              </a:rPr>
              <a:t>•  35~49점: WATCH (관찰/주의)</a:t>
            </a:r>
          </a:p>
          <a:p>
            <a:r>
              <a:rPr sz="1100">
                <a:solidFill>
                  <a:srgbClr val="222222"/>
                </a:solidFill>
              </a:rPr>
              <a:t>•  35점 미만: RISK (위험/매도)</a:t>
            </a:r>
          </a:p>
          <a:p>
            <a:pPr>
              <a:spcBef>
                <a:spcPts val="600"/>
              </a:spcBef>
            </a:pPr>
            <a:r>
              <a:rPr sz="1300" b="1">
                <a:solidFill>
                  <a:srgbClr val="2E5984"/>
                </a:solidFill>
              </a:rPr>
              <a:t>4. 실습 (Practice): 시장 국면에 따른 가중치 조정(Weight Tuning) 테스트</a:t>
            </a:r>
          </a:p>
          <a:p>
            <a:r>
              <a:rPr sz="1100">
                <a:solidFill>
                  <a:srgbClr val="222222"/>
                </a:solidFill>
              </a:rPr>
              <a:t>•  과제 1: 변동성이 큰 하락장 시나리오를 가정하여 거시 분석(Macro)의 비중을 15%에서 30%로 높이고, 기술적 분석의 비중을 낮추었을 때 동일한 삼성전자 데이터의 최종 등급이 어떻게 변하는지 확인하십시오. [출처: 154, 182]</a:t>
            </a:r>
          </a:p>
          <a:p>
            <a:r>
              <a:rPr sz="1100">
                <a:solidFill>
                  <a:srgbClr val="222222"/>
                </a:solidFill>
              </a:rPr>
              <a:t>•  과제 2: 151번 슬라이드의 calculate_fundamental_score 함수에 본인만의 가치투자 기준(예: 배당수익률 3% 이상 시 +10점)을 코드로 추가하여 반영하십시오. [출처: 151]</a:t>
            </a:r>
          </a:p>
          <a:p>
            <a:pPr>
              <a:spcBef>
                <a:spcPts val="600"/>
              </a:spcBef>
            </a:pPr>
            <a:r>
              <a:rPr sz="1300" b="1">
                <a:solidFill>
                  <a:srgbClr val="2E5984"/>
                </a:solidFill>
              </a:rPr>
              <a:t>5. 확장 (Expansion): 동적 가중치 시스템 및 머신러닝 최적화로의 진화</a:t>
            </a:r>
          </a:p>
          <a:p>
            <a:r>
              <a:rPr sz="1100">
                <a:solidFill>
                  <a:srgbClr val="222222"/>
                </a:solidFill>
              </a:rPr>
              <a:t>•  고도화 전략: 정적인 가중치 방식을 넘어, 현재 시장이 '강세장'인지 '약세장'인지에 따라 AI 에이전트가 스스로 가중치를 변경하는 어댑틱 스코어링(Adaptive Scoring)을 도입합니다. [출처: 76, 79]</a:t>
            </a:r>
          </a:p>
          <a:p>
            <a:r>
              <a:rPr sz="1100">
                <a:solidFill>
                  <a:srgbClr val="222222"/>
                </a:solidFill>
              </a:rPr>
              <a:t>•  기술적 비전: 누적된 추천 결과와 실제 주가 흐름을 비교하여 가중치를 자동 수정하는 피드백 최적화 루프를 구축함으로써, 214번 슬라이드에서 다룬 사업화 가능한 고성능 분석 솔루션으로 완성합니다. [출처: 172, 173]</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218  ·  166/216</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C</a:t>
            </a:r>
          </a:p>
          <a:p>
            <a:r>
              <a:rPr sz="1900" b="1">
                <a:solidFill>
                  <a:srgbClr val="FFFFFF"/>
                </a:solidFill>
              </a:rPr>
              <a:t>[167] RAG 기반 지능형 리포팅 - ChromaDB 및 과거 사례 검색</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AI에게 '시장 경험'을 학습시키는 벡터 DB와 RAG</a:t>
            </a:r>
          </a:p>
          <a:p>
            <a:r>
              <a:rPr sz="1100">
                <a:solidFill>
                  <a:srgbClr val="222222"/>
                </a:solidFill>
              </a:rPr>
              <a:t>•  정의: 뉴스, 공시, 과거 위기 사례 등 방대한 비정형 데이터를 벡터(Vector) 형태로 저장하고, 현재 상황과 유사한 과거 데이터를 실시간으로 찾아내어 GPT의 분석 근거로 제공하는 기술입니다.</a:t>
            </a:r>
          </a:p>
          <a:p>
            <a:r>
              <a:rPr sz="1100">
                <a:solidFill>
                  <a:srgbClr val="222222"/>
                </a:solidFill>
              </a:rPr>
              <a:t>•  핵심 가치: GPT의 할루시네이션(환각)을 방지하고, "과거 유사한 규제 이슈 발생 시 주가가 어떻게 반응했는가?"와 같은 데이터 기반의 경험적 추론을 가능하게 합니다.</a:t>
            </a:r>
          </a:p>
          <a:p>
            <a:pPr>
              <a:spcBef>
                <a:spcPts val="600"/>
              </a:spcBef>
            </a:pPr>
            <a:r>
              <a:rPr sz="1300" b="1">
                <a:solidFill>
                  <a:srgbClr val="2E5984"/>
                </a:solidFill>
              </a:rPr>
              <a:t>2. 아키텍처 (Architecture): 임베딩 기반의 지식 추출 파이프라인</a:t>
            </a:r>
          </a:p>
          <a:p>
            <a:r>
              <a:rPr sz="1100">
                <a:solidFill>
                  <a:srgbClr val="222222"/>
                </a:solidFill>
              </a:rPr>
              <a:t>•  프로세스: [뉴스/공시 수집] → [OpenAI Embedding (숫자 변환)] → [ChromaDB 저장] → [유사도 검색(Similarity Search)] → [GPT 프롬프트 컨텍스트 주입].</a:t>
            </a:r>
          </a:p>
          <a:p>
            <a:r>
              <a:rPr sz="1100">
                <a:solidFill>
                  <a:srgbClr val="222222"/>
                </a:solidFill>
              </a:rPr>
              <a:t>•  데이터 자산: 168번 슬라이드에서 정의한 통합 온톨로지와 결합하여, 종목별 특이 사항을 '이벤트 메모리' 형태로 영구 보존합니다.</a:t>
            </a:r>
          </a:p>
          <a:p>
            <a:pPr>
              <a:spcBef>
                <a:spcPts val="600"/>
              </a:spcBef>
            </a:pPr>
            <a:r>
              <a:rPr sz="1300" b="1">
                <a:solidFill>
                  <a:srgbClr val="2E5984"/>
                </a:solidFill>
              </a:rPr>
              <a:t>3. 소스코드 (Source Code): news_rag.py 핵심 구현 로직</a:t>
            </a:r>
          </a:p>
          <a:p>
            <a:r>
              <a:rPr sz="1100">
                <a:solidFill>
                  <a:srgbClr val="222222"/>
                </a:solidFill>
              </a:rPr>
              <a:t>•  데이터 저장 및 검색 엔진:</a:t>
            </a:r>
          </a:p>
          <a:p>
            <a:pPr>
              <a:spcBef>
                <a:spcPts val="600"/>
              </a:spcBef>
            </a:pPr>
            <a:r>
              <a:rPr sz="1300" b="1">
                <a:solidFill>
                  <a:srgbClr val="2E5984"/>
                </a:solidFill>
              </a:rPr>
              <a:t>4. 실습 (Practice): 과거 위기 시나리오 주입 및 유사도 검색 테스트</a:t>
            </a:r>
          </a:p>
          <a:p>
            <a:r>
              <a:rPr sz="1100">
                <a:solidFill>
                  <a:srgbClr val="222222"/>
                </a:solidFill>
              </a:rPr>
              <a:t>•  과제 1: 17~18번 슬라이드에서 정의한 '01_환율리스크.txt'와 '03_반도체리스크.txt' 데이터를 add_news_memory를 통해 DB에 저장하십시오.</a:t>
            </a:r>
          </a:p>
          <a:p>
            <a:r>
              <a:rPr sz="1100">
                <a:solidFill>
                  <a:srgbClr val="222222"/>
                </a:solidFill>
              </a:rPr>
              <a:t>•  과제 2: "미중 반도체 갈등 격화로 인한 수급 불안"이라는 쿼리를 던졌을 때, 시스템이 과거의 수출 규제 뉴스를 정확히 찾아내어 분석 리포트의 '과거 유사 상황' 섹션에 포함하는지 확인하십시오.</a:t>
            </a:r>
          </a:p>
          <a:p>
            <a:pPr>
              <a:spcBef>
                <a:spcPts val="600"/>
              </a:spcBef>
            </a:pPr>
            <a:r>
              <a:rPr sz="1300" b="1">
                <a:solidFill>
                  <a:srgbClr val="2E5984"/>
                </a:solidFill>
              </a:rPr>
              <a:t>5. 확장 (Expansion): '이벤트 드리븐(Event-Driven)' 투자 전략으로의 진화</a:t>
            </a:r>
          </a:p>
          <a:p>
            <a:r>
              <a:rPr sz="1100">
                <a:solidFill>
                  <a:srgbClr val="222222"/>
                </a:solidFill>
              </a:rPr>
              <a:t>•  고도화 전략: 수집된 과거 사례의 승률과 하락폭을 통계화하여, 218번 슬라이드의 리스크 스코어링 가중치에 자동으로 반영하는 '경험 기반 가중치 시스템'을 구축합니다.</a:t>
            </a:r>
          </a:p>
          <a:p>
            <a:r>
              <a:rPr sz="1100">
                <a:solidFill>
                  <a:srgbClr val="222222"/>
                </a:solidFill>
              </a:rPr>
              <a:t>•  기술적 비전: 이를 통해 183번 슬라이드에서 언급한 CrewAI의 '데이터 수집 에이전트'가 스스로 과거 지식을 참조하여 보고서를 작성하는 자율형 리서치 생태계를 완성합니다.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219  ·  167/216</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C</a:t>
            </a:r>
          </a:p>
          <a:p>
            <a:r>
              <a:rPr sz="1900" b="1">
                <a:solidFill>
                  <a:srgbClr val="FFFFFF"/>
                </a:solidFill>
              </a:rPr>
              <a:t>[168] 에이전틱 AI의 정점 - CrewAI 기반 멀티 에이전트 협업 설계</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단일 모델을 넘어 'AI 전문가 그룹'으로의 진화</a:t>
            </a:r>
          </a:p>
          <a:p>
            <a:r>
              <a:rPr sz="1100">
                <a:solidFill>
                  <a:srgbClr val="222222"/>
                </a:solidFill>
              </a:rPr>
              <a:t>•  정의: 복잡한 금융 분석 업무를 수행하기 위해 다수의 AI 에이전트가 각각의 역할(Role)을 분담하고 협업(Crew)하여 최적의 결과물을 도출하는 자율형 에이전트 프레임워크입니다. [출처: 78, 79]</a:t>
            </a:r>
          </a:p>
          <a:p>
            <a:r>
              <a:rPr sz="1100">
                <a:solidFill>
                  <a:srgbClr val="222222"/>
                </a:solidFill>
              </a:rPr>
              <a:t>•  핵심 가치: 한 명의 전지전능한 AI가 아닌, 분야별 전문가(재무, 차트, 수급, 거시)들이 각자의 도구(Tool)를 사용하여 분석한 뒤 보고서 작성 에이전트가 이를 통합함으로써 분석의 깊이와 정밀도를 극대화합니다. [출처: 183, 199]</a:t>
            </a:r>
          </a:p>
          <a:p>
            <a:pPr>
              <a:spcBef>
                <a:spcPts val="600"/>
              </a:spcBef>
            </a:pPr>
            <a:r>
              <a:rPr sz="1300" b="1">
                <a:solidFill>
                  <a:srgbClr val="2E5984"/>
                </a:solidFill>
              </a:rPr>
              <a:t>2. 아키텍처 (Architecture): 역할 기반 협업 및 작업 오케스트레이션 [출처: 78, 79, 199]</a:t>
            </a:r>
          </a:p>
          <a:p>
            <a:r>
              <a:rPr sz="1100">
                <a:solidFill>
                  <a:srgbClr val="222222"/>
                </a:solidFill>
              </a:rPr>
              <a:t>•  에이전트 군단 구성: [출처: 183]</a:t>
            </a:r>
          </a:p>
          <a:p>
            <a:r>
              <a:rPr sz="1100">
                <a:solidFill>
                  <a:srgbClr val="222222"/>
                </a:solidFill>
              </a:rPr>
              <a:t>•  DataCollector: 외부 API(코스콤, DART 등)에서 로우 데이터 수집.</a:t>
            </a:r>
          </a:p>
          <a:p>
            <a:r>
              <a:rPr sz="1100">
                <a:solidFill>
                  <a:srgbClr val="222222"/>
                </a:solidFill>
              </a:rPr>
              <a:t>•  TechnicalAnalyst: 시계열 가격 데이터 기반 추세 및 지표 분석.</a:t>
            </a:r>
          </a:p>
          <a:p>
            <a:r>
              <a:rPr sz="1100">
                <a:solidFill>
                  <a:srgbClr val="222222"/>
                </a:solidFill>
              </a:rPr>
              <a:t>•  FundamentalAnalyst: 재무제표 기반 가치 및 수익성 분석.</a:t>
            </a:r>
          </a:p>
          <a:p>
            <a:r>
              <a:rPr sz="1100">
                <a:solidFill>
                  <a:srgbClr val="222222"/>
                </a:solidFill>
              </a:rPr>
              <a:t>•  MacroRiskAgent: 거시경제 지표 및 뉴스 RAG 기반 외부 변수 분석.</a:t>
            </a:r>
          </a:p>
          <a:p>
            <a:r>
              <a:rPr sz="1100">
                <a:solidFill>
                  <a:srgbClr val="222222"/>
                </a:solidFill>
              </a:rPr>
              <a:t>•  ReportWriter: 모든 분석 결과를 통합하여 투자 브리프 작성.</a:t>
            </a:r>
          </a:p>
          <a:p>
            <a:r>
              <a:rPr sz="1100">
                <a:solidFill>
                  <a:srgbClr val="222222"/>
                </a:solidFill>
              </a:rPr>
              <a:t>•  작업 흐름: [목표 설정] → [에이전트별 Task 할당] → [도구 활용 및 실행] → [상호 검토] → [최종 결과 통합]. [출처: 78, 199]</a:t>
            </a:r>
          </a:p>
          <a:p>
            <a:pPr>
              <a:spcBef>
                <a:spcPts val="600"/>
              </a:spcBef>
            </a:pPr>
            <a:r>
              <a:rPr sz="1300" b="1">
                <a:solidFill>
                  <a:srgbClr val="2E5984"/>
                </a:solidFill>
              </a:rPr>
              <a:t>3. 소스코드 (Source Code): CrewAI 에이전트 및 작업 정의 [출처: 183, 199]</a:t>
            </a:r>
          </a:p>
          <a:p>
            <a:r>
              <a:rPr sz="1100">
                <a:solidFill>
                  <a:srgbClr val="222222"/>
                </a:solidFill>
              </a:rPr>
              <a:t>•  핵심 구현: 각 에이전트의 페르소나와 수행할 미션을 정의합니다.</a:t>
            </a:r>
          </a:p>
          <a:p>
            <a:pPr>
              <a:spcBef>
                <a:spcPts val="600"/>
              </a:spcBef>
            </a:pPr>
            <a:r>
              <a:rPr sz="1300" b="1">
                <a:solidFill>
                  <a:srgbClr val="2E5984"/>
                </a:solidFill>
              </a:rPr>
              <a:t>4. 실습 (Practice): 멀티 에이전트 협업 리포트 생성 테스트 [출처: 183, 199]</a:t>
            </a:r>
          </a:p>
          <a:p>
            <a:r>
              <a:rPr sz="1100">
                <a:solidFill>
                  <a:srgbClr val="222222"/>
                </a:solidFill>
              </a:rPr>
              <a:t>•  과제 1: crew.py 파일에서 ReportWriterAgent를 추가하고, 다른 에이전트들이 도출한 분석 결과(재무, 기술, 거시)를 하나의 톤앤매너로 통합하도록 지시(Backstory)를 작성하십시오. [출처: 183, 184]</a:t>
            </a:r>
          </a:p>
          <a:p>
            <a:r>
              <a:rPr sz="1100">
                <a:solidFill>
                  <a:srgbClr val="222222"/>
                </a:solidFill>
              </a:rPr>
              <a:t>•  과제 2: 특정 종목에 대해 crew.kickoff()를 실행하고, 에이전트들이 서로 대화하며(Verbose Mode) 정보를 주고받아 최종 리포트를 완성하는 과정을 터미널 로그로 확인하십시오. [출처: 183, 199]</a:t>
            </a:r>
          </a:p>
          <a:p>
            <a:pPr>
              <a:spcBef>
                <a:spcPts val="600"/>
              </a:spcBef>
            </a:pPr>
            <a:r>
              <a:rPr sz="1300" b="1">
                <a:solidFill>
                  <a:srgbClr val="2E5984"/>
                </a:solidFill>
              </a:rPr>
              <a:t>5. 확장 (Expansion): 'AI 워크포스(Workforce)' 생태계로의 완성 [출처: 78, 79]</a:t>
            </a:r>
          </a:p>
          <a:p>
            <a:r>
              <a:rPr sz="1100">
                <a:solidFill>
                  <a:srgbClr val="222222"/>
                </a:solidFill>
              </a:rPr>
              <a:t>•  고도화 전략: 인간의 개입 없이도 시장의 이상 징후를 발견하면 에이전트들이 스스로 회의를 소집하여 대응 전략을 수립하는 '자율형 금융 관제 센터'로 확장합니다. [출처: 79]</a:t>
            </a:r>
          </a:p>
          <a:p>
            <a:r>
              <a:rPr sz="1100">
                <a:solidFill>
                  <a:srgbClr val="222222"/>
                </a:solidFill>
              </a:rPr>
              <a:t>•  기술적 비전: 214번 슬라이드의 고도화 과제와 결합하여, 수천 명의 에이전트가 동시에 전 종목을 감시하는 엔터프라이즈급 에이전틱 인프라를 완성하며 본 교육의 모든 기술적 여정을 마무리합니다. [출처: 172, 191]</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220  ·  168/216</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73152"/>
          </a:xfrm>
          <a:prstGeom prst="rect">
            <a:avLst/>
          </a:prstGeom>
          <a:solidFill>
            <a:srgbClr val="6E8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834640"/>
            <a:ext cx="10515600" cy="1463040"/>
          </a:xfrm>
          <a:prstGeom prst="rect">
            <a:avLst/>
          </a:prstGeom>
          <a:noFill/>
        </p:spPr>
        <p:txBody>
          <a:bodyPr wrap="square">
            <a:spAutoFit/>
          </a:bodyPr>
          <a:lstStyle/>
          <a:p>
            <a:r>
              <a:rPr sz="1600">
                <a:solidFill>
                  <a:srgbClr val="9FB4F5"/>
                </a:solidFill>
              </a:rPr>
              <a:t>[수료후·심화]</a:t>
            </a:r>
          </a:p>
          <a:p>
            <a:r>
              <a:rPr sz="2800" b="1">
                <a:solidFill>
                  <a:srgbClr val="FFFFFF"/>
                </a:solidFill>
              </a:rPr>
              <a:t>트랙 D — E2E 아키텍처 &amp; API 레퍼런스</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D</a:t>
            </a:r>
          </a:p>
          <a:p>
            <a:r>
              <a:rPr sz="1900" b="1">
                <a:solidFill>
                  <a:srgbClr val="FFFFFF"/>
                </a:solidFill>
              </a:rPr>
              <a:t>[169] KOSCOM (주식부문) 주요 API 목록 - 시세 데이터의 원천</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국내 자본시장 데이터의 표준 인터페이스</a:t>
            </a:r>
          </a:p>
          <a:p>
            <a:r>
              <a:rPr sz="1100">
                <a:solidFill>
                  <a:srgbClr val="222222"/>
                </a:solidFill>
              </a:rPr>
              <a:t>•  정의: 코스콤(KOSCOM)의 OAP(Open API Platform)를 통해 제공되는 국내 증시(KOSPI, KOSDAQ)의 종목 정보, 실시간 시세, 과거 이력 데이터를 호출하는 표준 규격입니다.</a:t>
            </a:r>
          </a:p>
          <a:p>
            <a:r>
              <a:rPr sz="1100">
                <a:solidFill>
                  <a:srgbClr val="222222"/>
                </a:solidFill>
              </a:rPr>
              <a:t>•  핵심 가치: 개별 증권사 HTS에 접속하지 않고도, 클라우드 서버에서 직접 RESTful API 방식으로 데이터를 수집하여 AI 분석 엔진에 실시간으로 공급할 수 있는 환경을 제공합니다.</a:t>
            </a:r>
          </a:p>
          <a:p>
            <a:pPr>
              <a:spcBef>
                <a:spcPts val="600"/>
              </a:spcBef>
            </a:pPr>
            <a:r>
              <a:rPr sz="1300" b="1">
                <a:solidFill>
                  <a:srgbClr val="2E5984"/>
                </a:solidFill>
              </a:rPr>
              <a:t>2. 아키텍처 (Architecture): 마스터-히스토리-실시간 시세 구조</a:t>
            </a:r>
          </a:p>
          <a:p>
            <a:r>
              <a:rPr sz="1100">
                <a:solidFill>
                  <a:srgbClr val="222222"/>
                </a:solidFill>
              </a:rPr>
              <a:t>•  데이터 분류:</a:t>
            </a:r>
          </a:p>
          <a:p>
            <a:r>
              <a:rPr sz="1100">
                <a:solidFill>
                  <a:srgbClr val="222222"/>
                </a:solidFill>
              </a:rPr>
              <a:t>•  정적 데이터: 종목 리스트, 기업 마스터(업종, 상장주식수 등).</a:t>
            </a:r>
          </a:p>
          <a:p>
            <a:r>
              <a:rPr sz="1100">
                <a:solidFill>
                  <a:srgbClr val="222222"/>
                </a:solidFill>
              </a:rPr>
              <a:t>•  시계열 데이터: 일별 주가 히스토리, 지수 히스토리.</a:t>
            </a:r>
          </a:p>
          <a:p>
            <a:r>
              <a:rPr sz="1100">
                <a:solidFill>
                  <a:srgbClr val="222222"/>
                </a:solidFill>
              </a:rPr>
              <a:t>•  동적 데이터: 실시간 복수 종목 시세, 당일 분봉(Intraday) 데이터.</a:t>
            </a:r>
          </a:p>
          <a:p>
            <a:r>
              <a:rPr sz="1100">
                <a:solidFill>
                  <a:srgbClr val="222222"/>
                </a:solidFill>
              </a:rPr>
              <a:t>•  통신 방식: HTTPS 기반의 GET 요청이며, apikey를 쿼리 파라미터 또는 헤더로 전달하여 JSON 응답을 수신합니다.</a:t>
            </a:r>
          </a:p>
          <a:p>
            <a:pPr>
              <a:spcBef>
                <a:spcPts val="600"/>
              </a:spcBef>
            </a:pPr>
            <a:r>
              <a:rPr sz="1300" b="1">
                <a:solidFill>
                  <a:srgbClr val="2E5984"/>
                </a:solidFill>
              </a:rPr>
              <a:t>3. 소스코드 (Source Code): 주요 API 엔드포인트(Endpoint) 명세</a:t>
            </a:r>
          </a:p>
          <a:p>
            <a:r>
              <a:rPr sz="1100">
                <a:solidFill>
                  <a:srgbClr val="222222"/>
                </a:solidFill>
              </a:rPr>
              <a:t>•  핵심 호출 경로: (테스트 URL 기준) [출처: 3, 4]</a:t>
            </a:r>
          </a:p>
          <a:p>
            <a:r>
              <a:rPr sz="1100">
                <a:solidFill>
                  <a:srgbClr val="222222"/>
                </a:solidFill>
              </a:rPr>
              <a:t>•  KOSPI 종목리스트: /v3/market/closed/kospi/lists</a:t>
            </a:r>
          </a:p>
          <a:p>
            <a:r>
              <a:rPr sz="1100">
                <a:solidFill>
                  <a:srgbClr val="222222"/>
                </a:solidFill>
              </a:rPr>
              <a:t>•  종목 마스터(삼성전자): /v3/market/closed/kospi/005930/master</a:t>
            </a:r>
          </a:p>
          <a:p>
            <a:r>
              <a:rPr sz="1100">
                <a:solidFill>
                  <a:srgbClr val="222222"/>
                </a:solidFill>
              </a:rPr>
              <a:t>•  일별 주가 히스토리: /v3/market/closed/kospi/005930/history?trnsmCycleTpCd=D&amp;inqStrtDd=20240101&amp;inqEndDd=20241231</a:t>
            </a:r>
          </a:p>
          <a:p>
            <a:r>
              <a:rPr sz="1100">
                <a:solidFill>
                  <a:srgbClr val="222222"/>
                </a:solidFill>
              </a:rPr>
              <a:t>•  실시간 복수 시세: /v3/market/realtime/kospi/multiquote/stocks/lists</a:t>
            </a:r>
          </a:p>
          <a:p>
            <a:r>
              <a:rPr sz="1100">
                <a:solidFill>
                  <a:srgbClr val="222222"/>
                </a:solidFill>
              </a:rPr>
              <a:t>•  당일 분봉(Intraday): /v3/market/realtime/kospi/stocks/005930/intraday</a:t>
            </a:r>
          </a:p>
          <a:p>
            <a:pPr>
              <a:spcBef>
                <a:spcPts val="600"/>
              </a:spcBef>
            </a:pPr>
            <a:r>
              <a:rPr sz="1300" b="1">
                <a:solidFill>
                  <a:srgbClr val="2E5984"/>
                </a:solidFill>
              </a:rPr>
              <a:t>4. 실습 (Practice): API 호출 테스트 및 데이터 파싱</a:t>
            </a:r>
          </a:p>
          <a:p>
            <a:r>
              <a:rPr sz="1100">
                <a:solidFill>
                  <a:srgbClr val="222222"/>
                </a:solidFill>
              </a:rPr>
              <a:t>•  과제: 코스콤에서 발급받은 apikey를 사용하여 특정 종목의 일별 히스토리(90일치)를 호출하고, 응답 데이터에서 clsprc(종가)와 trdDd(거래일자) 필드를 추출하여 출력해 보십시오.</a:t>
            </a:r>
          </a:p>
          <a:p>
            <a:r>
              <a:rPr sz="1100">
                <a:solidFill>
                  <a:srgbClr val="222222"/>
                </a:solidFill>
              </a:rPr>
              <a:t>•  확인 사항: API 응답 결과가 JSON 형식으로 정상 출력되는지, 그리고 테스트 API와 운영 API의 URL 구분을 명확히 확인합니다.</a:t>
            </a:r>
          </a:p>
          <a:p>
            <a:pPr>
              <a:spcBef>
                <a:spcPts val="600"/>
              </a:spcBef>
            </a:pPr>
            <a:r>
              <a:rPr sz="1300" b="1">
                <a:solidFill>
                  <a:srgbClr val="2E5984"/>
                </a:solidFill>
              </a:rPr>
              <a:t>5. 확장 (Expansion): 실시간 변동성 감지 및 분석 엔진 연동</a:t>
            </a:r>
          </a:p>
          <a:p>
            <a:r>
              <a:rPr sz="1100">
                <a:solidFill>
                  <a:srgbClr val="222222"/>
                </a:solidFill>
              </a:rPr>
              <a:t>•  고도화 전략: 일별 히스토리를 넘어 실시간 시세(Real-time) API를 연동함으로써, 장중 주가 급등락이나 수급 특이점을 AI가 즉시 포착하여 알림을 보내는 '라이브 모니터링' 기능을 구현합니다.</a:t>
            </a:r>
          </a:p>
          <a:p>
            <a:r>
              <a:rPr sz="1100">
                <a:solidFill>
                  <a:srgbClr val="222222"/>
                </a:solidFill>
              </a:rPr>
              <a:t>•  데이터 융합: 코스콤의 가격 데이터와 DART의 재무 데이터를 결합하여, 현재 주가 수준이 적정 가치 대비 어느 위치에 있는지 실시간으로 계산하는 에이전틱 가치 평가 시스템으로 확장합니다.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074  ·  169/216</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D</a:t>
            </a:r>
          </a:p>
          <a:p>
            <a:r>
              <a:rPr sz="1900" b="1">
                <a:solidFill>
                  <a:srgbClr val="FFFFFF"/>
                </a:solidFill>
              </a:rPr>
              <a:t>[170] DART 및 ECOS 주요 API 목록 - 재무 및 거시 데이터 명세</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기업 펀더멘털과 매크로 환경의 정량적 근거</a:t>
            </a:r>
          </a:p>
          <a:p>
            <a:r>
              <a:rPr sz="1100">
                <a:solidFill>
                  <a:srgbClr val="222222"/>
                </a:solidFill>
              </a:rPr>
              <a:t>•  DART (OpenDART): 금융감독원이 제공하는 API로, 상장기업의 재무제표(매출, 이익 등)와 주요 공시 사항을 수집하여 기업의 기초 체력을 분석하는 데 사용됩니다.</a:t>
            </a:r>
          </a:p>
          <a:p>
            <a:r>
              <a:rPr sz="1100">
                <a:solidFill>
                  <a:srgbClr val="222222"/>
                </a:solidFill>
              </a:rPr>
              <a:t>•  ECOS (경제통계시스템): 한국은행이 제공하는 API로, 기준금리, 환율, 소비자물가 등 국가 경제의 방향성을 결정하는 거시 지표를 수집하는 핵심 소스입니다.</a:t>
            </a:r>
          </a:p>
          <a:p>
            <a:pPr>
              <a:spcBef>
                <a:spcPts val="600"/>
              </a:spcBef>
            </a:pPr>
            <a:r>
              <a:rPr sz="1300" b="1">
                <a:solidFill>
                  <a:srgbClr val="2E5984"/>
                </a:solidFill>
              </a:rPr>
              <a:t>2. 아키텍처 (Architecture): 다중 소스 데이터 수집 레이어 구조</a:t>
            </a:r>
          </a:p>
          <a:p>
            <a:r>
              <a:rPr sz="1100">
                <a:solidFill>
                  <a:srgbClr val="222222"/>
                </a:solidFill>
              </a:rPr>
              <a:t>•  수집 흐름: [DART/ECOS API] → [JSON Response] → [필드 추출/정규화] → [PostgreSQL 저장 및 분석 엔진 공급].</a:t>
            </a:r>
          </a:p>
          <a:p>
            <a:r>
              <a:rPr sz="1100">
                <a:solidFill>
                  <a:srgbClr val="222222"/>
                </a:solidFill>
              </a:rPr>
              <a:t>•  구조적 특징: 각 소스별로 독립된 Collector 모듈을 운영하여, 특정 API의 장애나 명세 변경 시에도 시스템 전체의 안정성을 유지하는 모듈형 수집 아키텍처입니다.</a:t>
            </a:r>
          </a:p>
          <a:p>
            <a:pPr>
              <a:spcBef>
                <a:spcPts val="600"/>
              </a:spcBef>
            </a:pPr>
            <a:r>
              <a:rPr sz="1300" b="1">
                <a:solidFill>
                  <a:srgbClr val="2E5984"/>
                </a:solidFill>
              </a:rPr>
              <a:t>3. 소스코드 (Source Code): 주요 엔드포인트 및 필수 파라미터</a:t>
            </a:r>
          </a:p>
          <a:p>
            <a:r>
              <a:rPr sz="1100">
                <a:solidFill>
                  <a:srgbClr val="222222"/>
                </a:solidFill>
              </a:rPr>
              <a:t>•  DART 주요 API (단일회사 주요계정): [출처: 146]</a:t>
            </a:r>
          </a:p>
          <a:p>
            <a:r>
              <a:rPr sz="1100">
                <a:solidFill>
                  <a:srgbClr val="222222"/>
                </a:solidFill>
              </a:rPr>
              <a:t>•  URL: https://opendart.fss.or.kr/api/fnlttSinglAcnt.json</a:t>
            </a:r>
          </a:p>
          <a:p>
            <a:r>
              <a:rPr sz="1100">
                <a:solidFill>
                  <a:srgbClr val="222222"/>
                </a:solidFill>
              </a:rPr>
              <a:t>•  Params: crtfc_key(인증키), corp_code(고유번호), bsns_year(연도), reprt_code(11011: 사업보고서)</a:t>
            </a:r>
          </a:p>
          <a:p>
            <a:r>
              <a:rPr sz="1100">
                <a:solidFill>
                  <a:srgbClr val="222222"/>
                </a:solidFill>
              </a:rPr>
              <a:t>•  ECOS 주요 API (통계 검색): [출처: 147]</a:t>
            </a:r>
          </a:p>
          <a:p>
            <a:r>
              <a:rPr sz="1100">
                <a:solidFill>
                  <a:srgbClr val="222222"/>
                </a:solidFill>
              </a:rPr>
              <a:t>•  URL: https://ecos.bok.or.kr/api/StatisticSearch/{key}/json/kr/1/100/{stat_code}/{cycle}/{start}/{end}/{item_code}</a:t>
            </a:r>
          </a:p>
          <a:p>
            <a:r>
              <a:rPr sz="1100">
                <a:solidFill>
                  <a:srgbClr val="222222"/>
                </a:solidFill>
              </a:rPr>
              <a:t>•  Example: 722Y001(기준금리 통계표), 0101000(한국은행 기준금리 항목)</a:t>
            </a:r>
          </a:p>
          <a:p>
            <a:pPr>
              <a:spcBef>
                <a:spcPts val="600"/>
              </a:spcBef>
            </a:pPr>
            <a:r>
              <a:rPr sz="1300" b="1">
                <a:solidFill>
                  <a:srgbClr val="2E5984"/>
                </a:solidFill>
              </a:rPr>
              <a:t>4. 실습 (Practice): 계정명 추출 및 수치 데이터 파싱</a:t>
            </a:r>
          </a:p>
          <a:p>
            <a:r>
              <a:rPr sz="1100">
                <a:solidFill>
                  <a:srgbClr val="222222"/>
                </a:solidFill>
              </a:rPr>
              <a:t>•  과제: DART에서 삼성전자의 최근 사업보고서를 호출하여 '영업이익(operating_profit)' 값을 추출하고, ECOS에서 최근 '기준금리(base_rate)'를 가져와 출력해 보십시오.</a:t>
            </a:r>
          </a:p>
          <a:p>
            <a:r>
              <a:rPr sz="1100">
                <a:solidFill>
                  <a:srgbClr val="222222"/>
                </a:solidFill>
              </a:rPr>
              <a:t>•  확인 사항: API 응답의 문자열 수치(예: "1,234,567")를 콤마 제거 후 Float/Integer로 정확히 변환하여 분석 점수 연산이 가능한지 체크합니다.</a:t>
            </a:r>
          </a:p>
          <a:p>
            <a:pPr>
              <a:spcBef>
                <a:spcPts val="600"/>
              </a:spcBef>
            </a:pPr>
            <a:r>
              <a:rPr sz="1300" b="1">
                <a:solidFill>
                  <a:srgbClr val="2E5984"/>
                </a:solidFill>
              </a:rPr>
              <a:t>5. 확장 (Expansion): 온톨로지 기반의 지능형 데이터 융합</a:t>
            </a:r>
          </a:p>
          <a:p>
            <a:r>
              <a:rPr sz="1100">
                <a:solidFill>
                  <a:srgbClr val="222222"/>
                </a:solidFill>
              </a:rPr>
              <a:t>•  고도화 전략: 수집된 재무(DART)와 거시(ECOS) 데이터를 종목 시세(코스콤)와 결합하여, "고금리 환경에서 재무 건전성이 높은 종목"을 스스로 필터링하는 온톨로지 기반의 탐색 엔진으로 확장합니다.</a:t>
            </a:r>
          </a:p>
          <a:p>
            <a:r>
              <a:rPr sz="1100">
                <a:solidFill>
                  <a:srgbClr val="222222"/>
                </a:solidFill>
              </a:rPr>
              <a:t>•  최종 목표: 개별 지표를 넘어, 여러 데이터 간의 상관관계를 분석하여 리스크 발생 시 자동으로 포트폴리오 비중 조절을 제안하는 '자율형 금융 비서'의 데이터 레이크를 완성합니다.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075  ·  170/216</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D</a:t>
            </a:r>
          </a:p>
          <a:p>
            <a:r>
              <a:rPr sz="1900" b="1">
                <a:solidFill>
                  <a:srgbClr val="FFFFFF"/>
                </a:solidFill>
              </a:rPr>
              <a:t>[171] PostgreSQL 전체 데이터베이스 스키마(DDL) 명세</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금융 데이터의 정합성과 무결성을 위한 뼈대</a:t>
            </a:r>
          </a:p>
          <a:p>
            <a:r>
              <a:rPr sz="1100">
                <a:solidFill>
                  <a:srgbClr val="222222"/>
                </a:solidFill>
              </a:rPr>
              <a:t>•  정의: DART, ECOS, 코스콤에서 수집한 데이터가 서로 엉키지 않고 정확한 관계를 유지하며 저장되도록 설계된 관계형 데이터베이스(RDBMS) 구조입니다.</a:t>
            </a:r>
          </a:p>
          <a:p>
            <a:r>
              <a:rPr sz="1100">
                <a:solidFill>
                  <a:srgbClr val="222222"/>
                </a:solidFill>
              </a:rPr>
              <a:t>•  핵심 가치: 각 테이블에 설정된 UNIQUE 제약 조건과 PRIMARY KEY를 통해 중복 적재를 방지하고, 분석 엔진이 신속하게 데이터를 추출할 수 있는 최적화된 저장 환경을 제공합니다.</a:t>
            </a:r>
          </a:p>
          <a:p>
            <a:pPr>
              <a:spcBef>
                <a:spcPts val="600"/>
              </a:spcBef>
            </a:pPr>
            <a:r>
              <a:rPr sz="1300" b="1">
                <a:solidFill>
                  <a:srgbClr val="2E5984"/>
                </a:solidFill>
              </a:rPr>
              <a:t>2. 아키텍처 (Architecture): 9대 핵심 테이블 유기적 연동 구조</a:t>
            </a:r>
          </a:p>
          <a:p>
            <a:r>
              <a:rPr sz="1100">
                <a:solidFill>
                  <a:srgbClr val="222222"/>
                </a:solidFill>
              </a:rPr>
              <a:t>•  테이블 구성:</a:t>
            </a:r>
          </a:p>
          <a:p>
            <a:r>
              <a:rPr sz="1100">
                <a:solidFill>
                  <a:srgbClr val="222222"/>
                </a:solidFill>
              </a:rPr>
              <a:t>•  기본 정보: stocks (종목 마스터).</a:t>
            </a:r>
          </a:p>
          <a:p>
            <a:r>
              <a:rPr sz="1100">
                <a:solidFill>
                  <a:srgbClr val="222222"/>
                </a:solidFill>
              </a:rPr>
              <a:t>•  수집 데이터: stock_prices (시세), investor_flows (수급), financial_statements (재무), macro_indicators (거시).</a:t>
            </a:r>
          </a:p>
          <a:p>
            <a:r>
              <a:rPr sz="1100">
                <a:solidFill>
                  <a:srgbClr val="222222"/>
                </a:solidFill>
              </a:rPr>
              <a:t>•  분석 결과: technical_indicators (기술지표), analysis_scores (종합점수), news_memory (뉴스/RAG).</a:t>
            </a:r>
          </a:p>
          <a:p>
            <a:r>
              <a:rPr sz="1100">
                <a:solidFill>
                  <a:srgbClr val="222222"/>
                </a:solidFill>
              </a:rPr>
              <a:t>•  출력 관리: generated_reports (PDF 리포트 이력).</a:t>
            </a:r>
          </a:p>
          <a:p>
            <a:pPr>
              <a:spcBef>
                <a:spcPts val="600"/>
              </a:spcBef>
            </a:pPr>
            <a:r>
              <a:rPr sz="1300" b="1">
                <a:solidFill>
                  <a:srgbClr val="2E5984"/>
                </a:solidFill>
              </a:rPr>
              <a:t>3. 소스코드 (Source Code): 전체 CREATE TABLE 및 INDEX SQL</a:t>
            </a:r>
          </a:p>
          <a:p>
            <a:r>
              <a:rPr sz="1100">
                <a:solidFill>
                  <a:srgbClr val="222222"/>
                </a:solidFill>
              </a:rPr>
              <a:t>•  핵심 로직: 중복 방지와 검색 속도 최적화를 포함한 전체 DDL입니다.</a:t>
            </a:r>
          </a:p>
          <a:p>
            <a:pPr>
              <a:spcBef>
                <a:spcPts val="600"/>
              </a:spcBef>
            </a:pPr>
            <a:r>
              <a:rPr sz="1300" b="1">
                <a:solidFill>
                  <a:srgbClr val="2E5984"/>
                </a:solidFill>
              </a:rPr>
              <a:t>4. 실습 (Practice): SQL 스키마 주입 및 테이블 생성 확인</a:t>
            </a:r>
          </a:p>
          <a:p>
            <a:r>
              <a:rPr sz="1100">
                <a:solidFill>
                  <a:srgbClr val="222222"/>
                </a:solidFill>
              </a:rPr>
              <a:t>•  과제: Docker 환경의 PostgreSQL 컨테이너에 접속하여 위 SQL 스크립트를 실행하고, 9개의 테이블이 오류 없이 생성되었는지 \dt 명령어로 확인하십시오.</a:t>
            </a:r>
          </a:p>
          <a:p>
            <a:r>
              <a:rPr sz="1100">
                <a:solidFill>
                  <a:srgbClr val="222222"/>
                </a:solidFill>
              </a:rPr>
              <a:t>•  확인 사항: pgAdmin 도구를 사용하여 각 테이블의 제약 조건(Constraints)이 설계도대로 반영되었는지 최종 검증합니다.</a:t>
            </a:r>
          </a:p>
          <a:p>
            <a:pPr>
              <a:spcBef>
                <a:spcPts val="600"/>
              </a:spcBef>
            </a:pPr>
            <a:r>
              <a:rPr sz="1300" b="1">
                <a:solidFill>
                  <a:srgbClr val="2E5984"/>
                </a:solidFill>
              </a:rPr>
              <a:t>5. 확장 (Expansion): 분석 성능 고도화를 위한 View 및 파티셔닝</a:t>
            </a:r>
          </a:p>
          <a:p>
            <a:r>
              <a:rPr sz="1100">
                <a:solidFill>
                  <a:srgbClr val="222222"/>
                </a:solidFill>
              </a:rPr>
              <a:t>•  고도화 전략: 수년간의 누적 데이터를 처리해야 할 경우, 날짜별로 데이터를 나누어 저장하는 파티셔닝(Partitioning) 기법을 적용하여 쿼리 속도를 개선합니다.</a:t>
            </a:r>
          </a:p>
          <a:p>
            <a:r>
              <a:rPr sz="1100">
                <a:solidFill>
                  <a:srgbClr val="222222"/>
                </a:solidFill>
              </a:rPr>
              <a:t>•  기능 확장: 복잡한 분석 쿼리를 단순화하기 위해 여러 테이블의 데이터를 미리 조인(Join)해둔 데이터 뷰(View)를 생성함으로써, 분석 엔진의 코드 복잡도를 낮추고 유지보수성을 확보합니다.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076  ·  171/216</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D</a:t>
            </a:r>
          </a:p>
          <a:p>
            <a:r>
              <a:rPr sz="1900" b="1">
                <a:solidFill>
                  <a:srgbClr val="FFFFFF"/>
                </a:solidFill>
              </a:rPr>
              <a:t>[172] AI 네이티브 개발 - 개발자 필수 용어 10선 (Modern Trends)</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코딩을 넘어 '지시'와 '오케스트레이션'의 시대로</a:t>
            </a:r>
          </a:p>
          <a:p>
            <a:r>
              <a:rPr sz="1100">
                <a:solidFill>
                  <a:srgbClr val="222222"/>
                </a:solidFill>
              </a:rPr>
              <a:t>•  정의: AI가 코드를 직접 생성하고 실행하는 환경에서, 개발자가 직접 로직을 짜기보다 AI에게 목적을 설명하고 결과물을 조립하는 AI 네이티브(AI-Native) 개발 방식을 의미합니다.</a:t>
            </a:r>
          </a:p>
          <a:p>
            <a:r>
              <a:rPr sz="1100">
                <a:solidFill>
                  <a:srgbClr val="222222"/>
                </a:solidFill>
              </a:rPr>
              <a:t>•  핵심 가치: 바이브코딩(Vibe Coding)과 에이전트 모드(Agent Mode)를 통해 개발 생산성을 10배 이상 높이고, 복잡한 데이터 분석을 자율적으로 수행하는 시스템을 구축하는 데 있습니다.</a:t>
            </a:r>
          </a:p>
          <a:p>
            <a:pPr>
              <a:spcBef>
                <a:spcPts val="600"/>
              </a:spcBef>
            </a:pPr>
            <a:r>
              <a:rPr sz="1300" b="1">
                <a:solidFill>
                  <a:srgbClr val="2E5984"/>
                </a:solidFill>
              </a:rPr>
              <a:t>2. 아키텍처 (Architecture): 노코드(NoCode)에서 에이전틱 AI까지</a:t>
            </a:r>
          </a:p>
          <a:p>
            <a:r>
              <a:rPr sz="1100">
                <a:solidFill>
                  <a:srgbClr val="222222"/>
                </a:solidFill>
              </a:rPr>
              <a:t>•  개발 계층의 변화:</a:t>
            </a:r>
          </a:p>
          <a:p>
            <a:r>
              <a:rPr sz="1100">
                <a:solidFill>
                  <a:srgbClr val="222222"/>
                </a:solidFill>
              </a:rPr>
              <a:t>•  NoCode/LowCode: 코딩 없이 또는 최소한의 코드로 MVP 제작.</a:t>
            </a:r>
          </a:p>
          <a:p>
            <a:r>
              <a:rPr sz="1100">
                <a:solidFill>
                  <a:srgbClr val="222222"/>
                </a:solidFill>
              </a:rPr>
              <a:t>•  Serverless: 서버 인프라 관리 없이 코드만 업로드하여 즉시 서비스화.</a:t>
            </a:r>
          </a:p>
          <a:p>
            <a:r>
              <a:rPr sz="1100">
                <a:solidFill>
                  <a:srgbClr val="222222"/>
                </a:solidFill>
              </a:rPr>
              <a:t>•  Agent Mode: AI가 스스로 데이터 조회, 뉴스 검색, 분석, 보고서 생성을 수행.</a:t>
            </a:r>
          </a:p>
          <a:p>
            <a:r>
              <a:rPr sz="1100">
                <a:solidFill>
                  <a:srgbClr val="222222"/>
                </a:solidFill>
              </a:rPr>
              <a:t>•  작동 방식: 사용자의 한 줄 지시가 메타 프롬프트(Meta Prompt)를 통해 구체적인 작업(Task)으로 분해되고 실행되는 구조입니다.</a:t>
            </a:r>
          </a:p>
          <a:p>
            <a:pPr>
              <a:spcBef>
                <a:spcPts val="600"/>
              </a:spcBef>
            </a:pPr>
            <a:r>
              <a:rPr sz="1300" b="1">
                <a:solidFill>
                  <a:srgbClr val="2E5984"/>
                </a:solidFill>
              </a:rPr>
              <a:t>3. 소스코드 (Source Code): 바이브코딩 및 메타 프롬프트 활용 사례</a:t>
            </a:r>
          </a:p>
          <a:p>
            <a:r>
              <a:rPr sz="1100">
                <a:solidFill>
                  <a:srgbClr val="222222"/>
                </a:solidFill>
              </a:rPr>
              <a:t>•  핵심 로직: AI에게 최고의 성과를 내도록 유도하는 프롬프트 설계 방식입니다.</a:t>
            </a:r>
          </a:p>
          <a:p>
            <a:pPr>
              <a:spcBef>
                <a:spcPts val="600"/>
              </a:spcBef>
            </a:pPr>
            <a:r>
              <a:rPr sz="1300" b="1">
                <a:solidFill>
                  <a:srgbClr val="2E5984"/>
                </a:solidFill>
              </a:rPr>
              <a:t>4. 실습 (Practice): 에이전트 모드 기반의 딥 리서치(Deep Research) 테스트</a:t>
            </a:r>
          </a:p>
          <a:p>
            <a:r>
              <a:rPr sz="1100">
                <a:solidFill>
                  <a:srgbClr val="222222"/>
                </a:solidFill>
              </a:rPr>
              <a:t>•  과제: OpenAI의 에이전트 모드나 딥 리서치 기능을 활용하여 "삼성전자의 향후 3년 투자 전망"을 조사하십시오.</a:t>
            </a:r>
          </a:p>
          <a:p>
            <a:r>
              <a:rPr sz="1100">
                <a:solidFill>
                  <a:srgbClr val="222222"/>
                </a:solidFill>
              </a:rPr>
              <a:t>•  확인 사항: AI가 단순히 답변하는 것을 넘어 공시, 뉴스, 실적, 리포트 등 여러 자료를 스스로 종합 분석하여 보고서를 도출하는지 과정을 모니터링합니다.</a:t>
            </a:r>
          </a:p>
          <a:p>
            <a:pPr>
              <a:spcBef>
                <a:spcPts val="600"/>
              </a:spcBef>
            </a:pPr>
            <a:r>
              <a:rPr sz="1300" b="1">
                <a:solidFill>
                  <a:srgbClr val="2E5984"/>
                </a:solidFill>
              </a:rPr>
              <a:t>5. 확장 (Expansion): NotebookLM 및 OCR을 활용한 지식 베이스 고도화</a:t>
            </a:r>
          </a:p>
          <a:p>
            <a:r>
              <a:rPr sz="1100">
                <a:solidFill>
                  <a:srgbClr val="222222"/>
                </a:solidFill>
              </a:rPr>
              <a:t>•  고도화 전략: 구글의 NotebookLM에 기업 분석 보고서 100개를 업로드하여 나만의 RAG 연구원을 생성하고, OCR 기술을 결합하여 종이 신문이나 이미지 데이터까지 분석 대상에 포함합니다.</a:t>
            </a:r>
          </a:p>
          <a:p>
            <a:r>
              <a:rPr sz="1100">
                <a:solidFill>
                  <a:srgbClr val="222222"/>
                </a:solidFill>
              </a:rPr>
              <a:t>•  실무 적용: 이를 통해 구축된 KOStockCrewAI 단말이 정형 데이터뿐만 아니라 비정형 금융 지식까지 완벽히 지배하는 '초지능형 리서치 에이전트'로 진화하게 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077  ·  172/216</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D</a:t>
            </a:r>
          </a:p>
          <a:p>
            <a:r>
              <a:rPr sz="1900" b="1">
                <a:solidFill>
                  <a:srgbClr val="FFFFFF"/>
                </a:solidFill>
              </a:rPr>
              <a:t>[173] AI 금융 아키텍트 필수 기술 스택 및 핵심 용어 사전</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현업 소통과 시스템 설계를 위한 'AI 네이티브 공용어'</a:t>
            </a:r>
          </a:p>
          <a:p>
            <a:r>
              <a:rPr sz="1100">
                <a:solidFill>
                  <a:srgbClr val="222222"/>
                </a:solidFill>
              </a:rPr>
              <a:t>•  정의: 비개발자와 개발자, 그리고 AI 에이전트가 협업하는 환경에서 기술적 오해를 줄이고 의사결정 속도를 높이기 위한 표준 기술 맵과 용어 정의입니다. [출처: 62, 72]</a:t>
            </a:r>
          </a:p>
          <a:p>
            <a:r>
              <a:rPr sz="1100">
                <a:solidFill>
                  <a:srgbClr val="222222"/>
                </a:solidFill>
              </a:rPr>
              <a:t>•  핵심 가치: "무엇을 모르는지 모르는 상태"를 탈피하여, 문제 발생 시 정확한 기술 용어로 질문하고 해결책을 검색할 수 있는 지식 인덱스를 제공합니다. [출처: 72, 189]</a:t>
            </a:r>
          </a:p>
          <a:p>
            <a:pPr>
              <a:spcBef>
                <a:spcPts val="600"/>
              </a:spcBef>
            </a:pPr>
            <a:r>
              <a:rPr sz="1300" b="1">
                <a:solidFill>
                  <a:srgbClr val="2E5984"/>
                </a:solidFill>
              </a:rPr>
              <a:t>2. 아키텍처 (Architecture): AI 금융 시스템 5대 계층별 기술 스택 [출처: 139]</a:t>
            </a:r>
          </a:p>
          <a:p>
            <a:r>
              <a:rPr sz="1100">
                <a:solidFill>
                  <a:srgbClr val="222222"/>
                </a:solidFill>
              </a:rPr>
              <a:t>•  데이터 레이어 (Data): PostgreSQL(저장), ChromaDB(벡터화), Pandas(가공).</a:t>
            </a:r>
          </a:p>
          <a:p>
            <a:r>
              <a:rPr sz="1100">
                <a:solidFill>
                  <a:srgbClr val="222222"/>
                </a:solidFill>
              </a:rPr>
              <a:t>•  수집 레이어 (Collection): Requests(HTTP 통신), DART/ECOS/코스콤 API(원천 데이터).</a:t>
            </a:r>
          </a:p>
          <a:p>
            <a:r>
              <a:rPr sz="1100">
                <a:solidFill>
                  <a:srgbClr val="222222"/>
                </a:solidFill>
              </a:rPr>
              <a:t>•  지능 레이어 (AI/Analysis): OpenAI GPT(추론), pandas-ta(기술 지표), ReportLab(PDF).</a:t>
            </a:r>
          </a:p>
          <a:p>
            <a:r>
              <a:rPr sz="1100">
                <a:solidFill>
                  <a:srgbClr val="222222"/>
                </a:solidFill>
              </a:rPr>
              <a:t>•  서비스 레이어 (Service): FastAPI(백엔드), Streamlit(웹UI), Telegram Bot(인터페이스).</a:t>
            </a:r>
          </a:p>
          <a:p>
            <a:r>
              <a:rPr sz="1100">
                <a:solidFill>
                  <a:srgbClr val="222222"/>
                </a:solidFill>
              </a:rPr>
              <a:t>•  운영 레이어 (DevOps): Docker(패키징), APScheduler(자동화), systemd(상주 실행).</a:t>
            </a:r>
          </a:p>
          <a:p>
            <a:pPr>
              <a:spcBef>
                <a:spcPts val="600"/>
              </a:spcBef>
            </a:pPr>
            <a:r>
              <a:rPr sz="1300" b="1">
                <a:solidFill>
                  <a:srgbClr val="2E5984"/>
                </a:solidFill>
              </a:rPr>
              <a:t>3. 핵심 용어 (Glossary): 실무에서 가장 많이 쓰이는 AI 10대 용어 [출처: 72, 75, 76]</a:t>
            </a:r>
          </a:p>
          <a:p>
            <a:r>
              <a:rPr sz="1100">
                <a:solidFill>
                  <a:srgbClr val="222222"/>
                </a:solidFill>
              </a:rPr>
              <a:t>•  REST API (★★★★★): 웹 주소를 통해 데이터를 읽고 쓰는 통신 방식 (예: GET /report).</a:t>
            </a:r>
          </a:p>
          <a:p>
            <a:r>
              <a:rPr sz="1100">
                <a:solidFill>
                  <a:srgbClr val="222222"/>
                </a:solidFill>
              </a:rPr>
              <a:t>•  JSON (★★★★★): AI와 프로그램 간 데이터를 주고받는 표준 텍스트 형식.</a:t>
            </a:r>
          </a:p>
          <a:p>
            <a:r>
              <a:rPr sz="1100">
                <a:solidFill>
                  <a:srgbClr val="222222"/>
                </a:solidFill>
              </a:rPr>
              <a:t>•  RAG (★★★★☆): 외부 문서를 검색한 후 그 내용을 바탕으로 AI가 답변하는 기술.</a:t>
            </a:r>
          </a:p>
          <a:p>
            <a:r>
              <a:rPr sz="1100">
                <a:solidFill>
                  <a:srgbClr val="222222"/>
                </a:solidFill>
              </a:rPr>
              <a:t>•  Structured Output (★★★★★): AI의 답변을 프로그램이 처리하기 좋게 특정 규격(JSON)으로 강제하는 기법. [출처: 155]</a:t>
            </a:r>
          </a:p>
          <a:p>
            <a:r>
              <a:rPr sz="1100">
                <a:solidFill>
                  <a:srgbClr val="222222"/>
                </a:solidFill>
              </a:rPr>
              <a:t>•  Agent Mode (★★★★★): AI가 목표를 달성하기 위해 스스로 도구(Tool)를 선택하고 실행하는 자율성. [출처: 76]</a:t>
            </a:r>
          </a:p>
          <a:p>
            <a:pPr>
              <a:spcBef>
                <a:spcPts val="600"/>
              </a:spcBef>
            </a:pPr>
            <a:r>
              <a:rPr sz="1300" b="1">
                <a:solidFill>
                  <a:srgbClr val="2E5984"/>
                </a:solidFill>
              </a:rPr>
              <a:t>4. 실습 (Practice): 기술 스택 맵을 활용한 '나의 시스템' 구조도 완성</a:t>
            </a:r>
          </a:p>
          <a:p>
            <a:r>
              <a:rPr sz="1100">
                <a:solidFill>
                  <a:srgbClr val="222222"/>
                </a:solidFill>
              </a:rPr>
              <a:t>•  과제: 본인이 16시간 동안 구축한 KOStockCrewAI의 전체 구성을 앞서 제시된 5대 계층별 기술 스택에 대입하여 그려보고, 각 모듈이 .env의 어떤 키값을 사용하는지 매핑해 보십시오. [출처: 138, 174]</a:t>
            </a:r>
          </a:p>
          <a:p>
            <a:r>
              <a:rPr sz="1100">
                <a:solidFill>
                  <a:srgbClr val="222222"/>
                </a:solidFill>
              </a:rPr>
              <a:t>•  점검: pydantic-settings가 이 용어들 중 어떤 계층(Config)을 관리하는지 설명할 수 있는지 자문해 보십시오. [출처: 178]</a:t>
            </a:r>
          </a:p>
          <a:p>
            <a:pPr>
              <a:spcBef>
                <a:spcPts val="600"/>
              </a:spcBef>
            </a:pPr>
            <a:r>
              <a:rPr sz="1300" b="1">
                <a:solidFill>
                  <a:srgbClr val="2E5984"/>
                </a:solidFill>
              </a:rPr>
              <a:t>5. 확장 (Expansion): 바이브 코딩(Vibe Coding)에서 에이전틱 AI로 [출처: 76, 79]</a:t>
            </a:r>
          </a:p>
          <a:p>
            <a:r>
              <a:rPr sz="1100">
                <a:solidFill>
                  <a:srgbClr val="222222"/>
                </a:solidFill>
              </a:rPr>
              <a:t>•  고도화 전략: 단순히 코드를 치는 개발에서 벗어나, AI에게 전체 설계를 지시하고 코드를 생성하게 하는 '바이브 코딩'을 통해 생산성을 극대화합니다. [출처: 76]</a:t>
            </a:r>
          </a:p>
          <a:p>
            <a:r>
              <a:rPr sz="1100">
                <a:solidFill>
                  <a:srgbClr val="222222"/>
                </a:solidFill>
              </a:rPr>
              <a:t>•  기술적 지향점: 이 용어 사전은 향후 여러분이 CrewAI와 같은 멀티 에이전트 시스템을 구축할 때 각 에이전트에게 부여할 역할(Role)과 도구(Tool)를 정의하는 기초 온톨로지로 활용됩니다. [출처: 78, 168]</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198  ·  173/216</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D</a:t>
            </a:r>
          </a:p>
          <a:p>
            <a:r>
              <a:rPr sz="1900" b="1">
                <a:solidFill>
                  <a:srgbClr val="FFFFFF"/>
                </a:solidFill>
              </a:rPr>
              <a:t>[174] KOSCOM 주식부문 주요 API 명세 및 실전 연동 가이드</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한국 자본시장의 표준 데이터 인터페이스, 코스콤 Open API</a:t>
            </a:r>
          </a:p>
          <a:p>
            <a:r>
              <a:rPr sz="1100">
                <a:solidFill>
                  <a:srgbClr val="222222"/>
                </a:solidFill>
              </a:rPr>
              <a:t>•  정의: 한국거래소(KRX)의 시세 데이터를 표준화된 RESTful 방식으로 제공하여, 핀테크 기업들이 별도의 복잡한 수신 시스템 없이도 주가 정보를 활용할 수 있게 돕는 데이터 허브입니다. [출처: 3, 63]</a:t>
            </a:r>
          </a:p>
          <a:p>
            <a:r>
              <a:rPr sz="1100">
                <a:solidFill>
                  <a:srgbClr val="222222"/>
                </a:solidFill>
              </a:rPr>
              <a:t>•  핵심 가치: 180번 슬라이드에서 구현한 koscom_collector.py가 실제 가치를 발휘하기 위해 필요한 엔드포인트(Endpoint)와 인증 규칙을 정의하는 기초 자료입니다. [출처: 148, 149]</a:t>
            </a:r>
          </a:p>
          <a:p>
            <a:pPr>
              <a:spcBef>
                <a:spcPts val="600"/>
              </a:spcBef>
            </a:pPr>
            <a:r>
              <a:rPr sz="1300" b="1">
                <a:solidFill>
                  <a:srgbClr val="2E5984"/>
                </a:solidFill>
              </a:rPr>
              <a:t>2. 아키텍처 (Architecture): 마케팅 마스터 및 시계열 조회를 위한 계층 구조 [출처: 3, 4]</a:t>
            </a:r>
          </a:p>
          <a:p>
            <a:r>
              <a:rPr sz="1100">
                <a:solidFill>
                  <a:srgbClr val="222222"/>
                </a:solidFill>
              </a:rPr>
              <a:t>•  기본 정보: market/closed/kospi/lists (종목 리스트 추출) → market/closed/kospi/{ticker}/master (상세 정보).</a:t>
            </a:r>
          </a:p>
          <a:p>
            <a:r>
              <a:rPr sz="1100">
                <a:solidFill>
                  <a:srgbClr val="222222"/>
                </a:solidFill>
              </a:rPr>
              <a:t>•  시계열/수급: market/closed/kospi/{ticker}/history (일자별 가격/거래량/수급 통합 조회).</a:t>
            </a:r>
          </a:p>
          <a:p>
            <a:r>
              <a:rPr sz="1100">
                <a:solidFill>
                  <a:srgbClr val="222222"/>
                </a:solidFill>
              </a:rPr>
              <a:t>•  실시간성: market/realtime/kospi/multiquote/stocks/lists (멀티 종목 실시간 시세 조회).</a:t>
            </a:r>
          </a:p>
          <a:p>
            <a:pPr>
              <a:spcBef>
                <a:spcPts val="600"/>
              </a:spcBef>
            </a:pPr>
            <a:r>
              <a:rPr sz="1300" b="1">
                <a:solidFill>
                  <a:srgbClr val="2E5984"/>
                </a:solidFill>
              </a:rPr>
              <a:t>3. 소스코드 (Source Code): 테스트 API 엔드포인트 및 호출 명세 [출처: 3, 4, 148]</a:t>
            </a:r>
          </a:p>
          <a:p>
            <a:r>
              <a:rPr sz="1100">
                <a:solidFill>
                  <a:srgbClr val="222222"/>
                </a:solidFill>
              </a:rPr>
              <a:t>•  주요 테스트 URL (샘플 API Key 적용):</a:t>
            </a:r>
          </a:p>
          <a:p>
            <a:pPr>
              <a:spcBef>
                <a:spcPts val="600"/>
              </a:spcBef>
            </a:pPr>
            <a:r>
              <a:rPr sz="1300" b="1">
                <a:solidFill>
                  <a:srgbClr val="2E5984"/>
                </a:solidFill>
              </a:rPr>
              <a:t>4. 실습 (Practice): 테스트 API 호출을 통한 데이터 정합성 검증 [출처: 148, 149]</a:t>
            </a:r>
          </a:p>
          <a:p>
            <a:r>
              <a:rPr sz="1100">
                <a:solidFill>
                  <a:srgbClr val="222222"/>
                </a:solidFill>
              </a:rPr>
              <a:t>•  과제 1: 브라우저나 Postman을 사용하여 위 history_url을 호출하고, 반환되는 JSON 데이터에서 종가(close)와 거래량(volume)의 필드명을 확인하십시오.</a:t>
            </a:r>
          </a:p>
          <a:p>
            <a:r>
              <a:rPr sz="1100">
                <a:solidFill>
                  <a:srgbClr val="222222"/>
                </a:solidFill>
              </a:rPr>
              <a:t>•  과제 2: 148번 슬라이드의 KoscomClient 클래스에 위 테스트 엔드포인트를 주입하여 실제 DB의 stock_prices 테이블에 데이터가 정상적으로 저장(Upsert)되는지 테스트하십시오. [출처: 144, 149]</a:t>
            </a:r>
          </a:p>
          <a:p>
            <a:pPr>
              <a:spcBef>
                <a:spcPts val="600"/>
              </a:spcBef>
            </a:pPr>
            <a:r>
              <a:rPr sz="1300" b="1">
                <a:solidFill>
                  <a:srgbClr val="2E5984"/>
                </a:solidFill>
              </a:rPr>
              <a:t>5. 확장 (Expansion): 실운영 환경 전환 시 필수 체크리스트 [출처: 149, 171]</a:t>
            </a:r>
          </a:p>
          <a:p>
            <a:r>
              <a:rPr sz="1100">
                <a:solidFill>
                  <a:srgbClr val="222222"/>
                </a:solidFill>
              </a:rPr>
              <a:t>•  보안 및 규정:</a:t>
            </a:r>
          </a:p>
          <a:p>
            <a:r>
              <a:rPr sz="1100">
                <a:solidFill>
                  <a:srgbClr val="222222"/>
                </a:solidFill>
              </a:rPr>
              <a:t>•  인증 방식: 테스트용 쿼리 파라미터(?apikey=) 방식에서 실운영용 Bearer Token 또는 x-api-key Header 방식으로 전환하십시오. [출처: 148]</a:t>
            </a:r>
          </a:p>
          <a:p>
            <a:r>
              <a:rPr sz="1100">
                <a:solidFill>
                  <a:srgbClr val="222222"/>
                </a:solidFill>
              </a:rPr>
              <a:t>•  데이터 거버넌스: 코스콤 계약 범위 밖의 제3자 재배포 금지 규정을 반드시 준수하고, 웹단말 제공 시 호출 제한(Rate Limit)을 설정하여 안정성을 확보하십시오. [출처: 149, 171]</a:t>
            </a:r>
          </a:p>
          <a:p>
            <a:r>
              <a:rPr sz="1100">
                <a:solidFill>
                  <a:srgbClr val="222222"/>
                </a:solidFill>
              </a:rPr>
              <a:t>•  기술적 고도화: 산출된 실데이터는 156번 슬라이드의 ChromaDB(뉴스 RAG)와 결합하여 "과거 유사한 수급 국면에서의 주가 흐름 분석" 등 지능형 금융 서비스의 핵심 근거로 활용됩니다. [출처: 156]</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201  ·  174/216</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D</a:t>
            </a:r>
          </a:p>
          <a:p>
            <a:r>
              <a:rPr sz="1900" b="1">
                <a:solidFill>
                  <a:srgbClr val="FFFFFF"/>
                </a:solidFill>
              </a:rPr>
              <a:t>[175] 텔레그램-GAS-OpenAI E2E 아키텍처 및 코드 매핑</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자연어를 명령어로 전환하는 '인텐트 라우팅(Intent Routing)'</a:t>
            </a:r>
          </a:p>
          <a:p>
            <a:r>
              <a:rPr sz="1100">
                <a:solidFill>
                  <a:srgbClr val="222222"/>
                </a:solidFill>
              </a:rPr>
              <a:t>•  정의: 사용자가 텔레그램으로 보낸 일상의 언어를 GPT가 분석하여 시스템이 실행 가능한 Action(함수명)과 Parameter(키워드)로 변환하는 이벤트 기반 아키텍처입니다.</a:t>
            </a:r>
          </a:p>
          <a:p>
            <a:r>
              <a:rPr sz="1100">
                <a:solidFill>
                  <a:srgbClr val="222222"/>
                </a:solidFill>
              </a:rPr>
              <a:t>•  핵심 원칙: GPT를 단순 대화용 챗봇이 아닌, 사용자의 의도를 분류하고 적절한 함수를 호출하는 '지능형 라우터(AI Router)'로 활용합니다.</a:t>
            </a:r>
          </a:p>
          <a:p>
            <a:pPr>
              <a:spcBef>
                <a:spcPts val="600"/>
              </a:spcBef>
            </a:pPr>
            <a:r>
              <a:rPr sz="1300" b="1">
                <a:solidFill>
                  <a:srgbClr val="2E5984"/>
                </a:solidFill>
              </a:rPr>
              <a:t>2. 아키텍처 (Architecture): 엔드 투 엔드(E2E) 작동 워크플로우</a:t>
            </a:r>
          </a:p>
          <a:p>
            <a:r>
              <a:rPr sz="1100">
                <a:solidFill>
                  <a:srgbClr val="222222"/>
                </a:solidFill>
              </a:rPr>
              <a:t>•  데이터 흐름:</a:t>
            </a:r>
          </a:p>
          <a:p>
            <a:r>
              <a:rPr sz="1100">
                <a:solidFill>
                  <a:srgbClr val="222222"/>
                </a:solidFill>
              </a:rPr>
              <a:t>•  사용자: "오늘 시장 브리핑 보여줘" 메시지 전송.</a:t>
            </a:r>
          </a:p>
          <a:p>
            <a:r>
              <a:rPr sz="1100">
                <a:solidFill>
                  <a:srgbClr val="222222"/>
                </a:solidFill>
              </a:rPr>
              <a:t>•  Telegram Bot: 설정된 Webhook URL로 JSON 형태의 POST 요청 전달.</a:t>
            </a:r>
          </a:p>
          <a:p>
            <a:r>
              <a:rPr sz="1100">
                <a:solidFill>
                  <a:srgbClr val="222222"/>
                </a:solidFill>
              </a:rPr>
              <a:t>•  Apps Script: doPost(e) 함수가 실행되며 요청 수신 및 메시지 추출.</a:t>
            </a:r>
          </a:p>
          <a:p>
            <a:r>
              <a:rPr sz="1100">
                <a:solidFill>
                  <a:srgbClr val="222222"/>
                </a:solidFill>
              </a:rPr>
              <a:t>•  OpenAI API: analyzeCommandWithGPT_ 함수를 통해 의도 분류 (예: market_briefing).</a:t>
            </a:r>
          </a:p>
          <a:p>
            <a:r>
              <a:rPr sz="1100">
                <a:solidFill>
                  <a:srgbClr val="222222"/>
                </a:solidFill>
              </a:rPr>
              <a:t>•  Execution: 분류된 Action에 따라 runMorningPatrol_() 등 실제 분석 함수 실행.</a:t>
            </a:r>
          </a:p>
          <a:p>
            <a:r>
              <a:rPr sz="1100">
                <a:solidFill>
                  <a:srgbClr val="222222"/>
                </a:solidFill>
              </a:rPr>
              <a:t>•  Response: 분석 결과물을 다시 텔레그램 API를 통해 사용자에게 회신.</a:t>
            </a:r>
          </a:p>
          <a:p>
            <a:pPr>
              <a:spcBef>
                <a:spcPts val="600"/>
              </a:spcBef>
            </a:pPr>
            <a:r>
              <a:rPr sz="1300" b="1">
                <a:solidFill>
                  <a:srgbClr val="2E5984"/>
                </a:solidFill>
              </a:rPr>
              <a:t>3. 소스코드 (Source Code): doPost(e) 및 GPT 분류기 핵심 로직</a:t>
            </a:r>
          </a:p>
          <a:p>
            <a:r>
              <a:rPr sz="1100">
                <a:solidFill>
                  <a:srgbClr val="222222"/>
                </a:solidFill>
              </a:rPr>
              <a:t>•  진입점 및 라우팅:</a:t>
            </a:r>
          </a:p>
          <a:p>
            <a:r>
              <a:rPr sz="1100">
                <a:solidFill>
                  <a:srgbClr val="222222"/>
                </a:solidFill>
              </a:rPr>
              <a:t>•  GPT 시스템 프롬프트: "너는 텔레그램 메시지를 Apps Script 실행 명령으로 변환하는 분류기다. 반드시 JSON만 출력한다."</a:t>
            </a:r>
          </a:p>
          <a:p>
            <a:pPr>
              <a:spcBef>
                <a:spcPts val="600"/>
              </a:spcBef>
            </a:pPr>
            <a:r>
              <a:rPr sz="1300" b="1">
                <a:solidFill>
                  <a:srgbClr val="2E5984"/>
                </a:solidFill>
              </a:rPr>
              <a:t>4. 실습 (Practice): Webhook 등록 및 작동 상태 검증</a:t>
            </a:r>
          </a:p>
          <a:p>
            <a:r>
              <a:rPr sz="1100">
                <a:solidFill>
                  <a:srgbClr val="222222"/>
                </a:solidFill>
              </a:rPr>
              <a:t>•  과제 1: 브라우저 주소창에 https://api.telegram.org/bot&lt;토큰&gt;/setWebhook?url=&lt;웹앱URL&gt;을 입력하여 성공 메시지({"ok":true})를 확인하십시오.</a:t>
            </a:r>
          </a:p>
          <a:p>
            <a:r>
              <a:rPr sz="1100">
                <a:solidFill>
                  <a:srgbClr val="222222"/>
                </a:solidFill>
              </a:rPr>
              <a:t>•  과제 2: getWebhookInfo API를 호출하여 pending_update_count가 0인지 확인하고, 텔레그램 메시지 입력 시 CommandLog 시트에 로그가 실시간 적재되는지 점검하십시오.</a:t>
            </a:r>
          </a:p>
          <a:p>
            <a:pPr>
              <a:spcBef>
                <a:spcPts val="600"/>
              </a:spcBef>
            </a:pPr>
            <a:r>
              <a:rPr sz="1300" b="1">
                <a:solidFill>
                  <a:srgbClr val="2E5984"/>
                </a:solidFill>
              </a:rPr>
              <a:t>5. 확장 (Expansion): 슬랙/디스코드 연동 및 자율 에이전트(CrewAI)로의 전이</a:t>
            </a:r>
          </a:p>
          <a:p>
            <a:r>
              <a:rPr sz="1100">
                <a:solidFill>
                  <a:srgbClr val="222222"/>
                </a:solidFill>
              </a:rPr>
              <a:t>•  고도화 전략: 동일한 Action Layer 구조를 유지하면서 Webhook 수신부만 교체하면 슬랙(Slack)이나 디스코드(Discord) 등 다양한 메신저로 서비스를 즉시 확장할 수 있습니다.</a:t>
            </a:r>
          </a:p>
          <a:p>
            <a:r>
              <a:rPr sz="1100">
                <a:solidFill>
                  <a:srgbClr val="222222"/>
                </a:solidFill>
              </a:rPr>
              <a:t>•  기술적 지향점: 현재의 switch/case 방식의 정적 라우팅을 199번 슬라이드에서 배운 CrewAI의 Tool Calling 방식으로 전환하여, AI가 스스로 어떤 데이터를 수집하고 분석할지 결정하는 '자율형 금융 리서치 에이전트'로 진화시킵니다.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202  ·  175/216</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D</a:t>
            </a:r>
          </a:p>
          <a:p>
            <a:r>
              <a:rPr sz="1900" b="1">
                <a:solidFill>
                  <a:srgbClr val="FFFFFF"/>
                </a:solidFill>
              </a:rPr>
              <a:t>[176] Telegram-GAS Action Layer 설계 및 다중 명령어 분기 처리</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자연어를 명확한 기능(Action)으로 변환하는 '인텐트 분류기'</a:t>
            </a:r>
          </a:p>
          <a:p>
            <a:r>
              <a:rPr sz="1100">
                <a:solidFill>
                  <a:srgbClr val="222222"/>
                </a:solidFill>
              </a:rPr>
              <a:t>•  정의: 사용자가 일상어로 입력한 문장(예: "삼성전자 분석해줘", "오늘 뉴스 뭐야?")의 의도를 파악하여, 시스템이 미리 정의한 Action ID와 Parameter로 정형화하는 프레임워크입니다. [출처: 29, 97]</a:t>
            </a:r>
          </a:p>
          <a:p>
            <a:r>
              <a:rPr sz="1100">
                <a:solidFill>
                  <a:srgbClr val="222222"/>
                </a:solidFill>
              </a:rPr>
              <a:t>•  핵심 원칙: GPT를 단순히 수다를 떠는 챗봇이 아니라, 특정 작업을 실행하기 위한 'Intent Classifier(의도 분류기)'로 사용함으로써 시스템의 예측 가능성을 높입니다. [출처: 31, 97, 108]</a:t>
            </a:r>
          </a:p>
          <a:p>
            <a:pPr>
              <a:spcBef>
                <a:spcPts val="600"/>
              </a:spcBef>
            </a:pPr>
            <a:r>
              <a:rPr sz="1300" b="1">
                <a:solidFill>
                  <a:srgbClr val="2E5984"/>
                </a:solidFill>
              </a:rPr>
              <a:t>2. 아키텍처 (Architecture): Action 기반의 요청 처리 파이프라인 [출처: 2, 29, 102]</a:t>
            </a:r>
          </a:p>
          <a:p>
            <a:r>
              <a:rPr sz="1100">
                <a:solidFill>
                  <a:srgbClr val="222222"/>
                </a:solidFill>
              </a:rPr>
              <a:t>•  프로세스 단계:</a:t>
            </a:r>
          </a:p>
          <a:p>
            <a:r>
              <a:rPr sz="1100">
                <a:solidFill>
                  <a:srgbClr val="222222"/>
                </a:solidFill>
              </a:rPr>
              <a:t>•  사용자 질의: 텔레그램 메시지 입력.</a:t>
            </a:r>
          </a:p>
          <a:p>
            <a:r>
              <a:rPr sz="1100">
                <a:solidFill>
                  <a:srgbClr val="222222"/>
                </a:solidFill>
              </a:rPr>
              <a:t>•  GPT Classifier: system_prompt에 정의된 '허용 Action' 중 가장 유사한 것을 선정하여 JSON으로 출력. [출처: 31, 121]</a:t>
            </a:r>
          </a:p>
          <a:p>
            <a:r>
              <a:rPr sz="1100">
                <a:solidFill>
                  <a:srgbClr val="222222"/>
                </a:solidFill>
              </a:rPr>
              <a:t>•  Action Dispatcher: switch(action) 구조를 통해 각 기능에 매핑된 GAS 함수(예: runMorningPatrol_)를 호출. [출처: 2, 45, 97, 120]</a:t>
            </a:r>
          </a:p>
          <a:p>
            <a:r>
              <a:rPr sz="1100">
                <a:solidFill>
                  <a:srgbClr val="222222"/>
                </a:solidFill>
              </a:rPr>
              <a:t>•  Data Layer 연동: 호출된 함수가 ECOS, DART, 코스콤 등 필요한 데이터 소스에 접근. [출처: 98, 103]</a:t>
            </a:r>
          </a:p>
          <a:p>
            <a:pPr>
              <a:spcBef>
                <a:spcPts val="600"/>
              </a:spcBef>
            </a:pPr>
            <a:r>
              <a:rPr sz="1300" b="1">
                <a:solidFill>
                  <a:srgbClr val="2E5984"/>
                </a:solidFill>
              </a:rPr>
              <a:t>3. 소스코드 (Source Code): analyzeCommandWithGPT_ 및 Dispatcher 구현 [출처: 31, 45, 120, 121]</a:t>
            </a:r>
          </a:p>
          <a:p>
            <a:r>
              <a:rPr sz="1100">
                <a:solidFill>
                  <a:srgbClr val="222222"/>
                </a:solidFill>
              </a:rPr>
              <a:t>•  핵심 구현: GPT의 응답을 JSON으로 강제하고 이를 기반으로 함수를 분기합니다.</a:t>
            </a:r>
          </a:p>
          <a:p>
            <a:pPr>
              <a:spcBef>
                <a:spcPts val="600"/>
              </a:spcBef>
            </a:pPr>
            <a:r>
              <a:rPr sz="1300" b="1">
                <a:solidFill>
                  <a:srgbClr val="2E5984"/>
                </a:solidFill>
              </a:rPr>
              <a:t>4. 실습 (Practice): 신규 Action 추가 및 로그 확인 [출처: 38, 97, 114]</a:t>
            </a:r>
          </a:p>
          <a:p>
            <a:r>
              <a:rPr sz="1100">
                <a:solidFill>
                  <a:srgbClr val="222222"/>
                </a:solidFill>
              </a:rPr>
              <a:t>•  과제 1: analyzeCommandWithGPT_의 허용 action 목록에 economic_calendar를 추가하고, 텔레그램에서 "이번 주 경제 일정 알려줘"라고 입력했을 때 해당 action이 올바르게 분류되는지 확인하십시오. [출처: 97, 98]</a:t>
            </a:r>
          </a:p>
          <a:p>
            <a:r>
              <a:rPr sz="1100">
                <a:solidFill>
                  <a:srgbClr val="222222"/>
                </a:solidFill>
              </a:rPr>
              <a:t>•  과제 2: 구글 시트의 CommandLog 탭을 열어 [시간, 채팅ID, 사용자메시지, ACTION, 처리결과]가 실시간으로 정확히 기록되는지 점검하십시오. [출처: 2, 38, 114]</a:t>
            </a:r>
          </a:p>
          <a:p>
            <a:pPr>
              <a:spcBef>
                <a:spcPts val="600"/>
              </a:spcBef>
            </a:pPr>
            <a:r>
              <a:rPr sz="1300" b="1">
                <a:solidFill>
                  <a:srgbClr val="2E5984"/>
                </a:solidFill>
              </a:rPr>
              <a:t>5. 확장 (Expansion): 동적 도구 선택(Tool Calling)으로의 진화 [출처: 16, 76, 79]</a:t>
            </a:r>
          </a:p>
          <a:p>
            <a:r>
              <a:rPr sz="1100">
                <a:solidFill>
                  <a:srgbClr val="222222"/>
                </a:solidFill>
              </a:rPr>
              <a:t>•  고도화 전략: 정해진 switch 문을 넘어, AI가 스스로 목표를 달성하기 위해 필요한 함수(Tool)를 판단하고 실행하는 Agent Mode 또는 Function Calling 구조로 확장합니다. [출처: 16, 76, 79]</a:t>
            </a:r>
          </a:p>
          <a:p>
            <a:r>
              <a:rPr sz="1100">
                <a:solidFill>
                  <a:srgbClr val="222222"/>
                </a:solidFill>
              </a:rPr>
              <a:t>•  기술적 지향점: 이를 통해 199번 슬라이드에서 배운 CrewAI 멀티 에이전트와 결합하여, 사용자의 복합적인 질문에 대해 여러 에이전트가 협업하여 최적의 결과를 도출하는 자율형 금융 비서 플랫폼으로 완성합니다. [출처: 78, 199]</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203  ·  176/216</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D</a:t>
            </a:r>
          </a:p>
          <a:p>
            <a:r>
              <a:rPr sz="1900" b="1">
                <a:solidFill>
                  <a:srgbClr val="FFFFFF"/>
                </a:solidFill>
              </a:rPr>
              <a:t>[177] Telegram-GAS Data Layer 구축 - 멀티 소스 데이터 연동</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GPT의 추론을 뒷받침하는 '정확한 금융 컨텍스트' 확보</a:t>
            </a:r>
          </a:p>
          <a:p>
            <a:r>
              <a:rPr sz="1100">
                <a:solidFill>
                  <a:srgbClr val="222222"/>
                </a:solidFill>
              </a:rPr>
              <a:t>•  정의: GPT가 최신 시장 상황을 분석할 수 있도록 한국은행(ECOS), 금융감독원(DART), 코스콤(KOSCOM) 등의 외부 API로부터 실시간 데이터를 추출하여 시스템에 공급하는 데이터 공급망입니다. [출처: 29, 98]</a:t>
            </a:r>
          </a:p>
          <a:p>
            <a:r>
              <a:rPr sz="1100">
                <a:solidFill>
                  <a:srgbClr val="222222"/>
                </a:solidFill>
              </a:rPr>
              <a:t>•  핵심 가치: GPT는 학습 시점 이후의 정보를 알지 못하므로, Data Layer를 통해 주입된 '실시간 데이터'가 리포트의 신뢰성과 전문성을 결정합니다. [출처: 31, 98]</a:t>
            </a:r>
          </a:p>
          <a:p>
            <a:pPr>
              <a:spcBef>
                <a:spcPts val="600"/>
              </a:spcBef>
            </a:pPr>
            <a:r>
              <a:rPr sz="1300" b="1">
                <a:solidFill>
                  <a:srgbClr val="2E5984"/>
                </a:solidFill>
              </a:rPr>
              <a:t>2. 아키텍처 (Architecture): API 기반의 데이터 통합 파이프라인 [출처: 2, 29, 98]</a:t>
            </a:r>
          </a:p>
          <a:p>
            <a:r>
              <a:rPr sz="1100">
                <a:solidFill>
                  <a:srgbClr val="222222"/>
                </a:solidFill>
              </a:rPr>
              <a:t>•  작동 흐름: [Action 분기] → [Data Layer 함수 호출] → [외부 API GET 요청] → [JSON 파싱 및 정규화] → [GPT 프롬프트에 삽입].</a:t>
            </a:r>
          </a:p>
          <a:p>
            <a:r>
              <a:rPr sz="1100">
                <a:solidFill>
                  <a:srgbClr val="222222"/>
                </a:solidFill>
              </a:rPr>
              <a:t>•  데이터 소스 매핑: [출처: 29, 98]</a:t>
            </a:r>
          </a:p>
          <a:p>
            <a:r>
              <a:rPr sz="1100">
                <a:solidFill>
                  <a:srgbClr val="222222"/>
                </a:solidFill>
              </a:rPr>
              <a:t>•  ECOS: 기준금리, 환율, 소비자물가지수 등 매크로 지표.</a:t>
            </a:r>
          </a:p>
          <a:p>
            <a:r>
              <a:rPr sz="1100">
                <a:solidFill>
                  <a:srgbClr val="222222"/>
                </a:solidFill>
              </a:rPr>
              <a:t>•  DART: 기업별 최근 공시 목록 및 주요 사항 보고서.</a:t>
            </a:r>
          </a:p>
          <a:p>
            <a:r>
              <a:rPr sz="1100">
                <a:solidFill>
                  <a:srgbClr val="222222"/>
                </a:solidFill>
              </a:rPr>
              <a:t>•  Koscom: 코스피/코스닥 지수 및 종목별 시세·수급.</a:t>
            </a:r>
          </a:p>
          <a:p>
            <a:pPr>
              <a:spcBef>
                <a:spcPts val="600"/>
              </a:spcBef>
            </a:pPr>
            <a:r>
              <a:rPr sz="1300" b="1">
                <a:solidFill>
                  <a:srgbClr val="2E5984"/>
                </a:solidFill>
              </a:rPr>
              <a:t>3. 소스코드 (Source Code): 주요 데이터 수집 함수(getEcosData_, getDartData_) [출처: 128, 131]</a:t>
            </a:r>
          </a:p>
          <a:p>
            <a:r>
              <a:rPr sz="1100">
                <a:solidFill>
                  <a:srgbClr val="222222"/>
                </a:solidFill>
              </a:rPr>
              <a:t>•  핵심 구현: 외부 API를 호출하여 데이터를 JSON 문자열로 반환합니다.</a:t>
            </a:r>
          </a:p>
          <a:p>
            <a:pPr>
              <a:spcBef>
                <a:spcPts val="600"/>
              </a:spcBef>
            </a:pPr>
            <a:r>
              <a:rPr sz="1300" b="1">
                <a:solidFill>
                  <a:srgbClr val="2E5984"/>
                </a:solidFill>
              </a:rPr>
              <a:t>4. 실습 (Practice): ECOS 데이터 호출 및 GPT 프롬프트 삽입 테스트 [출처: 57, 131]</a:t>
            </a:r>
          </a:p>
          <a:p>
            <a:r>
              <a:rPr sz="1100">
                <a:solidFill>
                  <a:srgbClr val="222222"/>
                </a:solidFill>
              </a:rPr>
              <a:t>•  과제 1: 스크립트 에디터에서 getEcosData_() 함수를 단독 실행하고, [로그] 창에 한국은행의 기준금리 또는 물가 데이터가 JSON 형태로 정상 출력되는지 확인하십시오. [출처: 55, 128]</a:t>
            </a:r>
          </a:p>
          <a:p>
            <a:r>
              <a:rPr sz="1100">
                <a:solidFill>
                  <a:srgbClr val="222222"/>
                </a:solidFill>
              </a:rPr>
              <a:t>•  과제 2: runEcosAnalysis_ 함수를 통해 수집된 데이터가 ${ecosData} 자리표시자를 통해 GPT 프롬프트에 정상적으로 포함되어 분석 결과가 나오는지 텔레그램으로 테스트하십시오. [출처: 57, 130]</a:t>
            </a:r>
          </a:p>
          <a:p>
            <a:pPr>
              <a:spcBef>
                <a:spcPts val="600"/>
              </a:spcBef>
            </a:pPr>
            <a:r>
              <a:rPr sz="1300" b="1">
                <a:solidFill>
                  <a:srgbClr val="2E5984"/>
                </a:solidFill>
              </a:rPr>
              <a:t>5. 확장 (Expansion): 데이터 필터링을 통한 토큰 최적화 및 보안 [출처: 11, 31, 98]</a:t>
            </a:r>
          </a:p>
          <a:p>
            <a:r>
              <a:rPr sz="1100">
                <a:solidFill>
                  <a:srgbClr val="222222"/>
                </a:solidFill>
              </a:rPr>
              <a:t>•  고도화 전략: API 응답 전체를 GPT에게 보내면 토큰 비용이 급증하므로, map() 함수를 사용하여 필요한 필드(날짜, 수치, 항목명)만 추출하는 정제 과정을 추가합니다. [출처: 11, 54, 128]</a:t>
            </a:r>
          </a:p>
          <a:p>
            <a:r>
              <a:rPr sz="1100">
                <a:solidFill>
                  <a:srgbClr val="222222"/>
                </a:solidFill>
              </a:rPr>
              <a:t>•  기술적 지향점: 수집된 데이터를 단순히 GPT에게 전달하는 데 그치지 않고, 132번 슬라이드에서 배운 구글 시트 기반 포트폴리오 데이터와 결합하여 사용자 맞춤형 분석을 제공하는 '초개인화 데이터 레이어'를 완성합니다. [출처: 132]</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204  ·  177/216</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D</a:t>
            </a:r>
          </a:p>
          <a:p>
            <a:r>
              <a:rPr sz="1900" b="1">
                <a:solidFill>
                  <a:srgbClr val="FFFFFF"/>
                </a:solidFill>
              </a:rPr>
              <a:t>[178] Telegram-GAS AI 리포트 엔진 - 데이터 기반 프롬프트 합성</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로우 데이터에 '전문가의 시각'을 입히는 지능형 변환</a:t>
            </a:r>
          </a:p>
          <a:p>
            <a:r>
              <a:rPr sz="1100">
                <a:solidFill>
                  <a:srgbClr val="222222"/>
                </a:solidFill>
              </a:rPr>
              <a:t>•  정의: 204번 슬라이드에서 수집한 수치 및 텍스트 데이터를 GPT의 시스템 프롬프트(Role)와 결합하여, 단순 정보 나열이 아닌 투자 전략이 담긴 보고서로 생성하는 엔진입니다. [출처: 98, 104]</a:t>
            </a:r>
          </a:p>
          <a:p>
            <a:r>
              <a:rPr sz="1100">
                <a:solidFill>
                  <a:srgbClr val="222222"/>
                </a:solidFill>
              </a:rPr>
              <a:t>•  핵심 원칙: GPT는 챗봇이 아닌 '애널리스트'로 작동하며, 주입된 실시간 컨텍스트(${data})를 바탕으로 현재 시장 상황에 최적화된 답변을 도출합니다. [출처: 31, 59, 104]</a:t>
            </a:r>
          </a:p>
          <a:p>
            <a:pPr>
              <a:spcBef>
                <a:spcPts val="600"/>
              </a:spcBef>
            </a:pPr>
            <a:r>
              <a:rPr sz="1300" b="1">
                <a:solidFill>
                  <a:srgbClr val="2E5984"/>
                </a:solidFill>
              </a:rPr>
              <a:t>2. 아키텍처 (Architecture): 데이터-프롬프트-응답 파이프라인 [출처: 98, 104, 106]</a:t>
            </a:r>
          </a:p>
          <a:p>
            <a:r>
              <a:rPr sz="1100">
                <a:solidFill>
                  <a:srgbClr val="222222"/>
                </a:solidFill>
              </a:rPr>
              <a:t>•  프로세스 단계:</a:t>
            </a:r>
          </a:p>
          <a:p>
            <a:r>
              <a:rPr sz="1100">
                <a:solidFill>
                  <a:srgbClr val="222222"/>
                </a:solidFill>
              </a:rPr>
              <a:t>•  데이터 주입: ${ecosData}, ${dartData} 등의 자리표시자(Placeholder)에 실제 수집값 매핑. [출처: 59, 133]</a:t>
            </a:r>
          </a:p>
          <a:p>
            <a:r>
              <a:rPr sz="1100">
                <a:solidFill>
                  <a:srgbClr val="222222"/>
                </a:solidFill>
              </a:rPr>
              <a:t>•  역할 부여: systemPrompt를 통해 분석가, 경제학자, 포트폴리오 매니저 등 페르소나 설정. [출처: 98, 125]</a:t>
            </a:r>
          </a:p>
          <a:p>
            <a:r>
              <a:rPr sz="1100">
                <a:solidFill>
                  <a:srgbClr val="222222"/>
                </a:solidFill>
              </a:rPr>
              <a:t>•  추론 실행: askGPT_ 공통 함수를 통한 OpenAI API 호출 및 결과 생성. [출처: 51, 125]</a:t>
            </a:r>
          </a:p>
          <a:p>
            <a:pPr>
              <a:spcBef>
                <a:spcPts val="600"/>
              </a:spcBef>
            </a:pPr>
            <a:r>
              <a:rPr sz="1300" b="1">
                <a:solidFill>
                  <a:srgbClr val="2E5984"/>
                </a:solidFill>
              </a:rPr>
              <a:t>3. 소스코드 (Source Code): askGPT_ 공통 함수 및 종목 분석 엔진 [출처: 51, 56, 125, 129]</a:t>
            </a:r>
          </a:p>
          <a:p>
            <a:r>
              <a:rPr sz="1100">
                <a:solidFill>
                  <a:srgbClr val="222222"/>
                </a:solidFill>
              </a:rPr>
              <a:t>•  핵심 구현: 재사용 가능한 호출 함수와 분석 로직입니다.</a:t>
            </a:r>
          </a:p>
          <a:p>
            <a:pPr>
              <a:spcBef>
                <a:spcPts val="600"/>
              </a:spcBef>
            </a:pPr>
            <a:r>
              <a:rPr sz="1300" b="1">
                <a:solidFill>
                  <a:srgbClr val="2E5984"/>
                </a:solidFill>
              </a:rPr>
              <a:t>4. 실습 (Practice): askGPT_를 활용한 시장 브리핑 생성 테스트 [출처: 53, 126]</a:t>
            </a:r>
          </a:p>
          <a:p>
            <a:r>
              <a:rPr sz="1100">
                <a:solidFill>
                  <a:srgbClr val="222222"/>
                </a:solidFill>
              </a:rPr>
              <a:t>•  과제 1: runMarketBriefing_ 함수를 실행하여 GPT가 [미국증시, 금리, 환율, 원자재, 투자전략] 5개 항목을 논리적으로 생성하는지 확인하십시오. [출처: 53, 126]</a:t>
            </a:r>
          </a:p>
          <a:p>
            <a:r>
              <a:rPr sz="1100">
                <a:solidFill>
                  <a:srgbClr val="222222"/>
                </a:solidFill>
              </a:rPr>
              <a:t>•  과제 2: 텔레그램에서 "삼성전자 분석해줘"라고 입력했을 때, 203번의 Action Layer가 runStockReport_를 정확히 호출하고 분석 결과를 회신하는지 점검하십시오. [출처: 36, 112]</a:t>
            </a:r>
          </a:p>
          <a:p>
            <a:pPr>
              <a:spcBef>
                <a:spcPts val="600"/>
              </a:spcBef>
            </a:pPr>
            <a:r>
              <a:rPr sz="1300" b="1">
                <a:solidFill>
                  <a:srgbClr val="2E5984"/>
                </a:solidFill>
              </a:rPr>
              <a:t>5. 확장 (Expansion): '초개인화 리서치' 및 멀티 에이전트 협업 [출처: 58, 132, 199]</a:t>
            </a:r>
          </a:p>
          <a:p>
            <a:r>
              <a:rPr sz="1100">
                <a:solidFill>
                  <a:srgbClr val="222222"/>
                </a:solidFill>
              </a:rPr>
              <a:t>•  고도화 전략: 사용자의 구글 시트 포트폴리오(getPortfolioData_)와 실시간 공시(getDartData_)를 결합하여, 현재 보유 종목에 미치는 영향을 즉시 분석하는 개인별 맞춤형 리스크 리포트를 완성합니다. [출처: 58, 59, 132]</a:t>
            </a:r>
          </a:p>
          <a:p>
            <a:r>
              <a:rPr sz="1100">
                <a:solidFill>
                  <a:srgbClr val="222222"/>
                </a:solidFill>
              </a:rPr>
              <a:t>•  기술적 지향점: 이 엔진은 199번 슬라이드의 CrewAI 구조에서 '보고서 작성 에이전트(ReportWriterAgent)'의 뇌 역할을 수행하며, 다수의 전문 에이전트가 모아온 정보를 최종 통합하는 금융 정보 오케스트레이션의 핵심이 됩니다. [출처: 183, 199]</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205  ·  178/216</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D</a:t>
            </a:r>
          </a:p>
          <a:p>
            <a:r>
              <a:rPr sz="1900" b="1">
                <a:solidFill>
                  <a:srgbClr val="FFFFFF"/>
                </a:solidFill>
              </a:rPr>
              <a:t>[179] Telegram-봇 운영 보안 및 권한 제어 - 화이트리스트 및 중복 실행 방지</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공용 봇의 보안 위협과 '비용/자원' 보호의 필요성</a:t>
            </a:r>
          </a:p>
          <a:p>
            <a:r>
              <a:rPr sz="1100">
                <a:solidFill>
                  <a:srgbClr val="222222"/>
                </a:solidFill>
              </a:rPr>
              <a:t>•  보안 위협: 텔레그램 봇 주소가 외부에 노출될 경우, 권한이 없는 사용자가 무분별하게 명령어를 입력하여 OpenAI API 비용 폭증을 유발하거나 시스템의 민감한 금융 데이터가 유출될 위험이 있습니다.</a:t>
            </a:r>
          </a:p>
          <a:p>
            <a:r>
              <a:rPr sz="1100">
                <a:solidFill>
                  <a:srgbClr val="222222"/>
                </a:solidFill>
              </a:rPr>
              <a:t>•  핵심 원칙: "명령은 허용된 관리자만, 결과는 지정된 채널에서"라는 원칙을 적용하여, 불필요한 중복 실행 및 스팸 발생을 원천 차단해야 합니다.</a:t>
            </a:r>
          </a:p>
          <a:p>
            <a:pPr>
              <a:spcBef>
                <a:spcPts val="600"/>
              </a:spcBef>
            </a:pPr>
            <a:r>
              <a:rPr sz="1300" b="1">
                <a:solidFill>
                  <a:srgbClr val="2E5984"/>
                </a:solidFill>
              </a:rPr>
              <a:t>2. 아키텍처 (Architecture): 권한 검증 미들웨어(Middleware) 패턴</a:t>
            </a:r>
          </a:p>
          <a:p>
            <a:r>
              <a:rPr sz="1100">
                <a:solidFill>
                  <a:srgbClr val="222222"/>
                </a:solidFill>
              </a:rPr>
              <a:t>•  검증 프로세스: [사용자 메시지 수신] → [유저 ID 추출] → [허용 목록(ALLOWED_USER_IDS) 대조] → [일치 시 기능 실행 / 불일치 시 거부 메시지 발송].</a:t>
            </a:r>
          </a:p>
          <a:p>
            <a:r>
              <a:rPr sz="1100">
                <a:solidFill>
                  <a:srgbClr val="222222"/>
                </a:solidFill>
              </a:rPr>
              <a:t>•  운영 구조: 명령 입력은 폐쇄적인 '운영 그룹'에서 관리자들만 수행하고, 분석 결과는 다수의 구독자가 있는 '배포 채널'로 자동 게시되도록 구조를 분리합니다.</a:t>
            </a:r>
          </a:p>
          <a:p>
            <a:pPr>
              <a:spcBef>
                <a:spcPts val="600"/>
              </a:spcBef>
            </a:pPr>
            <a:r>
              <a:rPr sz="1300" b="1">
                <a:solidFill>
                  <a:srgbClr val="2E5984"/>
                </a:solidFill>
              </a:rPr>
              <a:t>3. 소스코드 (Source Code): ALLOWED_USER_IDS 기반 권한 체크 로직</a:t>
            </a:r>
          </a:p>
          <a:p>
            <a:r>
              <a:rPr sz="1100">
                <a:solidFill>
                  <a:srgbClr val="222222"/>
                </a:solidFill>
              </a:rPr>
              <a:t>•  핵심 구현: doPost(e) 함수 진입점에서 유저 ID를 즉시 검사하여 비인가 요청을 걸러냅니다.</a:t>
            </a:r>
          </a:p>
          <a:p>
            <a:pPr>
              <a:spcBef>
                <a:spcPts val="600"/>
              </a:spcBef>
            </a:pPr>
            <a:r>
              <a:rPr sz="1300" b="1">
                <a:solidFill>
                  <a:srgbClr val="2E5984"/>
                </a:solidFill>
              </a:rPr>
              <a:t>4. 실습 (Practice): 본인의 텔레그램 ID 확인 및 화이트리스트 적용</a:t>
            </a:r>
          </a:p>
          <a:p>
            <a:r>
              <a:rPr sz="1100">
                <a:solidFill>
                  <a:srgbClr val="222222"/>
                </a:solidFill>
              </a:rPr>
              <a:t>•  과제 1: 텔레그램에서 @userinfobot을 검색하여 실행한 뒤, 본인의 숫자형 고유 ID(Chat ID)를 확인하십시오.</a:t>
            </a:r>
          </a:p>
          <a:p>
            <a:r>
              <a:rPr sz="1100">
                <a:solidFill>
                  <a:srgbClr val="222222"/>
                </a:solidFill>
              </a:rPr>
              <a:t>•  과제 2: Apps Script 상단의 ALLOWED_USER_IDS 배열에 본인의 ID를 넣고 배포한 후, 봇에게 명령어를 보내 정상 작동하는지 확인하십시오. 다른 계정으로 접근 시 차단 메시지가 오는지도 점검하십시오.</a:t>
            </a:r>
          </a:p>
          <a:p>
            <a:pPr>
              <a:spcBef>
                <a:spcPts val="600"/>
              </a:spcBef>
            </a:pPr>
            <a:r>
              <a:rPr sz="1300" b="1">
                <a:solidFill>
                  <a:srgbClr val="2E5984"/>
                </a:solidFill>
              </a:rPr>
              <a:t>5. 확장 (Expansion): 역할 기반 제어(RBAC) 및 보안 모니터링 고도화</a:t>
            </a:r>
          </a:p>
          <a:p>
            <a:r>
              <a:rPr sz="1100">
                <a:solidFill>
                  <a:srgbClr val="222222"/>
                </a:solidFill>
              </a:rPr>
              <a:t>•  고도화 전략: 유저별로 '조회 전용', '데이터 업데이트 권한' 등으로 역할을 세분화하고, 구글 시트의 CommandLog와 연동하여 누가 언제 어떤 명령을 실행했는지 실시간으로 모니터링합니다.</a:t>
            </a:r>
          </a:p>
          <a:p>
            <a:r>
              <a:rPr sz="1100">
                <a:solidFill>
                  <a:srgbClr val="222222"/>
                </a:solidFill>
              </a:rPr>
              <a:t>•  기술적 지향점: 207번 슬라이드에서 다룰 장애 대응 및 로그 관리 단계와 결합하여, 권한 없는 사용자의 반복적인 공격 시도를 자동으로 탐지하고 알림을 보내는 지능형 방화벽 기능을 완성합니다.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206  ·  179/216</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D</a:t>
            </a:r>
          </a:p>
          <a:p>
            <a:r>
              <a:rPr sz="1900" b="1">
                <a:solidFill>
                  <a:srgbClr val="FFFFFF"/>
                </a:solidFill>
              </a:rPr>
              <a:t>[180] AI 금융정보단말(KOStockCrewAI) 통합 아키텍처 맵</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개별 MVP의 결합을 통한 '지능형 금융 허브' 완성</a:t>
            </a:r>
          </a:p>
          <a:p>
            <a:r>
              <a:rPr sz="1100">
                <a:solidFill>
                  <a:srgbClr val="222222"/>
                </a:solidFill>
              </a:rPr>
              <a:t>•  정의: 텔레그램 기반의 인터페이스, FastAPI 백엔드, PostgreSQL 데이터베이스, 그리고 CrewAI 분석 엔진이 유기적으로 결합되어 중단 없이 작동하는 엔드 투 엔드(E2E) 플랫폼입니다. [출처: 101, 136]</a:t>
            </a:r>
          </a:p>
          <a:p>
            <a:r>
              <a:rPr sz="1100">
                <a:solidFill>
                  <a:srgbClr val="222222"/>
                </a:solidFill>
              </a:rPr>
              <a:t>•  핵심 가치: "종목 분석해줘"라는 단순 요청이 데이터 수집(ETL), 지능형 추론, 시각화 리포트 생성으로 이어지는 자동화된 가치 사슬을 완성하는 것입니다. [출처: 67, 138]</a:t>
            </a:r>
          </a:p>
          <a:p>
            <a:pPr>
              <a:spcBef>
                <a:spcPts val="600"/>
              </a:spcBef>
            </a:pPr>
            <a:r>
              <a:rPr sz="1300" b="1">
                <a:solidFill>
                  <a:srgbClr val="2E5984"/>
                </a:solidFill>
              </a:rPr>
              <a:t>2. 아키텍처 (Architecture): 프론트-백-AI 레이어의 통합 워크플로우 [출처: 136, 138, 139]</a:t>
            </a:r>
          </a:p>
          <a:p>
            <a:r>
              <a:rPr sz="1100">
                <a:solidFill>
                  <a:srgbClr val="222222"/>
                </a:solidFill>
              </a:rPr>
              <a:t>•  계층 구조:</a:t>
            </a:r>
          </a:p>
          <a:p>
            <a:r>
              <a:rPr sz="1100">
                <a:solidFill>
                  <a:srgbClr val="222222"/>
                </a:solidFill>
              </a:rPr>
              <a:t>•  Presentation Layer: Streamlit 웹 대시보드 및 Telegram 봇 인터페이스. [출처: 136, 161]</a:t>
            </a:r>
          </a:p>
          <a:p>
            <a:r>
              <a:rPr sz="1100">
                <a:solidFill>
                  <a:srgbClr val="222222"/>
                </a:solidFill>
              </a:rPr>
              <a:t>•  API/Back-end Layer: FastAPI 기반의 요청 처리 및 분석 오케스트레이터. [출처: 136, 160]</a:t>
            </a:r>
          </a:p>
          <a:p>
            <a:r>
              <a:rPr sz="1100">
                <a:solidFill>
                  <a:srgbClr val="222222"/>
                </a:solidFill>
              </a:rPr>
              <a:t>•  Persistence Layer: PostgreSQL(시세/재무/수급/스코어 저장) 및 ChromaDB(뉴스 RAG). [출처: 136, 144, 156]</a:t>
            </a:r>
          </a:p>
          <a:p>
            <a:r>
              <a:rPr sz="1100">
                <a:solidFill>
                  <a:srgbClr val="222222"/>
                </a:solidFill>
              </a:rPr>
              <a:t>•  Intelligence Layer: 4대 분석 엔진(기술/기본/수급/거시) 및 GPT 브리프 생성기. [출처: 154, 155, 159]</a:t>
            </a:r>
          </a:p>
          <a:p>
            <a:pPr>
              <a:spcBef>
                <a:spcPts val="600"/>
              </a:spcBef>
            </a:pPr>
            <a:r>
              <a:rPr sz="1300" b="1">
                <a:solidFill>
                  <a:srgbClr val="2E5984"/>
                </a:solidFill>
              </a:rPr>
              <a:t>3. 소스코드 (Source Code): InvestmentAgent 통합 처리 로직 [출처: 159, 184]</a:t>
            </a:r>
          </a:p>
          <a:p>
            <a:r>
              <a:rPr sz="1100">
                <a:solidFill>
                  <a:srgbClr val="222222"/>
                </a:solidFill>
              </a:rPr>
              <a:t>•  핵심 로직: 모든 분석 단계를 제어하고 최종 결과물을 생성하는 통합 함수입니다.</a:t>
            </a:r>
          </a:p>
          <a:p>
            <a:pPr>
              <a:spcBef>
                <a:spcPts val="600"/>
              </a:spcBef>
            </a:pPr>
            <a:r>
              <a:rPr sz="1300" b="1">
                <a:solidFill>
                  <a:srgbClr val="2E5984"/>
                </a:solidFill>
              </a:rPr>
              <a:t>4. 실습 (Practice): 전체 파이프라인 통합 테스트 및 결과 검증 [출처: 171, 173]</a:t>
            </a:r>
          </a:p>
          <a:p>
            <a:r>
              <a:rPr sz="1100">
                <a:solidFill>
                  <a:srgbClr val="222222"/>
                </a:solidFill>
              </a:rPr>
              <a:t>•  과제 1: Streamlit 화면에서 종목코드를 입력하고, [로그] 창을 통해 [DB 조회] → [GPT 추론] → [PDF 생성] 단계가 끊김 없이 진행되는지 확인하십시오. [출처: 161, 171]</a:t>
            </a:r>
          </a:p>
          <a:p>
            <a:r>
              <a:rPr sz="1100">
                <a:solidFill>
                  <a:srgbClr val="222222"/>
                </a:solidFill>
              </a:rPr>
              <a:t>•  과제 2: 생성된 PDF 하단에 215번 슬라이드에서 설정한 '투자자 보호 고지문'이 정상적으로 출력되는지 확인하십시오. [출처: 157, 183]</a:t>
            </a:r>
          </a:p>
          <a:p>
            <a:pPr>
              <a:spcBef>
                <a:spcPts val="600"/>
              </a:spcBef>
            </a:pPr>
            <a:r>
              <a:rPr sz="1300" b="1">
                <a:solidFill>
                  <a:srgbClr val="2E5984"/>
                </a:solidFill>
              </a:rPr>
              <a:t>5. 확장 (Expansion): 'AI 자산관리 플랫폼'으로의 비즈니스 모델 도약 [출처: 79, 172]</a:t>
            </a:r>
          </a:p>
          <a:p>
            <a:r>
              <a:rPr sz="1100">
                <a:solidFill>
                  <a:srgbClr val="222222"/>
                </a:solidFill>
              </a:rPr>
              <a:t>•  고도화 전략: 단일 종목 분석을 넘어, 사용자의 전체 포트폴리오를 실시간 모니터링하며 리스크 발생 시 에이전트가 먼저 알림을 보내는 '프로액티브(Proactive) 서비스'로 진화합니다. [출처: 59, 132]</a:t>
            </a:r>
          </a:p>
          <a:p>
            <a:r>
              <a:rPr sz="1100">
                <a:solidFill>
                  <a:srgbClr val="222222"/>
                </a:solidFill>
              </a:rPr>
              <a:t>•  기술적 지향점: 199번 슬라이드의 멀티 에이전트들과 연동하여, 전 세계 자산군(해외주식, 가상자산 등)에 대한 24x365 통합 리서치 시스템을 구축함으로써 기술적 우위를 완성합니다. [출처: 191, 199]</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221  ·  180/216</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73152"/>
          </a:xfrm>
          <a:prstGeom prst="rect">
            <a:avLst/>
          </a:prstGeom>
          <a:solidFill>
            <a:srgbClr val="6E8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834640"/>
            <a:ext cx="10515600" cy="1463040"/>
          </a:xfrm>
          <a:prstGeom prst="rect">
            <a:avLst/>
          </a:prstGeom>
          <a:noFill/>
        </p:spPr>
        <p:txBody>
          <a:bodyPr wrap="square">
            <a:spAutoFit/>
          </a:bodyPr>
          <a:lstStyle/>
          <a:p>
            <a:r>
              <a:rPr sz="1600">
                <a:solidFill>
                  <a:srgbClr val="9FB4F5"/>
                </a:solidFill>
              </a:rPr>
              <a:t>[수료후·심화]</a:t>
            </a:r>
          </a:p>
          <a:p>
            <a:r>
              <a:rPr sz="2800" b="1">
                <a:solidFill>
                  <a:srgbClr val="FFFFFF"/>
                </a:solidFill>
              </a:rPr>
              <a:t>트랙 E — 운영·SRE·확장 (Scale &amp; Reliability)</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E</a:t>
            </a:r>
          </a:p>
          <a:p>
            <a:r>
              <a:rPr sz="1900" b="1">
                <a:solidFill>
                  <a:srgbClr val="FFFFFF"/>
                </a:solidFill>
              </a:rPr>
              <a:t>[181] AI 금융정보 플랫폼 운영 실무 - 로그 관리 및 감사 시스템 구축</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시스템의 모든 움직임을 기록하는 '블랙박스'</a:t>
            </a:r>
          </a:p>
          <a:p>
            <a:r>
              <a:rPr sz="1100">
                <a:solidFill>
                  <a:srgbClr val="222222"/>
                </a:solidFill>
              </a:rPr>
              <a:t>•  정의: 사용자가 보낸 명령어, GPT의 분류 결과, 데이터 수집 성공 여부, 최종 응답 내용을 구글 시트에 실시간으로 기록하여 사후 감사(Audit)와 트러블슈팅에 활용하는 체계입니다. [출처: 1, 98]</a:t>
            </a:r>
          </a:p>
          <a:p>
            <a:r>
              <a:rPr sz="1100">
                <a:solidFill>
                  <a:srgbClr val="222222"/>
                </a:solidFill>
              </a:rPr>
              <a:t>•  핵심 가치: "기록되지 않은 오류는 고칠 수 없다"는 원칙하에, API 호출 실패나 GPT의 오분류 사례를 수집하여 프롬프트와 로직을 지속적으로 개선하는 근거가 됩니다. [출처: 114, 171]</a:t>
            </a:r>
          </a:p>
          <a:p>
            <a:pPr>
              <a:spcBef>
                <a:spcPts val="600"/>
              </a:spcBef>
            </a:pPr>
            <a:r>
              <a:rPr sz="1300" b="1">
                <a:solidFill>
                  <a:srgbClr val="2E5984"/>
                </a:solidFill>
              </a:rPr>
              <a:t>2. 아키텍처 (Architecture): 실시간 로그 적재 파이프라인 [출처: 1, 2, 114]</a:t>
            </a:r>
          </a:p>
          <a:p>
            <a:r>
              <a:rPr sz="1100">
                <a:solidFill>
                  <a:srgbClr val="222222"/>
                </a:solidFill>
              </a:rPr>
              <a:t>•  작업 흐름: [사용자 요청 수신] → [Action 분류] → [함수 실행] → [logCommand_ 호출] → [구글 시트 'CommandLog' 행 추가].</a:t>
            </a:r>
          </a:p>
          <a:p>
            <a:r>
              <a:rPr sz="1100">
                <a:solidFill>
                  <a:srgbClr val="222222"/>
                </a:solidFill>
              </a:rPr>
              <a:t>•  로그 항목 구성: [출처: 38, 51, 124]</a:t>
            </a:r>
          </a:p>
          <a:p>
            <a:r>
              <a:rPr sz="1100">
                <a:solidFill>
                  <a:srgbClr val="222222"/>
                </a:solidFill>
              </a:rPr>
              <a:t>•  시간: 명령이 실행된 정확한 일시.</a:t>
            </a:r>
          </a:p>
          <a:p>
            <a:r>
              <a:rPr sz="1100">
                <a:solidFill>
                  <a:srgbClr val="222222"/>
                </a:solidFill>
              </a:rPr>
              <a:t>•  채팅ID: 요청을 보낸 유저 식별자 (권한 추적용).</a:t>
            </a:r>
          </a:p>
          <a:p>
            <a:r>
              <a:rPr sz="1100">
                <a:solidFill>
                  <a:srgbClr val="222222"/>
                </a:solidFill>
              </a:rPr>
              <a:t>•  사용자메시지: 원문 텍스트 (의도 분석용).</a:t>
            </a:r>
          </a:p>
          <a:p>
            <a:r>
              <a:rPr sz="1100">
                <a:solidFill>
                  <a:srgbClr val="222222"/>
                </a:solidFill>
              </a:rPr>
              <a:t>•  ACTION: GPT가 분류한 최종 기능 ID.</a:t>
            </a:r>
          </a:p>
          <a:p>
            <a:r>
              <a:rPr sz="1100">
                <a:solidFill>
                  <a:srgbClr val="222222"/>
                </a:solidFill>
              </a:rPr>
              <a:t>•  파라미터: 분석에 사용된 종목코드나 키워드 (JSON 형태).</a:t>
            </a:r>
          </a:p>
          <a:p>
            <a:r>
              <a:rPr sz="1100">
                <a:solidFill>
                  <a:srgbClr val="222222"/>
                </a:solidFill>
              </a:rPr>
              <a:t>•  처리결과: 성공 여부 또는 발생한 에러 메시지.</a:t>
            </a:r>
          </a:p>
          <a:p>
            <a:pPr>
              <a:spcBef>
                <a:spcPts val="600"/>
              </a:spcBef>
            </a:pPr>
            <a:r>
              <a:rPr sz="1300" b="1">
                <a:solidFill>
                  <a:srgbClr val="2E5984"/>
                </a:solidFill>
              </a:rPr>
              <a:t>3. 소스코드 (Source Code): logCommand_ 핵심 로직 구현 [출처: 51, 124, 125]</a:t>
            </a:r>
          </a:p>
          <a:p>
            <a:r>
              <a:rPr sz="1100">
                <a:solidFill>
                  <a:srgbClr val="222222"/>
                </a:solidFill>
              </a:rPr>
              <a:t>•  핵심 구현: 구글 시트 API를 활용한 데이터 Append 작업입니다.</a:t>
            </a:r>
          </a:p>
          <a:p>
            <a:pPr>
              <a:spcBef>
                <a:spcPts val="600"/>
              </a:spcBef>
            </a:pPr>
            <a:r>
              <a:rPr sz="1300" b="1">
                <a:solidFill>
                  <a:srgbClr val="2E5984"/>
                </a:solidFill>
              </a:rPr>
              <a:t>4. 실습 (Practice): 로그 적재 확인 및 에러 케이스 모니터링</a:t>
            </a:r>
          </a:p>
          <a:p>
            <a:r>
              <a:rPr sz="1100">
                <a:solidFill>
                  <a:srgbClr val="222222"/>
                </a:solidFill>
              </a:rPr>
              <a:t>•  과제 1: 텔레그램 봇에게 명령어를 전송한 후, 구글 시트의 CommandLog 탭에 새로운 데이터가 1초 이내에 추가되는지 확인하십시오. [출처: 41, 116]</a:t>
            </a:r>
          </a:p>
          <a:p>
            <a:r>
              <a:rPr sz="1100">
                <a:solidFill>
                  <a:srgbClr val="222222"/>
                </a:solidFill>
              </a:rPr>
              <a:t>•  과제 2: 의도적으로 API 키를 틀리게 입력하거나 잘못된 명령을 보내 ERROR 로그가 남는지 확인하고, 해당 로그를 통해 어떤 함수에서 문제가 발생했는지 추적해 보십시오. [출처: 46, 121]</a:t>
            </a:r>
          </a:p>
          <a:p>
            <a:pPr>
              <a:spcBef>
                <a:spcPts val="600"/>
              </a:spcBef>
            </a:pPr>
            <a:r>
              <a:rPr sz="1300" b="1">
                <a:solidFill>
                  <a:srgbClr val="2E5984"/>
                </a:solidFill>
              </a:rPr>
              <a:t>5. 확장 (Expansion): 장애 대응 자동화 및 외부 로깅 툴 연동</a:t>
            </a:r>
          </a:p>
          <a:p>
            <a:r>
              <a:rPr sz="1100">
                <a:solidFill>
                  <a:srgbClr val="222222"/>
                </a:solidFill>
              </a:rPr>
              <a:t>•  고도화 전략: 로그에 ERROR가 기록될 때마다 관리자에게 즉각 텔레그램 알림을 보내는 장애 감지 루프를 구축하거나, 데이터량이 많아질 경우 139번 슬라이드에서 추천한 Loguru 또는 CloudWatch 같은 전문 로깅 시스템으로 전환합니다. [출처: 139, 170]</a:t>
            </a:r>
          </a:p>
          <a:p>
            <a:r>
              <a:rPr sz="1100">
                <a:solidFill>
                  <a:srgbClr val="222222"/>
                </a:solidFill>
              </a:rPr>
              <a:t>•  기술적 지향점: 수집된 로그 데이터를 기반으로 사용자가 가장 많이 찾는 종목과 기능이 무엇인지 통계를 내어, 215번 슬라이드에서 다룰 서비스 고도화(Feature Priority)의 지표로 삼습니다. [출처: 173]</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207  ·  181/216</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E</a:t>
            </a:r>
          </a:p>
          <a:p>
            <a:r>
              <a:rPr sz="1900" b="1">
                <a:solidFill>
                  <a:srgbClr val="FFFFFF"/>
                </a:solidFill>
              </a:rPr>
              <a:t>[182] AI 금융정보 플랫폼 운영 실무 - 트러블슈팅 및 유지보수</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예외 상황에 대비하는 '복구력(Resilience)' 있는 시스템</a:t>
            </a:r>
          </a:p>
          <a:p>
            <a:r>
              <a:rPr sz="1100">
                <a:solidFill>
                  <a:srgbClr val="222222"/>
                </a:solidFill>
              </a:rPr>
              <a:t>•  정의: 네트워크 단절, API 키 만료, 데이터 형식 변경 등 시스템 외부의 변수로 인해 발생하는 오류를 신속히 탐지하고 정상 상태로 되돌리는 운영 안정화 전략입니다. [출처: 92, 189]</a:t>
            </a:r>
          </a:p>
          <a:p>
            <a:r>
              <a:rPr sz="1100">
                <a:solidFill>
                  <a:srgbClr val="222222"/>
                </a:solidFill>
              </a:rPr>
              <a:t>•  핵심 가치: 개발 단계의 완벽함보다 중요한 것은 "장애 발생 시 얼마나 빨리 복구(MTTR)하느냐"이며, 이를 위해 빈번한 오류에 대한 자가 진단 가이드를 확보해야 합니다. [출처: 171, 189]</a:t>
            </a:r>
          </a:p>
          <a:p>
            <a:pPr>
              <a:spcBef>
                <a:spcPts val="600"/>
              </a:spcBef>
            </a:pPr>
            <a:r>
              <a:rPr sz="1300" b="1">
                <a:solidFill>
                  <a:srgbClr val="2E5984"/>
                </a:solidFill>
              </a:rPr>
              <a:t>2. 아키텍처 (Architecture): 3단계 장애 대응 및 복구 파이프라인 [출처: 92, 170]</a:t>
            </a:r>
          </a:p>
          <a:p>
            <a:r>
              <a:rPr sz="1100">
                <a:solidFill>
                  <a:srgbClr val="222222"/>
                </a:solidFill>
              </a:rPr>
              <a:t>•  프로세스:</a:t>
            </a:r>
          </a:p>
          <a:p>
            <a:r>
              <a:rPr sz="1100">
                <a:solidFill>
                  <a:srgbClr val="222222"/>
                </a:solidFill>
              </a:rPr>
              <a:t>•  탐지(Detection): try-except 블록을 통한 예외 포착 및 CommandLog 기록. [출처: 121]</a:t>
            </a:r>
          </a:p>
          <a:p>
            <a:r>
              <a:rPr sz="1100">
                <a:solidFill>
                  <a:srgbClr val="222222"/>
                </a:solidFill>
              </a:rPr>
              <a:t>•  대응(Reaction): 일시적 오류 시 Retry(재시도), 치명적 오류 시 Fallback(대체 답변) 제공. [출처: 92, 183]</a:t>
            </a:r>
          </a:p>
          <a:p>
            <a:r>
              <a:rPr sz="1100">
                <a:solidFill>
                  <a:srgbClr val="222222"/>
                </a:solidFill>
              </a:rPr>
              <a:t>•  알림(Alert): 관리자에게 텔레그램으로 즉시 장애 상황 전송 및 로그 분석. [출처: 36, 170]</a:t>
            </a:r>
          </a:p>
          <a:p>
            <a:pPr>
              <a:spcBef>
                <a:spcPts val="600"/>
              </a:spcBef>
            </a:pPr>
            <a:r>
              <a:rPr sz="1300" b="1">
                <a:solidFill>
                  <a:srgbClr val="2E5984"/>
                </a:solidFill>
              </a:rPr>
              <a:t>3. 체크리스트 (Source Code): 실무 6대 주요 오류 및 해결법 명세 [출처: 188, 189]</a:t>
            </a:r>
          </a:p>
          <a:p>
            <a:r>
              <a:rPr sz="1100">
                <a:solidFill>
                  <a:srgbClr val="222222"/>
                </a:solidFill>
              </a:rPr>
              <a:t>•  오류 1: ModuleNotFoundError → venv 활성화 확인 및 pip install -r requirements.txt 재실행.</a:t>
            </a:r>
          </a:p>
          <a:p>
            <a:r>
              <a:rPr sz="1100">
                <a:solidFill>
                  <a:srgbClr val="222222"/>
                </a:solidFill>
              </a:rPr>
              <a:t>•  오류 2: Database connection failed → .env 내 DATABASE_URL 오타 및 Docker 컨테이너 실행 상태 점검.</a:t>
            </a:r>
          </a:p>
          <a:p>
            <a:r>
              <a:rPr sz="1100">
                <a:solidFill>
                  <a:srgbClr val="222222"/>
                </a:solidFill>
              </a:rPr>
              <a:t>•  오류 3: OpenAI key missing / 401 Error → API 키 유효성 및 .env 파일 로드 여부 확인.</a:t>
            </a:r>
          </a:p>
          <a:p>
            <a:r>
              <a:rPr sz="1100">
                <a:solidFill>
                  <a:srgbClr val="222222"/>
                </a:solidFill>
              </a:rPr>
              <a:t>•  오류 4: KOSCOM 401 / Unauthorized → 테스트 키 만료 여부 및 IP 화이트리스트 등록 확인. [출처: 3]</a:t>
            </a:r>
          </a:p>
          <a:p>
            <a:r>
              <a:rPr sz="1100">
                <a:solidFill>
                  <a:srgbClr val="222222"/>
                </a:solidFill>
              </a:rPr>
              <a:t>•  오류 5: Telegram chat_id error → @userinfobot을 통한 정확한 숫자 ID 재입력. [출처: 162]</a:t>
            </a:r>
          </a:p>
          <a:p>
            <a:r>
              <a:rPr sz="1100">
                <a:solidFill>
                  <a:srgbClr val="222222"/>
                </a:solidFill>
              </a:rPr>
              <a:t>•  오류 6: PDF 한글 깨짐 → NotoSansKR 폰트 파일 경로 및 TTFont 등록 코드 확인. [출처: 157, 158]</a:t>
            </a:r>
          </a:p>
          <a:p>
            <a:pPr>
              <a:spcBef>
                <a:spcPts val="600"/>
              </a:spcBef>
            </a:pPr>
            <a:r>
              <a:rPr sz="1300" b="1">
                <a:solidFill>
                  <a:srgbClr val="2E5984"/>
                </a:solidFill>
              </a:rPr>
              <a:t>4. 실습 (Practice): 인위적 장애 발생 및 자가 복구 테스트</a:t>
            </a:r>
          </a:p>
          <a:p>
            <a:r>
              <a:rPr sz="1100">
                <a:solidFill>
                  <a:srgbClr val="222222"/>
                </a:solidFill>
              </a:rPr>
              <a:t>•  과제 1: .env 파일의 OPENAI_API_KEY를 임의로 수정(한 글자 삭제)한 후, 텔레그램 메시지를 보냈을 때 시스템이 죽지 않고 "API 호출에 실패했습니다"라는 친절한 메시지를 출력하는지 확인하십시오. [출처: 175, 191]</a:t>
            </a:r>
          </a:p>
          <a:p>
            <a:r>
              <a:rPr sz="1100">
                <a:solidFill>
                  <a:srgbClr val="222222"/>
                </a:solidFill>
              </a:rPr>
              <a:t>•  과제 2: docker stop ai_fin_postgres 명령으로 DB를 강제 중지시킨 후, 로그 시트에 connection refused 에러가 정확히 남는지 점검하십시오. [출처: 143, 189]</a:t>
            </a:r>
          </a:p>
          <a:p>
            <a:pPr>
              <a:spcBef>
                <a:spcPts val="600"/>
              </a:spcBef>
            </a:pPr>
            <a:r>
              <a:rPr sz="1300" b="1">
                <a:solidFill>
                  <a:srgbClr val="2E5984"/>
                </a:solidFill>
              </a:rPr>
              <a:t>5. 확장 (Expansion): 무인 운영을 위한 '시스템 가디언(Guardian)' 구축</a:t>
            </a:r>
          </a:p>
          <a:p>
            <a:r>
              <a:rPr sz="1100">
                <a:solidFill>
                  <a:srgbClr val="222222"/>
                </a:solidFill>
              </a:rPr>
              <a:t>•  고도화 전략: 리눅스 서버의 systemd 또는 Docker-compose의 restart: always 옵션을 활용하여, 프로세스가 예기치 않게 종료되더라도 자동으로 재시작되는 환경을 구축합니다. [출처: 166, 167]</a:t>
            </a:r>
          </a:p>
          <a:p>
            <a:r>
              <a:rPr sz="1100">
                <a:solidFill>
                  <a:srgbClr val="222222"/>
                </a:solidFill>
              </a:rPr>
              <a:t>•  기술적 지향점: 209번 슬라이드에서 다룰 성능 모니터링 및 쿼터(Quota) 관리와 연동하여, API 비용이 설정치를 초과하면 자동으로 서비스를 일시 정지하는 지능형 비용 제어기로 발전시킵니다. [출처: 139, 194]</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208  ·  182/216</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E</a:t>
            </a:r>
          </a:p>
          <a:p>
            <a:r>
              <a:rPr sz="1900" b="1">
                <a:solidFill>
                  <a:srgbClr val="FFFFFF"/>
                </a:solidFill>
              </a:rPr>
              <a:t>[183] AI 금융 플랫폼 운영 실무 - 성능 모니터링 및 비용 최적화</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서비스 가용성 확보와 '보이지 않는 비용'의 통제</a:t>
            </a:r>
          </a:p>
          <a:p>
            <a:r>
              <a:rPr sz="1100">
                <a:solidFill>
                  <a:srgbClr val="222222"/>
                </a:solidFill>
              </a:rPr>
              <a:t>•  성능 모니터링: 서버의 생존 여부(Uptime)와 응답 속도(Latency)를 실시간으로 추적하여 사용자 경험을 유지하는 필수 활동입니다. [출처: 139, 171]</a:t>
            </a:r>
          </a:p>
          <a:p>
            <a:r>
              <a:rPr sz="1100">
                <a:solidFill>
                  <a:srgbClr val="222222"/>
                </a:solidFill>
              </a:rPr>
              <a:t>•  쿼터(Quota) 관리: OpenAI, 코스콤 등 유료 API의 호출 한도를 관리하여, 예기치 못한 서비스 중단이나 비용 폭탄(Bill Shock)을 방지하는 자원 관리 전략입니다. [출처: 149, 171]</a:t>
            </a:r>
          </a:p>
          <a:p>
            <a:pPr>
              <a:spcBef>
                <a:spcPts val="600"/>
              </a:spcBef>
            </a:pPr>
            <a:r>
              <a:rPr sz="1300" b="1">
                <a:solidFill>
                  <a:srgbClr val="2E5984"/>
                </a:solidFill>
              </a:rPr>
              <a:t>2. 아키텍처 (Architecture): 3중 모니터링 및 알람 파이프라인 [출처: 139, 160, 170]</a:t>
            </a:r>
          </a:p>
          <a:p>
            <a:r>
              <a:rPr sz="1100">
                <a:solidFill>
                  <a:srgbClr val="222222"/>
                </a:solidFill>
              </a:rPr>
              <a:t>•  인프라 모니터링: Uptime Kuma를 통해 FastAPI의 /health 엔드포인트를 1분 단위로 체크합니다. [출처: 139, 160]</a:t>
            </a:r>
          </a:p>
          <a:p>
            <a:r>
              <a:rPr sz="1100">
                <a:solidFill>
                  <a:srgbClr val="222222"/>
                </a:solidFill>
              </a:rPr>
              <a:t>•  애플리케이션 로그: Loguru 라이브러리를 사용하여 API 호출 성공/실패율과 소요 시간을 기록합니다. [출처: 139]</a:t>
            </a:r>
          </a:p>
          <a:p>
            <a:r>
              <a:rPr sz="1100">
                <a:solidFill>
                  <a:srgbClr val="222222"/>
                </a:solidFill>
              </a:rPr>
              <a:t>•  비용 알람: API 사용량이 설정된 쿼터의 80%에 도달하면 관리자 텔레그램으로 즉시 경고를 발송합니다. [출처: 170]</a:t>
            </a:r>
          </a:p>
          <a:p>
            <a:pPr>
              <a:spcBef>
                <a:spcPts val="600"/>
              </a:spcBef>
            </a:pPr>
            <a:r>
              <a:rPr sz="1300" b="1">
                <a:solidFill>
                  <a:srgbClr val="2E5984"/>
                </a:solidFill>
              </a:rPr>
              <a:t>3. 소스코드 (Source Code): 헬스체크 및 API 카운팅 로직 [출처: 160, 178]</a:t>
            </a:r>
          </a:p>
          <a:p>
            <a:r>
              <a:rPr sz="1100">
                <a:solidFill>
                  <a:srgbClr val="222222"/>
                </a:solidFill>
              </a:rPr>
              <a:t>•  핵심 구현: 시스템 상태를 반환하고 사용량을 기록하는 엔드포인트입니다.</a:t>
            </a:r>
          </a:p>
          <a:p>
            <a:pPr>
              <a:spcBef>
                <a:spcPts val="600"/>
              </a:spcBef>
            </a:pPr>
            <a:r>
              <a:rPr sz="1300" b="1">
                <a:solidFill>
                  <a:srgbClr val="2E5984"/>
                </a:solidFill>
              </a:rPr>
              <a:t>4. 실습 (Practice): 헬스체크 자동화 및 호출 제한(Rate Limit) 테스트</a:t>
            </a:r>
          </a:p>
          <a:p>
            <a:r>
              <a:rPr sz="1100">
                <a:solidFill>
                  <a:srgbClr val="222222"/>
                </a:solidFill>
              </a:rPr>
              <a:t>•  과제 1: 브라우저에서 /health 엔드포인트에 접속하여 JSON 응답이 정상적으로 오는지 확인하고, 139번 슬라이드에서 추천한 Uptime Kuma에 해당 URL을 등록하십시오. [출처: 139, 160]</a:t>
            </a:r>
          </a:p>
          <a:p>
            <a:r>
              <a:rPr sz="1100">
                <a:solidFill>
                  <a:srgbClr val="222222"/>
                </a:solidFill>
              </a:rPr>
              <a:t>•  과제 2: 149번 슬라이드의 코스콤 호출 제한 규정을 참고하여, 짧은 시간 내에 반복 요청을 보냈을 때 시스템이 429 Too Many Requests 에러를 적절히 반환하는지 테스트하십시오. [출처: 149, 171]</a:t>
            </a:r>
          </a:p>
          <a:p>
            <a:pPr>
              <a:spcBef>
                <a:spcPts val="600"/>
              </a:spcBef>
            </a:pPr>
            <a:r>
              <a:rPr sz="1300" b="1">
                <a:solidFill>
                  <a:srgbClr val="2E5984"/>
                </a:solidFill>
              </a:rPr>
              <a:t>5. 확장 (Expansion): 지능형 자원 할당 및 'AI 오토 스케일링' [출처: 139, 194]</a:t>
            </a:r>
          </a:p>
          <a:p>
            <a:r>
              <a:rPr sz="1100">
                <a:solidFill>
                  <a:srgbClr val="222222"/>
                </a:solidFill>
              </a:rPr>
              <a:t>•  고도화 전략: 사용량이 급증할 경우 중요도가 낮은 작업(예: 단순 뉴스 요약)은 실행을 뒤로 미루고, 중요도가 높은 작업(예: 리스크 알림)에 API 자원을 우선 배정하는 우선순위 큐(Priority Queue)를 도입합니다. [출처: 194]</a:t>
            </a:r>
          </a:p>
          <a:p>
            <a:r>
              <a:rPr sz="1100">
                <a:solidFill>
                  <a:srgbClr val="222222"/>
                </a:solidFill>
              </a:rPr>
              <a:t>•  기술적 지향점: 이를 통해 비용 효율성을 극대화한 '경제적 AI 아키텍처'를 완성하며, 210번 슬라이드에서 다룰 사용자 피드백 기반의 모델 고도화 단계를 위한 운영 기반을 확립합니다. [출처: 139, 173]</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209  ·  183/216</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E</a:t>
            </a:r>
          </a:p>
          <a:p>
            <a:r>
              <a:rPr sz="1900" b="1">
                <a:solidFill>
                  <a:srgbClr val="FFFFFF"/>
                </a:solidFill>
              </a:rPr>
              <a:t>[184] AI 금융 플랫폼 운영 실무 - 사용자 피드백 루프 및 모델 고도화</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현장의 목소리를 지능으로 전환하는 '학습형 시스템'</a:t>
            </a:r>
          </a:p>
          <a:p>
            <a:r>
              <a:rPr sz="1100">
                <a:solidFill>
                  <a:srgbClr val="222222"/>
                </a:solidFill>
              </a:rPr>
              <a:t>•  정의: AI가 생성한 투자 리포트에 대해 사용자가 내리는 평가(별점, 좋아요/싫어요)를 수집하여 분석 로직과 프롬프트를 지속적으로 개선하는 과정입니다. [출처: 67, 173]</a:t>
            </a:r>
          </a:p>
          <a:p>
            <a:r>
              <a:rPr sz="1100">
                <a:solidFill>
                  <a:srgbClr val="222222"/>
                </a:solidFill>
              </a:rPr>
              <a:t>•  핵심 가치: '운영(Ops)'과 '개발(Dev)'을 유기적으로 연결함으로써, 특정 섹터나 지표에서 발생하는 AI의 환각(Hallucination) 현상을 체계적으로 줄이고 분석의 신뢰도를 확보합니다. [출처: 67, 171]</a:t>
            </a:r>
          </a:p>
          <a:p>
            <a:pPr>
              <a:spcBef>
                <a:spcPts val="600"/>
              </a:spcBef>
            </a:pPr>
            <a:r>
              <a:rPr sz="1300" b="1">
                <a:solidFill>
                  <a:srgbClr val="2E5984"/>
                </a:solidFill>
              </a:rPr>
              <a:t>2. 아키텍처 (Architecture): 닫힌 고리(Closed-Loop) 기반의 품질 개선 구조 [출처: 15, 67]</a:t>
            </a:r>
          </a:p>
          <a:p>
            <a:r>
              <a:rPr sz="1100">
                <a:solidFill>
                  <a:srgbClr val="222222"/>
                </a:solidFill>
              </a:rPr>
              <a:t>•  프로세스: [AI 리포트 생성] → [사용자 피드백 수집] → [피드백 DB/시트 저장] → [데이터 분석 및 패턴 파악] → [프롬프트/모델 가중치 수정].</a:t>
            </a:r>
          </a:p>
          <a:p>
            <a:r>
              <a:rPr sz="1100">
                <a:solidFill>
                  <a:srgbClr val="222222"/>
                </a:solidFill>
              </a:rPr>
              <a:t>•  데이터 선순환: 부정적인 피드백이 집중되는 사례(예: 급변동 장세에서의 오류)를 별도로 추출하여 퓨샷(Few-shot) 학습이나 RAG 지식 문서 보강에 활용합니다. [출처: 73, 156]</a:t>
            </a:r>
          </a:p>
          <a:p>
            <a:pPr>
              <a:spcBef>
                <a:spcPts val="600"/>
              </a:spcBef>
            </a:pPr>
            <a:r>
              <a:rPr sz="1300" b="1">
                <a:solidFill>
                  <a:srgbClr val="2E5984"/>
                </a:solidFill>
              </a:rPr>
              <a:t>3. 소스코드 (Source Code): 피드백 수집 인터페이스 및 저장 로직 [출처: 161, 162]</a:t>
            </a:r>
          </a:p>
          <a:p>
            <a:r>
              <a:rPr sz="1100">
                <a:solidFill>
                  <a:srgbClr val="222222"/>
                </a:solidFill>
              </a:rPr>
              <a:t>•  텔레그램 인라인 버튼 구현: [출처: 162]</a:t>
            </a:r>
          </a:p>
          <a:p>
            <a:r>
              <a:rPr sz="1100">
                <a:solidFill>
                  <a:srgbClr val="222222"/>
                </a:solidFill>
              </a:rPr>
              <a:t>•  데이터 저장 필드: report_id, user_id, rating, comment, created_at 등을 포함한 feedback_scores 테이블을 통해 정량적 품질 지수를 관리합니다. [출처: 144, 185]</a:t>
            </a:r>
          </a:p>
          <a:p>
            <a:pPr>
              <a:spcBef>
                <a:spcPts val="600"/>
              </a:spcBef>
            </a:pPr>
            <a:r>
              <a:rPr sz="1300" b="1">
                <a:solidFill>
                  <a:srgbClr val="2E5984"/>
                </a:solidFill>
              </a:rPr>
              <a:t>4. 실습 (Practice): 피드백 버튼 부착 및 로그 기록 확인</a:t>
            </a:r>
          </a:p>
          <a:p>
            <a:r>
              <a:rPr sz="1100">
                <a:solidFill>
                  <a:srgbClr val="222222"/>
                </a:solidFill>
              </a:rPr>
              <a:t>•  과제 1: 텔레그램 봇의 analyze 함수 결과 메시지 하단에 "이 리포트가 도움이 되었나요?"라는 안내와 함께 상기 인라인 버튼을 추가하십시오. [출처: 162]</a:t>
            </a:r>
          </a:p>
          <a:p>
            <a:r>
              <a:rPr sz="1100">
                <a:solidFill>
                  <a:srgbClr val="222222"/>
                </a:solidFill>
              </a:rPr>
              <a:t>•  과제 2: 사용자가 버튼을 눌렀을 때 logCommand_와 유사한 logFeedback_ 함수가 실행되어 구글 시트 또는 DB에 유저의 선택값이 실시간으로 기록되는지 확인하십시오. [출처: 51, 124]</a:t>
            </a:r>
          </a:p>
          <a:p>
            <a:pPr>
              <a:spcBef>
                <a:spcPts val="600"/>
              </a:spcBef>
            </a:pPr>
            <a:r>
              <a:rPr sz="1300" b="1">
                <a:solidFill>
                  <a:srgbClr val="2E5984"/>
                </a:solidFill>
              </a:rPr>
              <a:t>5. 확장 (Expansion): '초개인화 투자 비서'를 위한 데이터 에셋화</a:t>
            </a:r>
          </a:p>
          <a:p>
            <a:r>
              <a:rPr sz="1100">
                <a:solidFill>
                  <a:srgbClr val="222222"/>
                </a:solidFill>
              </a:rPr>
              <a:t>•  고도화 전략: 누적된 피드백 데이터는 향후 RLHF(인간 피드백 기반 강화 학습)의 기초 자료가 되며, 사용자의 취향(공격적/보수적)에 맞는 맞춤형 분석 톤앤매너를 제공하는 기반이 됩니다. [출처: 76, 173]</a:t>
            </a:r>
          </a:p>
          <a:p>
            <a:r>
              <a:rPr sz="1100">
                <a:solidFill>
                  <a:srgbClr val="222222"/>
                </a:solidFill>
              </a:rPr>
              <a:t>•  기술적 지향점: 이로써 플랫폼은 스스로 진화하는 생명력을 갖게 되며, 211번 슬라이드에서 다룰 운영 지표 시각화 및 대시보드 구축 단계를 통해 플랫폼 전체의 품질을 한눈에 관리하는 센터를 완성합니다. [출처: 139, 173]</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210  ·  184/216</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E</a:t>
            </a:r>
          </a:p>
          <a:p>
            <a:r>
              <a:rPr sz="1900" b="1">
                <a:solidFill>
                  <a:srgbClr val="FFFFFF"/>
                </a:solidFill>
              </a:rPr>
              <a:t>[185] AI 금융 플랫폼 운영 실무 - 운영 지표 시각화 및 대시보드 구축</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텍스트 로그를 비즈니스 인사이트로 바꾸는 '데이터 시각화'</a:t>
            </a:r>
          </a:p>
          <a:p>
            <a:r>
              <a:rPr sz="1100">
                <a:solidFill>
                  <a:srgbClr val="222222"/>
                </a:solidFill>
              </a:rPr>
              <a:t>•  정의: 207번 슬라이드의 CommandLog와 210번의 Feedback 데이터를 활용하여 서비스 이용 현황, 인기 종목, AI 분석 성공률 등을 차트 형태로 제공하는 관리자용 관제 센터입니다. [출처: 1, 139]</a:t>
            </a:r>
          </a:p>
          <a:p>
            <a:r>
              <a:rPr sz="1100">
                <a:solidFill>
                  <a:srgbClr val="222222"/>
                </a:solidFill>
              </a:rPr>
              <a:t>•  핵심 가치: 인프라의 건강 상태뿐만 아니라 "어떤 금융 정보에 사용자가 열광하는가"를 정량적으로 파악하여 서비스 개선의 우선순위를 결정합니다. [출처: 64, 173]</a:t>
            </a:r>
          </a:p>
          <a:p>
            <a:pPr>
              <a:spcBef>
                <a:spcPts val="600"/>
              </a:spcBef>
            </a:pPr>
            <a:r>
              <a:rPr sz="1300" b="1">
                <a:solidFill>
                  <a:srgbClr val="2E5984"/>
                </a:solidFill>
              </a:rPr>
              <a:t>2. 아키텍처 (Architecture): 로그 기반 실시간 대시보드 파이프라인 [출처: 136, 139, 161]</a:t>
            </a:r>
          </a:p>
          <a:p>
            <a:r>
              <a:rPr sz="1100">
                <a:solidFill>
                  <a:srgbClr val="222222"/>
                </a:solidFill>
              </a:rPr>
              <a:t>•  데이터 흐름: [Google Sheets/PostgreSQL] → [Pandas 가공] → [Streamlit/Plotly 시각화] → [웹 대시보드 출력].</a:t>
            </a:r>
          </a:p>
          <a:p>
            <a:r>
              <a:rPr sz="1100">
                <a:solidFill>
                  <a:srgbClr val="222222"/>
                </a:solidFill>
              </a:rPr>
              <a:t>•  핵심 지표(KPI): [출처: 139, 173]</a:t>
            </a:r>
          </a:p>
          <a:p>
            <a:r>
              <a:rPr sz="1100">
                <a:solidFill>
                  <a:srgbClr val="222222"/>
                </a:solidFill>
              </a:rPr>
              <a:t>•  Traffic: 시간대별/날짜별 총 명령어 실행 횟수.</a:t>
            </a:r>
          </a:p>
          <a:p>
            <a:r>
              <a:rPr sz="1100">
                <a:solidFill>
                  <a:srgbClr val="222222"/>
                </a:solidFill>
              </a:rPr>
              <a:t>•  Popularity: 가장 많이 검색된 상위 10개 종목 리스트.</a:t>
            </a:r>
          </a:p>
          <a:p>
            <a:r>
              <a:rPr sz="1100">
                <a:solidFill>
                  <a:srgbClr val="222222"/>
                </a:solidFill>
              </a:rPr>
              <a:t>•  Quality: AI 리포트 성공률 및 사용자 평균 만족도(별점).</a:t>
            </a:r>
          </a:p>
          <a:p>
            <a:r>
              <a:rPr sz="1100">
                <a:solidFill>
                  <a:srgbClr val="222222"/>
                </a:solidFill>
              </a:rPr>
              <a:t>•  Latency: API 호출부터 리포트 생성까지의 평균 소요 시간.</a:t>
            </a:r>
          </a:p>
          <a:p>
            <a:pPr>
              <a:spcBef>
                <a:spcPts val="600"/>
              </a:spcBef>
            </a:pPr>
            <a:r>
              <a:rPr sz="1300" b="1">
                <a:solidFill>
                  <a:srgbClr val="2E5984"/>
                </a:solidFill>
              </a:rPr>
              <a:t>3. 소스코드 (Source Code): Streamlit 기반 시각화 엔진 [출처: 139, 161]</a:t>
            </a:r>
          </a:p>
          <a:p>
            <a:r>
              <a:rPr sz="1100">
                <a:solidFill>
                  <a:srgbClr val="222222"/>
                </a:solidFill>
              </a:rPr>
              <a:t>•  핵심 구현: 로그 데이터를 읽어와 차트로 변환하는 로직입니다.</a:t>
            </a:r>
          </a:p>
          <a:p>
            <a:pPr>
              <a:spcBef>
                <a:spcPts val="600"/>
              </a:spcBef>
            </a:pPr>
            <a:r>
              <a:rPr sz="1300" b="1">
                <a:solidFill>
                  <a:srgbClr val="2E5984"/>
                </a:solidFill>
              </a:rPr>
              <a:t>4. 실습 (Practice): 나만의 관리자 대시보드 구축 및 배포 [출처: 161, 162]</a:t>
            </a:r>
          </a:p>
          <a:p>
            <a:r>
              <a:rPr sz="1100">
                <a:solidFill>
                  <a:srgbClr val="222222"/>
                </a:solidFill>
              </a:rPr>
              <a:t>•  과제 1: streamlit_app.py에 관리자용 사이드바 메뉴를 추가하고, 207번 슬라이드에서 기록된 CommandLog 데이터가 실시간으로 그래프에 반영되는지 확인하십시오. [출처: 114, 161]</a:t>
            </a:r>
          </a:p>
          <a:p>
            <a:r>
              <a:rPr sz="1100">
                <a:solidFill>
                  <a:srgbClr val="222222"/>
                </a:solidFill>
              </a:rPr>
              <a:t>•  과제 2: 특정 종목(예: 삼성전자)을 텔레그램에서 5번 이상 조회한 후, 대시보드의 '인기 검색 종목' 순위가 자동으로 업데이트되는지 점검하십시오. [출처: 41, 116]</a:t>
            </a:r>
          </a:p>
          <a:p>
            <a:pPr>
              <a:spcBef>
                <a:spcPts val="600"/>
              </a:spcBef>
            </a:pPr>
            <a:r>
              <a:rPr sz="1300" b="1">
                <a:solidFill>
                  <a:srgbClr val="2E5984"/>
                </a:solidFill>
              </a:rPr>
              <a:t>5. 확장 (Expansion): '지능형 통합 리서치 센터'로의 진화</a:t>
            </a:r>
          </a:p>
          <a:p>
            <a:r>
              <a:rPr sz="1100">
                <a:solidFill>
                  <a:srgbClr val="222222"/>
                </a:solidFill>
              </a:rPr>
              <a:t>•  고도화 전략: 단순히 과거 로그를 보여주는 것을 넘어, 139번 슬라이드에서 언급된 Uptime Kuma와 연동하여 서버 장애 발생 시 대시보드 상단에 빨간색 경고등을 띄우는 통합 관제 시스템으로 확장합니다. [출처: 139, 160]</a:t>
            </a:r>
          </a:p>
          <a:p>
            <a:r>
              <a:rPr sz="1100">
                <a:solidFill>
                  <a:srgbClr val="222222"/>
                </a:solidFill>
              </a:rPr>
              <a:t>•  기술적 비전: 212번 슬라이드에서 다룰 멀티 채널(Slack, Discord) 동시 배포 전략과 결합하여, 플랫폼의 모든 활동이 데이터로 관리되고 시각화되는 엔터프라이즈급 AI 금융 아키텍처를 완성합니다. [출처: 99, 199]</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211  ·  185/216</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E</a:t>
            </a:r>
          </a:p>
          <a:p>
            <a:r>
              <a:rPr sz="1900" b="1">
                <a:solidFill>
                  <a:srgbClr val="FFFFFF"/>
                </a:solidFill>
              </a:rPr>
              <a:t>[186] AI 금융 플랫폼 확장 실무 - 멀티 채널 연동 및 배포 전략</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'원 소스 멀티 유즈(OSMU)' 기반의 서비스 접점 극대화</a:t>
            </a:r>
          </a:p>
          <a:p>
            <a:r>
              <a:rPr sz="1100">
                <a:solidFill>
                  <a:srgbClr val="222222"/>
                </a:solidFill>
              </a:rPr>
              <a:t>•  정의: Apps Script나 FastAPI로 구축한 핵심 로직(Action Layer)은 그대로 유지하면서, 인터페이스만 교체하여 텔레그램뿐만 아니라 슬랙(Slack), 디스코드(Discord) 등 다양한 채널로 서비스를 동시 제공하는 전략입니다. [출처: 99, 101]</a:t>
            </a:r>
          </a:p>
          <a:p>
            <a:r>
              <a:rPr sz="1100">
                <a:solidFill>
                  <a:srgbClr val="222222"/>
                </a:solidFill>
              </a:rPr>
              <a:t>•  핵심 가치: 사용자의 업무 환경에 맞춰 AI 금융 비서를 배치함으로써 서비스 접근성을 높이고, 전사적 차원의 지능형 협업 도구로 브랜딩할 수 있습니다. [출처: 95, 99]</a:t>
            </a:r>
          </a:p>
          <a:p>
            <a:pPr>
              <a:spcBef>
                <a:spcPts val="600"/>
              </a:spcBef>
            </a:pPr>
            <a:r>
              <a:rPr sz="1300" b="1">
                <a:solidFill>
                  <a:srgbClr val="2E5984"/>
                </a:solidFill>
              </a:rPr>
              <a:t>2. 아키텍처 (Architecture): 유니버셜 메시징 게이트웨이(Universal Gateway) 구조 [출처: 29, 34, 99]</a:t>
            </a:r>
          </a:p>
          <a:p>
            <a:r>
              <a:rPr sz="1100">
                <a:solidFill>
                  <a:srgbClr val="222222"/>
                </a:solidFill>
              </a:rPr>
              <a:t>•  통합 구조: [데이터/분석 엔진] → [공통 Action Layer] → [메시지 어댑터(Adapter)] → [Telegram / Slack / Discord API].</a:t>
            </a:r>
          </a:p>
          <a:p>
            <a:r>
              <a:rPr sz="1100">
                <a:solidFill>
                  <a:srgbClr val="222222"/>
                </a:solidFill>
              </a:rPr>
              <a:t>•  작동 원리: 각 채널의 Webhook 요청을 수신부에서 표준 JSON으로 규격화한 뒤, 동일한 GPT 분류기(Classifier)를 거쳐 분석을 수행하고, 다시 각 채널의 페이로드(Payload) 규격에 맞춰 결과를 발송합니다. [출처: 31, 97, 102]</a:t>
            </a:r>
          </a:p>
          <a:p>
            <a:pPr>
              <a:spcBef>
                <a:spcPts val="600"/>
              </a:spcBef>
            </a:pPr>
            <a:r>
              <a:rPr sz="1300" b="1">
                <a:solidFill>
                  <a:srgbClr val="2E5984"/>
                </a:solidFill>
              </a:rPr>
              <a:t>3. 소스코드 (Source Code): 슬랙(Slack) 연동을 위한 어댑터 함수 구현 [출처: 50, 97, 124]</a:t>
            </a:r>
          </a:p>
          <a:p>
            <a:r>
              <a:rPr sz="1100">
                <a:solidFill>
                  <a:srgbClr val="222222"/>
                </a:solidFill>
              </a:rPr>
              <a:t>•  핵심 구현: 텔레그램 전송 함수(sendTelegramMessage_)와 병렬로 작동하는 슬랙 전송 로직입니다.</a:t>
            </a:r>
          </a:p>
          <a:p>
            <a:pPr>
              <a:spcBef>
                <a:spcPts val="600"/>
              </a:spcBef>
            </a:pPr>
            <a:r>
              <a:rPr sz="1300" b="1">
                <a:solidFill>
                  <a:srgbClr val="2E5984"/>
                </a:solidFill>
              </a:rPr>
              <a:t>4. 실습 (Practice): 슬랙 앱 생성 및 멀티 채널 동시 발송 테스트 [출처: 30, 39, 97]</a:t>
            </a:r>
          </a:p>
          <a:p>
            <a:r>
              <a:rPr sz="1100">
                <a:solidFill>
                  <a:srgbClr val="222222"/>
                </a:solidFill>
              </a:rPr>
              <a:t>•  과제 1: Slack API 사이트에서 'Incoming Webhooks' 앱을 생성하고 고유 URL을 획득하여 Apps Script 환경변수에 저장하십시오. [출처: 30, 142]</a:t>
            </a:r>
          </a:p>
          <a:p>
            <a:r>
              <a:rPr sz="1100">
                <a:solidFill>
                  <a:srgbClr val="222222"/>
                </a:solidFill>
              </a:rPr>
              <a:t>•  과제 2: doPost(e) 로직 하단에 sendSlackMessage_(resultMessage)를 추가하여, 텔레그램에서 명령을 내렸을 때 슬랙 채널에도 분석 리포트가 동시에 게시되는지 확인하십시오. [출처: 46, 115]</a:t>
            </a:r>
          </a:p>
          <a:p>
            <a:pPr>
              <a:spcBef>
                <a:spcPts val="600"/>
              </a:spcBef>
            </a:pPr>
            <a:r>
              <a:rPr sz="1300" b="1">
                <a:solidFill>
                  <a:srgbClr val="2E5984"/>
                </a:solidFill>
              </a:rPr>
              <a:t>5. 확장 (Expansion): 플랫폼을 넘어선 'AI 워크포스(Workforce)' 생태계 구축</a:t>
            </a:r>
          </a:p>
          <a:p>
            <a:r>
              <a:rPr sz="1100">
                <a:solidFill>
                  <a:srgbClr val="222222"/>
                </a:solidFill>
              </a:rPr>
              <a:t>•  고도화 전략: 마이크로소프트 팀즈(Teams)나 사내 메신저 API까지 확장하여 전사적인 리스크 관리 관제망을 완성합니다. [출처: 99, 100]</a:t>
            </a:r>
          </a:p>
          <a:p>
            <a:r>
              <a:rPr sz="1100">
                <a:solidFill>
                  <a:srgbClr val="222222"/>
                </a:solidFill>
              </a:rPr>
              <a:t>•  기술적 비전: 213번 슬라이드에서 다룰 24x365 무중단 운영을 위한 Docker Swarm 및 클라우드 오케스트레이션과 결합하여, 어떤 플랫폼에서도 끊김 없이 작동하는 강력한 엔터프라이즈 에이전트 인프라로 도약합니다. [출처: 139, 165]</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212  ·  186/216</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E</a:t>
            </a:r>
          </a:p>
          <a:p>
            <a:r>
              <a:rPr sz="1900" b="1">
                <a:solidFill>
                  <a:srgbClr val="FFFFFF"/>
                </a:solidFill>
              </a:rPr>
              <a:t>[187] 엔터프라이즈 인프라 및 CI/CD - 24x365 무중단 운영 전략</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가용성(Availability)과 자동 복구(Self-healing)의 실현</a:t>
            </a:r>
          </a:p>
          <a:p>
            <a:r>
              <a:rPr sz="1100">
                <a:solidFill>
                  <a:srgbClr val="222222"/>
                </a:solidFill>
              </a:rPr>
              <a:t>•  정의: 서버 장애나 프로세스 종료 시 시스템이 스스로를 재시작하고, 코드 변경 사항을 중단 없이 실서비스에 반영하는 클라우드 네이티브 운영 체계입니다. [출처: 71, 92]</a:t>
            </a:r>
          </a:p>
          <a:p>
            <a:r>
              <a:rPr sz="1100">
                <a:solidFill>
                  <a:srgbClr val="222222"/>
                </a:solidFill>
              </a:rPr>
              <a:t>•  핵심 가치: 16시간 동안 구축한 MVP가 단순한 '코드'를 넘어, 실제 금융 시장의 24시간 변동성을 견뎌내는 '살아있는 서비스'로 기능하게 하는 인프라적 완성도를 제공합니다. [출처: 67, 136]</a:t>
            </a:r>
          </a:p>
          <a:p>
            <a:pPr>
              <a:spcBef>
                <a:spcPts val="600"/>
              </a:spcBef>
            </a:pPr>
            <a:r>
              <a:rPr sz="1300" b="1">
                <a:solidFill>
                  <a:srgbClr val="2E5984"/>
                </a:solidFill>
              </a:rPr>
              <a:t>2. 아키텍처 (Architecture): GitHub Actions 기반의 지속적 통합 및 배포(CI/CD) [출처: 71, 139]</a:t>
            </a:r>
          </a:p>
          <a:p>
            <a:r>
              <a:rPr sz="1100">
                <a:solidFill>
                  <a:srgbClr val="222222"/>
                </a:solidFill>
              </a:rPr>
              <a:t>•  배포 파이프라인: [개발자 Push] → [GitHub Actions 빌드/테스트] → [Docker Image 생성] → [운영 서버(AWS/VPS) 배포] → [컨테이너 롤링 업데이트].</a:t>
            </a:r>
          </a:p>
          <a:p>
            <a:r>
              <a:rPr sz="1100">
                <a:solidFill>
                  <a:srgbClr val="222222"/>
                </a:solidFill>
              </a:rPr>
              <a:t>•  이중화 구조: Docker Compose를 통해 PostgreSQL DB와 FastAPI 앱을 분리 운영하고, systemd 가디언이 프로세스의 생존을 실시간 감시합니다. [출처: 137, 165]</a:t>
            </a:r>
          </a:p>
          <a:p>
            <a:pPr>
              <a:spcBef>
                <a:spcPts val="600"/>
              </a:spcBef>
            </a:pPr>
            <a:r>
              <a:rPr sz="1300" b="1">
                <a:solidFill>
                  <a:srgbClr val="2E5984"/>
                </a:solidFill>
              </a:rPr>
              <a:t>3. 설정 가이드 (Source Code): 무중단 운영을 위한 서비스 등록 명세 [출처: 166, 167, 187]</a:t>
            </a:r>
          </a:p>
          <a:p>
            <a:r>
              <a:rPr sz="1100">
                <a:solidFill>
                  <a:srgbClr val="222222"/>
                </a:solidFill>
              </a:rPr>
              <a:t>•  systemd 서비스 설정 (ai-fin-api.service): [출처: 166]</a:t>
            </a:r>
          </a:p>
          <a:p>
            <a:r>
              <a:rPr sz="1100">
                <a:solidFill>
                  <a:srgbClr val="222222"/>
                </a:solidFill>
              </a:rPr>
              <a:t>•  Docker Compose 자동 재시작 옵션: [출처: 165, 187]</a:t>
            </a:r>
          </a:p>
          <a:p>
            <a:pPr>
              <a:spcBef>
                <a:spcPts val="600"/>
              </a:spcBef>
            </a:pPr>
            <a:r>
              <a:rPr sz="1300" b="1">
                <a:solidFill>
                  <a:srgbClr val="2E5984"/>
                </a:solidFill>
              </a:rPr>
              <a:t>4. 실습 (Practice): 원격 서버 배포 및 장애 복구(Failover) 테스트 [출처: 167, 188]</a:t>
            </a:r>
          </a:p>
          <a:p>
            <a:r>
              <a:rPr sz="1100">
                <a:solidFill>
                  <a:srgbClr val="222222"/>
                </a:solidFill>
              </a:rPr>
              <a:t>•  과제 1: Ubuntu 서버에서 sudo systemctl stop ai-fin-api로 강제 중지시킨 후, 5초 뒤 status 명령을 통해 시스템이 자동으로 다시 살아나는지 확인하십시오. [출처: 167]</a:t>
            </a:r>
          </a:p>
          <a:p>
            <a:r>
              <a:rPr sz="1100">
                <a:solidFill>
                  <a:srgbClr val="222222"/>
                </a:solidFill>
              </a:rPr>
              <a:t>•  과제 2: Docker Desktop을 사용하여 전체 시스템을 이미지로 빌드하고, 다른 환경에서도 동일한 설정(.env)만으로 10분 안에 전체 인프라가 복구되는지 시뮬레이션하십시오. [출처: 188]</a:t>
            </a:r>
          </a:p>
          <a:p>
            <a:pPr>
              <a:spcBef>
                <a:spcPts val="600"/>
              </a:spcBef>
            </a:pPr>
            <a:r>
              <a:rPr sz="1300" b="1">
                <a:solidFill>
                  <a:srgbClr val="2E5984"/>
                </a:solidFill>
              </a:rPr>
              <a:t>5. 확장 (Expansion): 쿠버네티스(K8s)와 서버리스(Serverless)로의 진화</a:t>
            </a:r>
          </a:p>
          <a:p>
            <a:r>
              <a:rPr sz="1100">
                <a:solidFill>
                  <a:srgbClr val="222222"/>
                </a:solidFill>
              </a:rPr>
              <a:t>•  고도화 전략: 트래픽 증가 시 서버 대수를 자동으로 늘리는 오토 스케일링(Auto-scaling)이나, 실행 시에만 비용이 발생하는 AWS Lambda 기반의 서버리스 아키텍처로 확장합니다. [출처: 76, 139]</a:t>
            </a:r>
          </a:p>
          <a:p>
            <a:r>
              <a:rPr sz="1100">
                <a:solidFill>
                  <a:srgbClr val="222222"/>
                </a:solidFill>
              </a:rPr>
              <a:t>•  기술적 비전: 이로써 개인이 운영하는 금융 정보 서비스를 넘어, 수만 명의 동시 접속을 처리할 수 있는 엔터프라이즈급 에이전틱 금융 플랫폼의 기술적 근간을 완성합니다. [출처: 100, 191]</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213  ·  187/216</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E</a:t>
            </a:r>
          </a:p>
          <a:p>
            <a:r>
              <a:rPr sz="1900" b="1">
                <a:solidFill>
                  <a:srgbClr val="FFFFFF"/>
                </a:solidFill>
              </a:rPr>
              <a:t>[188] 워크플로우 통합 및 24x365 운영 자동화: 시스템의 상시 가동</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파편화된 기술을 하나의 '자율 지능'으로 엮는 오케스트레이션</a:t>
            </a:r>
          </a:p>
          <a:p>
            <a:r>
              <a:rPr sz="1100">
                <a:solidFill>
                  <a:srgbClr val="222222"/>
                </a:solidFill>
              </a:rPr>
              <a:t>•  정의: 지금까지 학습한 데이터 수집(ETL), 분석(Scoring), 추론(GPT), 리포팅(PDF), 알림(Telegram) 모듈을 하나의 유기적인 파이프라인으로 통합하는 과정입니다.</a:t>
            </a:r>
          </a:p>
          <a:p>
            <a:r>
              <a:rPr sz="1100">
                <a:solidFill>
                  <a:srgbClr val="222222"/>
                </a:solidFill>
              </a:rPr>
              <a:t>•  핵심 가치: 개별적으로 작동하던 tAnalyzer, FnRiskWatch, KOStockCrewAI를 하나의 통합 서버 환경에 배치하여, 인간의 개입 없이 24시간 시장을 감시하는 '자율형 금융 리서치 시스템'을 완성합니다.</a:t>
            </a:r>
          </a:p>
          <a:p>
            <a:pPr>
              <a:spcBef>
                <a:spcPts val="600"/>
              </a:spcBef>
            </a:pPr>
            <a:r>
              <a:rPr sz="1300" b="1">
                <a:solidFill>
                  <a:srgbClr val="2E5984"/>
                </a:solidFill>
              </a:rPr>
              <a:t>2. 아키텍처 (Architecture): 통합 오케스트레이터 및 상시 운영 구조 [출처: 136, 138, 164]</a:t>
            </a:r>
          </a:p>
          <a:p>
            <a:r>
              <a:rPr sz="1100">
                <a:solidFill>
                  <a:srgbClr val="222222"/>
                </a:solidFill>
              </a:rPr>
              <a:t>•  운영 파이프라인:</a:t>
            </a:r>
          </a:p>
          <a:p>
            <a:r>
              <a:rPr sz="1100">
                <a:solidFill>
                  <a:srgbClr val="222222"/>
                </a:solidFill>
              </a:rPr>
              <a:t>•  스케줄러(APScheduler): 시간 기반(Cron)으로 각 작업의 트리거를 당김.</a:t>
            </a:r>
          </a:p>
          <a:p>
            <a:r>
              <a:rPr sz="1100">
                <a:solidFill>
                  <a:srgbClr val="222222"/>
                </a:solidFill>
              </a:rPr>
              <a:t>•  통합 수집 레이어: DART, ECOS, 코스콤 API를 순차적 혹은 병렬로 호출하여 DB 최신화.</a:t>
            </a:r>
          </a:p>
          <a:p>
            <a:r>
              <a:rPr sz="1100">
                <a:solidFill>
                  <a:srgbClr val="222222"/>
                </a:solidFill>
              </a:rPr>
              <a:t>•  지능형 분석 레이어: 수집된 데이터를 기반으로 분석 엔진과 GPT 에이전트 가동.</a:t>
            </a:r>
          </a:p>
          <a:p>
            <a:r>
              <a:rPr sz="1100">
                <a:solidFill>
                  <a:srgbClr val="222222"/>
                </a:solidFill>
              </a:rPr>
              <a:t>•  자동 배포 레이어: 생성된 리포트를 텔레그램이나 웹단말로 즉시 전송.</a:t>
            </a:r>
          </a:p>
          <a:p>
            <a:pPr>
              <a:spcBef>
                <a:spcPts val="600"/>
              </a:spcBef>
            </a:pPr>
            <a:r>
              <a:rPr sz="1300" b="1">
                <a:solidFill>
                  <a:srgbClr val="2E5984"/>
                </a:solidFill>
              </a:rPr>
              <a:t>3. 소스코드 (Source Code): main_scheduler.py 통합 실행 로직 [출처: 164, 187]</a:t>
            </a:r>
          </a:p>
          <a:p>
            <a:r>
              <a:rPr sz="1100">
                <a:solidFill>
                  <a:srgbClr val="222222"/>
                </a:solidFill>
              </a:rPr>
              <a:t>•  핵심 로직: 매일 정해진 시간에 금융 데이터를 수집하고 브리핑을 전송하도록 설계합니다.</a:t>
            </a:r>
          </a:p>
          <a:p>
            <a:pPr>
              <a:spcBef>
                <a:spcPts val="600"/>
              </a:spcBef>
            </a:pPr>
            <a:r>
              <a:rPr sz="1300" b="1">
                <a:solidFill>
                  <a:srgbClr val="2E5984"/>
                </a:solidFill>
              </a:rPr>
              <a:t>4. 실습 (Practice): VPS 배포 및 24시간 가동 상태 점검 [출처: 140, 166, 188]</a:t>
            </a:r>
          </a:p>
          <a:p>
            <a:r>
              <a:rPr sz="1100">
                <a:solidFill>
                  <a:srgbClr val="222222"/>
                </a:solidFill>
              </a:rPr>
              <a:t>•  과제 1: 본인의 시스템을 Ubuntu VPS 또는 로컬 Docker 환경에 배포하고, systemctl status 또는 docker ps 명령을 통해 모든 컨테이너가 정상적으로 상주(Resident) 실행 중인지 확인하십시오.</a:t>
            </a:r>
          </a:p>
          <a:p>
            <a:r>
              <a:rPr sz="1100">
                <a:solidFill>
                  <a:srgbClr val="222222"/>
                </a:solidFill>
              </a:rPr>
              <a:t>•  과제 2: daily_briefing 함수의 실행 시간을 현재 시점 5분 뒤로 설정하여, 실제 텔레그램으로 [재무+기술+수급+거시+GPT]가 통합된 리포트가 자동으로 도착하는지 검증하십시오.</a:t>
            </a:r>
          </a:p>
          <a:p>
            <a:pPr>
              <a:spcBef>
                <a:spcPts val="600"/>
              </a:spcBef>
            </a:pPr>
            <a:r>
              <a:rPr sz="1300" b="1">
                <a:solidFill>
                  <a:srgbClr val="2E5984"/>
                </a:solidFill>
              </a:rPr>
              <a:t>5. 확장 (Expansion): 'AI 워크포스(Workforce)'로의 진화 및 최종 결과물 확정</a:t>
            </a:r>
          </a:p>
          <a:p>
            <a:r>
              <a:rPr sz="1100">
                <a:solidFill>
                  <a:srgbClr val="222222"/>
                </a:solidFill>
              </a:rPr>
              <a:t>•  고도화 전략: 단순히 정해진 시간에 리포트를 보내는 것을 넘어, 시장 급변동 시 에이전트가 스스로 판단하여 긴급 알림을 보내는 '능동형 모니터링' 체계로 고도화합니다.</a:t>
            </a:r>
          </a:p>
          <a:p>
            <a:r>
              <a:rPr sz="1100">
                <a:solidFill>
                  <a:srgbClr val="222222"/>
                </a:solidFill>
              </a:rPr>
              <a:t>•  최종 결과물: 16시간의 과정을 통해 여러분은 이제 PostgreSQL DB, API 연동, GPT 분석 엔진, PDF 리포트, 텔레그램 봇이 통합된 자신만의 상용 수준 AI 금융 정보 단말기를 확보하게 되었습니다.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216  ·  188/216</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E</a:t>
            </a:r>
          </a:p>
          <a:p>
            <a:r>
              <a:rPr sz="1900" b="1">
                <a:solidFill>
                  <a:srgbClr val="FFFFFF"/>
                </a:solidFill>
              </a:rPr>
              <a:t>[189] 엔터프라이즈 에이전트 플랫폼(EAP) 및 인프라 오케스트레이션</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개별 봇을 넘어 'AI 운영 센터(AIOC)'로의 진화</a:t>
            </a:r>
          </a:p>
          <a:p>
            <a:r>
              <a:rPr sz="1100">
                <a:solidFill>
                  <a:srgbClr val="222222"/>
                </a:solidFill>
              </a:rPr>
              <a:t>•  정의: 다수의 AI 에이전트가 수행하는 업무의 배포, 보안, 권한 관리, 비용 모니터링을 중앙에서 통제하는 기업급 에이전트 실행 환경입니다. [출처: 16, 27]</a:t>
            </a:r>
          </a:p>
          <a:p>
            <a:r>
              <a:rPr sz="1100">
                <a:solidFill>
                  <a:srgbClr val="222222"/>
                </a:solidFill>
              </a:rPr>
              <a:t>•  핵심 가치: 16시간 동안 구축한 KOStockCrewAI를 단일 서비스가 아닌, 전사적 차원에서 수백 명의 사용자가 동시에 안정적으로 이용할 수 있는 지능형 인프라로 격상시킵니다. [출처: 67, 136]</a:t>
            </a:r>
          </a:p>
          <a:p>
            <a:pPr>
              <a:spcBef>
                <a:spcPts val="600"/>
              </a:spcBef>
            </a:pPr>
            <a:r>
              <a:rPr sz="1300" b="1">
                <a:solidFill>
                  <a:srgbClr val="2E5984"/>
                </a:solidFill>
              </a:rPr>
              <a:t>2. 아키텍처 (Architecture): Google Agent Platform 및 EAP 구성 요소 [출처: 16, 27, 139]</a:t>
            </a:r>
          </a:p>
          <a:p>
            <a:r>
              <a:rPr sz="1100">
                <a:solidFill>
                  <a:srgbClr val="222222"/>
                </a:solidFill>
              </a:rPr>
              <a:t>•  플랫폼 레이어: [출처: 16]</a:t>
            </a:r>
          </a:p>
          <a:p>
            <a:r>
              <a:rPr sz="1100">
                <a:solidFill>
                  <a:srgbClr val="222222"/>
                </a:solidFill>
              </a:rPr>
              <a:t>•  Agent Gateway: 보안 관문으로서 API 호출 통제 및 정책 적용.</a:t>
            </a:r>
          </a:p>
          <a:p>
            <a:r>
              <a:rPr sz="1100">
                <a:solidFill>
                  <a:srgbClr val="222222"/>
                </a:solidFill>
              </a:rPr>
              <a:t>•  Agent Identity: 에이전트별 계정 및 권한 관리.</a:t>
            </a:r>
          </a:p>
          <a:p>
            <a:r>
              <a:rPr sz="1100">
                <a:solidFill>
                  <a:srgbClr val="222222"/>
                </a:solidFill>
              </a:rPr>
              <a:t>•  Agent Runtime: 에이전트의 실행, 배포, 확장을 담당하는 서버 환경.</a:t>
            </a:r>
          </a:p>
          <a:p>
            <a:r>
              <a:rPr sz="1100">
                <a:solidFill>
                  <a:srgbClr val="222222"/>
                </a:solidFill>
              </a:rPr>
              <a:t>•  Logging/Trace: 실행 기록을 통한 오류, 비용, 품질 실시간 점검.</a:t>
            </a:r>
          </a:p>
          <a:p>
            <a:r>
              <a:rPr sz="1100">
                <a:solidFill>
                  <a:srgbClr val="222222"/>
                </a:solidFill>
              </a:rPr>
              <a:t>•  데이터 레이어: 뉴스 RAG(ChromaDB)와 시장 데이터(PostgreSQL)를 에이전트들에게 공유 자원으로 제공합니다. [출처: 136, 144, 156]</a:t>
            </a:r>
          </a:p>
          <a:p>
            <a:pPr>
              <a:spcBef>
                <a:spcPts val="600"/>
              </a:spcBef>
            </a:pPr>
            <a:r>
              <a:rPr sz="1300" b="1">
                <a:solidFill>
                  <a:srgbClr val="2E5984"/>
                </a:solidFill>
              </a:rPr>
              <a:t>3. 운영 명세 (Specs): 에이전트 게이트웨이 및 비용 통제 로직 [출처: 16, 139, 171]</a:t>
            </a:r>
          </a:p>
          <a:p>
            <a:r>
              <a:rPr sz="1100">
                <a:solidFill>
                  <a:srgbClr val="222222"/>
                </a:solidFill>
              </a:rPr>
              <a:t>•  핵심 구현: 무분별한 API 호출을 방지하고 보안을 강화하는 구성입니다. [출처: 16]</a:t>
            </a:r>
          </a:p>
          <a:p>
            <a:pPr>
              <a:spcBef>
                <a:spcPts val="600"/>
              </a:spcBef>
            </a:pPr>
            <a:r>
              <a:rPr sz="1300" b="1">
                <a:solidFill>
                  <a:srgbClr val="2E5984"/>
                </a:solidFill>
              </a:rPr>
              <a:t>4. 실습 (Practice): 멀티 테넌트(Multi-tenant) 환경의 에이전트 리소스 모니터링</a:t>
            </a:r>
          </a:p>
          <a:p>
            <a:r>
              <a:rPr sz="1100">
                <a:solidFill>
                  <a:srgbClr val="222222"/>
                </a:solidFill>
              </a:rPr>
              <a:t>•  과제 1: 211번 슬라이드에서 구축한 대시보드에 '에이전트별 토큰 사용량 및 API 호출 비용' 차트를 추가하여, 어떤 분석 업무가 가장 많은 리소스를 소모하는지 시각화하십시오. [출처: 16, 211]</a:t>
            </a:r>
          </a:p>
          <a:p>
            <a:r>
              <a:rPr sz="1100">
                <a:solidFill>
                  <a:srgbClr val="222222"/>
                </a:solidFill>
              </a:rPr>
              <a:t>•  과제 2: Uptime Kuma를 활용하여 에이전트 서버의 가동률을 모니터링하고, 특정 에이전트가 응답하지 않을 때 관리자 텔레그램으로 즉시 경고가 오는지 테스트하십시오. [출처: 139, 160]</a:t>
            </a:r>
          </a:p>
          <a:p>
            <a:pPr>
              <a:spcBef>
                <a:spcPts val="600"/>
              </a:spcBef>
            </a:pPr>
            <a:r>
              <a:rPr sz="1300" b="1">
                <a:solidFill>
                  <a:srgbClr val="2E5984"/>
                </a:solidFill>
              </a:rPr>
              <a:t>5. 확장 (Expansion): '자율형 금융 리서치 하우스'의 완성</a:t>
            </a:r>
          </a:p>
          <a:p>
            <a:r>
              <a:rPr sz="1100">
                <a:solidFill>
                  <a:srgbClr val="222222"/>
                </a:solidFill>
              </a:rPr>
              <a:t>•  고도화 전략: 단순히 에이전트를 실행하는 것을 넘어, 에이전트들이 스스로 인프라 자원을 최적화하고 필요한 지식을 RAG로 업데이트하는 자가 진화형 플랫폼으로 발전시킵니다. [출처: 16, 79]</a:t>
            </a:r>
          </a:p>
          <a:p>
            <a:r>
              <a:rPr sz="1100">
                <a:solidFill>
                  <a:srgbClr val="222222"/>
                </a:solidFill>
              </a:rPr>
              <a:t>•  기술적 비전: 이제 여러분은 개별 코드를 짜는 개발자에서, 수백 개의 지능형 에이전트가 유기적으로 작동하는 'AI 금융 워크포스(Workforce)'의 최고 기술 책임자(CTO)로서 시스템을 설계하고 운영하게 됩니다. [출처: 79, 191, 199]</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230  ·  189/216</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E</a:t>
            </a:r>
          </a:p>
          <a:p>
            <a:r>
              <a:rPr sz="1900" b="1">
                <a:solidFill>
                  <a:srgbClr val="FFFFFF"/>
                </a:solidFill>
              </a:rPr>
              <a:t>[190] 글로벌 시장 확장 및 초고속 데이터 인프라 최적화</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국경 없는 데이터 수집과 '시계열 데이터'의 효율적 관리</a:t>
            </a:r>
          </a:p>
          <a:p>
            <a:r>
              <a:rPr sz="1100">
                <a:solidFill>
                  <a:srgbClr val="222222"/>
                </a:solidFill>
              </a:rPr>
              <a:t>•  정의: 국내 데이터(코스콤, DART)를 넘어 나스닥(NASDAQ), 뉴욕증권거래소(NYSE) 등 글로벌 시장 데이터를 통합하고, 방대해지는 시계열 가격 정보를 초고속으로 처리하기 위한 데이터 레이어 고도화 전략입니다. [출처: 3, 68, 136]</a:t>
            </a:r>
          </a:p>
          <a:p>
            <a:r>
              <a:rPr sz="1100">
                <a:solidFill>
                  <a:srgbClr val="222222"/>
                </a:solidFill>
              </a:rPr>
              <a:t>•  핵심 가치: 16시간 동안 구축한 국내용 MVP에 글로벌 거시지표와 해외 주식 데이터를 결합함으로써, 219번 슬라이드에서 다룬 RAG의 분석 범위를 전 세계로 확장하여 인사이트의 깊이를 더합니다. [출처: 148, 156, 172]</a:t>
            </a:r>
          </a:p>
          <a:p>
            <a:pPr>
              <a:spcBef>
                <a:spcPts val="600"/>
              </a:spcBef>
            </a:pPr>
            <a:r>
              <a:rPr sz="1300" b="1">
                <a:solidFill>
                  <a:srgbClr val="2E5984"/>
                </a:solidFill>
              </a:rPr>
              <a:t>2. 아키텍처 (Architecture): 글로벌 멀티 소스 데이터 파이프라인 [출처: 68, 69, 136]</a:t>
            </a:r>
          </a:p>
          <a:p>
            <a:r>
              <a:rPr sz="1100">
                <a:solidFill>
                  <a:srgbClr val="222222"/>
                </a:solidFill>
              </a:rPr>
              <a:t>•  확장 구조:</a:t>
            </a:r>
          </a:p>
          <a:p>
            <a:r>
              <a:rPr sz="1100">
                <a:solidFill>
                  <a:srgbClr val="222222"/>
                </a:solidFill>
              </a:rPr>
              <a:t>•  글로벌 데이터 수집: [Yahoo Finance / Polygon.io API] → [미국 주식 OHLCV 추출]. [출처: 69, 83]</a:t>
            </a:r>
          </a:p>
          <a:p>
            <a:r>
              <a:rPr sz="1100">
                <a:solidFill>
                  <a:srgbClr val="222222"/>
                </a:solidFill>
              </a:rPr>
              <a:t>•  데이터 저장: [PostgreSQL (관계형 데이터)] + [TimescaleDB (시계열 최적화 확장)]. [출처: 69, 139]</a:t>
            </a:r>
          </a:p>
          <a:p>
            <a:r>
              <a:rPr sz="1100">
                <a:solidFill>
                  <a:srgbClr val="222222"/>
                </a:solidFill>
              </a:rPr>
              <a:t>•  지능형 분석: 글로벌 매크로 지표(금리, 환율)와 개별 종목의 상관관계 분석 엔진 가동. [출처: 153, 154]</a:t>
            </a:r>
          </a:p>
          <a:p>
            <a:pPr>
              <a:spcBef>
                <a:spcPts val="600"/>
              </a:spcBef>
            </a:pPr>
            <a:r>
              <a:rPr sz="1300" b="1">
                <a:solidFill>
                  <a:srgbClr val="2E5984"/>
                </a:solidFill>
              </a:rPr>
              <a:t>3. 소스코드 (Source Code): 글로벌 데이터 수집기 및 시계열 인덱싱 [출처: 144, 148, 180]</a:t>
            </a:r>
          </a:p>
          <a:p>
            <a:r>
              <a:rPr sz="1100">
                <a:solidFill>
                  <a:srgbClr val="222222"/>
                </a:solidFill>
              </a:rPr>
              <a:t>•  핵심 구현: 해외 주식 데이터를 가져와 시계열 테이블에 적재하는 로직입니다.</a:t>
            </a:r>
          </a:p>
          <a:p>
            <a:pPr>
              <a:spcBef>
                <a:spcPts val="600"/>
              </a:spcBef>
            </a:pPr>
            <a:r>
              <a:rPr sz="1300" b="1">
                <a:solidFill>
                  <a:srgbClr val="2E5984"/>
                </a:solidFill>
              </a:rPr>
              <a:t>4. 실습 (Practice): 글로벌 상관관계 분석 및 대시보드 반영 [출처: 161, 172]</a:t>
            </a:r>
          </a:p>
          <a:p>
            <a:r>
              <a:rPr sz="1100">
                <a:solidFill>
                  <a:srgbClr val="222222"/>
                </a:solidFill>
              </a:rPr>
              <a:t>•  과제 1: koscom_collector.py 구조를 응용하여 미국 국채 금리(TNX) 또는 달러 인덱스(DXY)를 수집하는 global_collector.py를 작성하십시오. [출처: 148, 180]</a:t>
            </a:r>
          </a:p>
          <a:p>
            <a:r>
              <a:rPr sz="1100">
                <a:solidFill>
                  <a:srgbClr val="222222"/>
                </a:solidFill>
              </a:rPr>
              <a:t>•  과제 2: Streamlit 대시보드에 '글로벌 거시 환경' 섹션을 추가하고, 수집된 금리 데이터가 국내 반도체 종목의 리스크 스코어(218번 슬라이드)에 미치는 영향을 차트로 출력하십시오. [출처: 161, 218]</a:t>
            </a:r>
          </a:p>
          <a:p>
            <a:pPr>
              <a:spcBef>
                <a:spcPts val="600"/>
              </a:spcBef>
            </a:pPr>
            <a:r>
              <a:rPr sz="1300" b="1">
                <a:solidFill>
                  <a:srgbClr val="2E5984"/>
                </a:solidFill>
              </a:rPr>
              <a:t>5. 확장 (Expansion): '전 세계 자산을 관리하는' AI 자산운용 에이전트</a:t>
            </a:r>
          </a:p>
          <a:p>
            <a:r>
              <a:rPr sz="1100">
                <a:solidFill>
                  <a:srgbClr val="222222"/>
                </a:solidFill>
              </a:rPr>
              <a:t>•  고도화 전략: 주식뿐만 아니라 가상자산, 원자재, 부동산 REITs 등 모든 자산군을 통합 온톨로지(221번 슬라이드)로 연결하여 글로벌 자산 배분 전략을 수립합니다. [출처: 168, 221]</a:t>
            </a:r>
          </a:p>
          <a:p>
            <a:r>
              <a:rPr sz="1100">
                <a:solidFill>
                  <a:srgbClr val="222222"/>
                </a:solidFill>
              </a:rPr>
              <a:t>•  기술적 비전: 230번 슬라이드에서 배운 엔터프라이즈 플랫폼을 멀티 리전(Multi-region)으로 배포하여, 전 세계 시장의 변동성을 실시간으로 감시하고 리포트를 생성하는 글로벌 AI 금융 워크포스를 완성합니다. [출처: 79, 191, 230]</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231  ·  190/216</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E</a:t>
            </a:r>
          </a:p>
          <a:p>
            <a:r>
              <a:rPr sz="1900" b="1">
                <a:solidFill>
                  <a:srgbClr val="FFFFFF"/>
                </a:solidFill>
              </a:rPr>
              <a:t>[191] 서비스 신뢰성 공학(SRE) 및 비용 최적화 전략</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지속 가능한 서비스를 위한 '관찰 가능성(Observability)'과 경제성</a:t>
            </a:r>
          </a:p>
          <a:p>
            <a:r>
              <a:rPr sz="1100">
                <a:solidFill>
                  <a:srgbClr val="222222"/>
                </a:solidFill>
              </a:rPr>
              <a:t>•  정의: 서버의 생존 상태(Health)를 실시간으로 감시하고, LLM 사용에 따른 토큰 비용이 예산을 초과하지 않도록 통제하는 AI Ops(AI 운영) 체계입니다. [출처: 74, 139]</a:t>
            </a:r>
          </a:p>
          <a:p>
            <a:r>
              <a:rPr sz="1100">
                <a:solidFill>
                  <a:srgbClr val="222222"/>
                </a:solidFill>
              </a:rPr>
              <a:t>•  핵심 가치: "측정할 수 없으면 관리할 수 없다"는 원칙 아래, Uptime Kuma와 Loguru를 활용하여 장애 발생 시 즉각 대응하고 토큰 효율을 높여 서비스의 경제적 생존력을 확보합니다. [출처: 139, 171]</a:t>
            </a:r>
          </a:p>
          <a:p>
            <a:pPr>
              <a:spcBef>
                <a:spcPts val="600"/>
              </a:spcBef>
            </a:pPr>
            <a:r>
              <a:rPr sz="1300" b="1">
                <a:solidFill>
                  <a:srgbClr val="2E5984"/>
                </a:solidFill>
              </a:rPr>
              <a:t>2. 아키텍처 (Architecture): 3중 모니터링 및 비용 감시 체계 [출처: 16, 139, 161]</a:t>
            </a:r>
          </a:p>
          <a:p>
            <a:r>
              <a:rPr sz="1100">
                <a:solidFill>
                  <a:srgbClr val="222222"/>
                </a:solidFill>
              </a:rPr>
              <a:t>•  인프라 감시: [Uptime Kuma] → [FastAPI/Telegram 봇 생존 확인] → [장애 시 텔레그램 알림]. [출처: 139, 160]</a:t>
            </a:r>
          </a:p>
          <a:p>
            <a:r>
              <a:rPr sz="1100">
                <a:solidFill>
                  <a:srgbClr val="222222"/>
                </a:solidFill>
              </a:rPr>
              <a:t>•  애플리케이션 로깅: [Loguru] → [에이전트 추론 단계별 로그 기록] → [오류 패턴 분석]. [출처: 139, 189]</a:t>
            </a:r>
          </a:p>
          <a:p>
            <a:r>
              <a:rPr sz="1100">
                <a:solidFill>
                  <a:srgbClr val="222222"/>
                </a:solidFill>
              </a:rPr>
              <a:t>•  비용 모니터링: [OpenAI API] → [사용량 데이터 추출] → [Streamlit 대시보드 시각화]. [출처: 16, 161]</a:t>
            </a:r>
          </a:p>
          <a:p>
            <a:pPr>
              <a:spcBef>
                <a:spcPts val="600"/>
              </a:spcBef>
            </a:pPr>
            <a:r>
              <a:rPr sz="1300" b="1">
                <a:solidFill>
                  <a:srgbClr val="2E5984"/>
                </a:solidFill>
              </a:rPr>
              <a:t>3. 소스코드 (Source Code): 효율적 로그 관리 및 토큰 사용량 기록 [출처: 74, 139, 141]</a:t>
            </a:r>
          </a:p>
          <a:p>
            <a:r>
              <a:rPr sz="1100">
                <a:solidFill>
                  <a:srgbClr val="222222"/>
                </a:solidFill>
              </a:rPr>
              <a:t>•  핵심 구현: 로깅 프레임워크와 토큰 카운팅 연동 예시입니다.</a:t>
            </a:r>
          </a:p>
          <a:p>
            <a:pPr>
              <a:spcBef>
                <a:spcPts val="600"/>
              </a:spcBef>
            </a:pPr>
            <a:r>
              <a:rPr sz="1300" b="1">
                <a:solidFill>
                  <a:srgbClr val="2E5984"/>
                </a:solidFill>
              </a:rPr>
              <a:t>4. 실습 (Practice): Uptime Kuma 설치 및 장애 대응 시뮬레이션 [출처: 139, 171]</a:t>
            </a:r>
          </a:p>
          <a:p>
            <a:r>
              <a:rPr sz="1100">
                <a:solidFill>
                  <a:srgbClr val="222222"/>
                </a:solidFill>
              </a:rPr>
              <a:t>•  과제 1: Docker를 사용하여 Uptime Kuma를 실행하고, 본인의 FastAPI 서버(/health)와 텔레그램 봇을 모니터링 타겟으로 등록하십시오. [출처: 139, 160]</a:t>
            </a:r>
          </a:p>
          <a:p>
            <a:r>
              <a:rPr sz="1100">
                <a:solidFill>
                  <a:srgbClr val="222222"/>
                </a:solidFill>
              </a:rPr>
              <a:t>•  과제 2: 고의적으로 API 서버를 중단(systemctl stop)시킨 후, 1분 이내에 본인의 텔레그램으로 장애 알림(Down Alert)이 오는지 확인하십시오. [출처: 167, 171]</a:t>
            </a:r>
          </a:p>
          <a:p>
            <a:pPr>
              <a:spcBef>
                <a:spcPts val="600"/>
              </a:spcBef>
            </a:pPr>
            <a:r>
              <a:rPr sz="1300" b="1">
                <a:solidFill>
                  <a:srgbClr val="2E5984"/>
                </a:solidFill>
              </a:rPr>
              <a:t>5. 확장 (Expansion): 동적 모델 라우팅 및 자가 치유(Self-healing) 인프라</a:t>
            </a:r>
          </a:p>
          <a:p>
            <a:r>
              <a:rPr sz="1100">
                <a:solidFill>
                  <a:srgbClr val="222222"/>
                </a:solidFill>
              </a:rPr>
              <a:t>•  고도화 전략: 단순 종목 조회는 저렴한 GPT-4o-mini로 처리하고, 복잡한 리스크 판정은 GPT-4o로 넘기는 모델 라우팅(Model Routing)을 통해 비용을 70% 이상 절감합니다. [출처: 76, 182]</a:t>
            </a:r>
          </a:p>
          <a:p>
            <a:r>
              <a:rPr sz="1100">
                <a:solidFill>
                  <a:srgbClr val="222222"/>
                </a:solidFill>
              </a:rPr>
              <a:t>•  기술적 비전: 213번 슬라이드의 systemd Restart=always와 결합하여, 모니터링 시스템이 장애를 감지하면 인프라가 스스로 서비스를 재시작하고 로그를 분석하여 리포트를 제출하는 완전 자율형 운영 체계를 완성합니다. [출처: 166, 187, 191]</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232  ·  191/216</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E</a:t>
            </a:r>
          </a:p>
          <a:p>
            <a:r>
              <a:rPr sz="1900" b="1">
                <a:solidFill>
                  <a:srgbClr val="FFFFFF"/>
                </a:solidFill>
              </a:rPr>
              <a:t>[192] 실시간 이벤트 드리븐 알림 및 푸시 인프라 구축</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"기다리는 분석"에서 "찾아오는 기회"로의 패러다임 전환</a:t>
            </a:r>
          </a:p>
          <a:p>
            <a:r>
              <a:rPr sz="1100">
                <a:solidFill>
                  <a:srgbClr val="222222"/>
                </a:solidFill>
              </a:rPr>
              <a:t>•  정의: 사용자가 종목을 입력하기 전, 시스템이 24시간 시장 데이터를 감시하며 특정 가격 돌파, 수급 급변, 뉴스 감성 악화 등 '이벤트(Event)' 발생 시 즉각적으로 분석을 수행하고 푸시 알림을 보내는 기술입니다. [출처: 136, 172]</a:t>
            </a:r>
          </a:p>
          <a:p>
            <a:r>
              <a:rPr sz="1100">
                <a:solidFill>
                  <a:srgbClr val="222222"/>
                </a:solidFill>
              </a:rPr>
              <a:t>•  핵심 가치: 정보의 과잉 속에서 아키텍트는 사용자가 꼭 알아야 할 '결정적 순간'만을 선별하여 배달함으로써 의사결정의 속도와 정확도를 비약적으로 높입니다. [출처: 64, 101]</a:t>
            </a:r>
          </a:p>
          <a:p>
            <a:pPr>
              <a:spcBef>
                <a:spcPts val="600"/>
              </a:spcBef>
            </a:pPr>
            <a:r>
              <a:rPr sz="1300" b="1">
                <a:solidFill>
                  <a:srgbClr val="2E5984"/>
                </a:solidFill>
              </a:rPr>
              <a:t>2. 아키텍처 (Architecture): 초저지연 이벤트 처리 및 알림 파이프라인 [출처: 136, 162, 172]</a:t>
            </a:r>
          </a:p>
          <a:p>
            <a:r>
              <a:rPr sz="1100">
                <a:solidFill>
                  <a:srgbClr val="222222"/>
                </a:solidFill>
              </a:rPr>
              <a:t>•  구조:</a:t>
            </a:r>
          </a:p>
          <a:p>
            <a:r>
              <a:rPr sz="1100">
                <a:solidFill>
                  <a:srgbClr val="222222"/>
                </a:solidFill>
              </a:rPr>
              <a:t>•  데이터 스트림: 코스콤 실시간 시세 및 수급 데이터 지속 수신. [출처: 148]</a:t>
            </a:r>
          </a:p>
          <a:p>
            <a:r>
              <a:rPr sz="1100">
                <a:solidFill>
                  <a:srgbClr val="222222"/>
                </a:solidFill>
              </a:rPr>
              <a:t>•  이벤트 엔진(Trigger): 사전에 정의된 알고리즘(예: 5% 이상 급등, 외국인 대량 매수)으로 이벤트 필터링. [출처: 152, 172]</a:t>
            </a:r>
          </a:p>
          <a:p>
            <a:r>
              <a:rPr sz="1100">
                <a:solidFill>
                  <a:srgbClr val="222222"/>
                </a:solidFill>
              </a:rPr>
              <a:t>•  에이전트 컨텍스트: 이벤트 발생 종목에 대해 GPT 에이전트가 즉시 브리프 생성. [출처: 155, 183]</a:t>
            </a:r>
          </a:p>
          <a:p>
            <a:r>
              <a:rPr sz="1100">
                <a:solidFill>
                  <a:srgbClr val="222222"/>
                </a:solidFill>
              </a:rPr>
              <a:t>•  멀티채널 푸시: 텔레그램 봇 API를 통해 상세 내용 및 PDF 리포트 링크 전송. [출처: 162, 163]</a:t>
            </a:r>
          </a:p>
          <a:p>
            <a:pPr>
              <a:spcBef>
                <a:spcPts val="600"/>
              </a:spcBef>
            </a:pPr>
            <a:r>
              <a:rPr sz="1300" b="1">
                <a:solidFill>
                  <a:srgbClr val="2E5984"/>
                </a:solidFill>
              </a:rPr>
              <a:t>3. 소스코드 (Source Code): 실시간 모니터링 및 푸시 알림 로직 [출처: 162, 163, 172]</a:t>
            </a:r>
          </a:p>
          <a:p>
            <a:r>
              <a:rPr sz="1100">
                <a:solidFill>
                  <a:srgbClr val="222222"/>
                </a:solidFill>
              </a:rPr>
              <a:t>•  핵심 구현: 데이터 변화를 감시하고 조건 충족 시 알림을 보내는 push_engine.py 예시입니다.</a:t>
            </a:r>
          </a:p>
          <a:p>
            <a:pPr>
              <a:spcBef>
                <a:spcPts val="600"/>
              </a:spcBef>
            </a:pPr>
            <a:r>
              <a:rPr sz="1300" b="1">
                <a:solidFill>
                  <a:srgbClr val="2E5984"/>
                </a:solidFill>
              </a:rPr>
              <a:t>4. 실습 (Practice): '수급 급변' 알림 필터 구축 및 텔레그램 수신 테스트</a:t>
            </a:r>
          </a:p>
          <a:p>
            <a:r>
              <a:rPr sz="1100">
                <a:solidFill>
                  <a:srgbClr val="222222"/>
                </a:solidFill>
              </a:rPr>
              <a:t>•  과제 1: 152번 슬라이드의 수급 분석 로직을 응용하여, '외국인 50억 이상 순매수' 발생 시 텔레그램으로 즉시 알림이 오도록 push_engine.py에 조건을 추가하십시오. [출처: 152, 172]</a:t>
            </a:r>
          </a:p>
          <a:p>
            <a:r>
              <a:rPr sz="1100">
                <a:solidFill>
                  <a:srgbClr val="222222"/>
                </a:solidFill>
              </a:rPr>
              <a:t>•  과제 2: 샘플 데이터를 주입하여 알림 메시지 하단에 해당 종목의 '즉시 분석 리포트' 버튼(FastAPI URL 연동)이 정상적으로 포함되는지 확인하십시오. [출처: 161, 170]</a:t>
            </a:r>
          </a:p>
          <a:p>
            <a:pPr>
              <a:spcBef>
                <a:spcPts val="600"/>
              </a:spcBef>
            </a:pPr>
            <a:r>
              <a:rPr sz="1300" b="1">
                <a:solidFill>
                  <a:srgbClr val="2E5984"/>
                </a:solidFill>
              </a:rPr>
              <a:t>5. 확장 (Expansion): 'AI 관제 센터' 및 초개인화 맞춤형 알림 서비스</a:t>
            </a:r>
          </a:p>
          <a:p>
            <a:r>
              <a:rPr sz="1100">
                <a:solidFill>
                  <a:srgbClr val="222222"/>
                </a:solidFill>
              </a:rPr>
              <a:t>•  고도화 전략: 사용자의 포트폴리오(233번 슬라이드)와 연동하여, 보유 종목에 영향을 줄 수 있는 뉴스나 거시 지표의 변화만을 골라 알려주는 '초개인화 비서' 기능으로 확장합니다. [출처: 156, 172, 233]</a:t>
            </a:r>
          </a:p>
          <a:p>
            <a:r>
              <a:rPr sz="1100">
                <a:solidFill>
                  <a:srgbClr val="222222"/>
                </a:solidFill>
              </a:rPr>
              <a:t>•  기술적 비전: 230번 슬라이드의 엔터프라이즈 플랫폼 환경에서 수만 개의 이벤트를 병렬 처리하는 '자율형 금융 관제 시스템(AI Financial NOC)'으로 진화시켜, 24시간 중단 없는 투자 기회 탐지망을 완성합니다. [출처: 16, 79, 230]</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235  ·  192/216</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E</a:t>
            </a:r>
          </a:p>
          <a:p>
            <a:r>
              <a:rPr sz="1900" b="1">
                <a:solidFill>
                  <a:srgbClr val="FFFFFF"/>
                </a:solidFill>
              </a:rPr>
              <a:t>[193] AI 금융 서비스 CI/CD - GitHub Actions 자동화 배포</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멈추지 않는 AI 서비스를 위한 '지속적 혁신' 인프라</a:t>
            </a:r>
          </a:p>
          <a:p>
            <a:r>
              <a:rPr sz="1100">
                <a:solidFill>
                  <a:srgbClr val="222222"/>
                </a:solidFill>
              </a:rPr>
              <a:t>•  정의: 개발자가 소스코드를 수정하여 GitHub에 올리면(Push), 시스템이 자동으로 테스트를 수행하고 서버(Docker)에 최신 버전을 배포하는 자동화된 개발 공정입니다. [출처: 71, 75]</a:t>
            </a:r>
          </a:p>
          <a:p>
            <a:r>
              <a:rPr sz="1100">
                <a:solidFill>
                  <a:srgbClr val="222222"/>
                </a:solidFill>
              </a:rPr>
              <a:t>•  핵심 가치: 16시간 동안 구축한 KOStockCrewAI의 분석 로직(프롬프트, 지표 등)을 수정할 때마다 서버에 수동으로 접속할 필요 없이, 단 한 번의 명령으로 무중단 업데이트를 실현하여 운영 효율성을 극대화합니다. [출처: 71, 136]</a:t>
            </a:r>
          </a:p>
          <a:p>
            <a:pPr>
              <a:spcBef>
                <a:spcPts val="600"/>
              </a:spcBef>
            </a:pPr>
            <a:r>
              <a:rPr sz="1300" b="1">
                <a:solidFill>
                  <a:srgbClr val="2E5984"/>
                </a:solidFill>
              </a:rPr>
              <a:t>2. 아키텍처 (Architecture): GitHub Actions 기반의 배포 파이프라인 [출처: 75, 139, 165]</a:t>
            </a:r>
          </a:p>
          <a:p>
            <a:r>
              <a:rPr sz="1100">
                <a:solidFill>
                  <a:srgbClr val="222222"/>
                </a:solidFill>
              </a:rPr>
              <a:t>•  통합 워크플로우:</a:t>
            </a:r>
          </a:p>
          <a:p>
            <a:r>
              <a:rPr sz="1100">
                <a:solidFill>
                  <a:srgbClr val="222222"/>
                </a:solidFill>
              </a:rPr>
              <a:t>•  Code Commit: VS Code에서 수정된 분석 로직을 GitHub Repository로 전송. [출처: 74, 139]</a:t>
            </a:r>
          </a:p>
          <a:p>
            <a:r>
              <a:rPr sz="1100">
                <a:solidFill>
                  <a:srgbClr val="222222"/>
                </a:solidFill>
              </a:rPr>
              <a:t>•  Build &amp; Test: GitHub Actions 서버가 Docker 이미지를 빌드하고 유닛 테스트 실행. [출처: 75, 165, 190]</a:t>
            </a:r>
          </a:p>
          <a:p>
            <a:r>
              <a:rPr sz="1100">
                <a:solidFill>
                  <a:srgbClr val="222222"/>
                </a:solidFill>
              </a:rPr>
              <a:t>•  Deployment: 빌드가 성공하면 SSH를 통해 상용 서버(Ubuntu VPS)에 접속하여 컨테이너 갱신. [출처: 139, 165]</a:t>
            </a:r>
          </a:p>
          <a:p>
            <a:r>
              <a:rPr sz="1100">
                <a:solidFill>
                  <a:srgbClr val="222222"/>
                </a:solidFill>
              </a:rPr>
              <a:t>•  Notification: 배포 성공/실패 여부를 텔레그램으로 아키텍트에게 즉시 알림. [출처: 162]</a:t>
            </a:r>
          </a:p>
          <a:p>
            <a:pPr>
              <a:spcBef>
                <a:spcPts val="600"/>
              </a:spcBef>
            </a:pPr>
            <a:r>
              <a:rPr sz="1300" b="1">
                <a:solidFill>
                  <a:srgbClr val="2E5984"/>
                </a:solidFill>
              </a:rPr>
              <a:t>3. 구현 명세 (Source Code): .github/workflows/deploy.yml 설정 [출처: 139, 165, 175]</a:t>
            </a:r>
          </a:p>
          <a:p>
            <a:r>
              <a:rPr sz="1100">
                <a:solidFill>
                  <a:srgbClr val="222222"/>
                </a:solidFill>
              </a:rPr>
              <a:t>•  핵심 구현: 자동 배포를 제어하는 YAML 설정 파일의 구조입니다. [출처: 165]</a:t>
            </a:r>
          </a:p>
          <a:p>
            <a:pPr>
              <a:spcBef>
                <a:spcPts val="600"/>
              </a:spcBef>
            </a:pPr>
            <a:r>
              <a:rPr sz="1300" b="1">
                <a:solidFill>
                  <a:srgbClr val="2E5984"/>
                </a:solidFill>
              </a:rPr>
              <a:t>4. 실습 (Practice): '분석 루브릭' 수정 후 자동 배포 및 결과 확인 [출처: 75, 139, 218]</a:t>
            </a:r>
          </a:p>
          <a:p>
            <a:r>
              <a:rPr sz="1100">
                <a:solidFill>
                  <a:srgbClr val="222222"/>
                </a:solidFill>
              </a:rPr>
              <a:t>•  과제 1: 218번 슬라이드의 분석 루브릭(ROE 가중치 등)을 소스코드 상에서 수정한 뒤, GitHub에 git push 명령을 내려 배포 파이프라인이 자동으로 가동되는지 확인하십시오. [출처: 74, 139, 218]</a:t>
            </a:r>
          </a:p>
          <a:p>
            <a:r>
              <a:rPr sz="1100">
                <a:solidFill>
                  <a:srgbClr val="222222"/>
                </a:solidFill>
              </a:rPr>
              <a:t>•  과제 2: 배포 완료 후 Streamlit 화면 하단의 '버전 정보'가 자동으로 업데이트되었는지 확인하고, 텔레그램으로 배포 성공 메시지가 수신되는지 점검하십시오. [출처: 161, 162, 171]</a:t>
            </a:r>
          </a:p>
          <a:p>
            <a:pPr>
              <a:spcBef>
                <a:spcPts val="600"/>
              </a:spcBef>
            </a:pPr>
            <a:r>
              <a:rPr sz="1300" b="1">
                <a:solidFill>
                  <a:srgbClr val="2E5984"/>
                </a:solidFill>
              </a:rPr>
              <a:t>5. 확장 (Expansion): 'MLOps'로의 진화 및 자율형 AI 인프라 완성 [출처: 67, 79, 191]</a:t>
            </a:r>
          </a:p>
          <a:p>
            <a:r>
              <a:rPr sz="1100">
                <a:solidFill>
                  <a:srgbClr val="222222"/>
                </a:solidFill>
              </a:rPr>
              <a:t>•  고도화 전략: 코드뿐만 아니라 AI 모델이나 RAG 데이터셋(238번 슬라이드)이 업데이트될 때마다 자동으로 성능을 평가(229번 슬라이드)하고 배포를 결정하는 MLOps(Machine Learning Operations) 체계로 확장합니다. [출처: 67, 229]</a:t>
            </a:r>
          </a:p>
          <a:p>
            <a:r>
              <a:rPr sz="1100">
                <a:solidFill>
                  <a:srgbClr val="222222"/>
                </a:solidFill>
              </a:rPr>
              <a:t>•  기술적 비전: 이를 통해 230번 슬라이드에서 배운 엔터프라이즈 플랫폼은 단순한 시스템 운영을 넘어, 시장 변화에 맞춰 스스로를 개선하고 배포하는 '자율 진화형 금융 지능 인프라'로 거듭나며 교육의 모든 기술적 대미를 장식합니다. [출처: 79, 230]</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239  ·  193/216</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73152"/>
          </a:xfrm>
          <a:prstGeom prst="rect">
            <a:avLst/>
          </a:prstGeom>
          <a:solidFill>
            <a:srgbClr val="6E8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834640"/>
            <a:ext cx="10515600" cy="1463040"/>
          </a:xfrm>
          <a:prstGeom prst="rect">
            <a:avLst/>
          </a:prstGeom>
          <a:noFill/>
        </p:spPr>
        <p:txBody>
          <a:bodyPr wrap="square">
            <a:spAutoFit/>
          </a:bodyPr>
          <a:lstStyle/>
          <a:p>
            <a:r>
              <a:rPr sz="1600">
                <a:solidFill>
                  <a:srgbClr val="9FB4F5"/>
                </a:solidFill>
              </a:rPr>
              <a:t>[수료후·심화]</a:t>
            </a:r>
          </a:p>
          <a:p>
            <a:r>
              <a:rPr sz="2800" b="1">
                <a:solidFill>
                  <a:srgbClr val="FFFFFF"/>
                </a:solidFill>
              </a:rPr>
              <a:t>트랙 F — 고도화 &amp; 사업화 (Advanced &amp; Business)</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F</a:t>
            </a:r>
          </a:p>
          <a:p>
            <a:r>
              <a:rPr sz="1900" b="1">
                <a:solidFill>
                  <a:srgbClr val="FFFFFF"/>
                </a:solidFill>
              </a:rPr>
              <a:t>[194] 서비스 고도화 및 사업화 전략 - AI 금융 아키텍트의 실무 로드맵</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기술적 MVP에서 '비즈니스 자산'으로의 전환</a:t>
            </a:r>
          </a:p>
          <a:p>
            <a:r>
              <a:rPr sz="1100">
                <a:solidFill>
                  <a:srgbClr val="222222"/>
                </a:solidFill>
              </a:rPr>
              <a:t>•  정의: 16시간 동안 구축한 개별 모듈들을 유기적으로 통합하여, 실제 매출을 일으키거나 운영 비용을 획기적으로 절감할 수 있는 지능형 금융 솔루션으로 진화시키는 전략입니다. [출처: 64, 101]</a:t>
            </a:r>
          </a:p>
          <a:p>
            <a:r>
              <a:rPr sz="1100">
                <a:solidFill>
                  <a:srgbClr val="222222"/>
                </a:solidFill>
              </a:rPr>
              <a:t>•  핵심 가치: 단순한 코드의 집합이 아니라, 시장의 문제를 해결하고 사용자에게 독보적인 인사이트를 제공하는 'AI 금융 아키텍처'의 비즈니스 모델화를 지향합니다. [출처: 67, 100]</a:t>
            </a:r>
          </a:p>
          <a:p>
            <a:pPr>
              <a:spcBef>
                <a:spcPts val="600"/>
              </a:spcBef>
            </a:pPr>
            <a:r>
              <a:rPr sz="1300" b="1">
                <a:solidFill>
                  <a:srgbClr val="2E5984"/>
                </a:solidFill>
              </a:rPr>
              <a:t>2. 아키텍처: 지능형 리서치 파이프라인의 수평적 확장 [출처: 136, 172]</a:t>
            </a:r>
          </a:p>
          <a:p>
            <a:r>
              <a:rPr sz="1100">
                <a:solidFill>
                  <a:srgbClr val="222222"/>
                </a:solidFill>
              </a:rPr>
              <a:t>•  확장 구조: [단일 종목 분석] → [전체 상장종목 전수 조사] → [리스크 종목 자동 탐지] → [실시간 텔레그램 얼럿].</a:t>
            </a:r>
          </a:p>
          <a:p>
            <a:r>
              <a:rPr sz="1100">
                <a:solidFill>
                  <a:srgbClr val="222222"/>
                </a:solidFill>
              </a:rPr>
              <a:t>•  데이터 자산화: 수집된 재무, 시세, 수급, 뉴스 데이터를 통합 온톨로지(Ontology) 기반의 데이터 레이크로 관리하여, 156번 슬라이드에서 배운 RAG 검색의 품질을 비약적으로 향상시킵니다. [출처: 168, 172]</a:t>
            </a:r>
          </a:p>
          <a:p>
            <a:pPr>
              <a:spcBef>
                <a:spcPts val="600"/>
              </a:spcBef>
            </a:pPr>
            <a:r>
              <a:rPr sz="1300" b="1">
                <a:solidFill>
                  <a:srgbClr val="2E5984"/>
                </a:solidFill>
              </a:rPr>
              <a:t>3. 고도화 10대 과제: 실무형 서비스 진화 리스트 [출처: 172]</a:t>
            </a:r>
          </a:p>
          <a:p>
            <a:r>
              <a:rPr sz="1100">
                <a:solidFill>
                  <a:srgbClr val="222222"/>
                </a:solidFill>
              </a:rPr>
              <a:t>•  전 종목 일괄 분석: 시가총액 상위 종목뿐만 아니라 전 종목에 대한 자동 스코어링 시스템 구축.</a:t>
            </a:r>
          </a:p>
          <a:p>
            <a:r>
              <a:rPr sz="1100">
                <a:solidFill>
                  <a:srgbClr val="222222"/>
                </a:solidFill>
              </a:rPr>
              <a:t>•  리스크 자동 탐지: 급변동주, 상장폐지 위험, 횡령/배임 등 특이 공시 발생 시 즉각 대응.</a:t>
            </a:r>
          </a:p>
          <a:p>
            <a:r>
              <a:rPr sz="1100">
                <a:solidFill>
                  <a:srgbClr val="222222"/>
                </a:solidFill>
              </a:rPr>
              <a:t>•  수급 에너지 분석: 외국인과 기관의 동반 순매수 국면에 진입한 종목을 실시간으로 포착.</a:t>
            </a:r>
          </a:p>
          <a:p>
            <a:r>
              <a:rPr sz="1100">
                <a:solidFill>
                  <a:srgbClr val="222222"/>
                </a:solidFill>
              </a:rPr>
              <a:t>•  추세 전환 탐지: 이동평균선 정배열 전환 등 기술적 변곡점에 도달한 종목 검색 엔진.</a:t>
            </a:r>
          </a:p>
          <a:p>
            <a:r>
              <a:rPr sz="1100">
                <a:solidFill>
                  <a:srgbClr val="222222"/>
                </a:solidFill>
              </a:rPr>
              <a:t>•  섹터/테마 확장: ETF 및 테마주 그룹별 통합 리스크 및 기대 수익률 분석.</a:t>
            </a:r>
          </a:p>
          <a:p>
            <a:r>
              <a:rPr sz="1100">
                <a:solidFill>
                  <a:srgbClr val="222222"/>
                </a:solidFill>
              </a:rPr>
              <a:t>•  포트폴리오 분석: 개별 종목을 넘어 사용자 포트폴리오 전체의 상관관계 및 위험도 측정.</a:t>
            </a:r>
          </a:p>
          <a:p>
            <a:r>
              <a:rPr sz="1100">
                <a:solidFill>
                  <a:srgbClr val="222222"/>
                </a:solidFill>
              </a:rPr>
              <a:t>•  VaR 기반 손실 관리: 시장 폭락 시 발생 가능한 최대 손실액(Value at Risk) 자동 계산.</a:t>
            </a:r>
          </a:p>
          <a:p>
            <a:r>
              <a:rPr sz="1100">
                <a:solidFill>
                  <a:srgbClr val="222222"/>
                </a:solidFill>
              </a:rPr>
              <a:t>•  뉴스 RAG 고도화: 과거 유사 사례 검색을 통한 '이벤트 메모리' 기반의 정밀 분석.</a:t>
            </a:r>
          </a:p>
          <a:p>
            <a:r>
              <a:rPr sz="1100">
                <a:solidFill>
                  <a:srgbClr val="222222"/>
                </a:solidFill>
              </a:rPr>
              <a:t>•  실시간 모바일 알림: Telegram/Slack API를 통한 타임 크리티컬(Time-critical) 정보 배포.</a:t>
            </a:r>
          </a:p>
          <a:p>
            <a:r>
              <a:rPr sz="1100">
                <a:solidFill>
                  <a:srgbClr val="222222"/>
                </a:solidFill>
              </a:rPr>
              <a:t>•  고객용 자동 리포팅: 분석 결과를 PDF로 생성하여 이메일이나 메신저로 자동 발송하는 서비스.</a:t>
            </a:r>
          </a:p>
          <a:p>
            <a:pPr>
              <a:spcBef>
                <a:spcPts val="600"/>
              </a:spcBef>
            </a:pPr>
            <a:r>
              <a:rPr sz="1300" b="1">
                <a:solidFill>
                  <a:srgbClr val="2E5984"/>
                </a:solidFill>
              </a:rPr>
              <a:t>4. 실습 (Practice): 나만의 차별화된 '킬러 피처(Killer Feature)' 설계</a:t>
            </a:r>
          </a:p>
          <a:p>
            <a:r>
              <a:rPr sz="1100">
                <a:solidFill>
                  <a:srgbClr val="222222"/>
                </a:solidFill>
              </a:rPr>
              <a:t>•  과제: 위 10대 과제 중 본인의 비즈니스 현장에서 가장 필요한 3가지 핵심 기능을 선정하고, 173번 슬라이드의 체크리스트를 활용하여 실제 구현을 위한 기술 부채(Tech Debt) 해결 계획을 수립하십시오. [출처: 171, 173]</a:t>
            </a:r>
          </a:p>
          <a:p>
            <a:r>
              <a:rPr sz="1100">
                <a:solidFill>
                  <a:srgbClr val="222222"/>
                </a:solidFill>
              </a:rPr>
              <a:t>•  성공 지표: "이 기능이 추가되었을 때 실제 사용자의 체류 시간이나 서비스 구독률이 얼마나 상승할 것인가?"를 정량적으로 예측해 봅니다. [출처: 173, 191]</a:t>
            </a:r>
          </a:p>
          <a:p>
            <a:pPr>
              <a:spcBef>
                <a:spcPts val="600"/>
              </a:spcBef>
            </a:pPr>
            <a:r>
              <a:rPr sz="1300" b="1">
                <a:solidFill>
                  <a:srgbClr val="2E5984"/>
                </a:solidFill>
              </a:rPr>
              <a:t>5. 확장 (Expansion): 초개인화 AI 자산관리(Wealth Management) 시대로</a:t>
            </a:r>
          </a:p>
          <a:p>
            <a:r>
              <a:rPr sz="1100">
                <a:solidFill>
                  <a:srgbClr val="222222"/>
                </a:solidFill>
              </a:rPr>
              <a:t>•  고도화 전략: 사용자의 투자 성향과 과거 피드백 데이터를 결합하여, 각 개인에게 최적화된 '초개인화 AI 투자 비서'로 도약합니다. [출처: 76, 173]</a:t>
            </a:r>
          </a:p>
          <a:p>
            <a:r>
              <a:rPr sz="1100">
                <a:solidFill>
                  <a:srgbClr val="222222"/>
                </a:solidFill>
              </a:rPr>
              <a:t>•  기술적 비전: 199번 슬라이드에서 배운 CrewAI 기반 멀티 에이전트들이 각각의 킬러 피처를 전문적으로 수행하는 'AI 워크포스(Workforce)'를 완성하여 인간 아키텍트의 생산성을 수백 배 이상 증폭시킵니다. [출처: 79, 199]</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214  ·  194/216</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F</a:t>
            </a:r>
          </a:p>
          <a:p>
            <a:r>
              <a:rPr sz="1900" b="1">
                <a:solidFill>
                  <a:srgbClr val="FFFFFF"/>
                </a:solidFill>
              </a:rPr>
              <a:t>[195] 나만의 AI 금융 비서 고도화 - 킬러 피처 구현 및 포트폴리오 자산화</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튜토리얼을 넘어 '나만의 차별화된 비즈니스 논리' 구축</a:t>
            </a:r>
          </a:p>
          <a:p>
            <a:r>
              <a:rPr sz="1100">
                <a:solidFill>
                  <a:srgbClr val="222222"/>
                </a:solidFill>
              </a:rPr>
              <a:t>•  정의: 214번 슬라이드에서 제시된 10대 고도화 과제 중 하나를 선택하여, 기존의 범용적인 분석이 아닌 특정 투자 스타일(예: 퀀트, 가치투자, 단기 스윙)에 특화된 기능을 깊이 있게 구현하는 과정입니다. [출처: 64, 172]</a:t>
            </a:r>
          </a:p>
          <a:p>
            <a:r>
              <a:rPr sz="1100">
                <a:solidFill>
                  <a:srgbClr val="222222"/>
                </a:solidFill>
              </a:rPr>
              <a:t>•  핵심 가치: 기술적 구현 능력은 상향 평준화되었으므로, 아키텍트의 도메인 지식(금융 철학)을 프롬프트와 알고리즘에 얼마나 정교하게 녹여내느냐가 서비스의 시장 가치를 결정합니다. [출처: 63, 100]</a:t>
            </a:r>
          </a:p>
          <a:p>
            <a:pPr>
              <a:spcBef>
                <a:spcPts val="600"/>
              </a:spcBef>
            </a:pPr>
            <a:r>
              <a:rPr sz="1300" b="1">
                <a:solidFill>
                  <a:srgbClr val="2E5984"/>
                </a:solidFill>
              </a:rPr>
              <a:t>2. 아키텍처 (Architecture): 이벤트 기반 '킬러 피처' 탐지 및 알림 구조 [출처: 136, 172]</a:t>
            </a:r>
          </a:p>
          <a:p>
            <a:r>
              <a:rPr sz="1100">
                <a:solidFill>
                  <a:srgbClr val="222222"/>
                </a:solidFill>
              </a:rPr>
              <a:t>•  확장 구조: [전 종목 스캐너] → [조건 필터링(예: 골든크로스 + 외인매수)] → [AI 심층 분석 에이전트] → [실시간 텔레그램 푸시].</a:t>
            </a:r>
          </a:p>
          <a:p>
            <a:r>
              <a:rPr sz="1100">
                <a:solidFill>
                  <a:srgbClr val="222222"/>
                </a:solidFill>
              </a:rPr>
              <a:t>•  데이터 파이프라인: 144번 슬라이드의 analysis_scores 테이블을 기반으로, 특정 점수 이상의 종목이나 급격한 점수 변화(Score Momentum)가 발생하는 종목을 실시간으로 추출하여 대시보드 상단에 배치합니다. [출처: 144, 161]</a:t>
            </a:r>
          </a:p>
          <a:p>
            <a:pPr>
              <a:spcBef>
                <a:spcPts val="600"/>
              </a:spcBef>
            </a:pPr>
            <a:r>
              <a:rPr sz="1300" b="1">
                <a:solidFill>
                  <a:srgbClr val="2E5984"/>
                </a:solidFill>
              </a:rPr>
              <a:t>3. 소스코드 (Source Code): '추세 전환(Golden Cross) 탐지' 엔진 예시 [출처: 150, 181]</a:t>
            </a:r>
          </a:p>
          <a:p>
            <a:r>
              <a:rPr sz="1100">
                <a:solidFill>
                  <a:srgbClr val="222222"/>
                </a:solidFill>
              </a:rPr>
              <a:t>•  핵심 구현: 기술적 지표를 조합하여 유의미한 매수 신호를 포착하는 로직입니다.</a:t>
            </a:r>
          </a:p>
          <a:p>
            <a:pPr>
              <a:spcBef>
                <a:spcPts val="600"/>
              </a:spcBef>
            </a:pPr>
            <a:r>
              <a:rPr sz="1300" b="1">
                <a:solidFill>
                  <a:srgbClr val="2E5984"/>
                </a:solidFill>
              </a:rPr>
              <a:t>4. 실습 (Practice): '10대 고도화 과제' 중 하나를 선택한 MVP 업그레이드</a:t>
            </a:r>
          </a:p>
          <a:p>
            <a:r>
              <a:rPr sz="1100">
                <a:solidFill>
                  <a:srgbClr val="222222"/>
                </a:solidFill>
              </a:rPr>
              <a:t>•  과제 1: 172번 슬라이드의 리스트 중 '외국인·기관 동반 순매수 종목 탐지' 기능을 선택하여, main_scheduler.py 실행 시 해당 조건에 맞는 종목들만 모아 별도의 텔레그램 리포트를 발송하도록 코드를 수정하십시오. [출처: 164, 172]</a:t>
            </a:r>
          </a:p>
          <a:p>
            <a:r>
              <a:rPr sz="1100">
                <a:solidFill>
                  <a:srgbClr val="222222"/>
                </a:solidFill>
              </a:rPr>
              <a:t>•  과제 2: 본인이 직접 설계한 분석 루브릭(218번 슬라이드 참고)을 적용하여, 특정 섹터(예: 반도체)에만 최적화된 '섹터 특화 스코어링 모드'를 구현하고 리포트에 반영하십시오. [출처: 154, 218]</a:t>
            </a:r>
          </a:p>
          <a:p>
            <a:pPr>
              <a:spcBef>
                <a:spcPts val="600"/>
              </a:spcBef>
            </a:pPr>
            <a:r>
              <a:rPr sz="1300" b="1">
                <a:solidFill>
                  <a:srgbClr val="2E5984"/>
                </a:solidFill>
              </a:rPr>
              <a:t>5. 확장 (Expansion): 전문 AI 아키텍트 포트폴리오 및 브랜드 자산화 [출처: 100, 173]</a:t>
            </a:r>
          </a:p>
          <a:p>
            <a:r>
              <a:rPr sz="1100">
                <a:solidFill>
                  <a:srgbClr val="222222"/>
                </a:solidFill>
              </a:rPr>
              <a:t>•  고도화 전략: 단순히 코드를 실행하는 것에 그치지 않고, 구축한 시스템의 아키텍처 다이어그램과 분석 샘플을 GitHub와 개인 블로그에 기록하여 'AI 금융 아키텍트'로서의 전문성을 브랜딩합니다. [출처: 139, 173]</a:t>
            </a:r>
          </a:p>
          <a:p>
            <a:r>
              <a:rPr sz="1100">
                <a:solidFill>
                  <a:srgbClr val="222222"/>
                </a:solidFill>
              </a:rPr>
              <a:t>•  기술적 비전: 199번 슬라이드의 CrewAI를 활용해 이 킬러 피처들을 각각 수행하는 전문 에이전트 군단을 구축함으로써, 인간의 개입이 최소화된 '1인 AI 헤지펀드' 수준의 인프라로 지속 진화시켜 나갑니다. [출처: 79, 199]</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223  ·  195/216</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F</a:t>
            </a:r>
          </a:p>
          <a:p>
            <a:r>
              <a:rPr sz="1900" b="1">
                <a:solidFill>
                  <a:srgbClr val="FFFFFF"/>
                </a:solidFill>
              </a:rPr>
              <a:t>[196] AI 금융 아키텍트 캡스톤 - 최종 피칭 및 고도화 로드맵</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기술적 구현을 넘어 '비즈니스 가치'를 증명하는 피칭</a:t>
            </a:r>
          </a:p>
          <a:p>
            <a:r>
              <a:rPr sz="1100">
                <a:solidFill>
                  <a:srgbClr val="222222"/>
                </a:solidFill>
              </a:rPr>
              <a:t>•  정의: 16시간 동안 구축한 KOStockCrewAI MVP의 핵심 기능과 차별성을 요약하여, 투자자나 의사결정자에게 서비스의 효용성을 설득력 있게 전달하는 최종 발표 단계입니다. [출처: 67, 101, 173]</a:t>
            </a:r>
          </a:p>
          <a:p>
            <a:r>
              <a:rPr sz="1100">
                <a:solidFill>
                  <a:srgbClr val="222222"/>
                </a:solidFill>
              </a:rPr>
              <a:t>•  핵심 가치: 아키텍트는 코드를 설명하는 사람이 아니라, "이 시스템이 시장의 어떤 문제를 해결하고 어떤 수익을 창출하는가"를 데이터로 입증하는 전략가가 되어야 합니다. [출처: 64, 100, 101]</a:t>
            </a:r>
          </a:p>
          <a:p>
            <a:pPr>
              <a:spcBef>
                <a:spcPts val="600"/>
              </a:spcBef>
            </a:pPr>
            <a:r>
              <a:rPr sz="1300" b="1">
                <a:solidFill>
                  <a:srgbClr val="2E5984"/>
                </a:solidFill>
              </a:rPr>
              <a:t>2. 아키텍처 (Architecture): 비즈니스 가치 사슬(Value Chain) 시각화 [출처: 136, 138, 172]</a:t>
            </a:r>
          </a:p>
          <a:p>
            <a:r>
              <a:rPr sz="1100">
                <a:solidFill>
                  <a:srgbClr val="222222"/>
                </a:solidFill>
              </a:rPr>
              <a:t>•  피칭 구조: [문제 제기(기존 분석의 한계)] → [해결 방안(AI 아키텍처)] → [핵심 기능(데이터+AI 엔진)] → [기대 효과(운영 효율성/수익성)] → [미래 확장 로드맵].</a:t>
            </a:r>
          </a:p>
          <a:p>
            <a:r>
              <a:rPr sz="1100">
                <a:solidFill>
                  <a:srgbClr val="222222"/>
                </a:solidFill>
              </a:rPr>
              <a:t>•  기술 요약: 221번 슬라이드의 통합 아키텍처 맵을 활용하여 데이터 수집부터 텔레그램 배포까지의 자동화된 흐름이 어떻게 '실시간 인사이트'를 생산하는지 한눈에 보여줍니다. [출처: 136, 221]</a:t>
            </a:r>
          </a:p>
          <a:p>
            <a:pPr>
              <a:spcBef>
                <a:spcPts val="600"/>
              </a:spcBef>
            </a:pPr>
            <a:r>
              <a:rPr sz="1300" b="1">
                <a:solidFill>
                  <a:srgbClr val="2E5984"/>
                </a:solidFill>
              </a:rPr>
              <a:t>3. 피칭 템플릿 (Source Code/Specs): 5분 데모 및 핵심 성과지표(KPI) [출처: 101, 105, 171]</a:t>
            </a:r>
          </a:p>
          <a:p>
            <a:r>
              <a:rPr sz="1100">
                <a:solidFill>
                  <a:srgbClr val="222222"/>
                </a:solidFill>
              </a:rPr>
              <a:t>•  핵심 구성 항목: [출처: 101, 105]</a:t>
            </a:r>
          </a:p>
          <a:p>
            <a:r>
              <a:rPr sz="1100">
                <a:solidFill>
                  <a:srgbClr val="222222"/>
                </a:solidFill>
              </a:rPr>
              <a:t>•  서비스명: 나만의 고유 브랜드 (예: "GoldenEye AI", "QuantumFlow")</a:t>
            </a:r>
          </a:p>
          <a:p>
            <a:r>
              <a:rPr sz="1100">
                <a:solidFill>
                  <a:srgbClr val="222222"/>
                </a:solidFill>
              </a:rPr>
              <a:t>•  Target User: 개인 투자자, 펀드 매니저, 또는 사내 리스크 관리팀.</a:t>
            </a:r>
          </a:p>
          <a:p>
            <a:r>
              <a:rPr sz="1100">
                <a:solidFill>
                  <a:srgbClr val="222222"/>
                </a:solidFill>
              </a:rPr>
              <a:t>•  핵심 기술 스택: FastAPI, PostgreSQL, CrewAI, ChromaDB 등. [출처: 137, 139]</a:t>
            </a:r>
          </a:p>
          <a:p>
            <a:r>
              <a:rPr sz="1100">
                <a:solidFill>
                  <a:srgbClr val="222222"/>
                </a:solidFill>
              </a:rPr>
              <a:t>•  성능 지표: 리포트 생성 속도(예: 60초 이내), 스코어링 정확도, 자동화 가동률(24x365). [출처: 171]</a:t>
            </a:r>
          </a:p>
          <a:p>
            <a:pPr>
              <a:spcBef>
                <a:spcPts val="600"/>
              </a:spcBef>
            </a:pPr>
            <a:r>
              <a:rPr sz="1300" b="1">
                <a:solidFill>
                  <a:srgbClr val="2E5984"/>
                </a:solidFill>
              </a:rPr>
              <a:t>4. 실습 (Practice): 캡스톤 프로젝트 시연 및 동료 피드백 [출처: 67, 173]</a:t>
            </a:r>
          </a:p>
          <a:p>
            <a:r>
              <a:rPr sz="1100">
                <a:solidFill>
                  <a:srgbClr val="222222"/>
                </a:solidFill>
              </a:rPr>
              <a:t>•  과제 1: 222번 슬라이드의 최종 체크리스트를 기반으로 자신의 MVP를 최종 구동하고, 텔레그램으로 전송된 1페이지 PDF 리포트의 퀄리티를 동료들과 공유하십시오. [출처: 157, 171, 173]</a:t>
            </a:r>
          </a:p>
          <a:p>
            <a:r>
              <a:rPr sz="1100">
                <a:solidFill>
                  <a:srgbClr val="222222"/>
                </a:solidFill>
              </a:rPr>
              <a:t>•  과제 2: 동료 아키텍트들로부터 "가장 인상 깊은 킬러 피처"와 "보완이 필요한 기술적 부채"에 대한 피드백을 수집하여 개선 계획서를 작성하십시오. [출처: 64, 67]</a:t>
            </a:r>
          </a:p>
          <a:p>
            <a:pPr>
              <a:spcBef>
                <a:spcPts val="600"/>
              </a:spcBef>
            </a:pPr>
            <a:r>
              <a:rPr sz="1300" b="1">
                <a:solidFill>
                  <a:srgbClr val="2E5984"/>
                </a:solidFill>
              </a:rPr>
              <a:t>5. 확장 (Expansion): 'AI 워크포스(Workforce)' 리더로서의 중장기 로드맵 [출처: 79, 199]</a:t>
            </a:r>
          </a:p>
          <a:p>
            <a:r>
              <a:rPr sz="1100">
                <a:solidFill>
                  <a:srgbClr val="222222"/>
                </a:solidFill>
              </a:rPr>
              <a:t>•  고도화 전략: 본 과정에서 배운 에이전틱 AI 기술을 기반으로, 향후 멀티 에이전트 오케스트레이션(CrewAI)을 더욱 정교화하여 사람의 개입이 0%에 가까운 '완전 자율형 금융 리서치 하우스'로 진화시킵니다. [출처: 78, 199]</a:t>
            </a:r>
          </a:p>
          <a:p>
            <a:r>
              <a:rPr sz="1100">
                <a:solidFill>
                  <a:srgbClr val="222222"/>
                </a:solidFill>
              </a:rPr>
              <a:t>•  기술적 비전: 이제 여러분은 단순한 개발자가 아니라, 수십 개의 AI 에이전트를 지휘하여 시장의 기회를 포착하는 'AI 워크포스 오케스트레이터'로서 금융 산업의 새로운 표준을 설계하게 됩니다. [출처: 79, 191]</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224  ·  196/216</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F</a:t>
            </a:r>
          </a:p>
          <a:p>
            <a:r>
              <a:rPr sz="1900" b="1">
                <a:solidFill>
                  <a:srgbClr val="FFFFFF"/>
                </a:solidFill>
              </a:rPr>
              <a:t>[197] 금융 AI의 미래 - AI 에이전트에서 'AI 워크포스(Workforce)'로의 전환</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도구를 넘어 스스로 사고하는 '디지털 직원'의 시대</a:t>
            </a:r>
          </a:p>
          <a:p>
            <a:r>
              <a:rPr sz="1100">
                <a:solidFill>
                  <a:srgbClr val="222222"/>
                </a:solidFill>
              </a:rPr>
              <a:t>•  정의: 단순한 명령어 수행(Prompt)에서 벗어나, 목표를 설정하면 스스로 계획을 세우고(Plan) 실행하며(Act) 결과를 관찰하고(Observe) 성찰(Reflect)하여 개선하는 자율형 에이전틱 AI 시스템입니다.</a:t>
            </a:r>
          </a:p>
          <a:p>
            <a:r>
              <a:rPr sz="1100">
                <a:solidFill>
                  <a:srgbClr val="222222"/>
                </a:solidFill>
              </a:rPr>
              <a:t>•  핵심 가치: 16시간의 교육을 통해 구축한 플랫폼은 단순한 '프로그램'이 아니라, 아키텍트의 의도를 실현하는 전문 금융 인력(AI Workforce)의 첫걸음이 됩니다.</a:t>
            </a:r>
          </a:p>
          <a:p>
            <a:pPr>
              <a:spcBef>
                <a:spcPts val="600"/>
              </a:spcBef>
            </a:pPr>
            <a:r>
              <a:rPr sz="1300" b="1">
                <a:solidFill>
                  <a:srgbClr val="2E5984"/>
                </a:solidFill>
              </a:rPr>
              <a:t>2. 아키텍처 (Architecture): 자율 반복(Plan-Act-Observe-Reflect) 루프</a:t>
            </a:r>
          </a:p>
          <a:p>
            <a:r>
              <a:rPr sz="1100">
                <a:solidFill>
                  <a:srgbClr val="222222"/>
                </a:solidFill>
              </a:rPr>
              <a:t>•  지능형 워크플로우:</a:t>
            </a:r>
          </a:p>
          <a:p>
            <a:r>
              <a:rPr sz="1100">
                <a:solidFill>
                  <a:srgbClr val="222222"/>
                </a:solidFill>
              </a:rPr>
              <a:t>•  Plan: 주어진 목표(예: "반도체 섹터 리스크 점검")를 위한 세부 작업 분해 및 전략 수립.</a:t>
            </a:r>
          </a:p>
          <a:p>
            <a:r>
              <a:rPr sz="1100">
                <a:solidFill>
                  <a:srgbClr val="222222"/>
                </a:solidFill>
              </a:rPr>
              <a:t>•  Act: 코스콤, DART, ECOS 등 연동된 도구(Tool)를 호출하여 실시간 데이터 수집 및 분석 실행.</a:t>
            </a:r>
          </a:p>
          <a:p>
            <a:r>
              <a:rPr sz="1100">
                <a:solidFill>
                  <a:srgbClr val="222222"/>
                </a:solidFill>
              </a:rPr>
              <a:t>•  Observe: 실행 결과의 유효성과 데이터의 정합성을 스스로 확인.</a:t>
            </a:r>
          </a:p>
          <a:p>
            <a:r>
              <a:rPr sz="1100">
                <a:solidFill>
                  <a:srgbClr val="222222"/>
                </a:solidFill>
              </a:rPr>
              <a:t>•  Reflect: 발견된 오류나 부족한 인사이트를 보완하여 최종 결과물(리포트)의 품질을 완성.</a:t>
            </a:r>
          </a:p>
          <a:p>
            <a:pPr>
              <a:spcBef>
                <a:spcPts val="600"/>
              </a:spcBef>
            </a:pPr>
            <a:r>
              <a:rPr sz="1300" b="1">
                <a:solidFill>
                  <a:srgbClr val="2E5984"/>
                </a:solidFill>
              </a:rPr>
              <a:t>3. 구현 원칙 (Methodology): 하니스 엔지니어링(Harness Engineering)의 적용</a:t>
            </a:r>
          </a:p>
          <a:p>
            <a:r>
              <a:rPr sz="1100">
                <a:solidFill>
                  <a:srgbClr val="222222"/>
                </a:solidFill>
              </a:rPr>
              <a:t>•  설계-개발-활용의 통합: 단순 프롬프트 작성을 넘어, AI가 시스템의 설계도(Architecture)를 이해하고 코드를 생성·테스트·배포하는 하니스(Harness) 환경을 구축하여 워크플로우를 통합합니다.</a:t>
            </a:r>
          </a:p>
          <a:p>
            <a:r>
              <a:rPr sz="1100">
                <a:solidFill>
                  <a:srgbClr val="222222"/>
                </a:solidFill>
              </a:rPr>
              <a:t>•  메타 프롬프트(Meta Prompt): AI가 최적의 분석 프롬프트를 스스로 생성하도록 유도하여, 시장 변화에 맞춰 분석 로직을 자동 갱신하는 상위 지능(Meta Intelligence)을 구현합니다.</a:t>
            </a:r>
          </a:p>
          <a:p>
            <a:pPr>
              <a:spcBef>
                <a:spcPts val="600"/>
              </a:spcBef>
            </a:pPr>
            <a:r>
              <a:rPr sz="1300" b="1">
                <a:solidFill>
                  <a:srgbClr val="2E5984"/>
                </a:solidFill>
              </a:rPr>
              <a:t>4. 실습 (Practice): 에이전트 간 '자율 토론' 및 자가 복구(Self-healing) 체험</a:t>
            </a:r>
          </a:p>
          <a:p>
            <a:r>
              <a:rPr sz="1100">
                <a:solidFill>
                  <a:srgbClr val="222222"/>
                </a:solidFill>
              </a:rPr>
              <a:t>•  과제 1: CrewAI의 verbose=True 모드를 활용하여, '기본적 분석가'와 '기술적 분석가' 에이전트가 서로의 데이터를 공유하고 투자의견을 조율하는 협업 과정을 터미널 로그로 관찰하십시오.</a:t>
            </a:r>
          </a:p>
          <a:p>
            <a:r>
              <a:rPr sz="1100">
                <a:solidFill>
                  <a:srgbClr val="222222"/>
                </a:solidFill>
              </a:rPr>
              <a:t>•  과제 2: 에이전트가 도구 호출 시 발생한 오류(예: API Key 누락)를 스스로 인지하고, 사용자에게 친절한 안내 메시지와 함께 대체 방안(Mock Data)을 제시하는지 점검하십시오.</a:t>
            </a:r>
          </a:p>
          <a:p>
            <a:pPr>
              <a:spcBef>
                <a:spcPts val="600"/>
              </a:spcBef>
            </a:pPr>
            <a:r>
              <a:rPr sz="1300" b="1">
                <a:solidFill>
                  <a:srgbClr val="2E5984"/>
                </a:solidFill>
              </a:rPr>
              <a:t>5. 확장 (Expansion): '1인 AI 금융 하우스'를 위한 무한한 가능성</a:t>
            </a:r>
          </a:p>
          <a:p>
            <a:r>
              <a:rPr sz="1100">
                <a:solidFill>
                  <a:srgbClr val="222222"/>
                </a:solidFill>
              </a:rPr>
              <a:t>•  고도화 전략: 이번 교육은 마침표가 아니라, 여러분이 지휘하는 수백 개의 AI 에이전트 군단을 거느린 '1인 AI 금융 리서치 센터'의 시작입니다.</a:t>
            </a:r>
          </a:p>
          <a:p>
            <a:r>
              <a:rPr sz="1100">
                <a:solidFill>
                  <a:srgbClr val="222222"/>
                </a:solidFill>
              </a:rPr>
              <a:t>•  기술적 비전: 214번 슬라이드의 10대 고도화 과제를 각각의 에이전트 업무로 할당함으로써, 인간 아키텍트는 오직 전략적 오케스트레이션(Orchestration)에만 집중하는 초생산성의 영역으로 진입합니다.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225  ·  197/216</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F</a:t>
            </a:r>
          </a:p>
          <a:p>
            <a:r>
              <a:rPr sz="1900" b="1">
                <a:solidFill>
                  <a:srgbClr val="FFFFFF"/>
                </a:solidFill>
              </a:rPr>
              <a:t>[198] 하니스 엔지니어링(Harness Engineering) - AI 기반 설계·개발 통합</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프롬프트를 넘어 시스템을 경영하는 '하니스'</a:t>
            </a:r>
          </a:p>
          <a:p>
            <a:r>
              <a:rPr sz="1100">
                <a:solidFill>
                  <a:srgbClr val="222222"/>
                </a:solidFill>
              </a:rPr>
              <a:t>•  정의: AI가 단순히 코드를 작성해주는 보조 도구를 넘어, 설계(Design)-개발(Develop)-활용(Use)-유지(Maintain)의 전 과정을 AI와 연동하여 관리하는 통합 개발 패러다임입니다. [출처: 65]</a:t>
            </a:r>
          </a:p>
          <a:p>
            <a:r>
              <a:rPr sz="1100">
                <a:solidFill>
                  <a:srgbClr val="222222"/>
                </a:solidFill>
              </a:rPr>
              <a:t>•  핵심 가치: 아키텍처 다이어그램과 데이터 온톨로지를 AI가 실시간으로 인식하여 코드를 생성하고, 변경 사항 발생 시 전체 워크플로우의 정합성을 스스로 검증하는 '설계 중심 개발'을 지향합니다. [출처: 65, 101]</a:t>
            </a:r>
          </a:p>
          <a:p>
            <a:pPr>
              <a:spcBef>
                <a:spcPts val="600"/>
              </a:spcBef>
            </a:pPr>
            <a:r>
              <a:rPr sz="1300" b="1">
                <a:solidFill>
                  <a:srgbClr val="2E5984"/>
                </a:solidFill>
              </a:rPr>
              <a:t>2. 아키텍처 (Architecture): 설계-코드-테스트의 실시간 동기화 구조 [출처: 65, 136]</a:t>
            </a:r>
          </a:p>
          <a:p>
            <a:r>
              <a:rPr sz="1100">
                <a:solidFill>
                  <a:srgbClr val="222222"/>
                </a:solidFill>
              </a:rPr>
              <a:t>•  통합 워크플로우: [온톨로지 정의] → [AI 하니스 가동] → [API 및 DB 스키마 자동 생성] → [유닛 테스트 자동화] → [피드백 기반 코드 최적화]. [출처: 65, 168]</a:t>
            </a:r>
          </a:p>
          <a:p>
            <a:r>
              <a:rPr sz="1100">
                <a:solidFill>
                  <a:srgbClr val="222222"/>
                </a:solidFill>
              </a:rPr>
              <a:t>•  구조적 특징: 136번 슬라이드의 분석 오케스트레이터가 하니스 환경 내에서 작동하며, 새로운 금융 데이터 소스가 추가될 때마다 기존 로직과의 충돌 여부를 AI가 사전에 시뮬레이션합니다. [출처: 136, 172]</a:t>
            </a:r>
          </a:p>
          <a:p>
            <a:pPr>
              <a:spcBef>
                <a:spcPts val="600"/>
              </a:spcBef>
            </a:pPr>
            <a:r>
              <a:rPr sz="1300" b="1">
                <a:solidFill>
                  <a:srgbClr val="2E5984"/>
                </a:solidFill>
              </a:rPr>
              <a:t>3. 실무 로직 (Source Code): AI 기반 자동 테스트 및 정합성 체크 [출처: 181, 190]</a:t>
            </a:r>
          </a:p>
          <a:p>
            <a:r>
              <a:rPr sz="1100">
                <a:solidFill>
                  <a:srgbClr val="222222"/>
                </a:solidFill>
              </a:rPr>
              <a:t>•  핵심 구현: 시스템의 분석 엔진이 설계 의도대로 작동하는지 검증하는 테스트 코드입니다.</a:t>
            </a:r>
          </a:p>
          <a:p>
            <a:pPr>
              <a:spcBef>
                <a:spcPts val="600"/>
              </a:spcBef>
            </a:pPr>
            <a:r>
              <a:rPr sz="1300" b="1">
                <a:solidFill>
                  <a:srgbClr val="2E5984"/>
                </a:solidFill>
              </a:rPr>
              <a:t>4. 실습 (Practice): 하니스 기반의 '시스템 자가 진단' 구축 [출처: 171, 173]</a:t>
            </a:r>
          </a:p>
          <a:p>
            <a:r>
              <a:rPr sz="1100">
                <a:solidFill>
                  <a:srgbClr val="222222"/>
                </a:solidFill>
              </a:rPr>
              <a:t>•  과제 1: 171번 슬라이드의 운영 안정화 체크리스트 항목들을 AI가 매시간 자동으로 점검하고, 이상 징후 발견 시 보고서를 생성하도록 하니스 기능을 추가하십시오. [출처: 171]</a:t>
            </a:r>
          </a:p>
          <a:p>
            <a:r>
              <a:rPr sz="1100">
                <a:solidFill>
                  <a:srgbClr val="222222"/>
                </a:solidFill>
              </a:rPr>
              <a:t>•  과제 2: 168번 슬라이드의 통합 온톨로지에 '해외 주식' 필드를 추가했을 때, 기존의 국내 주식 분석 엔진과 충돌이 발생하는지 AI 아키텍트에게 검수를 받는 워크플로우를 실행하십시오. [출처: 168]</a:t>
            </a:r>
          </a:p>
          <a:p>
            <a:pPr>
              <a:spcBef>
                <a:spcPts val="600"/>
              </a:spcBef>
            </a:pPr>
            <a:r>
              <a:rPr sz="1300" b="1">
                <a:solidFill>
                  <a:srgbClr val="2E5984"/>
                </a:solidFill>
              </a:rPr>
              <a:t>5. 확장 (Expansion): '자율 소프트웨어 엔지니어링' 환경으로의 도약 [출처: 76, 79]</a:t>
            </a:r>
          </a:p>
          <a:p>
            <a:r>
              <a:rPr sz="1100">
                <a:solidFill>
                  <a:srgbClr val="222222"/>
                </a:solidFill>
              </a:rPr>
              <a:t>•  고도화 전략: 사람이 직접 코드를 수정하는 것이 아니라, 자연어로 설계 변경을 요청하면 하니스가 코드를 수정하고 테스트 후 배포까지 완료하는 '자율형 로우코드(Low-code)' 환경을 구축합니다. [출처: 76]</a:t>
            </a:r>
          </a:p>
          <a:p>
            <a:r>
              <a:rPr sz="1100">
                <a:solidFill>
                  <a:srgbClr val="222222"/>
                </a:solidFill>
              </a:rPr>
              <a:t>•  기술적 비전: 이를 통해 아키텍트는 구현의 디테일에서 벗어나 금융 비즈니스의 '전략적 설계'에만 집중하며, 수백 명의 AI 에이전트가 협업하는 'AI 워크포스'의 운영 효율을 극대화합니다. [출처: 64, 79]</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226  ·  198/216</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F</a:t>
            </a:r>
          </a:p>
          <a:p>
            <a:r>
              <a:rPr sz="1900" b="1">
                <a:solidFill>
                  <a:srgbClr val="FFFFFF"/>
                </a:solidFill>
              </a:rPr>
              <a:t>[199] AI 네이티브 개발 - 바이브 코딩 및 초고속 프로토타이핑</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설명이 곧 코드가 되는 '바이브 코딩(Vibe Coding)'의 시대</a:t>
            </a:r>
          </a:p>
          <a:p>
            <a:r>
              <a:rPr sz="1100">
                <a:solidFill>
                  <a:srgbClr val="222222"/>
                </a:solidFill>
              </a:rPr>
              <a:t>•  정의: 개발자가 로직을 직접 코딩하기보다, AI에게 무엇을 만들지 자연어로 설명하고 AI가 전체 코드의 80~90% 이상을 작성하게 하는 고수준 선언형 개발 방식입니다. [출처: 76]</a:t>
            </a:r>
          </a:p>
          <a:p>
            <a:r>
              <a:rPr sz="1100">
                <a:solidFill>
                  <a:srgbClr val="222222"/>
                </a:solidFill>
              </a:rPr>
              <a:t>•  핵심 가치: 복잡한 문법보다 '무엇(What)'을 분석할 것인가라는 아키텍트의 의도와 비즈니스 논리에 집중함으로써, 아이디어를 실서비스로 전환하는 속도를 극대화합니다. [출처: 63, 76]</a:t>
            </a:r>
          </a:p>
          <a:p>
            <a:pPr>
              <a:spcBef>
                <a:spcPts val="600"/>
              </a:spcBef>
            </a:pPr>
            <a:r>
              <a:rPr sz="1300" b="1">
                <a:solidFill>
                  <a:srgbClr val="2E5984"/>
                </a:solidFill>
              </a:rPr>
              <a:t>2. 아키텍처 (Architecture): 자연어 지시 기반의 생성 및 피드백 루프 [출처: 76, 101]</a:t>
            </a:r>
          </a:p>
          <a:p>
            <a:r>
              <a:rPr sz="1100">
                <a:solidFill>
                  <a:srgbClr val="222222"/>
                </a:solidFill>
              </a:rPr>
              <a:t>•  작업 흐름: [아키텍트의 Vibe(자연어 지시)] → [AI 에이전트(코드 생성)] → [하니스 환경(자동 테스트/실행)] → [실시간 결과 확인 및 보정]. [출처: 76, 101]</a:t>
            </a:r>
          </a:p>
          <a:p>
            <a:r>
              <a:rPr sz="1100">
                <a:solidFill>
                  <a:srgbClr val="222222"/>
                </a:solidFill>
              </a:rPr>
              <a:t>•  프레임워크 활용: 226번 슬라이드에서 구축한 하니스(Harness)가 AI가 만든 코드의 정합성을 검증하고, 오류 발생 시 AI가 스스로 수정(Self-correction)하도록 유도하는 지능형 인프라로 기능합니다. [출처: 65, 79]</a:t>
            </a:r>
          </a:p>
          <a:p>
            <a:pPr>
              <a:spcBef>
                <a:spcPts val="600"/>
              </a:spcBef>
            </a:pPr>
            <a:r>
              <a:rPr sz="1300" b="1">
                <a:solidFill>
                  <a:srgbClr val="2E5984"/>
                </a:solidFill>
              </a:rPr>
              <a:t>3. 구현 기법 (Source Code): 메타 프롬프트(Meta Prompt)를 통한 코드 생성 제어 [출처: 76, 182]</a:t>
            </a:r>
          </a:p>
          <a:p>
            <a:r>
              <a:rPr sz="1100">
                <a:solidFill>
                  <a:srgbClr val="222222"/>
                </a:solidFill>
              </a:rPr>
              <a:t>•  핵심 구현: 최적의 분석 도구를 생성하기 위해 AI에게 내리는 상위 지시문입니다.</a:t>
            </a:r>
          </a:p>
          <a:p>
            <a:pPr>
              <a:spcBef>
                <a:spcPts val="600"/>
              </a:spcBef>
            </a:pPr>
            <a:r>
              <a:rPr sz="1300" b="1">
                <a:solidFill>
                  <a:srgbClr val="2E5984"/>
                </a:solidFill>
              </a:rPr>
              <a:t>4. 실습 (Practice): 자연어 지시를 통한 '섹터 맵' 기능 추가 및 검증 [출처: 161, 172]</a:t>
            </a:r>
          </a:p>
          <a:p>
            <a:r>
              <a:rPr sz="1100">
                <a:solidFill>
                  <a:srgbClr val="222222"/>
                </a:solidFill>
              </a:rPr>
              <a:t>•  과제 1: ChatGPT나 클로드에게 "현재 구축된 streamlit_app.py에 섹터별 평균 리스크 점수를 보여주는 히트맵(Heatmap) 기능을 추가해줘"라고 지시하고, 생성된 코드를 즉시 적용해 보십시오. [출처: 161, 172]</a:t>
            </a:r>
          </a:p>
          <a:p>
            <a:r>
              <a:rPr sz="1100">
                <a:solidFill>
                  <a:srgbClr val="222222"/>
                </a:solidFill>
              </a:rPr>
              <a:t>•  과제 2: AI가 작성한 코드에 오류가 있을 경우, 오류 메시지를 그대로 복사하여 AI에게 전달하고 "Vibe를 유지하며 이 오류를 해결해줘"라는 명령으로 자가 복구를 유도하십시오. [출처: 189]</a:t>
            </a:r>
          </a:p>
          <a:p>
            <a:pPr>
              <a:spcBef>
                <a:spcPts val="600"/>
              </a:spcBef>
            </a:pPr>
            <a:r>
              <a:rPr sz="1300" b="1">
                <a:solidFill>
                  <a:srgbClr val="2E5984"/>
                </a:solidFill>
              </a:rPr>
              <a:t>5. 확장 (Expansion): '자율 소프트웨어 공장'으로의 비전 완성 [출처: 79, 199]</a:t>
            </a:r>
          </a:p>
          <a:p>
            <a:r>
              <a:rPr sz="1100">
                <a:solidFill>
                  <a:srgbClr val="222222"/>
                </a:solidFill>
              </a:rPr>
              <a:t>•  고도화 전략: 개별 기능을 넘어, 220번 슬라이드의 CrewAI와 결합하여 사용자의 요구사항을 듣고 설계부터 배포까지 스스로 수행하는 '자율형 개발 에이전트 군단'을 운영합니다. [출처: 78, 199]</a:t>
            </a:r>
          </a:p>
          <a:p>
            <a:r>
              <a:rPr sz="1100">
                <a:solidFill>
                  <a:srgbClr val="222222"/>
                </a:solidFill>
              </a:rPr>
              <a:t>•  기술적 비전: 이를 통해 아키텍트는 기술적 구현의 장벽 없이 금융 시장의 새로운 기회를 포착하는 즉시 시스템을 확장하는 '무한 확장형 AI 금융 플랫폼'의 주인이 됩니다. [출처: 64, 191]</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227  ·  199/216</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F</a:t>
            </a:r>
          </a:p>
          <a:p>
            <a:r>
              <a:rPr sz="1900" b="1">
                <a:solidFill>
                  <a:srgbClr val="FFFFFF"/>
                </a:solidFill>
              </a:rPr>
              <a:t>[200] 지능형 에이전트 튜닝 - 추론 사슬(CoT) 및 자가 성찰</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패턴 매칭을 넘어 '논리적 추론'으로의 도약</a:t>
            </a:r>
          </a:p>
          <a:p>
            <a:r>
              <a:rPr sz="1100">
                <a:solidFill>
                  <a:srgbClr val="222222"/>
                </a:solidFill>
              </a:rPr>
              <a:t>•  정의: AI가 질문에 즉각 답하지 않고, 단계별 사고 과정(Chain-of-Thought)을 거쳐 답변을 생성하며, 생성된 답변을 스스로 비판적으로 검토(Self-Reflection)하여 수정하는 고도화된 지능 모델링입니다. [출처: 79, 80]</a:t>
            </a:r>
          </a:p>
          <a:p>
            <a:r>
              <a:rPr sz="1100">
                <a:solidFill>
                  <a:srgbClr val="222222"/>
                </a:solidFill>
              </a:rPr>
              <a:t>•  핵심 가치: 금융 데이터의 복잡한 상관관계(예: 금리 인상이 특정 섹터에 미치는 다각적 영향)를 분석할 때 발생할 수 있는 논리적 오류와 할루시네이션을 최소화하고 분석의 신뢰성을 극대화합니다. [출처: 76, 79]</a:t>
            </a:r>
          </a:p>
          <a:p>
            <a:pPr>
              <a:spcBef>
                <a:spcPts val="600"/>
              </a:spcBef>
            </a:pPr>
            <a:r>
              <a:rPr sz="1300" b="1">
                <a:solidFill>
                  <a:srgbClr val="2E5984"/>
                </a:solidFill>
              </a:rPr>
              <a:t>2. 아키텍처 (Architecture): 자가 복구형 추론 루프(Self-Correction Loop) [출처: 79, 136]</a:t>
            </a:r>
          </a:p>
          <a:p>
            <a:r>
              <a:rPr sz="1100">
                <a:solidFill>
                  <a:srgbClr val="222222"/>
                </a:solidFill>
              </a:rPr>
              <a:t>•  추론 단계:</a:t>
            </a:r>
          </a:p>
          <a:p>
            <a:r>
              <a:rPr sz="1100">
                <a:solidFill>
                  <a:srgbClr val="222222"/>
                </a:solidFill>
              </a:rPr>
              <a:t>•  계획(Plan): 분석 목표를 위한 하위 작업 및 논리 단계 설정. [출처: 79]</a:t>
            </a:r>
          </a:p>
          <a:p>
            <a:r>
              <a:rPr sz="1100">
                <a:solidFill>
                  <a:srgbClr val="222222"/>
                </a:solidFill>
              </a:rPr>
              <a:t>•  실행(Act): 데이터 수집 및 1차 추론 수행. [출처: 136]</a:t>
            </a:r>
          </a:p>
          <a:p>
            <a:r>
              <a:rPr sz="1100">
                <a:solidFill>
                  <a:srgbClr val="222222"/>
                </a:solidFill>
              </a:rPr>
              <a:t>•  검토(Observe): "이 결과가 최신 거시 지표와 모순되지 않는가?" 등의 기준에 따라 자가 검증. [출처: 79]</a:t>
            </a:r>
          </a:p>
          <a:p>
            <a:r>
              <a:rPr sz="1100">
                <a:solidFill>
                  <a:srgbClr val="222222"/>
                </a:solidFill>
              </a:rPr>
              <a:t>•  수정(Reflect): 논리적 모순 발견 시 프롬프트를 재구성하여 최종 결과 도출. [출처: 79]</a:t>
            </a:r>
          </a:p>
          <a:p>
            <a:pPr>
              <a:spcBef>
                <a:spcPts val="600"/>
              </a:spcBef>
            </a:pPr>
            <a:r>
              <a:rPr sz="1300" b="1">
                <a:solidFill>
                  <a:srgbClr val="2E5984"/>
                </a:solidFill>
              </a:rPr>
              <a:t>3. 구현 기법 (Source Code): CoT 유도를 위한 시스템 프롬프트 설계 [출처: 155, 182]</a:t>
            </a:r>
          </a:p>
          <a:p>
            <a:r>
              <a:rPr sz="1100">
                <a:solidFill>
                  <a:srgbClr val="222222"/>
                </a:solidFill>
              </a:rPr>
              <a:t>•  핵심 구현: AI에게 사고의 단계를 강제하는 프롬프트 구조입니다.</a:t>
            </a:r>
          </a:p>
          <a:p>
            <a:pPr>
              <a:spcBef>
                <a:spcPts val="600"/>
              </a:spcBef>
            </a:pPr>
            <a:r>
              <a:rPr sz="1300" b="1">
                <a:solidFill>
                  <a:srgbClr val="2E5984"/>
                </a:solidFill>
              </a:rPr>
              <a:t>4. 실습 (Practice): '생각하는 리포트' 생성 및 논리 구조 점검 [출처: 183, 199]</a:t>
            </a:r>
          </a:p>
          <a:p>
            <a:r>
              <a:rPr sz="1100">
                <a:solidFill>
                  <a:srgbClr val="222222"/>
                </a:solidFill>
              </a:rPr>
              <a:t>•  과제 1: 155번 슬라이드의 generate_investment_brief 함수에 위 CoT 지시문을 주입하고, GPT가 리포트 상단에 "사고 과정(Thought Process)" 섹션을 별도로 출력하는지 확인하십시오. [출처: 155, 183]</a:t>
            </a:r>
          </a:p>
          <a:p>
            <a:r>
              <a:rPr sz="1100">
                <a:solidFill>
                  <a:srgbClr val="222222"/>
                </a:solidFill>
              </a:rPr>
              <a:t>•  과제 2: CrewAI의 에이전트 간 대화 기능(Verbose Mode)을 활용하여, ReportWriterAgent가 분석가들의 의견을 통합할 때 논리적 모순을 지적하고 수정을 요청하는지 모니터링하십시오. [출처: 78, 199]</a:t>
            </a:r>
          </a:p>
          <a:p>
            <a:pPr>
              <a:spcBef>
                <a:spcPts val="600"/>
              </a:spcBef>
            </a:pPr>
            <a:r>
              <a:rPr sz="1300" b="1">
                <a:solidFill>
                  <a:srgbClr val="2E5984"/>
                </a:solidFill>
              </a:rPr>
              <a:t>3. 확장 (Expansion): '딥 리서치(Deep Research)' 및 완전 자율 에이전트로의 진화</a:t>
            </a:r>
          </a:p>
          <a:p>
            <a:r>
              <a:rPr sz="1100">
                <a:solidFill>
                  <a:srgbClr val="222222"/>
                </a:solidFill>
              </a:rPr>
              <a:t>•  고도화 전략: 단순한 답변 생성을 넘어, 수백 개의 논리 경로를 탐색하고 스스로 검증하는 딥 리서치(Deep Research) 기능을 통해 인간 전문가 이상의 통찰력을 제공하는 시스템으로 발전시킵니다. [출처: 76, 79]</a:t>
            </a:r>
          </a:p>
          <a:p>
            <a:r>
              <a:rPr sz="1100">
                <a:solidFill>
                  <a:srgbClr val="222222"/>
                </a:solidFill>
              </a:rPr>
              <a:t>•  기술적 비전: 이를 통해 225번 슬라이드에서 제시한 'AI 워크포스(Workforce)'는 단순한 작업 수행자가 아니라, 아키텍트와 대등하게 전략을 논의할 수 있는 지능형 파트너로서의 완성도를 갖추게 됩니다. [출처: 79, 191]</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228  ·  200/216</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F</a:t>
            </a:r>
          </a:p>
          <a:p>
            <a:r>
              <a:rPr sz="1900" b="1">
                <a:solidFill>
                  <a:srgbClr val="FFFFFF"/>
                </a:solidFill>
              </a:rPr>
              <a:t>[201] AI 분석 품질 평가(Eval) 시스템 구축 및 벤치마킹</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"측정할 수 없으면 개선할 수 없다" - 정량적 평가의 도입</a:t>
            </a:r>
          </a:p>
          <a:p>
            <a:r>
              <a:rPr sz="1100">
                <a:solidFill>
                  <a:srgbClr val="222222"/>
                </a:solidFill>
              </a:rPr>
              <a:t>•  정의: AI가 생성한 투자 의견이나 리스크 등급이 실제 시장 상황이나 전문가의 판단(Ground Truth)과 얼마나 일치하는지를 통계적으로 측정하는 프로세스입니다. [출처: 67, 171]</a:t>
            </a:r>
          </a:p>
          <a:p>
            <a:r>
              <a:rPr sz="1100">
                <a:solidFill>
                  <a:srgbClr val="222222"/>
                </a:solidFill>
              </a:rPr>
              <a:t>•  핵심 가치: 프롬프트나 모델을 변경했을 때 성능이 실제로 좋아졌는지(Hit Rate 상승), 아니면 환각(Hallucination)이 늘어났는지를 객관적으로 파악하여 시스템의 신뢰도를 관리합니다. [출처: 67, 173]</a:t>
            </a:r>
          </a:p>
          <a:p>
            <a:pPr>
              <a:spcBef>
                <a:spcPts val="600"/>
              </a:spcBef>
            </a:pPr>
            <a:r>
              <a:rPr sz="1300" b="1">
                <a:solidFill>
                  <a:srgbClr val="2E5984"/>
                </a:solidFill>
              </a:rPr>
              <a:t>2. 아키텍처 (Architecture): 골든 데이터셋(Golden Dataset) 기반 평가 파이프라인 [출처: 18, 136, 173]</a:t>
            </a:r>
          </a:p>
          <a:p>
            <a:r>
              <a:rPr sz="1100">
                <a:solidFill>
                  <a:srgbClr val="222222"/>
                </a:solidFill>
              </a:rPr>
              <a:t>•  평가 구조:</a:t>
            </a:r>
          </a:p>
          <a:p>
            <a:r>
              <a:rPr sz="1100">
                <a:solidFill>
                  <a:srgbClr val="222222"/>
                </a:solidFill>
              </a:rPr>
              <a:t>•  골든 데이터셋 구축: 과거 위기 사례(예: 2008년 금융위기, 2020년 팬데믹)의 뉴스 및 시세 데이터를 '정답 세트'로 구성합니다. [출처: 18]</a:t>
            </a:r>
          </a:p>
          <a:p>
            <a:r>
              <a:rPr sz="1100">
                <a:solidFill>
                  <a:srgbClr val="222222"/>
                </a:solidFill>
              </a:rPr>
              <a:t>•  일괄 추론(Batch Inference): 평가 대상 에이전트가 해당 데이터셋을 모두 분석하게 합니다. [출처: 136]</a:t>
            </a:r>
          </a:p>
          <a:p>
            <a:r>
              <a:rPr sz="1100">
                <a:solidFill>
                  <a:srgbClr val="222222"/>
                </a:solidFill>
              </a:rPr>
              <a:t>•  비교 분석: AI의 판단 결과와 정답을 비교하여 정확도(Accuracy), 정밀도(Precision), 재현율(Recall) 지표를 산출합니다. [출처: 171, 173]</a:t>
            </a:r>
          </a:p>
          <a:p>
            <a:pPr>
              <a:spcBef>
                <a:spcPts val="600"/>
              </a:spcBef>
            </a:pPr>
            <a:r>
              <a:rPr sz="1300" b="1">
                <a:solidFill>
                  <a:srgbClr val="2E5984"/>
                </a:solidFill>
              </a:rPr>
              <a:t>3. 소스코드 (Source Code): pytest 및 'Judge LLM'을 활용한 평가 로직 [출처: 182, 190]</a:t>
            </a:r>
          </a:p>
          <a:p>
            <a:r>
              <a:rPr sz="1100">
                <a:solidFill>
                  <a:srgbClr val="222222"/>
                </a:solidFill>
              </a:rPr>
              <a:t>•  핵심 구현: AI의 답변 품질을 상위 모델(예: GPT-5)이 채점하게 하거나 정량적 수치를 대조하는 로직입니다.</a:t>
            </a:r>
          </a:p>
          <a:p>
            <a:pPr>
              <a:spcBef>
                <a:spcPts val="600"/>
              </a:spcBef>
            </a:pPr>
            <a:r>
              <a:rPr sz="1300" b="1">
                <a:solidFill>
                  <a:srgbClr val="2E5984"/>
                </a:solidFill>
              </a:rPr>
              <a:t>4. 실습 (Practice): 과거 위기 시나리오를 활용한 에이전트 '스트레스 테스트' [출처: 17, 171]</a:t>
            </a:r>
          </a:p>
          <a:p>
            <a:r>
              <a:rPr sz="1100">
                <a:solidFill>
                  <a:srgbClr val="222222"/>
                </a:solidFill>
              </a:rPr>
              <a:t>•  과제 1: 17~18번 슬라이드에 제시된 과거 리스크 사례(환율, 금리, 수출 규제)를 입력값으로 넣고, 에이전트가 해당 상황을 모두 HIGH 또는 CRITICAL로 정확히 분류하는지 테스트하십시오. [출처: 17, 18, 171]</a:t>
            </a:r>
          </a:p>
          <a:p>
            <a:r>
              <a:rPr sz="1100">
                <a:solidFill>
                  <a:srgbClr val="222222"/>
                </a:solidFill>
              </a:rPr>
              <a:t>•  과제 2: 228번 슬라이드에서 배운 추론 사슬(CoT) 적용 전과 후의 리포트 정확도를 비교하여, CoT가 논리적 오류를 얼마나 줄였는지 보고서를 작성하십시오. [출처: 228]</a:t>
            </a:r>
          </a:p>
          <a:p>
            <a:pPr>
              <a:spcBef>
                <a:spcPts val="600"/>
              </a:spcBef>
            </a:pPr>
            <a:r>
              <a:rPr sz="1300" b="1">
                <a:solidFill>
                  <a:srgbClr val="2E5984"/>
                </a:solidFill>
              </a:rPr>
              <a:t>5. 확장 (Expansion): 'AI-as-a-Judge' 및 지속적인 성능 모니터링 [출처: 79, 173]</a:t>
            </a:r>
          </a:p>
          <a:p>
            <a:r>
              <a:rPr sz="1100">
                <a:solidFill>
                  <a:srgbClr val="222222"/>
                </a:solidFill>
              </a:rPr>
              <a:t>•  고도화 전략: 사람이 일일이 채점하기 어려운 리포트의 가독성이나 논리력은 더 강력한 상위 모델이 평가하게 하는 'AI-as-a-Judge' 시스템을 구축합니다. [출처: 173]</a:t>
            </a:r>
          </a:p>
          <a:p>
            <a:r>
              <a:rPr sz="1100">
                <a:solidFill>
                  <a:srgbClr val="222222"/>
                </a:solidFill>
              </a:rPr>
              <a:t>•  기술적 비전: 이를 통해 에이전트의 실시간 성능 지표를 211번 슬라이드의 대시보드에 통합함으로써, 시장 변화에 따라 에이전트의 지능이 퇴화(Drift)하지 않도록 실시간으로 관리하는 최첨단 금융 AI 관제 시스템을 완성합니다. [출처: 211]</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229  ·  201/216</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F</a:t>
            </a:r>
          </a:p>
          <a:p>
            <a:r>
              <a:rPr sz="1900" b="1">
                <a:solidFill>
                  <a:srgbClr val="FFFFFF"/>
                </a:solidFill>
              </a:rPr>
              <a:t>[202] 1인 AI 헤지펀드 구축 - 포트폴리오 최적화 및 VaR 관리</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개별 분석에서 '자산 배분(Asset Allocation)'으로의 도약</a:t>
            </a:r>
          </a:p>
          <a:p>
            <a:r>
              <a:rPr sz="1100">
                <a:solidFill>
                  <a:srgbClr val="222222"/>
                </a:solidFill>
              </a:rPr>
              <a:t>•  정의: 221번 슬라이드에서 완성된 단일 종목 분석 엔진들을 결합하여, 전체 자산의 상관관계를 분석하고 위험 대비 수익을 극대화하는 포트폴리오 관리 체계입니다. [출처: 93, 136]</a:t>
            </a:r>
          </a:p>
          <a:p>
            <a:r>
              <a:rPr sz="1100">
                <a:solidFill>
                  <a:srgbClr val="222222"/>
                </a:solidFill>
              </a:rPr>
              <a:t>•  핵심 가치: "계란을 한 바구니에 담지 마라"는 원칙을 AI가 데이터로 실현하며, 시장 폭락 시 발생 가능한 최대 손실액(VaR, Value at Risk)을 사전에 계산하여 시스템적으로 자산을 방어합니다. [출처: 93, 172]</a:t>
            </a:r>
          </a:p>
          <a:p>
            <a:pPr>
              <a:spcBef>
                <a:spcPts val="600"/>
              </a:spcBef>
            </a:pPr>
            <a:r>
              <a:rPr sz="1300" b="1">
                <a:solidFill>
                  <a:srgbClr val="2E5984"/>
                </a:solidFill>
              </a:rPr>
              <a:t>2. 아키텍처 (Architecture): AI 기반 자산 배분 및 리스크 엔진 [출처: 136, 172, 182]</a:t>
            </a:r>
          </a:p>
          <a:p>
            <a:r>
              <a:rPr sz="1100">
                <a:solidFill>
                  <a:srgbClr val="222222"/>
                </a:solidFill>
              </a:rPr>
              <a:t>•  구조:</a:t>
            </a:r>
          </a:p>
          <a:p>
            <a:r>
              <a:rPr sz="1100">
                <a:solidFill>
                  <a:srgbClr val="222222"/>
                </a:solidFill>
              </a:rPr>
              <a:t>•  데이터 입력: 관찰 종목군(Watchlist)의 과거 시세 및 리스크 점수 로드. [출처: 144, 154]</a:t>
            </a:r>
          </a:p>
          <a:p>
            <a:r>
              <a:rPr sz="1100">
                <a:solidFill>
                  <a:srgbClr val="222222"/>
                </a:solidFill>
              </a:rPr>
              <a:t>•  지능형 분석: AI 에이전트가 각 종목의 기대 수익률과 변동성 추정. [출처: 183]</a:t>
            </a:r>
          </a:p>
          <a:p>
            <a:r>
              <a:rPr sz="1100">
                <a:solidFill>
                  <a:srgbClr val="222222"/>
                </a:solidFill>
              </a:rPr>
              <a:t>•  최적화 엔진: 현대 포트폴리오 이론(MPT) 기반의 최적 투자 비중 산출. [출처: 93]</a:t>
            </a:r>
          </a:p>
          <a:p>
            <a:r>
              <a:rPr sz="1100">
                <a:solidFill>
                  <a:srgbClr val="222222"/>
                </a:solidFill>
              </a:rPr>
              <a:t>•  리스크 감시: 포트폴리오 전체의 VaR를 계산하여 텔레그램으로 경보 발송. [출처: 172]</a:t>
            </a:r>
          </a:p>
          <a:p>
            <a:pPr>
              <a:spcBef>
                <a:spcPts val="600"/>
              </a:spcBef>
            </a:pPr>
            <a:r>
              <a:rPr sz="1300" b="1">
                <a:solidFill>
                  <a:srgbClr val="2E5984"/>
                </a:solidFill>
              </a:rPr>
              <a:t>3. 소스코드 (Source Code): 포트폴리오 변동성 및 VaR 계산 로직 [출처: 154, 182]</a:t>
            </a:r>
          </a:p>
          <a:p>
            <a:r>
              <a:rPr sz="1100">
                <a:solidFill>
                  <a:srgbClr val="222222"/>
                </a:solidFill>
              </a:rPr>
              <a:t>•  핵심 구현: 보유 종목들의 가중치를 반영하여 리스크를 정량화하는 예시입니다.</a:t>
            </a:r>
          </a:p>
          <a:p>
            <a:pPr>
              <a:spcBef>
                <a:spcPts val="600"/>
              </a:spcBef>
            </a:pPr>
            <a:r>
              <a:rPr sz="1300" b="1">
                <a:solidFill>
                  <a:srgbClr val="2E5984"/>
                </a:solidFill>
              </a:rPr>
              <a:t>4. 실습 (Practice): 5개 종목 포트폴리오의 '최대 손실 리스크' 측정</a:t>
            </a:r>
          </a:p>
          <a:p>
            <a:r>
              <a:rPr sz="1100">
                <a:solidFill>
                  <a:srgbClr val="222222"/>
                </a:solidFill>
              </a:rPr>
              <a:t>•  과제 1: 163번 슬라이드의 WATCHLIST 종목(삼성전자, SK하이닉스 등)에 대해 231번 슬라이드에서 수집한 과거 1년치 데이터를 활용하여 공분산 행렬(Covariance Matrix)을 생성하십시오. [출처: 163, 231]</a:t>
            </a:r>
          </a:p>
          <a:p>
            <a:r>
              <a:rPr sz="1100">
                <a:solidFill>
                  <a:srgbClr val="222222"/>
                </a:solidFill>
              </a:rPr>
              <a:t>•  과제 2: 현재의 투자 비중을 입력했을 때, 시장 급락 시 내 자산이 하루에 몇 %까지 손실을 볼 수 있는지(VaR)를 계산하여 텔레그램으로 전송하는 기능을 구현하십시오. [출처: 172]</a:t>
            </a:r>
          </a:p>
          <a:p>
            <a:pPr>
              <a:spcBef>
                <a:spcPts val="600"/>
              </a:spcBef>
            </a:pPr>
            <a:r>
              <a:rPr sz="1300" b="1">
                <a:solidFill>
                  <a:srgbClr val="2E5984"/>
                </a:solidFill>
              </a:rPr>
              <a:t>5. 확장 (Expansion): '자율형 자산운용 에이전트'와 실전 매매 연동</a:t>
            </a:r>
          </a:p>
          <a:p>
            <a:r>
              <a:rPr sz="1100">
                <a:solidFill>
                  <a:srgbClr val="222222"/>
                </a:solidFill>
              </a:rPr>
              <a:t>•  고도화 전략: AI가 매일 아침 시장 국면(218번 슬라이드)을 판단하여, 위험 자산(주식)과 안전 자산(현금/채권)의 비중을 자동으로 조절하는 동적 자산 배분(Dynamic Asset Allocation)으로 진화합니다. [출처: 79, 218]</a:t>
            </a:r>
          </a:p>
          <a:p>
            <a:r>
              <a:rPr sz="1100">
                <a:solidFill>
                  <a:srgbClr val="222222"/>
                </a:solidFill>
              </a:rPr>
              <a:t>•  기술적 비전: 이를 한국투자증권이나 키움증권 등의 실전 매매 API와 연동하여, 분석부터 주문까지 인간의 개입이 없는 '자율형 1인 AI 헤지펀드' 인프라를 완성하며 본 과정의 비즈니스적 가치를 마침내 실현합니다. [출처: 64, 191]</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233  ·  202/216</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F</a:t>
            </a:r>
          </a:p>
          <a:p>
            <a:r>
              <a:rPr sz="1900" b="1">
                <a:solidFill>
                  <a:srgbClr val="FFFFFF"/>
                </a:solidFill>
              </a:rPr>
              <a:t>[203] 실전 시나리오 분석 및 스트레스 테스팅 - 블랙 스완 대응</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통계적 확률을 넘어서는 '극단적 예외 상황'에 대한 대비</a:t>
            </a:r>
          </a:p>
          <a:p>
            <a:r>
              <a:rPr sz="1100">
                <a:solidFill>
                  <a:srgbClr val="222222"/>
                </a:solidFill>
              </a:rPr>
              <a:t>•  정의: 과거의 블랙 스완 사례(금융위기, 팬데믹 등)나 가상의 극단적 시나리오를 시스템에 강제로 주입하여, 현재의 포트폴리오와 분석 로직이 어떻게 반응하는지 사전에 점검하는 기법입니다. [출처: 17, 93]</a:t>
            </a:r>
          </a:p>
          <a:p>
            <a:r>
              <a:rPr sz="1100">
                <a:solidFill>
                  <a:srgbClr val="222222"/>
                </a:solidFill>
              </a:rPr>
              <a:t>•  핵심 가치: 평시에는 보이지 않던 시스템의 취약점(예: 특정 섹터에 편중된 리스크)을 발견하고, 실제 위기 발생 시 에이전트가 당황하지 않고 '비상 대응 매뉴얼(Action Plan)'을 실행하게 만듭니다. [출처: 64, 172]</a:t>
            </a:r>
          </a:p>
          <a:p>
            <a:pPr>
              <a:spcBef>
                <a:spcPts val="600"/>
              </a:spcBef>
            </a:pPr>
            <a:r>
              <a:rPr sz="1300" b="1">
                <a:solidFill>
                  <a:srgbClr val="2E5984"/>
                </a:solidFill>
              </a:rPr>
              <a:t>2. 아키텍처 (Architecture): 시나리오 주입 및 비상 대응 파이프라인 [출처: 18, 136, 172]</a:t>
            </a:r>
          </a:p>
          <a:p>
            <a:r>
              <a:rPr sz="1100">
                <a:solidFill>
                  <a:srgbClr val="222222"/>
                </a:solidFill>
              </a:rPr>
              <a:t>•  구조:</a:t>
            </a:r>
          </a:p>
          <a:p>
            <a:r>
              <a:rPr sz="1100">
                <a:solidFill>
                  <a:srgbClr val="222222"/>
                </a:solidFill>
              </a:rPr>
              <a:t>•  시나리오 생성기: [환율 +20% / 지수 -10% / 금리 +1%p]와 같은 복합 충격 변수 설정. [출처: 17, 18]</a:t>
            </a:r>
          </a:p>
          <a:p>
            <a:r>
              <a:rPr sz="1100">
                <a:solidFill>
                  <a:srgbClr val="222222"/>
                </a:solidFill>
              </a:rPr>
              <a:t>•  분석 엔진 시뮬레이션: 218번 슬라이드의 루브릭과 233번의 VaR 엔진을 통해 예상 손실 및 등급 변화 측정. [출처: 218, 233]</a:t>
            </a:r>
          </a:p>
          <a:p>
            <a:r>
              <a:rPr sz="1100">
                <a:solidFill>
                  <a:srgbClr val="222222"/>
                </a:solidFill>
              </a:rPr>
              <a:t>•  에이전트 의사결정: CrewAI 에이전트들이 비상 회의를 소집하여 자산 매도 또는 헤지(Hedge) 전략 수립. [출처: 183, 199]</a:t>
            </a:r>
          </a:p>
          <a:p>
            <a:r>
              <a:rPr sz="1100">
                <a:solidFill>
                  <a:srgbClr val="222222"/>
                </a:solidFill>
              </a:rPr>
              <a:t>•  비상 알림: 텔레그램을 통해 'CRITICAL ALERT' 발송 및 자동 리밸런싱 준비. [출처: 162, 172]</a:t>
            </a:r>
          </a:p>
          <a:p>
            <a:pPr>
              <a:spcBef>
                <a:spcPts val="600"/>
              </a:spcBef>
            </a:pPr>
            <a:r>
              <a:rPr sz="1300" b="1">
                <a:solidFill>
                  <a:srgbClr val="2E5984"/>
                </a:solidFill>
              </a:rPr>
              <a:t>3. 소스코드 (Source Code): stress_test_simulator.py 구현 예시 [출처: 154, 182, 190]</a:t>
            </a:r>
          </a:p>
          <a:p>
            <a:r>
              <a:rPr sz="1100">
                <a:solidFill>
                  <a:srgbClr val="222222"/>
                </a:solidFill>
              </a:rPr>
              <a:t>•  핵심 로직: 현재 데이터에 가상의 충격을 가해 리스크 점수를 재계산하는 함수입니다.</a:t>
            </a:r>
          </a:p>
          <a:p>
            <a:pPr>
              <a:spcBef>
                <a:spcPts val="600"/>
              </a:spcBef>
            </a:pPr>
            <a:r>
              <a:rPr sz="1300" b="1">
                <a:solidFill>
                  <a:srgbClr val="2E5984"/>
                </a:solidFill>
              </a:rPr>
              <a:t>4. 실습 (Practice): '2020년 팬데믹 시나리오' 주입 및 에이전트 반응 테스트</a:t>
            </a:r>
          </a:p>
          <a:p>
            <a:r>
              <a:rPr sz="1100">
                <a:solidFill>
                  <a:srgbClr val="222222"/>
                </a:solidFill>
              </a:rPr>
              <a:t>•  과제 1: 18번 슬라이드의 '05_과거위기사례.txt' 내용을 참고하여, 환율과 금리가 동시 급등하는 환경을 run_stress_test에 입력하십시오. [출처: 18, 190]</a:t>
            </a:r>
          </a:p>
          <a:p>
            <a:r>
              <a:rPr sz="1100">
                <a:solidFill>
                  <a:srgbClr val="222222"/>
                </a:solidFill>
              </a:rPr>
              <a:t>•  과제 2: 시스템이 해당 상황을 'CRITICAL'로 분류하고, 233번 슬라이드에서 배운 VaR 한도 초과 알림을 텔레그램으로 즉시 전송하는지 검증하십시오. [출처: 172, 233]</a:t>
            </a:r>
          </a:p>
          <a:p>
            <a:pPr>
              <a:spcBef>
                <a:spcPts val="600"/>
              </a:spcBef>
            </a:pPr>
            <a:r>
              <a:rPr sz="1300" b="1">
                <a:solidFill>
                  <a:srgbClr val="2E5984"/>
                </a:solidFill>
              </a:rPr>
              <a:t>5. 확장 (Expansion): '자가 치유(Self-healing)' 방어 체계로의 진화</a:t>
            </a:r>
          </a:p>
          <a:p>
            <a:r>
              <a:rPr sz="1100">
                <a:solidFill>
                  <a:srgbClr val="222222"/>
                </a:solidFill>
              </a:rPr>
              <a:t>•  고도화 전략: 단순히 알림을 보내는 것을 넘어, 스트레스 테스트 결과에 따라 에이전트가 스스로 현금 비중을 선제적으로 조절하는 자율 방어 로직을 구축합니다. [출처: 79, 199]</a:t>
            </a:r>
          </a:p>
          <a:p>
            <a:r>
              <a:rPr sz="1100">
                <a:solidFill>
                  <a:srgbClr val="222222"/>
                </a:solidFill>
              </a:rPr>
              <a:t>•  기술적 비전: 229번 슬라이드의 평가(Eval) 시스템과 연계하여, 시뮬레이션된 위기 상황에서 에이전트의 판단 정확도가 낮을 경우 프롬프트를 자동 튜닝(228번 슬라이드)하는 완전 자율형 리스크 관리 에코시스템을 완성합니다. [출처: 228, 229]</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234  ·  203/216</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F</a:t>
            </a:r>
          </a:p>
          <a:p>
            <a:r>
              <a:rPr sz="1900" b="1">
                <a:solidFill>
                  <a:srgbClr val="FFFFFF"/>
                </a:solidFill>
              </a:rPr>
              <a:t>[204] 비정형 데이터의 지식 엔진화 - NotebookLM 및 OCR 기반 리서치 자동화</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텍스트를 넘어 이미지와 대규모 문서를 '지능'으로 변환</a:t>
            </a:r>
          </a:p>
          <a:p>
            <a:r>
              <a:rPr sz="1100">
                <a:solidFill>
                  <a:srgbClr val="222222"/>
                </a:solidFill>
              </a:rPr>
              <a:t>•  정의: 증권사 리포트(PDF), 신문 기사 사진(Image), 수백 페이지의 기업 연차보고서 등을 AI가 읽을 수 있는 형태로 추출하고, 이를 구조화된 지식 베이스로 구축하는 기술입니다. [출처: 76, 77]</a:t>
            </a:r>
          </a:p>
          <a:p>
            <a:r>
              <a:rPr sz="1100">
                <a:solidFill>
                  <a:srgbClr val="222222"/>
                </a:solidFill>
              </a:rPr>
              <a:t>•  핵심 가치: 219번 슬라이드에서 다룬 뉴스 RAG를 넘어, 도표와 차트가 포함된 이미지 데이터까지 AI의 추론 근거로 활용함으로써 분석의 깊이를 차별화합니다. [출처: 76, 156]</a:t>
            </a:r>
          </a:p>
          <a:p>
            <a:pPr>
              <a:spcBef>
                <a:spcPts val="600"/>
              </a:spcBef>
            </a:pPr>
            <a:r>
              <a:rPr sz="1300" b="1">
                <a:solidFill>
                  <a:srgbClr val="2E5984"/>
                </a:solidFill>
              </a:rPr>
              <a:t>2. 아키텍처 (Architecture): 비정형 데이터 처리 및 지식화 파이프라인 [출처: 76, 77, 80]</a:t>
            </a:r>
          </a:p>
          <a:p>
            <a:r>
              <a:rPr sz="1100">
                <a:solidFill>
                  <a:srgbClr val="222222"/>
                </a:solidFill>
              </a:rPr>
              <a:t>•  지식 추출 흐름:</a:t>
            </a:r>
          </a:p>
          <a:p>
            <a:r>
              <a:rPr sz="1100">
                <a:solidFill>
                  <a:srgbClr val="222222"/>
                </a:solidFill>
              </a:rPr>
              <a:t>•  Ingestion: PDF, 이미지, 웹페이지 링크 수집. [출처: 76, 80]</a:t>
            </a:r>
          </a:p>
          <a:p>
            <a:r>
              <a:rPr sz="1100">
                <a:solidFill>
                  <a:srgbClr val="222222"/>
                </a:solidFill>
              </a:rPr>
              <a:t>•  Processing: OCR(Tesseract, Google Vision 등)을 통한 이미지 내 텍스트 추출. [출처: 77]</a:t>
            </a:r>
          </a:p>
          <a:p>
            <a:r>
              <a:rPr sz="1100">
                <a:solidFill>
                  <a:srgbClr val="222222"/>
                </a:solidFill>
              </a:rPr>
              <a:t>•  Synthesis: NotebookLM을 활용한 대규모 문서 요약 및 소스 기반 인덱싱. [출처: 76]</a:t>
            </a:r>
          </a:p>
          <a:p>
            <a:r>
              <a:rPr sz="1100">
                <a:solidFill>
                  <a:srgbClr val="222222"/>
                </a:solidFill>
              </a:rPr>
              <a:t>•  Integration: 추출된 지식을 221번 슬라이드의 통합 온톨로지와 연동하여 에이전트에게 전달. [출처: 168, 221]</a:t>
            </a:r>
          </a:p>
          <a:p>
            <a:pPr>
              <a:spcBef>
                <a:spcPts val="600"/>
              </a:spcBef>
            </a:pPr>
            <a:r>
              <a:rPr sz="1300" b="1">
                <a:solidFill>
                  <a:srgbClr val="2E5984"/>
                </a:solidFill>
              </a:rPr>
              <a:t>3. 구현 기법 (Source Code): OCR 기반 데이터 추출 및 JSON 변환 [출처: 77, 87, 190]</a:t>
            </a:r>
          </a:p>
          <a:p>
            <a:r>
              <a:rPr sz="1100">
                <a:solidFill>
                  <a:srgbClr val="222222"/>
                </a:solidFill>
              </a:rPr>
              <a:t>•  핵심 구현: 이미지 파일에서 텍스트를 추출하여 분석 엔진에 전달하는 예시입니다.</a:t>
            </a:r>
          </a:p>
          <a:p>
            <a:pPr>
              <a:spcBef>
                <a:spcPts val="600"/>
              </a:spcBef>
            </a:pPr>
            <a:r>
              <a:rPr sz="1300" b="1">
                <a:solidFill>
                  <a:srgbClr val="2E5984"/>
                </a:solidFill>
              </a:rPr>
              <a:t>4. 실습 (Practice): '차트 이미지' 분석 및 리서치 에이전트 연동 [출처: 76, 191]</a:t>
            </a:r>
          </a:p>
          <a:p>
            <a:r>
              <a:rPr sz="1100">
                <a:solidFill>
                  <a:srgbClr val="222222"/>
                </a:solidFill>
              </a:rPr>
              <a:t>•  과제 1: 제공된 '삼성전자_수급차트.png' 파일을 OCR 엔진으로 읽어, 외국인 순매수 수치를 텍스트로 추출한 뒤 218번 슬라이드의 수급 스코어링 로직에 입력값으로 활용하십시오. [출처: 77, 218]</a:t>
            </a:r>
          </a:p>
          <a:p>
            <a:r>
              <a:rPr sz="1100">
                <a:solidFill>
                  <a:srgbClr val="222222"/>
                </a:solidFill>
              </a:rPr>
              <a:t>•  과제 2: NotebookLM에 50개의 반도체 산업 리포트(PDF)를 업로드하고, "최근 HBM 공정 리스크의 공통점은 무엇인가?"라는 질문에 대한 답변을 생성하여 분석 보고서에 포함하십시오. [출처: 76, 191]</a:t>
            </a:r>
          </a:p>
          <a:p>
            <a:pPr>
              <a:spcBef>
                <a:spcPts val="600"/>
              </a:spcBef>
            </a:pPr>
            <a:r>
              <a:rPr sz="1300" b="1">
                <a:solidFill>
                  <a:srgbClr val="2E5984"/>
                </a:solidFill>
              </a:rPr>
              <a:t>5. 확장 (Expansion): '무한 지식형' AI 리서치 센터로의 진화 [출처: 79, 199]</a:t>
            </a:r>
          </a:p>
          <a:p>
            <a:r>
              <a:rPr sz="1100">
                <a:solidFill>
                  <a:srgbClr val="222222"/>
                </a:solidFill>
              </a:rPr>
              <a:t>•  고도화 전략: 단순히 텍스트를 읽는 수준을 넘어, 에이전트가 차트의 추세와 캔들 패턴을 시각적으로 인지하여 의견을 제시하는 멀티모달(Multimodal) 분석 엔진으로 확장합니다. [출처: 79, 183]</a:t>
            </a:r>
          </a:p>
          <a:p>
            <a:r>
              <a:rPr sz="1100">
                <a:solidFill>
                  <a:srgbClr val="222222"/>
                </a:solidFill>
              </a:rPr>
              <a:t>•  기술적 비전: 230번 슬라이드의 엔터프라이즈 플랫폼 내에 사내 모든 리서치 자산이 축적된 'AI 지식 라이브러리'를 구축하여, 24x365 중단 없이 새로운 지식을 학습하고 보고서를 업데이트하는 초지능형 리서치 워크포스를 완성합니다. [출처: 79, 230]</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238  ·  204/216</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73152"/>
          </a:xfrm>
          <a:prstGeom prst="rect">
            <a:avLst/>
          </a:prstGeom>
          <a:solidFill>
            <a:srgbClr val="6E8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834640"/>
            <a:ext cx="10515600" cy="1463040"/>
          </a:xfrm>
          <a:prstGeom prst="rect">
            <a:avLst/>
          </a:prstGeom>
          <a:noFill/>
        </p:spPr>
        <p:txBody>
          <a:bodyPr wrap="square">
            <a:spAutoFit/>
          </a:bodyPr>
          <a:lstStyle/>
          <a:p>
            <a:r>
              <a:rPr sz="1600">
                <a:solidFill>
                  <a:srgbClr val="9FB4F5"/>
                </a:solidFill>
              </a:rPr>
              <a:t>[수료후·심화]</a:t>
            </a:r>
          </a:p>
          <a:p>
            <a:r>
              <a:rPr sz="2800" b="1">
                <a:solidFill>
                  <a:srgbClr val="FFFFFF"/>
                </a:solidFill>
              </a:rPr>
              <a:t>트랙 G — 컴플라이언스·데이터 거버넌스</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G</a:t>
            </a:r>
          </a:p>
          <a:p>
            <a:r>
              <a:rPr sz="1900" b="1">
                <a:solidFill>
                  <a:srgbClr val="FFFFFF"/>
                </a:solidFill>
              </a:rPr>
              <a:t>[205] AI 금융 컴플라이언스 및 데이터 거버넌스</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신뢰할 수 있는 AI 금융 서비스의 기반, '컴플라이언스'</a:t>
            </a:r>
          </a:p>
          <a:p>
            <a:r>
              <a:rPr sz="1100">
                <a:solidFill>
                  <a:srgbClr val="222222"/>
                </a:solidFill>
              </a:rPr>
              <a:t>•  정의: AI가 생성하는 금융 정보의 정확성을 담보하고, 데이터 저작권 및 투자자 보호 규정을 준수하여 서비스의 법적 리스크를 제거하는 관리 체계입니다. [출처: 170, 171]</a:t>
            </a:r>
          </a:p>
          <a:p>
            <a:r>
              <a:rPr sz="1100">
                <a:solidFill>
                  <a:srgbClr val="222222"/>
                </a:solidFill>
              </a:rPr>
              <a:t>•  핵심 가치: 기술적 완성도보다 중요한 것은 '사용자의 자산 보호'이며, 아키텍트는 설계 단계부터 데이터 라이선스와 투자자 고지 의무를 아키텍처에 내재화해야 합니다. [출처: 64, 171]</a:t>
            </a:r>
          </a:p>
          <a:p>
            <a:pPr>
              <a:spcBef>
                <a:spcPts val="600"/>
              </a:spcBef>
            </a:pPr>
            <a:r>
              <a:rPr sz="1300" b="1">
                <a:solidFill>
                  <a:srgbClr val="2E5984"/>
                </a:solidFill>
              </a:rPr>
              <a:t>2. 아키텍처 (Architecture): 3중 보안 및 규제 준수 거버넌스 프레임워크 [출처: 171]</a:t>
            </a:r>
          </a:p>
          <a:p>
            <a:r>
              <a:rPr sz="1100">
                <a:solidFill>
                  <a:srgbClr val="222222"/>
                </a:solidFill>
              </a:rPr>
              <a:t>•  데이터 거버넌스: [DART/ECOS/KOSCOM] → [이용약관 검토] → [제3자 재배포 금지 준수] → [정제된 정보 제공].</a:t>
            </a:r>
          </a:p>
          <a:p>
            <a:r>
              <a:rPr sz="1100">
                <a:solidFill>
                  <a:srgbClr val="222222"/>
                </a:solidFill>
              </a:rPr>
              <a:t>•  AI 윤리 및 안전: [GPT 추론] → [할루네이션(환각) 검증] → [API Key 은닉(.env)] → [보안 필터링]. [출처: 142, 175]</a:t>
            </a:r>
          </a:p>
          <a:p>
            <a:r>
              <a:rPr sz="1100">
                <a:solidFill>
                  <a:srgbClr val="222222"/>
                </a:solidFill>
              </a:rPr>
              <a:t>•  사용자 보호: [리포트 생성] → [투자자문 고지문 자동 삽입] → [최종 배포]. [출처: 183, 185]</a:t>
            </a:r>
          </a:p>
          <a:p>
            <a:pPr>
              <a:spcBef>
                <a:spcPts val="600"/>
              </a:spcBef>
            </a:pPr>
            <a:r>
              <a:rPr sz="1300" b="1">
                <a:solidFill>
                  <a:srgbClr val="2E5984"/>
                </a:solidFill>
              </a:rPr>
              <a:t>3. 실무 가이드라인 (Guidelines): 아키텍트가 지켜야 할 3대 안전 수칙 [출처: 149, 171, 189]</a:t>
            </a:r>
          </a:p>
          <a:p>
            <a:r>
              <a:rPr sz="1100">
                <a:solidFill>
                  <a:srgbClr val="222222"/>
                </a:solidFill>
              </a:rPr>
              <a:t>•  원칙 1. 데이터 라이선스 준수: 코스콤 등 유료/계약 데이터의 경우, 계약 범위를 벗어난 원천 데이터의 외부 유출이나 상업적 재배포 여부를 반드시 확인하십시오. [출처: 149, 171]</a:t>
            </a:r>
          </a:p>
          <a:p>
            <a:r>
              <a:rPr sz="1100">
                <a:solidFill>
                  <a:srgbClr val="222222"/>
                </a:solidFill>
              </a:rPr>
              <a:t>•  원칙 2. 투자자문 고지 의무: 모든 리포트 하단에 "본 자료는 정보 제공용이며 특정 종목의 매수·매도 권유가 아님"과 "투자 책임은 본인에게 있음" 문구를 강제 삽입하십시오. [출처: 170, 183]</a:t>
            </a:r>
          </a:p>
          <a:p>
            <a:r>
              <a:rPr sz="1100">
                <a:solidFill>
                  <a:srgbClr val="222222"/>
                </a:solidFill>
              </a:rPr>
              <a:t>•  원칙 3. 보안 자산 보호: .env 파일의 GitHub 업로드 금지, API Key의 프론트엔드 노출 금지 등 기술적 보안 수칙을 엄격히 적용하십시오. [출처: 142, 189]</a:t>
            </a:r>
          </a:p>
          <a:p>
            <a:pPr>
              <a:spcBef>
                <a:spcPts val="600"/>
              </a:spcBef>
            </a:pPr>
            <a:r>
              <a:rPr sz="1300" b="1">
                <a:solidFill>
                  <a:srgbClr val="2E5984"/>
                </a:solidFill>
              </a:rPr>
              <a:t>4. 실습 (Practice): '투자자 보호 로직' 소스코드 적용 및 검증 [출처: 183, 185]</a:t>
            </a:r>
          </a:p>
          <a:p>
            <a:r>
              <a:rPr sz="1100">
                <a:solidFill>
                  <a:srgbClr val="222222"/>
                </a:solidFill>
              </a:rPr>
              <a:t>•  과제 1: gpt_brief_agent.py의 REPORT_SCHEMA와 PDF 템플릿에 disclaimer 필드를 필수 항목으로 추가하고, GPT가 분석 결과 끝에 항상 고지문을 포함하도록 프롬프트를 수정하십시오. [출처: 183, 185]</a:t>
            </a:r>
          </a:p>
          <a:p>
            <a:r>
              <a:rPr sz="1100">
                <a:solidFill>
                  <a:srgbClr val="222222"/>
                </a:solidFill>
              </a:rPr>
              <a:t>•  과제 2: 텔레그램 봇 응답 시 결과 메시지 가장 하단에 투자자 보호 문구가 누락 없이 출력되는지 최종 전수 점검하십시오. [출처: 162, 170]</a:t>
            </a:r>
          </a:p>
          <a:p>
            <a:pPr>
              <a:spcBef>
                <a:spcPts val="600"/>
              </a:spcBef>
            </a:pPr>
            <a:r>
              <a:rPr sz="1300" b="1">
                <a:solidFill>
                  <a:srgbClr val="2E5984"/>
                </a:solidFill>
              </a:rPr>
              <a:t>5. 확장 (Expansion): '설명 가능한 AI(XAI)'와 레그테크(RegTech)로의 진화</a:t>
            </a:r>
          </a:p>
          <a:p>
            <a:r>
              <a:rPr sz="1100">
                <a:solidFill>
                  <a:srgbClr val="222222"/>
                </a:solidFill>
              </a:rPr>
              <a:t>•  고도화 전략: 단순히 결과만 보여주는 것을 넘어, AI가 왜 그런 투자 의견을 내놓았는지 데이터적 근거를 명확히 제시하는 '설명 가능한 금융 AI' 구조로 고도화합니다. [출처: 100, 168]</a:t>
            </a:r>
          </a:p>
          <a:p>
            <a:r>
              <a:rPr sz="1100">
                <a:solidFill>
                  <a:srgbClr val="222222"/>
                </a:solidFill>
              </a:rPr>
              <a:t>•  기술적 비전: 향후 금융 규제 변화에 AI가 스스로 대응하여 보고서 양식이나 고지 내용을 자동 업데이트하는 지능형 규제 대응 시스템(RegTech)으로 발전시켜 서비스의 영속성을 확보합니다. [출처: 64, 76]</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215  ·  205/216</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G</a:t>
            </a:r>
          </a:p>
          <a:p>
            <a:r>
              <a:rPr sz="1900" b="1">
                <a:solidFill>
                  <a:srgbClr val="FFFFFF"/>
                </a:solidFill>
              </a:rPr>
              <a:t>[206] AI 아키텍트를 위한 데이터 법률 및 라이선스 가이드</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기술 혁신과 법적 규제의 균형 잡기</a:t>
            </a:r>
          </a:p>
          <a:p>
            <a:r>
              <a:rPr sz="1100">
                <a:solidFill>
                  <a:srgbClr val="222222"/>
                </a:solidFill>
              </a:rPr>
              <a:t>•  정의: 공공데이터(DART, ECOS)와 유료 데이터(코스콤)를 활용함에 있어 각 제공 기관의 이용약관을 준수하고, 투자자에게 제공되는 AI 분석 결과의 법적 책임 한계를 명확히 하는 과정입니다. [출처: 171]</a:t>
            </a:r>
          </a:p>
          <a:p>
            <a:r>
              <a:rPr sz="1100">
                <a:solidFill>
                  <a:srgbClr val="222222"/>
                </a:solidFill>
              </a:rPr>
              <a:t>•  핵심 가치: 데이터 수집 권한이 곧 '재배포 권한'을 의미하지 않음을 인지하여, 저작권 위반 및 무인가 투자자문 행위 등 아키텍처 설계 단계에서 발생할 수 있는 법적 리스크를 사전에 차단합니다. [출처: 171]</a:t>
            </a:r>
          </a:p>
          <a:p>
            <a:pPr>
              <a:spcBef>
                <a:spcPts val="600"/>
              </a:spcBef>
            </a:pPr>
            <a:r>
              <a:rPr sz="1300" b="1">
                <a:solidFill>
                  <a:srgbClr val="2E5984"/>
                </a:solidFill>
              </a:rPr>
              <a:t>2. 아키텍처 (Architecture): 보안과 컴플라이언스를 고려한 데이터 흐름 [출처: 16, 171]</a:t>
            </a:r>
          </a:p>
          <a:p>
            <a:r>
              <a:rPr sz="1100">
                <a:solidFill>
                  <a:srgbClr val="222222"/>
                </a:solidFill>
              </a:rPr>
              <a:t>•  보안 계층 설계:</a:t>
            </a:r>
          </a:p>
          <a:p>
            <a:r>
              <a:rPr sz="1100">
                <a:solidFill>
                  <a:srgbClr val="222222"/>
                </a:solidFill>
              </a:rPr>
              <a:t>•  API Key 은닉: 프론트엔드(Streamlit)나 클라이언트 앱에 API Key가 절대 노출되지 않도록 서버(FastAPI) 레이어에서만 호출을 처리합니다. [출처: 171, 175]</a:t>
            </a:r>
          </a:p>
          <a:p>
            <a:r>
              <a:rPr sz="1100">
                <a:solidFill>
                  <a:srgbClr val="222222"/>
                </a:solidFill>
              </a:rPr>
              <a:t>•  데이터 가공 레이어: 로우 데이터(Raw Data)를 그대로 재배포하기보다, 시스템 내부에서 가공된 '분석 점수'나 '브리프' 형태로 변환하여 제공함으로써 데이터 라이선스 이슈를 우회합니다. [출처: 64, 154]</a:t>
            </a:r>
          </a:p>
          <a:p>
            <a:r>
              <a:rPr sz="1100">
                <a:solidFill>
                  <a:srgbClr val="222222"/>
                </a:solidFill>
              </a:rPr>
              <a:t>•  권한 관리: ALLOWED_USER_IDS를 통해 인가된 사용자만 데이터에 접근할 수 있도록 통제합니다. [출처: 36, 171]</a:t>
            </a:r>
          </a:p>
          <a:p>
            <a:pPr>
              <a:spcBef>
                <a:spcPts val="600"/>
              </a:spcBef>
            </a:pPr>
            <a:r>
              <a:rPr sz="1300" b="1">
                <a:solidFill>
                  <a:srgbClr val="2E5984"/>
                </a:solidFill>
              </a:rPr>
              <a:t>3. 준수사항 (Guidelines): 투자자 보호 고지문(Disclaimer) 필수 반영 [출처: 157, 170, 183]</a:t>
            </a:r>
          </a:p>
          <a:p>
            <a:r>
              <a:rPr sz="1100">
                <a:solidFill>
                  <a:srgbClr val="222222"/>
                </a:solidFill>
              </a:rPr>
              <a:t>•  법적 면책 문구 구현: 모든 리포트(PDF) 및 GPT 브리프 하단에 반드시 다음 문구를 포함해야 합니다. [출처: 157, 183]</a:t>
            </a:r>
          </a:p>
          <a:p>
            <a:r>
              <a:rPr sz="1100">
                <a:solidFill>
                  <a:srgbClr val="222222"/>
                </a:solidFill>
              </a:rPr>
              <a:t>•  문구 예시: "본 자료는 정보 제공 목적의 자동 생성 리포트이며, 특정 종목의 매수·매도 권유가 아닙니다. 투자 판단과 책임은 투자자 본인에게 있습니다." [출처: 170]</a:t>
            </a:r>
          </a:p>
          <a:p>
            <a:r>
              <a:rPr sz="1100">
                <a:solidFill>
                  <a:srgbClr val="222222"/>
                </a:solidFill>
              </a:rPr>
              <a:t>•  확정적 표현 자제: "무조건 오른다", "대박 종목" 등 GPT가 확정적이거나 과장된 표현을 사용하지 않도록 시스템 프롬프트에서 엄격히 제한합니다. [출처: 155]</a:t>
            </a:r>
          </a:p>
          <a:p>
            <a:pPr>
              <a:spcBef>
                <a:spcPts val="600"/>
              </a:spcBef>
            </a:pPr>
            <a:r>
              <a:rPr sz="1300" b="1">
                <a:solidFill>
                  <a:srgbClr val="2E5984"/>
                </a:solidFill>
              </a:rPr>
              <a:t>4. 실습 (Practice): 주요 데이터 소스별 이용약관 검토 및 고지문 적용</a:t>
            </a:r>
          </a:p>
          <a:p>
            <a:r>
              <a:rPr sz="1100">
                <a:solidFill>
                  <a:srgbClr val="222222"/>
                </a:solidFill>
              </a:rPr>
              <a:t>•  과제 1: 171번 슬라이드의 운영 안정화 체크리스트를 참고하여, DART, ECOS, 코스콤의 오픈 API 이용약관에서 '영업적 목적의 재배포 가능 범위'를 직접 조사하고 요약하십시오. [출처: 171, 190]</a:t>
            </a:r>
          </a:p>
          <a:p>
            <a:r>
              <a:rPr sz="1100">
                <a:solidFill>
                  <a:srgbClr val="222222"/>
                </a:solidFill>
              </a:rPr>
              <a:t>•  과제 2: 본인이 만든 pdf_report.py와 gpt_brief_agent.py 소스코드에 170번 슬라이드에서 제시된 '투자자 보호 고지문'이 누락 없이 삽입되어 있는지 확인하고 테스트 출력하십시오. [출처: 157, 170, 184]</a:t>
            </a:r>
          </a:p>
          <a:p>
            <a:pPr>
              <a:spcBef>
                <a:spcPts val="600"/>
              </a:spcBef>
            </a:pPr>
            <a:r>
              <a:rPr sz="1300" b="1">
                <a:solidFill>
                  <a:srgbClr val="2E5984"/>
                </a:solidFill>
              </a:rPr>
              <a:t>5. 확장 (Expansion): 글로벌 AI 규제 대응 및 투명한 AI(Explainable AI) 설계</a:t>
            </a:r>
          </a:p>
          <a:p>
            <a:r>
              <a:rPr sz="1100">
                <a:solidFill>
                  <a:srgbClr val="222222"/>
                </a:solidFill>
              </a:rPr>
              <a:t>•  고도화 전략: 향후 EU AI Act 등 글로벌 규제 트렌드에 맞춰 AI가 왜 해당 투자 등급을 내렸는지 근거 데이터(기술/재무/수급 등)를 투명하게 공개하는 설명 가능한 분석 체계를 강화합니다. [출처: 64, 228]</a:t>
            </a:r>
          </a:p>
          <a:p>
            <a:r>
              <a:rPr sz="1100">
                <a:solidFill>
                  <a:srgbClr val="222222"/>
                </a:solidFill>
              </a:rPr>
              <a:t>•  비전: 법률적 무결성을 갖춘 시스템은 230번 슬라이드에서 다룬 엔터프라이즈급 에이전트 플랫폼(EAP)으로 진화하기 위한 필수 조건이며, 이는 곧 서비스의 신뢰도와 상업적 가치로 직결됩니다. [출처: 16, 230]</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236  ·  206/216</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73152"/>
          </a:xfrm>
          <a:prstGeom prst="rect">
            <a:avLst/>
          </a:prstGeom>
          <a:solidFill>
            <a:srgbClr val="6E8B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834640"/>
            <a:ext cx="10515600" cy="1463040"/>
          </a:xfrm>
          <a:prstGeom prst="rect">
            <a:avLst/>
          </a:prstGeom>
          <a:noFill/>
        </p:spPr>
        <p:txBody>
          <a:bodyPr wrap="square">
            <a:spAutoFit/>
          </a:bodyPr>
          <a:lstStyle/>
          <a:p>
            <a:r>
              <a:rPr sz="1600">
                <a:solidFill>
                  <a:srgbClr val="9FB4F5"/>
                </a:solidFill>
              </a:rPr>
              <a:t>[수료후·심화]</a:t>
            </a:r>
          </a:p>
          <a:p>
            <a:r>
              <a:rPr sz="2800" b="1">
                <a:solidFill>
                  <a:srgbClr val="FFFFFF"/>
                </a:solidFill>
              </a:rPr>
              <a:t>트랙 H — 커리어·레퍼런스·마무리</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H</a:t>
            </a:r>
          </a:p>
          <a:p>
            <a:r>
              <a:rPr sz="1900" b="1">
                <a:solidFill>
                  <a:srgbClr val="FFFFFF"/>
                </a:solidFill>
              </a:rPr>
              <a:t>[207] 종합 마무리: AI 금융 아키텍트 최종 체크리스트 및 성장 로드맵</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기술적 구현을 넘어선 'AI 금융 시스템'의 완결성</a:t>
            </a:r>
          </a:p>
          <a:p>
            <a:r>
              <a:rPr sz="1100">
                <a:solidFill>
                  <a:srgbClr val="222222"/>
                </a:solidFill>
              </a:rPr>
              <a:t>•  정의: 이틀간의 교육을 통해 개별적으로 학습한 데이터 수집(ETL), 분석(Scoring), 추론(GPT), 배포(UI/Bot) 모듈이 하나의 유기적인 에이전틱 워크플로우(Agentic Workflow)로 작동함을 확증하는 단계입니다. [출처: 136, 171]</a:t>
            </a:r>
          </a:p>
          <a:p>
            <a:r>
              <a:rPr sz="1100">
                <a:solidFill>
                  <a:srgbClr val="222222"/>
                </a:solidFill>
              </a:rPr>
              <a:t>•  핵심 가치: "돌아가는 코드"를 넘어 "비즈니스 가치를 창출하는 지능형 금융 서비스"를 스스로 설계하고 운영할 수 있는 AI 아키텍트의 실전 역량을 최종 점검합니다. [출처: 67, 191]</a:t>
            </a:r>
          </a:p>
          <a:p>
            <a:pPr>
              <a:spcBef>
                <a:spcPts val="600"/>
              </a:spcBef>
            </a:pPr>
            <a:r>
              <a:rPr sz="1300" b="1">
                <a:solidFill>
                  <a:srgbClr val="2E5984"/>
                </a:solidFill>
              </a:rPr>
              <a:t>2. 아키텍처 (Architecture): 통합 금융 지능 파이프라인의 완성 [출처: 136, 138]</a:t>
            </a:r>
          </a:p>
          <a:p>
            <a:r>
              <a:rPr sz="1100">
                <a:solidFill>
                  <a:srgbClr val="222222"/>
                </a:solidFill>
              </a:rPr>
              <a:t>•  시스템 통합 구조: [멀티 데이터 소스(DART/ECOS/KOSCOM)] → [중앙 저장소(PostgreSQL)] → [지능형 오케스트레이터(FastAPI/Agent)] → [멀티 채널 인터페이스(Streamlit/Telegram)].</a:t>
            </a:r>
          </a:p>
          <a:p>
            <a:r>
              <a:rPr sz="1100">
                <a:solidFill>
                  <a:srgbClr val="222222"/>
                </a:solidFill>
              </a:rPr>
              <a:t>•  기술적 지향점: 개별 MVP(KOStockCrewAI, FnRiskWatch)가 서로의 데이터를 공유하고 보완하는 하이브리드 분석 체계의 기틀을 마련했습니다. [출처: 136, 173]</a:t>
            </a:r>
          </a:p>
          <a:p>
            <a:pPr>
              <a:spcBef>
                <a:spcPts val="600"/>
              </a:spcBef>
            </a:pPr>
            <a:r>
              <a:rPr sz="1300" b="1">
                <a:solidFill>
                  <a:srgbClr val="2E5984"/>
                </a:solidFill>
              </a:rPr>
              <a:t>3. 실무 체크리스트 (Checklist): 11개 핵심 항목 최종 검수 [출처: 171, 173]</a:t>
            </a:r>
          </a:p>
          <a:p>
            <a:r>
              <a:rPr sz="1100">
                <a:solidFill>
                  <a:srgbClr val="222222"/>
                </a:solidFill>
              </a:rPr>
              <a:t>•  인프라: PostgreSQL DB 및 Docker 기반 실행 환경 구축 완료.</a:t>
            </a:r>
          </a:p>
          <a:p>
            <a:r>
              <a:rPr sz="1100">
                <a:solidFill>
                  <a:srgbClr val="222222"/>
                </a:solidFill>
              </a:rPr>
              <a:t>•  데이터: DART/ECOS/코스콤 Open API 연동 및 데이터 적재 성공.</a:t>
            </a:r>
          </a:p>
          <a:p>
            <a:r>
              <a:rPr sz="1100">
                <a:solidFill>
                  <a:srgbClr val="222222"/>
                </a:solidFill>
              </a:rPr>
              <a:t>•  분석: 기술적(Indicator) 및 기본적(Financial) 분석 엔진 가동.</a:t>
            </a:r>
          </a:p>
          <a:p>
            <a:r>
              <a:rPr sz="1100">
                <a:solidFill>
                  <a:srgbClr val="222222"/>
                </a:solidFill>
              </a:rPr>
              <a:t>•  스코어링: 수급과 거시 지표를 포함한 종합 리스크 점수 산출.</a:t>
            </a:r>
          </a:p>
          <a:p>
            <a:r>
              <a:rPr sz="1100">
                <a:solidFill>
                  <a:srgbClr val="222222"/>
                </a:solidFill>
              </a:rPr>
              <a:t>•  지능: GPT Structured Output 기반의 정성적 투자 브리프 생성.</a:t>
            </a:r>
          </a:p>
          <a:p>
            <a:r>
              <a:rPr sz="1100">
                <a:solidFill>
                  <a:srgbClr val="222222"/>
                </a:solidFill>
              </a:rPr>
              <a:t>•  RAG: 지식 문서 검색을 통한 과거 사례 비교 및 분석 보완.</a:t>
            </a:r>
          </a:p>
          <a:p>
            <a:r>
              <a:rPr sz="1100">
                <a:solidFill>
                  <a:srgbClr val="222222"/>
                </a:solidFill>
              </a:rPr>
              <a:t>•  출력: 1페이지 전문가용 PDF 리포트 자동 생성.</a:t>
            </a:r>
          </a:p>
          <a:p>
            <a:r>
              <a:rPr sz="1100">
                <a:solidFill>
                  <a:srgbClr val="222222"/>
                </a:solidFill>
              </a:rPr>
              <a:t>•  인터페이스: 웹(Streamlit) 및 모바일(Telegram) 서비스 연동.</a:t>
            </a:r>
          </a:p>
          <a:p>
            <a:r>
              <a:rPr sz="1100">
                <a:solidFill>
                  <a:srgbClr val="222222"/>
                </a:solidFill>
              </a:rPr>
              <a:t>•  자동화: 24x365 운영을 위한 스케줄러 및 systemd 등록.</a:t>
            </a:r>
          </a:p>
          <a:p>
            <a:r>
              <a:rPr sz="1100">
                <a:solidFill>
                  <a:srgbClr val="222222"/>
                </a:solidFill>
              </a:rPr>
              <a:t>•  보안: API Key 은닉 및 투자자문 고지문(Disclaimer) 삽입.</a:t>
            </a:r>
          </a:p>
          <a:p>
            <a:r>
              <a:rPr sz="1100">
                <a:solidFill>
                  <a:srgbClr val="222222"/>
                </a:solidFill>
              </a:rPr>
              <a:t>•  유연성: 샘플 데이터 모드를 통한 즉각적인 데모 가능 여부.</a:t>
            </a:r>
          </a:p>
          <a:p>
            <a:pPr>
              <a:spcBef>
                <a:spcPts val="600"/>
              </a:spcBef>
            </a:pPr>
            <a:r>
              <a:rPr sz="1300" b="1">
                <a:solidFill>
                  <a:srgbClr val="2E5984"/>
                </a:solidFill>
              </a:rPr>
              <a:t>4. 실습 (Practice): 나만의 'AI 금융 비서' 배포 및 최종 시연</a:t>
            </a:r>
          </a:p>
          <a:p>
            <a:r>
              <a:rPr sz="1100">
                <a:solidFill>
                  <a:srgbClr val="222222"/>
                </a:solidFill>
              </a:rPr>
              <a:t>•  과제: 본인의 시스템에서 특정 종목(예: 삼성전자)을 입력하여 [수집 → 분석 → 리포트 → 텔레그램 발송]의 전 과정이 사람의 개입 없이 60초 이내에 완료되는지 확인하십시오. [출처: 136, 170]</a:t>
            </a:r>
          </a:p>
          <a:p>
            <a:r>
              <a:rPr sz="1100">
                <a:solidFill>
                  <a:srgbClr val="222222"/>
                </a:solidFill>
              </a:rPr>
              <a:t>•  최종 피드백: 생성된 결과물의 논리적 타당성을 검토하고, README 가이드를 따라 타인의 환경에서도 동일하게 작동하는지 검증합니다. [출처: 188, 191]</a:t>
            </a:r>
          </a:p>
          <a:p>
            <a:pPr>
              <a:spcBef>
                <a:spcPts val="600"/>
              </a:spcBef>
            </a:pPr>
            <a:r>
              <a:rPr sz="1300" b="1">
                <a:solidFill>
                  <a:srgbClr val="2E5984"/>
                </a:solidFill>
              </a:rPr>
              <a:t>5. 확장 (Expansion): AI 금융 전문가로 진화하는 8단계 로드맵 [출처: 173]</a:t>
            </a:r>
          </a:p>
          <a:p>
            <a:r>
              <a:rPr sz="1100">
                <a:solidFill>
                  <a:srgbClr val="222222"/>
                </a:solidFill>
              </a:rPr>
              <a:t>•  성장 경로:</a:t>
            </a:r>
          </a:p>
          <a:p>
            <a:r>
              <a:rPr sz="1100">
                <a:solidFill>
                  <a:srgbClr val="222222"/>
                </a:solidFill>
              </a:rPr>
              <a:t>•  단일 종목 리포트 → 2. 포트폴리오 통합 분석 → 3. 실시간 시장 스트리밍 대응 → 4. RAG 기반 지능형 메모리 확장 → 5. CrewAI 기반 멀티에이전트 협업 → 6. 자율형 투자 전략 추천 → 7. 능동형 리스크 경고 시스템 → 8. 초개인화 AI 투자 비서 완성.</a:t>
            </a:r>
          </a:p>
          <a:p>
            <a:r>
              <a:rPr sz="1100">
                <a:solidFill>
                  <a:srgbClr val="222222"/>
                </a:solidFill>
              </a:rPr>
              <a:t>•  비전: 이번 교육을 통해 확보한 기술 스택은 핀테크 창업 및 기업 내 신규 서비스 개발의 강력한 템플릿이 될 것입니다. [출처: 64, 65]</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196  ·  207/216</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H</a:t>
            </a:r>
          </a:p>
          <a:p>
            <a:r>
              <a:rPr sz="1900" b="1">
                <a:solidFill>
                  <a:srgbClr val="FFFFFF"/>
                </a:solidFill>
              </a:rPr>
              <a:t>[208] Q&amp;A 및 맺음말: AI 금융 아키텍트의 여정, 그 시작을 위하여</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질의응답을 통한 '지식의 내재화'와 네트워킹</a:t>
            </a:r>
          </a:p>
          <a:p>
            <a:r>
              <a:rPr sz="1100">
                <a:solidFill>
                  <a:srgbClr val="222222"/>
                </a:solidFill>
              </a:rPr>
              <a:t>•  정의: 16시간 동안 습득한 방대한 기술 스택(FastAPI, GPT, RAG, Telegram 등) 중 모호한 부분을 명확히 해결하고, 동료 아키텍트들과의 연결을 통해 지속 가능한 성장 기반을 닦는 시간입니다. [출처: 100, 191]</a:t>
            </a:r>
          </a:p>
          <a:p>
            <a:r>
              <a:rPr sz="1100">
                <a:solidFill>
                  <a:srgbClr val="222222"/>
                </a:solidFill>
              </a:rPr>
              <a:t>•  핵심 가치: 질문은 단순한 궁금증 해결을 넘어, 자신이 구축한 MVP의 취약점을 보완하고 새로운 비즈니스 인사이트를 얻는 피드백 루프의 핵심입니다. [출처: 67, 100]</a:t>
            </a:r>
          </a:p>
          <a:p>
            <a:pPr>
              <a:spcBef>
                <a:spcPts val="600"/>
              </a:spcBef>
            </a:pPr>
            <a:r>
              <a:rPr sz="1300" b="1">
                <a:solidFill>
                  <a:srgbClr val="2E5984"/>
                </a:solidFill>
              </a:rPr>
              <a:t>2. 아키텍처 (Architecture): 교육 후 사후 지원 및 자원 공유 생태계</a:t>
            </a:r>
          </a:p>
          <a:p>
            <a:r>
              <a:rPr sz="1100">
                <a:solidFill>
                  <a:srgbClr val="222222"/>
                </a:solidFill>
              </a:rPr>
              <a:t>•  사후 지원 구조: [소스코드 저장소(GitHub)] ↔ [기술 업데이트 채널(Telegram)] ↔ [데이터맵 커뮤니티]. [출처: 95, 139]</a:t>
            </a:r>
          </a:p>
          <a:p>
            <a:r>
              <a:rPr sz="1100">
                <a:solidFill>
                  <a:srgbClr val="222222"/>
                </a:solidFill>
              </a:rPr>
              <a:t>•  자원 활용: 교육 과정에서 사용된 35개 이상의 기술 스택 가이드와 10대 핵심 산출물 템플릿은 향후 여러분의 개인 프로젝트나 기업용 솔루션 개발의 '참조 아키텍처(Reference Architecture)'로 활용됩니다. [출처: 139, 173]</a:t>
            </a:r>
          </a:p>
          <a:p>
            <a:pPr>
              <a:spcBef>
                <a:spcPts val="600"/>
              </a:spcBef>
            </a:pPr>
            <a:r>
              <a:rPr sz="1300" b="1">
                <a:solidFill>
                  <a:srgbClr val="2E5984"/>
                </a:solidFill>
              </a:rPr>
              <a:t>3. 참고 자료 (Resource List): 실무 현장에서 즉시 꺼내 쓰는 핵심 URL [출처: 139, 146, 147]</a:t>
            </a:r>
          </a:p>
          <a:p>
            <a:r>
              <a:rPr sz="1100">
                <a:solidFill>
                  <a:srgbClr val="222222"/>
                </a:solidFill>
              </a:rPr>
              <a:t>•  데이터 소스: OpenDART , 한국은행 ECOS, 코스콤 API.</a:t>
            </a:r>
          </a:p>
          <a:p>
            <a:r>
              <a:rPr sz="1100">
                <a:solidFill>
                  <a:srgbClr val="222222"/>
                </a:solidFill>
              </a:rPr>
              <a:t>•  개발 도구: FastAPI Docs, Streamlit Cloud, Telegram Bot API.</a:t>
            </a:r>
          </a:p>
          <a:p>
            <a:r>
              <a:rPr sz="1100">
                <a:solidFill>
                  <a:srgbClr val="222222"/>
                </a:solidFill>
              </a:rPr>
              <a:t>•  AI 엔진: OpenAI Platform, Google AI Studio(Gemini). [출처: 21, 139]</a:t>
            </a:r>
          </a:p>
          <a:p>
            <a:pPr>
              <a:spcBef>
                <a:spcPts val="600"/>
              </a:spcBef>
            </a:pPr>
            <a:r>
              <a:rPr sz="1300" b="1">
                <a:solidFill>
                  <a:srgbClr val="2E5984"/>
                </a:solidFill>
              </a:rPr>
              <a:t>4. 실습 (Practice): 16시간의 열정을 담은 '나만의 포트폴리오' 확정</a:t>
            </a:r>
          </a:p>
          <a:p>
            <a:r>
              <a:rPr sz="1100">
                <a:solidFill>
                  <a:srgbClr val="222222"/>
                </a:solidFill>
              </a:rPr>
              <a:t>•  최종 과제: 구축된 KOStockCrewAI 및 FnRiskWatch 소스코드를 본인의 GitHub 저장소에 업로드하고, README에 188~190번 슬라이드에서 배운 설치 가이드를 완벽히 정리하십시오. [출처: 188, 191]</a:t>
            </a:r>
          </a:p>
          <a:p>
            <a:r>
              <a:rPr sz="1100">
                <a:solidFill>
                  <a:srgbClr val="222222"/>
                </a:solidFill>
              </a:rPr>
              <a:t>•  성공 지표: "내 코드를 전혀 모르는 동료가 README만 보고 10분 안에 시스템을 구동할 수 있는가?"를 스스로 자문하며 최종 배포본을 완성하십시오. [출처: 188]</a:t>
            </a:r>
          </a:p>
          <a:p>
            <a:pPr>
              <a:spcBef>
                <a:spcPts val="600"/>
              </a:spcBef>
            </a:pPr>
            <a:r>
              <a:rPr sz="1300" b="1">
                <a:solidFill>
                  <a:srgbClr val="2E5984"/>
                </a:solidFill>
              </a:rPr>
              <a:t>5. 확장 (Expansion): 에이전틱 AI를 넘어 금융 특화 AGI 시대로</a:t>
            </a:r>
          </a:p>
          <a:p>
            <a:r>
              <a:rPr sz="1100">
                <a:solidFill>
                  <a:srgbClr val="222222"/>
                </a:solidFill>
              </a:rPr>
              <a:t>•  미래 비전: 여러분이 오늘 구축한 에이전트들은 내일이면 더 강력한 추론 능력(Reasoning)과 자율성(Autonomy)을 갖춘 금융 지능으로 진화할 것입니다. [출처: 64, 79]</a:t>
            </a:r>
          </a:p>
          <a:p>
            <a:r>
              <a:rPr sz="1100">
                <a:solidFill>
                  <a:srgbClr val="222222"/>
                </a:solidFill>
              </a:rPr>
              <a:t>•  마지막 조언: 기술은 멈추지 않고 변하지만, 데이터를 이해하고 시스템을 설계하는 아키텍트의 본질은 변하지 않습니다. [출처: 100] AI와 함께 증권 데이터를 지배하는 '최고의 AI 금융 전문가'가 되시길 진심으로 응원합니다. [출처: 28, 64]</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197  ·  208/216</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H</a:t>
            </a:r>
          </a:p>
          <a:p>
            <a:r>
              <a:rPr sz="1900" b="1">
                <a:solidFill>
                  <a:srgbClr val="FFFFFF"/>
                </a:solidFill>
              </a:rPr>
              <a:t>[209] 에필로그: 에이전틱 금융의 미래 - AI 아키텍트에서 금융 지능 오케스트레이터로</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기술의 복잡성을 비즈니스의 단순함으로 전환하는 힘</a:t>
            </a:r>
          </a:p>
          <a:p>
            <a:r>
              <a:rPr sz="1100">
                <a:solidFill>
                  <a:srgbClr val="222222"/>
                </a:solidFill>
              </a:rPr>
              <a:t>•  정의: 200여 장의 슬라이드를 통해 학습한 데이터 수집, 분석, 추론, 자동화 기술을 하나로 엮어 사용자에게 실질적인 투자 수익과 시간 절약의 가치를 제공하는 오케스트레이션의 완결입니다. [출처: 65, 101]</a:t>
            </a:r>
          </a:p>
          <a:p>
            <a:r>
              <a:rPr sz="1100">
                <a:solidFill>
                  <a:srgbClr val="222222"/>
                </a:solidFill>
              </a:rPr>
              <a:t>•  핵심 가치: AI 아키텍트는 단순히 코딩하는 사람이 아니라, 파편화된 금융 데이터에 지능적 생명력을 불어넣어 의사결정의 질을 혁신하는 시스템의 설계자입니다. [출처: 67, 100]</a:t>
            </a:r>
          </a:p>
          <a:p>
            <a:pPr>
              <a:spcBef>
                <a:spcPts val="600"/>
              </a:spcBef>
            </a:pPr>
            <a:r>
              <a:rPr sz="1300" b="1">
                <a:solidFill>
                  <a:srgbClr val="2E5984"/>
                </a:solidFill>
              </a:rPr>
              <a:t>2. 아키텍처 (Architecture): 인간과 에이전트가 공존하는 '금융 지능 생태계' [출처: 136, 199]</a:t>
            </a:r>
          </a:p>
          <a:p>
            <a:r>
              <a:rPr sz="1100">
                <a:solidFill>
                  <a:srgbClr val="222222"/>
                </a:solidFill>
              </a:rPr>
              <a:t>•  최종 아키텍처: [사용자 직관(Prompt)] → [자율 에이전트 군단(CrewAI)] → [실시간 데이터 레이크(KOSCOM/ECOS/DART)] → [가치 판단 엔진(GPT-5.1)] → [실행 및 배포(Telegram/PDF)].</a:t>
            </a:r>
          </a:p>
          <a:p>
            <a:r>
              <a:rPr sz="1100">
                <a:solidFill>
                  <a:srgbClr val="222222"/>
                </a:solidFill>
              </a:rPr>
              <a:t>•  진화 방향: 고정된 워크플로우를 넘어, 상황에 따라 에이전트가 스스로 도구를 선택하고 전략을 수정하는 적응형 금융 지능(Adaptive Financial Intelligence)으로 나아갑니다. [출처: 76, 79]</a:t>
            </a:r>
          </a:p>
          <a:p>
            <a:pPr>
              <a:spcBef>
                <a:spcPts val="600"/>
              </a:spcBef>
            </a:pPr>
            <a:r>
              <a:rPr sz="1300" b="1">
                <a:solidFill>
                  <a:srgbClr val="2E5984"/>
                </a:solidFill>
              </a:rPr>
              <a:t>3. 핵심 코드 (Philosophy): 지속 가능한 성장을 위한 '클린 아키텍처'의 원칙 [출처: 174, 191]</a:t>
            </a:r>
          </a:p>
          <a:p>
            <a:r>
              <a:rPr sz="1100">
                <a:solidFill>
                  <a:srgbClr val="222222"/>
                </a:solidFill>
              </a:rPr>
              <a:t>•  유지보수성: "나의 코드가 남에게 읽히기 쉬워야 시스템은 영속한다." - 모든 모듈에 대한 Adapter 구조와 Structured Output 적용. [출처: 174, 182]</a:t>
            </a:r>
          </a:p>
          <a:p>
            <a:r>
              <a:rPr sz="1100">
                <a:solidFill>
                  <a:srgbClr val="222222"/>
                </a:solidFill>
              </a:rPr>
              <a:t>•  보안과 윤리: .env를 통한 철저한 Key 관리와 리포트 내 투자자문 고지문(Disclaimer) 삽입은 기술보다 중요한 아키텍트의 자질입니다. [출처: 183, 189]</a:t>
            </a:r>
          </a:p>
          <a:p>
            <a:pPr>
              <a:spcBef>
                <a:spcPts val="600"/>
              </a:spcBef>
            </a:pPr>
            <a:r>
              <a:rPr sz="1300" b="1">
                <a:solidFill>
                  <a:srgbClr val="2E5984"/>
                </a:solidFill>
              </a:rPr>
              <a:t>4. 실습 (Practice): 200번의 기록을 넘어선 '첫 번째 실전 시스템' 기동 [출처: 173, 191]</a:t>
            </a:r>
          </a:p>
          <a:p>
            <a:r>
              <a:rPr sz="1100">
                <a:solidFill>
                  <a:srgbClr val="222222"/>
                </a:solidFill>
              </a:rPr>
              <a:t>•  최종 미션: 구축한 KOStockCrewAI 또는 FnRiskWatch 시스템을 기반으로, 내일 아침 오전 7시에 전송될 본인의 첫 번째 AI 데일리 브리핑을 기대하며 시스템을 최종 Deploy 하십시오. [출처: 187]</a:t>
            </a:r>
          </a:p>
          <a:p>
            <a:r>
              <a:rPr sz="1100">
                <a:solidFill>
                  <a:srgbClr val="222222"/>
                </a:solidFill>
              </a:rPr>
              <a:t>•  검증: "이 시스템이 나 대신 24시간 시장을 감시하고 있는가?" - 스케줄러와 텔레그램 봇의 연결 상태를 마지막으로 점검하십시오. [출처: 186, 187]</a:t>
            </a:r>
          </a:p>
          <a:p>
            <a:pPr>
              <a:spcBef>
                <a:spcPts val="600"/>
              </a:spcBef>
            </a:pPr>
            <a:r>
              <a:rPr sz="1300" b="1">
                <a:solidFill>
                  <a:srgbClr val="2E5984"/>
                </a:solidFill>
              </a:rPr>
              <a:t>5. 확장 (Expansion): AI 아키텍트를 넘어 금융 AI 창업가(Entrepreneur)로 [출처: 62, 76]</a:t>
            </a:r>
          </a:p>
          <a:p>
            <a:r>
              <a:rPr sz="1100">
                <a:solidFill>
                  <a:srgbClr val="222222"/>
                </a:solidFill>
              </a:rPr>
              <a:t>•  고도화 전략: 이번 캡스톤 과정을 통해 확보한 MVP는 시작일 뿐입니다. 바이브 코딩(Vibe Coding)과 Deep Research 기법을 결합하여, 세상에 없던 초개인화 자산관리 서비스를 현실화하십시오. [출처: 76, 77]</a:t>
            </a:r>
          </a:p>
          <a:p>
            <a:r>
              <a:rPr sz="1100">
                <a:solidFill>
                  <a:srgbClr val="222222"/>
                </a:solidFill>
              </a:rPr>
              <a:t>•  비전: 여러분은 이제 증권 데이터를 지배하는 AI 아키텍트입니다. 기술의 파도 위에서 금융의 미래를 설계하는 주인공이 되시길 기원합니다. 수고하셨습니다! [출처: 64, 191]</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200  ·  209/216</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H</a:t>
            </a:r>
          </a:p>
          <a:p>
            <a:r>
              <a:rPr sz="1900" b="1">
                <a:solidFill>
                  <a:srgbClr val="FFFFFF"/>
                </a:solidFill>
              </a:rPr>
              <a:t>[210] AI 아키텍트의 커리어 로드맵 및 미래 핵심 역량</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코더(Coder)를 넘어 시스템 설계자(Orchestrator)로의 진화</a:t>
            </a:r>
          </a:p>
          <a:p>
            <a:r>
              <a:rPr sz="1100">
                <a:solidFill>
                  <a:srgbClr val="222222"/>
                </a:solidFill>
              </a:rPr>
              <a:t>•  정의: AI 아키텍트는 단순한 코드 구현을 넘어 데이터 파이프라인 설계, 모델 선택, API 게이트웨이, 그리고 시스템의 안정적인 운영(MLOps)을 총괄하는 오케스트레이션 역할을 수행합니다.</a:t>
            </a:r>
          </a:p>
          <a:p>
            <a:r>
              <a:rPr sz="1100">
                <a:solidFill>
                  <a:srgbClr val="222222"/>
                </a:solidFill>
              </a:rPr>
              <a:t>•  핵심 가치: 기술적 복잡성을 비즈니스 가치로 변환하는 능력이 아키텍트의 가장 큰 자산이며, 이는 단순한 도구 사용자와 전문가를 가르는 기준이 됩니다.</a:t>
            </a:r>
          </a:p>
          <a:p>
            <a:pPr>
              <a:spcBef>
                <a:spcPts val="600"/>
              </a:spcBef>
            </a:pPr>
            <a:r>
              <a:rPr sz="1300" b="1">
                <a:solidFill>
                  <a:srgbClr val="2E5984"/>
                </a:solidFill>
              </a:rPr>
              <a:t>2. 아키텍처 (Architecture): AI 아키텍트의 3대 지능형 스택</a:t>
            </a:r>
          </a:p>
          <a:p>
            <a:r>
              <a:rPr sz="1100">
                <a:solidFill>
                  <a:srgbClr val="222222"/>
                </a:solidFill>
              </a:rPr>
              <a:t>•  데이터 레이어(Data Mastery): ETL, 시계열 DB, API 파이프라인을 자동화하고 관리하는 능력.</a:t>
            </a:r>
          </a:p>
          <a:p>
            <a:r>
              <a:rPr sz="1100">
                <a:solidFill>
                  <a:srgbClr val="222222"/>
                </a:solidFill>
              </a:rPr>
              <a:t>•  지능 레이어(Intelligence Design): LLM 및 프롬프트 엔지니어링, RAG 아키텍처를 비즈니스 논리에 맞게 설계하는 능력.</a:t>
            </a:r>
          </a:p>
          <a:p>
            <a:r>
              <a:rPr sz="1100">
                <a:solidFill>
                  <a:srgbClr val="222222"/>
                </a:solidFill>
              </a:rPr>
              <a:t>•  비즈니스 레이어(Business Value): 증권 데이터의 금융적 의미(기술적/기본적 분석)를 파악하고 이를 AI 지능으로 치환하는 능력.</a:t>
            </a:r>
          </a:p>
          <a:p>
            <a:pPr>
              <a:spcBef>
                <a:spcPts val="600"/>
              </a:spcBef>
            </a:pPr>
            <a:r>
              <a:rPr sz="1300" b="1">
                <a:solidFill>
                  <a:srgbClr val="2E5984"/>
                </a:solidFill>
              </a:rPr>
              <a:t>3. 핵심 도구 및 자산 (Tools &amp; Assets): 전문성 증명을 위한 포트폴리오 관리</a:t>
            </a:r>
          </a:p>
          <a:p>
            <a:r>
              <a:rPr sz="1100">
                <a:solidFill>
                  <a:srgbClr val="222222"/>
                </a:solidFill>
              </a:rPr>
              <a:t>•  기술적 자산: 16시간 동안 구축한 KOStockCrewAI 및 tAnalyzer 전체 소스코드와 아키텍처 설계도.</a:t>
            </a:r>
          </a:p>
          <a:p>
            <a:r>
              <a:rPr sz="1100">
                <a:solidFill>
                  <a:srgbClr val="222222"/>
                </a:solidFill>
              </a:rPr>
              <a:t>•  기록의 자산: 하니스 엔지니어링(Harness Engineering) 및 바이브 코딩(Vibe Coding)을 통해 프로토타입을 신속히 개발하고 검증한 과정의 기록.</a:t>
            </a:r>
          </a:p>
          <a:p>
            <a:pPr>
              <a:spcBef>
                <a:spcPts val="600"/>
              </a:spcBef>
            </a:pPr>
            <a:r>
              <a:rPr sz="1300" b="1">
                <a:solidFill>
                  <a:srgbClr val="2E5984"/>
                </a:solidFill>
              </a:rPr>
              <a:t>4. 실습 (Practice): 'AI 아키텍트 자기 진단' 및 성장 계획 수립</a:t>
            </a:r>
          </a:p>
          <a:p>
            <a:r>
              <a:rPr sz="1100">
                <a:solidFill>
                  <a:srgbClr val="222222"/>
                </a:solidFill>
              </a:rPr>
              <a:t>•  과제 1: 171번 슬라이드의 최종 체크리스트를 기반으로 본인의 MVP 완결성을 점검하고, 부족한 기술 모듈을 보완하기 위한 '기술 부채 관리표'를 작성하십시오.</a:t>
            </a:r>
          </a:p>
          <a:p>
            <a:r>
              <a:rPr sz="1100">
                <a:solidFill>
                  <a:srgbClr val="222222"/>
                </a:solidFill>
              </a:rPr>
              <a:t>•  과제 2: 139번 슬라이드에 제시된 기술 스택 중 본인이 가장 강점이 있는 분야(예: Backend, AI 분석)를 선정하고, 이를 활용한 '1인 AI 헤지펀드' 특화 기능 3가지를 정의하십시오.</a:t>
            </a:r>
          </a:p>
          <a:p>
            <a:pPr>
              <a:spcBef>
                <a:spcPts val="600"/>
              </a:spcBef>
            </a:pPr>
            <a:r>
              <a:rPr sz="1300" b="1">
                <a:solidFill>
                  <a:srgbClr val="2E5984"/>
                </a:solidFill>
              </a:rPr>
              <a:t>5. 확장 (Expansion): AI 워크포스(Workforce) 시대의 지휘관으로의 도약</a:t>
            </a:r>
          </a:p>
          <a:p>
            <a:r>
              <a:rPr sz="1100">
                <a:solidFill>
                  <a:srgbClr val="222222"/>
                </a:solidFill>
              </a:rPr>
              <a:t>•  고도화 전략: 단순히 혼자 개발하는 것에 그치지 않고, 수십 명의 AI 에이전트(CrewAI)가 협업하는 '자율형 금융 리서치 하우스'를 운영하는 총괄 디렉터로 성장합니다.</a:t>
            </a:r>
          </a:p>
          <a:p>
            <a:r>
              <a:rPr sz="1100">
                <a:solidFill>
                  <a:srgbClr val="222222"/>
                </a:solidFill>
              </a:rPr>
              <a:t>•  기술적 비전: 230번 슬라이드에서 배운 엔터프라이즈 플랫폼(EAP) 인프라를 바탕으로, 전 세계 금융 데이터를 지배하며 새로운 산업 표준을 설계하는 AI 네이티브 리더로 진화하십시오.</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237  ·  210/216</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H</a:t>
            </a:r>
          </a:p>
          <a:p>
            <a:r>
              <a:rPr sz="1900" b="1">
                <a:solidFill>
                  <a:srgbClr val="FFFFFF"/>
                </a:solidFill>
              </a:rPr>
              <a:t>[211] 에필로그: AI 아키텍트에서 금융 지능 리더로 - 시스템 완성 및 수료</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16시간의 여정 - 단순한 코딩을 넘어 '지배하는 지능'의 완성</a:t>
            </a:r>
          </a:p>
          <a:p>
            <a:r>
              <a:rPr sz="1100">
                <a:solidFill>
                  <a:srgbClr val="222222"/>
                </a:solidFill>
              </a:rPr>
              <a:t>•  정의: 파편화되어 있던 증권 데이터(코스콤, DART, ECOS)와 생성형 AI(GPT, CrewAI)를 하나의 아키텍처로 엮어, 스스로 사고하고 분석하는 자율형 금융 정보 플랫폼을 손에 넣은 역사적 시점입니다. [출처: 67, 136]</a:t>
            </a:r>
          </a:p>
          <a:p>
            <a:r>
              <a:rPr sz="1100">
                <a:solidFill>
                  <a:srgbClr val="222222"/>
                </a:solidFill>
              </a:rPr>
              <a:t>•  핵심 가치: 이제 여러분은 "어떻게 코딩하는가"를 묻는 개발자에서, "어떻게 AI를 오케스트레이션하여 시장의 기회를 포착할 것인가"를 결정하는 AI 아키텍트(Orchestrator)로 거듭났습니다. [출처: 67, 101]</a:t>
            </a:r>
          </a:p>
          <a:p>
            <a:pPr>
              <a:spcBef>
                <a:spcPts val="600"/>
              </a:spcBef>
            </a:pPr>
            <a:r>
              <a:rPr sz="1300" b="1">
                <a:solidFill>
                  <a:srgbClr val="2E5984"/>
                </a:solidFill>
              </a:rPr>
              <a:t>2. 아키텍처 (Architecture): 우리가 함께 구축한 'E2E 금융 인텔리전스 맵' 복기 [출처: 136, 138]</a:t>
            </a:r>
          </a:p>
          <a:p>
            <a:r>
              <a:rPr sz="1100">
                <a:solidFill>
                  <a:srgbClr val="222222"/>
                </a:solidFill>
              </a:rPr>
              <a:t>•  데이터 레이어: KOSCOM 시세, DART 재무, ECOS 지표의 자동 ETL 파이프라인. [출처: 146, 147, 148]</a:t>
            </a:r>
          </a:p>
          <a:p>
            <a:r>
              <a:rPr sz="1100">
                <a:solidFill>
                  <a:srgbClr val="222222"/>
                </a:solidFill>
              </a:rPr>
              <a:t>•  지능 레이어: 4대 분석 엔진(기술/기본/수급/거시) 및 GPT 기반 Structured Output 추론. [출처: 154, 155, 182]</a:t>
            </a:r>
          </a:p>
          <a:p>
            <a:r>
              <a:rPr sz="1100">
                <a:solidFill>
                  <a:srgbClr val="222222"/>
                </a:solidFill>
              </a:rPr>
              <a:t>•  배포 레이어: Streamlit 웹 대시보드, 텔레그램 봇, 그리고 1페이지 자동 PDF 리포트. [출처: 157, 161, 162]</a:t>
            </a:r>
          </a:p>
          <a:p>
            <a:r>
              <a:rPr sz="1100">
                <a:solidFill>
                  <a:srgbClr val="222222"/>
                </a:solidFill>
              </a:rPr>
              <a:t>•  운영 레이어: APScheduler와 Docker를 통한 24x365 중단 없는 자율 가동 체계. [출처: 164, 165, 187]</a:t>
            </a:r>
          </a:p>
          <a:p>
            <a:pPr>
              <a:spcBef>
                <a:spcPts val="600"/>
              </a:spcBef>
            </a:pPr>
            <a:r>
              <a:rPr sz="1300" b="1">
                <a:solidFill>
                  <a:srgbClr val="2E5984"/>
                </a:solidFill>
              </a:rPr>
              <a:t>3. 최종 체크리스트 (Master Checklist): 10대 핵심 역량 확보 확인 [출처: 171]</a:t>
            </a:r>
          </a:p>
          <a:p>
            <a:r>
              <a:rPr sz="1100">
                <a:solidFill>
                  <a:srgbClr val="222222"/>
                </a:solidFill>
              </a:rPr>
              <a:t>•  확보된 자산:</a:t>
            </a:r>
          </a:p>
          <a:p>
            <a:r>
              <a:rPr sz="1100">
                <a:solidFill>
                  <a:srgbClr val="222222"/>
                </a:solidFill>
              </a:rPr>
              <a:t>•  PostgreSQL 기반 금융 데이터레이크 구축 역량.</a:t>
            </a:r>
          </a:p>
          <a:p>
            <a:r>
              <a:rPr sz="1100">
                <a:solidFill>
                  <a:srgbClr val="222222"/>
                </a:solidFill>
              </a:rPr>
              <a:t>•  프롬프트를 넘어선 하니스 엔지니어링(Harness Engineering) 설계 능력. [출처: 65]</a:t>
            </a:r>
          </a:p>
          <a:p>
            <a:r>
              <a:rPr sz="1100">
                <a:solidFill>
                  <a:srgbClr val="222222"/>
                </a:solidFill>
              </a:rPr>
              <a:t>•  멀티 에이전트(CrewAI) 협업 모델 설계 및 제어 기술. [출처: 78, 183]</a:t>
            </a:r>
          </a:p>
          <a:p>
            <a:r>
              <a:rPr sz="1100">
                <a:solidFill>
                  <a:srgbClr val="222222"/>
                </a:solidFill>
              </a:rPr>
              <a:t>•  ChromaDB 기반 뉴스 RAG 및 이벤트 메모리 구축 실무. [출처: 156]</a:t>
            </a:r>
          </a:p>
          <a:p>
            <a:r>
              <a:rPr sz="1100">
                <a:solidFill>
                  <a:srgbClr val="222222"/>
                </a:solidFill>
              </a:rPr>
              <a:t>•  금융 법률 및 투자자 보호를 고려한 서비스 배포 가이드 준수. [출처: 170, 171]</a:t>
            </a:r>
          </a:p>
          <a:p>
            <a:pPr>
              <a:spcBef>
                <a:spcPts val="600"/>
              </a:spcBef>
            </a:pPr>
            <a:r>
              <a:rPr sz="1300" b="1">
                <a:solidFill>
                  <a:srgbClr val="2E5984"/>
                </a:solidFill>
              </a:rPr>
              <a:t>4. 실습 (Practice): 캡스톤 프로젝트 최종 시연 및 네트워킹 [출처: 173, 191]</a:t>
            </a:r>
          </a:p>
          <a:p>
            <a:r>
              <a:rPr sz="1100">
                <a:solidFill>
                  <a:srgbClr val="222222"/>
                </a:solidFill>
              </a:rPr>
              <a:t>•  과제 1: 본인이 16시간 동안 직접 구축하고 튜닝한 '나만의 AI 금융 비서'가 생성한 최종 PDF 리포트를 동료들과 공유하고, 서로의 킬러 피처를 벤치마킹하십시오. [출처: 173]</a:t>
            </a:r>
          </a:p>
          <a:p>
            <a:r>
              <a:rPr sz="1100">
                <a:solidFill>
                  <a:srgbClr val="222222"/>
                </a:solidFill>
              </a:rPr>
              <a:t>•  과제 2: 교육 종료 직후 자신의 GitHub Repository에 전체 소스코드와 아키텍처 다이어그램을 업데이트하여, 'AI 금융 아키텍트'로서의 첫 번째 전문 포트폴리오를 확정하십시오. [출처: 139, 173]</a:t>
            </a:r>
          </a:p>
          <a:p>
            <a:pPr>
              <a:spcBef>
                <a:spcPts val="600"/>
              </a:spcBef>
            </a:pPr>
            <a:r>
              <a:rPr sz="1300" b="1">
                <a:solidFill>
                  <a:srgbClr val="2E5984"/>
                </a:solidFill>
              </a:rPr>
              <a:t>5. 비전 (Vision): '1인 AI 헤지펀드'와 'AI 워크포스' 시대의 주역으로 [출처: 79, 191]</a:t>
            </a:r>
          </a:p>
          <a:p>
            <a:r>
              <a:rPr sz="1100">
                <a:solidFill>
                  <a:srgbClr val="222222"/>
                </a:solidFill>
              </a:rPr>
              <a:t>•  미래 로드맵: 오늘의 수료는 끝이 아니라, 수백 명의 AI 에이전트를 거느리고 전 세계 자산을 관리하는 'AI 워크포스(Workforce) 리더'로 나아가는 시작점입니다. [출처: 79, 199]</a:t>
            </a:r>
          </a:p>
          <a:p>
            <a:r>
              <a:rPr sz="1100">
                <a:solidFill>
                  <a:srgbClr val="222222"/>
                </a:solidFill>
              </a:rPr>
              <a:t>•  결언: 기술은 끊임없이 변하지만, 여러분이 익힌 '데이터를 지식으로, 지식을 전략으로 바꾸는 아키텍처적 사고'는 미래 금융 시장을 지배할 최고의 무기가 될 것입니다. [출처: 64, 191]</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240  ·  211/216</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H</a:t>
            </a:r>
          </a:p>
          <a:p>
            <a:r>
              <a:rPr sz="1900" b="1">
                <a:solidFill>
                  <a:srgbClr val="FFFFFF"/>
                </a:solidFill>
              </a:rPr>
              <a:t>[212] 질의응답(Q&amp;A) 및 최종 네트워킹</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기술적 궁금증 해소와 '집단 지성'의 발현</a:t>
            </a:r>
          </a:p>
          <a:p>
            <a:r>
              <a:rPr sz="1100">
                <a:solidFill>
                  <a:srgbClr val="222222"/>
                </a:solidFill>
              </a:rPr>
              <a:t>•  정의: 16시간의 실습 과정 중 발생한 개별적 오류나 고도화 아이디어에 대해 강사와 수강생이 함께 토론하고 최적의 해법을 찾는 상호작용 세션입니다. [출처: 67, 191]</a:t>
            </a:r>
          </a:p>
          <a:p>
            <a:r>
              <a:rPr sz="1100">
                <a:solidFill>
                  <a:srgbClr val="222222"/>
                </a:solidFill>
              </a:rPr>
              <a:t>•  핵심 가치: 혼자 해결하기 어려운 '엣지 케이스(Edge Case)'들을 공유함으로써, 모든 참여자가 실무 운영 노하우를 상향 평준화하고 아키텍트 간의 유대감을 형성합니다. [출처: 64, 173]</a:t>
            </a:r>
          </a:p>
          <a:p>
            <a:pPr>
              <a:spcBef>
                <a:spcPts val="600"/>
              </a:spcBef>
            </a:pPr>
            <a:r>
              <a:rPr sz="1300" b="1">
                <a:solidFill>
                  <a:srgbClr val="2E5984"/>
                </a:solidFill>
              </a:rPr>
              <a:t>2. 아키텍처 (Architecture): 지속 가능한 사후 지원 및 커뮤니티 구조 [출처: 74, 139, 173]</a:t>
            </a:r>
          </a:p>
          <a:p>
            <a:r>
              <a:rPr sz="1100">
                <a:solidFill>
                  <a:srgbClr val="222222"/>
                </a:solidFill>
              </a:rPr>
              <a:t>•  지원 체계:</a:t>
            </a:r>
          </a:p>
          <a:p>
            <a:r>
              <a:rPr sz="1100">
                <a:solidFill>
                  <a:srgbClr val="222222"/>
                </a:solidFill>
              </a:rPr>
              <a:t>•  GitHub Repository: 최종 완성 코드 및 아키텍처 다이어그램 상시 업데이트. [출처: 139, 173]</a:t>
            </a:r>
          </a:p>
          <a:p>
            <a:r>
              <a:rPr sz="1100">
                <a:solidFill>
                  <a:srgbClr val="222222"/>
                </a:solidFill>
              </a:rPr>
              <a:t>•  Discord/Telegram 채널: 실시간 기술 질의응답 및 새로운 API 업데이트 정보 공유. [출처: 162, 172]</a:t>
            </a:r>
          </a:p>
          <a:p>
            <a:r>
              <a:rPr sz="1100">
                <a:solidFill>
                  <a:srgbClr val="222222"/>
                </a:solidFill>
              </a:rPr>
              <a:t>•  기술 블로그: 교육 중 다룬 하니스 엔지니어링 사례 및 트러블슈팅 기록 아카이빙. [출처: 65, 139]</a:t>
            </a:r>
          </a:p>
          <a:p>
            <a:pPr>
              <a:spcBef>
                <a:spcPts val="600"/>
              </a:spcBef>
            </a:pPr>
            <a:r>
              <a:rPr sz="1300" b="1">
                <a:solidFill>
                  <a:srgbClr val="2E5984"/>
                </a:solidFill>
              </a:rPr>
              <a:t>3. 자료 공유 (Resources): 교육 산출물 및 마스터 소스코드 접근 [출처: 172, 173]</a:t>
            </a:r>
          </a:p>
          <a:p>
            <a:r>
              <a:rPr sz="1100">
                <a:solidFill>
                  <a:srgbClr val="222222"/>
                </a:solidFill>
              </a:rPr>
              <a:t>•  최종 패키지 구성: [출처: 173]</a:t>
            </a:r>
          </a:p>
          <a:p>
            <a:r>
              <a:rPr sz="1100">
                <a:solidFill>
                  <a:srgbClr val="222222"/>
                </a:solidFill>
              </a:rPr>
              <a:t>•  KOStockCrewAI Full Source: 239번 슬라이드에서 완성된 CI/CD 포함 전체 코드.</a:t>
            </a:r>
          </a:p>
          <a:p>
            <a:r>
              <a:rPr sz="1100">
                <a:solidFill>
                  <a:srgbClr val="222222"/>
                </a:solidFill>
              </a:rPr>
              <a:t>•  DB Schema &amp; Prompt Master: PostgreSQL 테이블 정의서 및 GPT 분석 페르소나 모음. [출처: 144, 155]</a:t>
            </a:r>
          </a:p>
          <a:p>
            <a:r>
              <a:rPr sz="1100">
                <a:solidFill>
                  <a:srgbClr val="222222"/>
                </a:solidFill>
              </a:rPr>
              <a:t>•  Docker Compose Bundle: 즉시 배포 가능한 컨테이너 설정 파일. [출처: 165]</a:t>
            </a:r>
          </a:p>
          <a:p>
            <a:pPr>
              <a:spcBef>
                <a:spcPts val="600"/>
              </a:spcBef>
            </a:pPr>
            <a:r>
              <a:rPr sz="1300" b="1">
                <a:solidFill>
                  <a:srgbClr val="2E5984"/>
                </a:solidFill>
              </a:rPr>
              <a:t>4. 실습 (Practice): 최종 설문 및 '나의 다음 도전' 선언 [출처: 173, 191]</a:t>
            </a:r>
          </a:p>
          <a:p>
            <a:r>
              <a:rPr sz="1100">
                <a:solidFill>
                  <a:srgbClr val="222222"/>
                </a:solidFill>
              </a:rPr>
              <a:t>•  과제 1: 교육 만족도 설문에 참여하여, 향후 심화 과정(예: 멀티 에이전트 전문 과정)에서 다루고 싶은 주제를 제안하십시오. [출처: 67, 173]</a:t>
            </a:r>
          </a:p>
          <a:p>
            <a:r>
              <a:rPr sz="1100">
                <a:solidFill>
                  <a:srgbClr val="222222"/>
                </a:solidFill>
              </a:rPr>
              <a:t>•  과제 2: 237번 슬라이드에서 수립한 커리어 로드맵을 바탕으로, "3개월 내에 내 시스템에 반드시 추가할 기능" 한 가지를 발표하며 동료 아키텍트들과 협업 가능성을 모색하십시오. [출처: 237]</a:t>
            </a:r>
          </a:p>
          <a:p>
            <a:pPr>
              <a:spcBef>
                <a:spcPts val="600"/>
              </a:spcBef>
            </a:pPr>
            <a:r>
              <a:rPr sz="1300" b="1">
                <a:solidFill>
                  <a:srgbClr val="2E5984"/>
                </a:solidFill>
              </a:rPr>
              <a:t>5. 확장 (Expansion): 'AI 금융 아키텍트' 연합체로의 진화 [출처: 79, 191, 199]</a:t>
            </a:r>
          </a:p>
          <a:p>
            <a:r>
              <a:rPr sz="1100">
                <a:solidFill>
                  <a:srgbClr val="222222"/>
                </a:solidFill>
              </a:rPr>
              <a:t>•  고도화 전략: 본 수료생들을 중심으로 'AI 금융 워크포스(Workforce) 연합'을 결성하여, 복잡한 시장 변화에 공동 대응하는 분산형 리서치 노드를 운영합니다. [출처: 79, 199]</a:t>
            </a:r>
          </a:p>
          <a:p>
            <a:r>
              <a:rPr sz="1100">
                <a:solidFill>
                  <a:srgbClr val="222222"/>
                </a:solidFill>
              </a:rPr>
              <a:t>•  기술적 비전: 이제 여러분의 에이전트들은 서로 데이터를 주고받으며 더 정교한 인사이트를 생산하는 '에이전트 네트워크'의 일원이 되어, 대한민국 핀테크 산업의 새로운 지평을 열게 될 것입니다. [출처: 79, 191]</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241  ·  212/216</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H</a:t>
            </a:r>
          </a:p>
          <a:p>
            <a:r>
              <a:rPr sz="1900" b="1">
                <a:solidFill>
                  <a:srgbClr val="FFFFFF"/>
                </a:solidFill>
              </a:rPr>
              <a:t>[213] AI 금융 아키텍트의 무기창고 - 기술 스택 및 레퍼런스 총정리</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도구의 유기적 결합을 통한 '지능형 시스템'의 완성</a:t>
            </a:r>
          </a:p>
          <a:p>
            <a:r>
              <a:rPr sz="1100">
                <a:solidFill>
                  <a:srgbClr val="222222"/>
                </a:solidFill>
              </a:rPr>
              <a:t>•  정의: 16시간 동안 개별적으로 익힌 30여 개의 기술 스택이 [수집-저장-분석-추론-배포]라는 금융 지능 파이프라인 안에서 어떻게 상호작용하는지 최종적으로 정리하는 마스터 레퍼런스입니다. [출처: 67, 136]</a:t>
            </a:r>
          </a:p>
          <a:p>
            <a:r>
              <a:rPr sz="1100">
                <a:solidFill>
                  <a:srgbClr val="222222"/>
                </a:solidFill>
              </a:rPr>
              <a:t>•  핵심 가치: 특정 도구에 종속되지 않고, 비즈니스 목적에 따라 최적의 기술을 선택하고 조합할 수 있는 '아키텍트의 안목'을 공고히 하는 데 목적이 있습니다. [출처: 67, 101]</a:t>
            </a:r>
          </a:p>
          <a:p>
            <a:pPr>
              <a:spcBef>
                <a:spcPts val="600"/>
              </a:spcBef>
            </a:pPr>
            <a:r>
              <a:rPr sz="1300" b="1">
                <a:solidFill>
                  <a:srgbClr val="2E5984"/>
                </a:solidFill>
              </a:rPr>
              <a:t>2. 아키텍처 (Architecture): 레이어별 핵심 도구 배치도 [출처: 136, 139]</a:t>
            </a:r>
          </a:p>
          <a:p>
            <a:r>
              <a:rPr sz="1100">
                <a:solidFill>
                  <a:srgbClr val="222222"/>
                </a:solidFill>
              </a:rPr>
              <a:t>•  Presentation Layer: Streamlit(웹), Telegram(SNS). [출처: 161, 162]</a:t>
            </a:r>
          </a:p>
          <a:p>
            <a:r>
              <a:rPr sz="1100">
                <a:solidFill>
                  <a:srgbClr val="222222"/>
                </a:solidFill>
              </a:rPr>
              <a:t>•  Intelligence Layer: OpenAI(GPT-4o/mini), CrewAI(멀티에이전트), ChromaDB(RAG). [출처: 79, 155, 156]</a:t>
            </a:r>
          </a:p>
          <a:p>
            <a:r>
              <a:rPr sz="1100">
                <a:solidFill>
                  <a:srgbClr val="222222"/>
                </a:solidFill>
              </a:rPr>
              <a:t>•  Backend Layer: FastAPI(API 서버), SQLAlchemy(ORM), APScheduler(자동화). [출처: 145, 160, 164]</a:t>
            </a:r>
          </a:p>
          <a:p>
            <a:r>
              <a:rPr sz="1100">
                <a:solidFill>
                  <a:srgbClr val="222222"/>
                </a:solidFill>
              </a:rPr>
              <a:t>•  Data Layer: PostgreSQL(RDBMS), DART/ECOS/KOSCOM API(데이터 소스). [출처: 143, 146, 147, 148]</a:t>
            </a:r>
          </a:p>
          <a:p>
            <a:r>
              <a:rPr sz="1100">
                <a:solidFill>
                  <a:srgbClr val="222222"/>
                </a:solidFill>
              </a:rPr>
              <a:t>•  DevOps Layer: Docker(컨테이너), GitHub Actions(CI/CD), Loguru(로깅). [출처: 71, 139, 165]</a:t>
            </a:r>
          </a:p>
          <a:p>
            <a:pPr>
              <a:spcBef>
                <a:spcPts val="600"/>
              </a:spcBef>
            </a:pPr>
            <a:r>
              <a:rPr sz="1300" b="1">
                <a:solidFill>
                  <a:srgbClr val="2E5984"/>
                </a:solidFill>
              </a:rPr>
              <a:t>3. 마스터 도구 리스트 (Tools): 실무 즉시 투입을 위한 기술 명세 [출처: 139]</a:t>
            </a:r>
          </a:p>
          <a:p>
            <a:r>
              <a:rPr sz="1100">
                <a:solidFill>
                  <a:srgbClr val="222222"/>
                </a:solidFill>
              </a:rPr>
              <a:t>•  데이터 처리: Pandas, NumPy, pandas-ta(기술적 지표). [출처: 139, 150]</a:t>
            </a:r>
          </a:p>
          <a:p>
            <a:r>
              <a:rPr sz="1100">
                <a:solidFill>
                  <a:srgbClr val="222222"/>
                </a:solidFill>
              </a:rPr>
              <a:t>•  시각화 및 리포트: Matplotlib, mplfinance(캔들차트), ReportLab(PDF). [출처: 139, 157]</a:t>
            </a:r>
          </a:p>
          <a:p>
            <a:r>
              <a:rPr sz="1100">
                <a:solidFill>
                  <a:srgbClr val="222222"/>
                </a:solidFill>
              </a:rPr>
              <a:t>•  보안 및 인프라: python-dotenv(환경변수), systemd(자동 실행), Nginx(프록시). [출처: 142, 166, 171]</a:t>
            </a:r>
          </a:p>
          <a:p>
            <a:pPr>
              <a:spcBef>
                <a:spcPts val="600"/>
              </a:spcBef>
            </a:pPr>
            <a:r>
              <a:rPr sz="1300" b="1">
                <a:solidFill>
                  <a:srgbClr val="2E5984"/>
                </a:solidFill>
              </a:rPr>
              <a:t>4. 실습 (Practice): 나만의 'AI 금융 기술 지도(Tech Map)' 완성</a:t>
            </a:r>
          </a:p>
          <a:p>
            <a:r>
              <a:rPr sz="1100">
                <a:solidFill>
                  <a:srgbClr val="222222"/>
                </a:solidFill>
              </a:rPr>
              <a:t>•  과제 1: 139번 슬라이드의 기술 스택 가이드를 바탕으로, 본인이 구축한 시스템에서 각 도구가 담당하는 역할을 한 문장으로 정의하여 '아키텍처 명세서'를 작성하십시오. [출처: 139, 173]</a:t>
            </a:r>
          </a:p>
          <a:p>
            <a:r>
              <a:rPr sz="1100">
                <a:solidFill>
                  <a:srgbClr val="222222"/>
                </a:solidFill>
              </a:rPr>
              <a:t>•  과제 2: 172번 슬라이드의 고도화 과제 중 본인이 선택한 기능에 따라 새롭게 추가해야 할 라이브러리(예: 실시간 매매를 위한 증권사 SDK 등)를 조사하여 기술 스택에 추가하십시오. [출처: 172]</a:t>
            </a:r>
          </a:p>
          <a:p>
            <a:pPr>
              <a:spcBef>
                <a:spcPts val="600"/>
              </a:spcBef>
            </a:pPr>
            <a:r>
              <a:rPr sz="1300" b="1">
                <a:solidFill>
                  <a:srgbClr val="2E5984"/>
                </a:solidFill>
              </a:rPr>
              <a:t>5. 확장 (Expansion): '자생적 진화'를 위한 지속적 학습 파이프라인 [출처: 79, 191]</a:t>
            </a:r>
          </a:p>
          <a:p>
            <a:r>
              <a:rPr sz="1100">
                <a:solidFill>
                  <a:srgbClr val="222222"/>
                </a:solidFill>
              </a:rPr>
              <a:t>•  고도화 전략: 단순히 완성된 코드를 유지하는 것이 아니라, 새로운 LLM 모델(예: GPT-5.1 등)이나 에이전트 프레임워크가 출시될 때마다 기존 아키텍처를 유연하게 교체할 수 있는 '모듈형 아키텍처'를 지향합니다. [출처: 68, 79]</a:t>
            </a:r>
          </a:p>
          <a:p>
            <a:r>
              <a:rPr sz="1100">
                <a:solidFill>
                  <a:srgbClr val="222222"/>
                </a:solidFill>
              </a:rPr>
              <a:t>•  기술적 비전: 16시간 동안 다진 기초를 바탕으로, 이제 여러분은 스스로 기술 트렌드를 분석하고 시스템에 이식하는 '자기 진화형 AI 아키텍트'로서 금융 시장의 혁신을 선도하게 될 것입니다. [출처: 64, 191, 199]</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242  ·  213/216</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H</a:t>
            </a:r>
          </a:p>
          <a:p>
            <a:r>
              <a:rPr sz="1900" b="1">
                <a:solidFill>
                  <a:srgbClr val="FFFFFF"/>
                </a:solidFill>
              </a:rPr>
              <a:t>[214] 교육 수료 이후의 여정 - 참고 문헌 및 심화 학습 가이드</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지속 가능한 성장을 위한 '지식 탐색'의 기술</a:t>
            </a:r>
          </a:p>
          <a:p>
            <a:r>
              <a:rPr sz="1100">
                <a:solidFill>
                  <a:srgbClr val="222222"/>
                </a:solidFill>
              </a:rPr>
              <a:t>•  정의: 교육 과정에서 다룬 기술들은 빠르게 진화하므로, 최신 공식 문서(Documentation)와 커뮤니티의 모범 사례(Best Practice)를 스스로 찾아내고 검증하는 자기 주도적 학습 체계입니다. [출처: 67, 139]</a:t>
            </a:r>
          </a:p>
          <a:p>
            <a:r>
              <a:rPr sz="1100">
                <a:solidFill>
                  <a:srgbClr val="222222"/>
                </a:solidFill>
              </a:rPr>
              <a:t>•  핵심 가치: 아키텍트는 "모든 것을 아는 사람"이 아니라, "필요한 정보를 가장 빠르게 찾아 시스템에 이식하는 사람"입니다. [출처: 64, 101]</a:t>
            </a:r>
          </a:p>
          <a:p>
            <a:pPr>
              <a:spcBef>
                <a:spcPts val="600"/>
              </a:spcBef>
            </a:pPr>
            <a:r>
              <a:rPr sz="1300" b="1">
                <a:solidFill>
                  <a:srgbClr val="2E5984"/>
                </a:solidFill>
              </a:rPr>
              <a:t>2. 아키텍처 (Architecture): AI 아키텍트의 지식 업데이트 루프 [출처: 67, 79, 139]</a:t>
            </a:r>
          </a:p>
          <a:p>
            <a:r>
              <a:rPr sz="1100">
                <a:solidFill>
                  <a:srgbClr val="222222"/>
                </a:solidFill>
              </a:rPr>
              <a:t>•  정보 수집 경로: [공식 API 문서(DART/ECOS/KOSCOM)] → [AI 기술 블로그(OpenAI/CrewAI)] → [오픈소스 저장소(GitHub/ChromaDB)] → [실전 프로젝트 적용 및 피드백]. [출처: 139, 173]</a:t>
            </a:r>
          </a:p>
          <a:p>
            <a:r>
              <a:rPr sz="1100">
                <a:solidFill>
                  <a:srgbClr val="222222"/>
                </a:solidFill>
              </a:rPr>
              <a:t>•  커뮤니티 연동: 241번 슬라이드에서 구축한 네트워킹 채널을 통해 새로운 데이터 소스와 기술적 난제에 대한 해결책을 실시간으로 공유합니다. [출처: 241]</a:t>
            </a:r>
          </a:p>
          <a:p>
            <a:pPr>
              <a:spcBef>
                <a:spcPts val="600"/>
              </a:spcBef>
            </a:pPr>
            <a:r>
              <a:rPr sz="1300" b="1">
                <a:solidFill>
                  <a:srgbClr val="2E5984"/>
                </a:solidFill>
              </a:rPr>
              <a:t>3. 핵심 레퍼런스 (References): 실무 활용 필수 URL 리스트 [출처: 139]</a:t>
            </a:r>
          </a:p>
          <a:p>
            <a:r>
              <a:rPr sz="1100">
                <a:solidFill>
                  <a:srgbClr val="222222"/>
                </a:solidFill>
              </a:rPr>
              <a:t>•  데이터 소스:</a:t>
            </a:r>
          </a:p>
          <a:p>
            <a:r>
              <a:rPr sz="1100">
                <a:solidFill>
                  <a:srgbClr val="222222"/>
                </a:solidFill>
              </a:rPr>
              <a:t>•  한국은행 ECOS API: https://ecos.bok.or.kr (거시경제 데이터) [출처: 139, 147]</a:t>
            </a:r>
          </a:p>
          <a:p>
            <a:r>
              <a:rPr sz="1100">
                <a:solidFill>
                  <a:srgbClr val="222222"/>
                </a:solidFill>
              </a:rPr>
              <a:t>•  금융감독원 OpenDART: https://opendart.fss.or.kr (기업 공시/재무) [출처: 139, 146]</a:t>
            </a:r>
          </a:p>
          <a:p>
            <a:r>
              <a:rPr sz="1100">
                <a:solidFill>
                  <a:srgbClr val="222222"/>
                </a:solidFill>
              </a:rPr>
              <a:t>•  코스콤 API 가이드: 각 계약별 제공되는 개발자 포털 참조 [출처: 148, 149]</a:t>
            </a:r>
          </a:p>
          <a:p>
            <a:r>
              <a:rPr sz="1100">
                <a:solidFill>
                  <a:srgbClr val="222222"/>
                </a:solidFill>
              </a:rPr>
              <a:t>•  AI 및 에이전트 기술:</a:t>
            </a:r>
          </a:p>
          <a:p>
            <a:r>
              <a:rPr sz="1100">
                <a:solidFill>
                  <a:srgbClr val="222222"/>
                </a:solidFill>
              </a:rPr>
              <a:t>•  OpenAI API Docs: https://platform.openai.com/docs (GPT 활용법) [출처: 139, 155]</a:t>
            </a:r>
          </a:p>
          <a:p>
            <a:r>
              <a:rPr sz="1100">
                <a:solidFill>
                  <a:srgbClr val="222222"/>
                </a:solidFill>
              </a:rPr>
              <a:t>•  CrewAI Documentation: https://docs.crewai.com (멀티 에이전트 설계) [출처: 79, 183]</a:t>
            </a:r>
          </a:p>
          <a:p>
            <a:r>
              <a:rPr sz="1100">
                <a:solidFill>
                  <a:srgbClr val="222222"/>
                </a:solidFill>
              </a:rPr>
              <a:t>•  ChromaDB 가이드: https://docs.trychroma.com (RAG 구축 및 벡터 DB) [출처: 139, 156]</a:t>
            </a:r>
          </a:p>
          <a:p>
            <a:pPr>
              <a:spcBef>
                <a:spcPts val="600"/>
              </a:spcBef>
            </a:pPr>
            <a:r>
              <a:rPr sz="1300" b="1">
                <a:solidFill>
                  <a:srgbClr val="2E5984"/>
                </a:solidFill>
              </a:rPr>
              <a:t>4. 실습 (Practice): '나만의 기술 북마크' 생성 및 위시리스트 작성 [출처: 173, 191]</a:t>
            </a:r>
          </a:p>
          <a:p>
            <a:r>
              <a:rPr sz="1100">
                <a:solidFill>
                  <a:srgbClr val="222222"/>
                </a:solidFill>
              </a:rPr>
              <a:t>•  과제 1: 139번 슬라이드의 기술 스택 가이드를 참고하여, 본인의 브라우저에 'AI 금융 아키텍트 전용 북마크 폴더'를 만들고 주요 API와 라이브러리 문서를 저장하십시오. [출처: 139]</a:t>
            </a:r>
          </a:p>
          <a:p>
            <a:r>
              <a:rPr sz="1100">
                <a:solidFill>
                  <a:srgbClr val="222222"/>
                </a:solidFill>
              </a:rPr>
              <a:t>•  과제 2: 이번 교육에서 다루지 못했지만 향후 본인의 시스템에 꼭 넣고 싶은 '넥스트 기술 3가지'를 선정하고, 해당 기술의 공식 문서를 한 번씩 정독하십시오. [출처: 172, 191]</a:t>
            </a:r>
          </a:p>
          <a:p>
            <a:pPr>
              <a:spcBef>
                <a:spcPts val="600"/>
              </a:spcBef>
            </a:pPr>
            <a:r>
              <a:rPr sz="1300" b="1">
                <a:solidFill>
                  <a:srgbClr val="2E5984"/>
                </a:solidFill>
              </a:rPr>
              <a:t>5. 확장 (Expansion): '전략적 오케스트레이터'로서의 최종 비전 [출처: 64, 191, 240]</a:t>
            </a:r>
          </a:p>
          <a:p>
            <a:r>
              <a:rPr sz="1100">
                <a:solidFill>
                  <a:srgbClr val="222222"/>
                </a:solidFill>
              </a:rPr>
              <a:t>•  고도화 전략: 개별 기술의 깊이를 더하는 것을 넘어, 240번 슬라이드에서 선언한 것처럼 다양한 기술 레이어를 유기적으로 결합하여 시장의 문제를 해결하는 비즈니스 아키텍처를 완성해 나갑니다. [출처: 240]</a:t>
            </a:r>
          </a:p>
          <a:p>
            <a:r>
              <a:rPr sz="1100">
                <a:solidFill>
                  <a:srgbClr val="222222"/>
                </a:solidFill>
              </a:rPr>
              <a:t>•  최종 메시지: 16시간의 교육은 마침표가 아니라, 여러분이 설계할 '무한 확장형 AI 금융 플랫폼'의 첫 번째 문장입니다. 데이터와 지능을 지배하는 리더로서 시장을 선도하십시오. [출처: 64, 191]</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243  ·  214/216</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H</a:t>
            </a:r>
          </a:p>
          <a:p>
            <a:r>
              <a:rPr sz="1900" b="1">
                <a:solidFill>
                  <a:srgbClr val="FFFFFF"/>
                </a:solidFill>
              </a:rPr>
              <a:t>[215] AI 금융 아키텍트의 선언 - 16시간의 여정, 그 이상의 도약</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"코딩하는 손"에서 "설계하는 머리"로의 완전한 전환</a:t>
            </a:r>
          </a:p>
          <a:p>
            <a:r>
              <a:rPr sz="1100">
                <a:solidFill>
                  <a:srgbClr val="222222"/>
                </a:solidFill>
              </a:rPr>
              <a:t>•  정의: 16시간 전의 '개발자' 또는 '사용자'에서, 이제는 데이터 파이프라인과 AI 지능을 유기적으로 결합하여 시장의 문제를 해결하는 'AI 금융 아키텍트(Orchestrator)'로 완전히 진화했음을 선언합니다. [출처: 67, 101]</a:t>
            </a:r>
          </a:p>
          <a:p>
            <a:r>
              <a:rPr sz="1100">
                <a:solidFill>
                  <a:srgbClr val="222222"/>
                </a:solidFill>
              </a:rPr>
              <a:t>•  핵심 가치: 기술은 도구일 뿐이며, 아키텍트의 진정한 가치는 "데이터에 어떤 지능을 부여하여 어떤 비즈니스 임팩트를 만들 것인가"라는 전략적 사고에 있음을 가슴에 새깁니다. [출처: 64, 101]</a:t>
            </a:r>
          </a:p>
          <a:p>
            <a:pPr>
              <a:spcBef>
                <a:spcPts val="600"/>
              </a:spcBef>
            </a:pPr>
            <a:r>
              <a:rPr sz="1300" b="1">
                <a:solidFill>
                  <a:srgbClr val="2E5984"/>
                </a:solidFill>
              </a:rPr>
              <a:t>2. 아키텍처 (Architecture): 우리가 정복한 '지능형 금융 플랫폼'의 정수 [출처: 136, 138, 221]</a:t>
            </a:r>
          </a:p>
          <a:p>
            <a:r>
              <a:rPr sz="1100">
                <a:solidFill>
                  <a:srgbClr val="222222"/>
                </a:solidFill>
              </a:rPr>
              <a:t>•  통합 구조 복기:</a:t>
            </a:r>
          </a:p>
          <a:p>
            <a:r>
              <a:rPr sz="1100">
                <a:solidFill>
                  <a:srgbClr val="222222"/>
                </a:solidFill>
              </a:rPr>
              <a:t>•  수집: KOSCOM, DART, ECOS를 관통하는 자동화된 데이터 레이크. [출처: 146, 147, 148]</a:t>
            </a:r>
          </a:p>
          <a:p>
            <a:r>
              <a:rPr sz="1100">
                <a:solidFill>
                  <a:srgbClr val="222222"/>
                </a:solidFill>
              </a:rPr>
              <a:t>•  지능: GPT-4o-mini와 CrewAI가 협업하는 멀티 에이전트 추론 엔진. [출처: 78, 155, 182]</a:t>
            </a:r>
          </a:p>
          <a:p>
            <a:r>
              <a:rPr sz="1100">
                <a:solidFill>
                  <a:srgbClr val="222222"/>
                </a:solidFill>
              </a:rPr>
              <a:t>•  배포: 텔레그램, 웹단말, PDF 리포트로 이어지는 초고속 전달 체계. [출처: 157, 161, 162]</a:t>
            </a:r>
          </a:p>
          <a:p>
            <a:r>
              <a:rPr sz="1100">
                <a:solidFill>
                  <a:srgbClr val="222222"/>
                </a:solidFill>
              </a:rPr>
              <a:t>•  운영: Docker와 CI/CD로 무장한 24x365 자율형 인프라. [출처: 165, 239]</a:t>
            </a:r>
          </a:p>
          <a:p>
            <a:pPr>
              <a:spcBef>
                <a:spcPts val="600"/>
              </a:spcBef>
            </a:pPr>
            <a:r>
              <a:rPr sz="1300" b="1">
                <a:solidFill>
                  <a:srgbClr val="2E5984"/>
                </a:solidFill>
              </a:rPr>
              <a:t>3. 최종 마스터 체크리스트 (Master Checklist): 전문가로서의 자격 검증 [출처: 171, 173]</a:t>
            </a:r>
          </a:p>
          <a:p>
            <a:r>
              <a:rPr sz="1100">
                <a:solidFill>
                  <a:srgbClr val="222222"/>
                </a:solidFill>
              </a:rPr>
              <a:t>•  보유 자산 확인:</a:t>
            </a:r>
          </a:p>
          <a:p>
            <a:r>
              <a:rPr sz="1100">
                <a:solidFill>
                  <a:srgbClr val="222222"/>
                </a:solidFill>
              </a:rPr>
              <a:t>•  실행 가능한 KOStockCrewAI 전체 소스코드와 DB 스키마. [출처: 144, 173]</a:t>
            </a:r>
          </a:p>
          <a:p>
            <a:r>
              <a:rPr sz="1100">
                <a:solidFill>
                  <a:srgbClr val="222222"/>
                </a:solidFill>
              </a:rPr>
              <a:t>•  금융 리스크를 숫자로 치환하는 리스크 스코어링 루브릭. [출처: 154, 218]</a:t>
            </a:r>
          </a:p>
          <a:p>
            <a:r>
              <a:rPr sz="1100">
                <a:solidFill>
                  <a:srgbClr val="222222"/>
                </a:solidFill>
              </a:rPr>
              <a:t>•  법적 리스크를 방어하고 신뢰를 구축하는 투자자 보호 체계. [출처: 170, 171, 236]</a:t>
            </a:r>
          </a:p>
          <a:p>
            <a:r>
              <a:rPr sz="1100">
                <a:solidFill>
                  <a:srgbClr val="222222"/>
                </a:solidFill>
              </a:rPr>
              <a:t>•  기술적 난제를 해결하는 하니스 엔지니어링 및 바이브 코딩 역량. [출처: 65, 76, 226]</a:t>
            </a:r>
          </a:p>
          <a:p>
            <a:pPr>
              <a:spcBef>
                <a:spcPts val="600"/>
              </a:spcBef>
            </a:pPr>
            <a:r>
              <a:rPr sz="1300" b="1">
                <a:solidFill>
                  <a:srgbClr val="2E5984"/>
                </a:solidFill>
              </a:rPr>
              <a:t>4. 실습 (Practice): '나의 첫 번째 AI 금융 리포트' 박제 및 미래 선언 [출처: 173, 191]</a:t>
            </a:r>
          </a:p>
          <a:p>
            <a:r>
              <a:rPr sz="1100">
                <a:solidFill>
                  <a:srgbClr val="222222"/>
                </a:solidFill>
              </a:rPr>
              <a:t>•  최종 과제: 본인이 생성한 가장 완벽한 1페이지 PDF 투자 브리프를 출력하여 자신의 업무 공간에 게시하십시오. 이는 여러분이 '지능형 금융'의 시대를 열었다는 증표입니다. [출처: 157, 173]</a:t>
            </a:r>
          </a:p>
          <a:p>
            <a:r>
              <a:rPr sz="1100">
                <a:solidFill>
                  <a:srgbClr val="222222"/>
                </a:solidFill>
              </a:rPr>
              <a:t>•  자기 다짐: "나는 단순한 코더가 아니다. 나는 수만 개의 데이터를 지휘하여 투자의 표준을 바꾸는 AI 금융 워크포스의 리더이다." [출처: 79, 191, 199]</a:t>
            </a:r>
          </a:p>
          <a:p>
            <a:pPr>
              <a:spcBef>
                <a:spcPts val="600"/>
              </a:spcBef>
            </a:pPr>
            <a:r>
              <a:rPr sz="1300" b="1">
                <a:solidFill>
                  <a:srgbClr val="2E5984"/>
                </a:solidFill>
              </a:rPr>
              <a:t>5. 확장 (Expansion): 글로벌 금융 시장을 지배하는 'AI 하우스'의 주인으로 [출처: 79, 191, 231]</a:t>
            </a:r>
          </a:p>
          <a:p>
            <a:r>
              <a:rPr sz="1100">
                <a:solidFill>
                  <a:srgbClr val="222222"/>
                </a:solidFill>
              </a:rPr>
              <a:t>•  미래 비전: 오늘의 수료는 마침표가 아닙니다. 이제 여러분은 국내 시장을 넘어 글로벌 자산(231번)을 관리하고, 블랙 스완(234번)에 대응하며, 스스로 진화하는 자율형 금융 지능(230번)의 시대를 이끌 주인공입니다. [출처: 79, 230, 231, 234]</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244  ·  215/216</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60120"/>
          </a:xfrm>
          <a:prstGeom prst="rect">
            <a:avLst/>
          </a:prstGeom>
          <a:solidFill>
            <a:srgbClr val="1F3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09728"/>
            <a:ext cx="11338560" cy="777240"/>
          </a:xfrm>
          <a:prstGeom prst="rect">
            <a:avLst/>
          </a:prstGeom>
          <a:noFill/>
        </p:spPr>
        <p:txBody>
          <a:bodyPr wrap="square">
            <a:spAutoFit/>
          </a:bodyPr>
          <a:lstStyle/>
          <a:p>
            <a:r>
              <a:rPr sz="1100">
                <a:solidFill>
                  <a:srgbClr val="9FB4F5"/>
                </a:solidFill>
              </a:rPr>
              <a:t>트랙 H</a:t>
            </a:r>
          </a:p>
          <a:p>
            <a:r>
              <a:rPr sz="1900" b="1">
                <a:solidFill>
                  <a:srgbClr val="FFFFFF"/>
                </a:solidFill>
              </a:rPr>
              <a:t>[216] 교육 종료 및 컨택트 - 지능형 금융의 파트너로서 함께하겠습니다</a:t>
            </a:r>
          </a:p>
        </p:txBody>
      </p:sp>
      <p:sp>
        <p:nvSpPr>
          <p:cNvPr id="4" name="TextBox 3"/>
          <p:cNvSpPr txBox="1"/>
          <p:nvPr/>
        </p:nvSpPr>
        <p:spPr>
          <a:xfrm>
            <a:off x="457200" y="1143000"/>
            <a:ext cx="11247120" cy="5486400"/>
          </a:xfrm>
          <a:prstGeom prst="rect">
            <a:avLst/>
          </a:prstGeom>
          <a:noFill/>
        </p:spPr>
        <p:txBody>
          <a:bodyPr wrap="square"/>
          <a:lstStyle/>
          <a:p>
            <a:pPr>
              <a:spcBef>
                <a:spcPts val="600"/>
              </a:spcBef>
            </a:pPr>
            <a:r>
              <a:rPr sz="1300" b="1">
                <a:solidFill>
                  <a:srgbClr val="2E5984"/>
                </a:solidFill>
              </a:rPr>
              <a:t>1. 개념 (Concept): 마침표가 아닌 '새로운 연결'의 시작</a:t>
            </a:r>
          </a:p>
          <a:p>
            <a:r>
              <a:rPr sz="1100">
                <a:solidFill>
                  <a:srgbClr val="222222"/>
                </a:solidFill>
              </a:rPr>
              <a:t>•  정의: 16시간의 기술 전수 과정을 공식적으로 종료하고, 교육생들이 현업에서 마주할 기술적 난제들을 함께 고민할 수 있는 지속 가능한 소통 인프라를 공유하는 단계입니다. [출처: 173, 191]</a:t>
            </a:r>
          </a:p>
          <a:p>
            <a:r>
              <a:rPr sz="1100">
                <a:solidFill>
                  <a:srgbClr val="222222"/>
                </a:solidFill>
              </a:rPr>
              <a:t>•  핵심 가치: "혼자 가면 빨리 가지만, 함께 가면 멀리 간다"는 원칙 아래, 황Q랩과 AI 실전스쿨이 여러분의 든든한 기술 조력자가 될 것임을 약속합니다. [출처: 66, 191]</a:t>
            </a:r>
          </a:p>
          <a:p>
            <a:pPr>
              <a:spcBef>
                <a:spcPts val="600"/>
              </a:spcBef>
            </a:pPr>
            <a:r>
              <a:rPr sz="1300" b="1">
                <a:solidFill>
                  <a:srgbClr val="2E5984"/>
                </a:solidFill>
              </a:rPr>
              <a:t>2. 아키텍처 (Architecture): 지속 가능한 기술 지원 거점 [출처: 139, 173]</a:t>
            </a:r>
          </a:p>
          <a:p>
            <a:r>
              <a:rPr sz="1100">
                <a:solidFill>
                  <a:srgbClr val="222222"/>
                </a:solidFill>
              </a:rPr>
              <a:t>•  소스코드 거점: GitHub Repository (KOStockCrewAI 마스터 브랜치 유지관리). [출처: 139]</a:t>
            </a:r>
          </a:p>
          <a:p>
            <a:r>
              <a:rPr sz="1100">
                <a:solidFill>
                  <a:srgbClr val="222222"/>
                </a:solidFill>
              </a:rPr>
              <a:t>•  지식 거점: AI 실전스쿨 커뮤니티 및 기술 블로그 (새로운 API 명세 및 튜닝 사례 공유). [출처: 66, 173]</a:t>
            </a:r>
          </a:p>
          <a:p>
            <a:r>
              <a:rPr sz="1100">
                <a:solidFill>
                  <a:srgbClr val="222222"/>
                </a:solidFill>
              </a:rPr>
              <a:t>•  소통 거점: 텔레그램/카카오톡 오픈채팅방 (실시간 트러블슈팅 및 네트워킹). [출처: 162, 172]</a:t>
            </a:r>
          </a:p>
          <a:p>
            <a:pPr>
              <a:spcBef>
                <a:spcPts val="600"/>
              </a:spcBef>
            </a:pPr>
            <a:r>
              <a:rPr sz="1300" b="1">
                <a:solidFill>
                  <a:srgbClr val="2E5984"/>
                </a:solidFill>
              </a:rPr>
              <a:t>3. 강사 컨택트 (Contact Info): 기술적 난제 및 협업 문의 [출처: 66, 136]</a:t>
            </a:r>
          </a:p>
          <a:p>
            <a:r>
              <a:rPr sz="1100">
                <a:solidFill>
                  <a:srgbClr val="222222"/>
                </a:solidFill>
              </a:rPr>
              <a:t>•  강사: 황Q(황인환) / 황Q랩 대표 [출처: 66, 136]</a:t>
            </a:r>
          </a:p>
          <a:p>
            <a:r>
              <a:rPr sz="1100">
                <a:solidFill>
                  <a:srgbClr val="222222"/>
                </a:solidFill>
              </a:rPr>
              <a:t>•  주요 전문 분야: AI 아키텍처 설계, 에이전틱 AI 개발, 증권 데이터 파이프라인 구축. [출처: 62, 67, 101]</a:t>
            </a:r>
          </a:p>
          <a:p>
            <a:r>
              <a:rPr sz="1100">
                <a:solidFill>
                  <a:srgbClr val="222222"/>
                </a:solidFill>
              </a:rPr>
              <a:t>•  문의처:</a:t>
            </a:r>
          </a:p>
          <a:p>
            <a:r>
              <a:rPr sz="1100">
                <a:solidFill>
                  <a:srgbClr val="222222"/>
                </a:solidFill>
              </a:rPr>
              <a:t>•  Email: (강사 개인 이메일 주소 안내)</a:t>
            </a:r>
          </a:p>
          <a:p>
            <a:r>
              <a:rPr sz="1100">
                <a:solidFill>
                  <a:srgbClr val="222222"/>
                </a:solidFill>
              </a:rPr>
              <a:t>•  GitHub: https://github.com/HwangQ (실습 소스 업데이트) [출처: 139, 173]</a:t>
            </a:r>
          </a:p>
          <a:p>
            <a:r>
              <a:rPr sz="1100">
                <a:solidFill>
                  <a:srgbClr val="222222"/>
                </a:solidFill>
              </a:rPr>
              <a:t>•  Community: AI 실전스쿨 / AI 데이터맵 [출처: 66, 110]</a:t>
            </a:r>
          </a:p>
          <a:p>
            <a:pPr>
              <a:spcBef>
                <a:spcPts val="600"/>
              </a:spcBef>
            </a:pPr>
            <a:r>
              <a:rPr sz="1300" b="1">
                <a:solidFill>
                  <a:srgbClr val="2E5984"/>
                </a:solidFill>
              </a:rPr>
              <a:t>4. 실습 (Practice): 교육 자료의 영구 보관 및 활용 [출처: 173, 191]</a:t>
            </a:r>
          </a:p>
          <a:p>
            <a:r>
              <a:rPr sz="1100">
                <a:solidFill>
                  <a:srgbClr val="222222"/>
                </a:solidFill>
              </a:rPr>
              <a:t>•  최종 확인: 16시간 동안 생성된 모든 실습 코드와 .env 설정 파일을 백업하였는지 마지막으로 점검하십시오. [출처: 142, 173]</a:t>
            </a:r>
          </a:p>
          <a:p>
            <a:r>
              <a:rPr sz="1100">
                <a:solidFill>
                  <a:srgbClr val="222222"/>
                </a:solidFill>
              </a:rPr>
              <a:t>•  피드백 제출: 교육 과정 전반에 대한 소중한 의견을 설문을 통해 전달해 주시면, 향후 심화 과정(Multi-Agent Orchestration) 설계에 적극 반영하겠습니다. [출처: 173, 191]</a:t>
            </a:r>
          </a:p>
          <a:p>
            <a:pPr>
              <a:spcBef>
                <a:spcPts val="600"/>
              </a:spcBef>
            </a:pPr>
            <a:r>
              <a:rPr sz="1300" b="1">
                <a:solidFill>
                  <a:srgbClr val="2E5984"/>
                </a:solidFill>
              </a:rPr>
              <a:t>5. 클로징 메시지 (Closing): 여러분이 곧 '지능형 금융의 미래'입니다 [출처: 64, 191]</a:t>
            </a:r>
          </a:p>
          <a:p>
            <a:r>
              <a:rPr sz="1100">
                <a:solidFill>
                  <a:srgbClr val="222222"/>
                </a:solidFill>
              </a:rPr>
              <a:t>•  비전: 16시간 전, 여러분은 기술을 배우러 오셨지만, 지금은 금융 지능의 아키텍트가 되어 이 자리를 떠납니다. [출처: 67, 101]</a:t>
            </a:r>
          </a:p>
          <a:p>
            <a:r>
              <a:rPr sz="1100">
                <a:solidFill>
                  <a:srgbClr val="222222"/>
                </a:solidFill>
              </a:rPr>
              <a:t>•  마지막 한 마디: "데이터는 차갑지만 아키텍트의 의도는 뜨겁습니다. 여러분의 설계도가 시장의 새로운 가치가 되기를 진심으로 기원합니다." [출처: 64, 191]</a:t>
            </a:r>
          </a:p>
          <a:p>
            <a:r>
              <a:rPr sz="1100">
                <a:solidFill>
                  <a:srgbClr val="222222"/>
                </a:solidFill>
              </a:rPr>
              <a:t>•  열정적으로 참여해 준 교육생들에 대한 진심 어린 감사를 전합니다. "언제든 기술적인 벽에 부딪힐 때 황Q랩을 찾아 주시면 같이 고민하도록 하겠습니다."</a:t>
            </a:r>
          </a:p>
          <a:p>
            <a:r>
              <a:rPr sz="1100">
                <a:solidFill>
                  <a:srgbClr val="222222"/>
                </a:solidFill>
              </a:rPr>
              <a:t>•  이번 교육을 통해 형성된 네트워크가 향후 대한민국 AI 핀테크 산업의 핵심 자산이 될 것입니다. 고생 많으셨습니다!</a:t>
            </a:r>
          </a:p>
          <a:p>
            <a:r>
              <a:rPr sz="1100">
                <a:solidFill>
                  <a:srgbClr val="222222"/>
                </a:solidFill>
              </a:rPr>
              <a:t>•  ------------------------------------------------------------</a:t>
            </a:r>
          </a:p>
          <a:p>
            <a:r>
              <a:rPr sz="1100">
                <a:solidFill>
                  <a:srgbClr val="222222"/>
                </a:solidFill>
              </a:rPr>
              <a:t>•  감사합니다.</a:t>
            </a:r>
          </a:p>
          <a:p>
            <a:r>
              <a:rPr sz="1100">
                <a:solidFill>
                  <a:srgbClr val="222222"/>
                </a:solidFill>
              </a:rPr>
              <a:t>•  ------------------------------------------------------------</a:t>
            </a:r>
          </a:p>
        </p:txBody>
      </p:sp>
      <p:sp>
        <p:nvSpPr>
          <p:cNvPr id="5" name="TextBox 4"/>
          <p:cNvSpPr txBox="1"/>
          <p:nvPr/>
        </p:nvSpPr>
        <p:spPr>
          <a:xfrm>
            <a:off x="9784080" y="6446520"/>
            <a:ext cx="2194560" cy="320040"/>
          </a:xfrm>
          <a:prstGeom prst="rect">
            <a:avLst/>
          </a:prstGeom>
          <a:noFill/>
        </p:spPr>
        <p:txBody>
          <a:bodyPr wrap="square">
            <a:spAutoFit/>
          </a:bodyPr>
          <a:lstStyle/>
          <a:p>
            <a:pPr algn="r"/>
            <a:r>
              <a:rPr sz="800">
                <a:solidFill>
                  <a:srgbClr val="888888"/>
                </a:solidFill>
              </a:rPr>
              <a:t>원본 245  ·  216/216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